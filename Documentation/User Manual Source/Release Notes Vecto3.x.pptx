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1158" r:id="rId4"/>
    <p:sldId id="1241" r:id="rId5"/>
    <p:sldId id="1235" r:id="rId6"/>
    <p:sldId id="1236" r:id="rId7"/>
    <p:sldId id="1237" r:id="rId8"/>
    <p:sldId id="1238" r:id="rId9"/>
    <p:sldId id="1239" r:id="rId10"/>
    <p:sldId id="1240" r:id="rId11"/>
    <p:sldId id="1175" r:id="rId12"/>
    <p:sldId id="1228" r:id="rId13"/>
    <p:sldId id="1182" r:id="rId14"/>
    <p:sldId id="1190" r:id="rId15"/>
    <p:sldId id="1191" r:id="rId16"/>
    <p:sldId id="1192" r:id="rId17"/>
    <p:sldId id="1193" r:id="rId18"/>
    <p:sldId id="1230" r:id="rId19"/>
    <p:sldId id="1215" r:id="rId20"/>
    <p:sldId id="1210" r:id="rId21"/>
    <p:sldId id="371" r:id="rId22"/>
    <p:sldId id="1101" r:id="rId23"/>
    <p:sldId id="1105" r:id="rId24"/>
    <p:sldId id="1134" r:id="rId25"/>
    <p:sldId id="1135" r:id="rId26"/>
    <p:sldId id="1136" r:id="rId27"/>
    <p:sldId id="1137" r:id="rId28"/>
    <p:sldId id="1138" r:id="rId29"/>
    <p:sldId id="1139" r:id="rId30"/>
    <p:sldId id="1140" r:id="rId31"/>
    <p:sldId id="1141" r:id="rId32"/>
    <p:sldId id="1142" r:id="rId33"/>
    <p:sldId id="1143" r:id="rId34"/>
    <p:sldId id="1126" r:id="rId35"/>
    <p:sldId id="1132" r:id="rId36"/>
    <p:sldId id="1133" r:id="rId37"/>
    <p:sldId id="1144" r:id="rId38"/>
    <p:sldId id="1145" r:id="rId39"/>
    <p:sldId id="1146" r:id="rId40"/>
    <p:sldId id="1147" r:id="rId41"/>
    <p:sldId id="1148" r:id="rId42"/>
    <p:sldId id="1149" r:id="rId43"/>
    <p:sldId id="1150" r:id="rId44"/>
    <p:sldId id="1151" r:id="rId45"/>
    <p:sldId id="1152" r:id="rId46"/>
    <p:sldId id="1153" r:id="rId47"/>
    <p:sldId id="1154" r:id="rId48"/>
    <p:sldId id="1155" r:id="rId49"/>
    <p:sldId id="1156" r:id="rId50"/>
    <p:sldId id="1157" r:id="rId51"/>
    <p:sldId id="1115" r:id="rId52"/>
    <p:sldId id="257" r:id="rId53"/>
    <p:sldId id="258" r:id="rId54"/>
    <p:sldId id="259" r:id="rId55"/>
    <p:sldId id="260" r:id="rId56"/>
    <p:sldId id="261" r:id="rId57"/>
    <p:sldId id="262" r:id="rId58"/>
    <p:sldId id="263" r:id="rId59"/>
    <p:sldId id="264" r:id="rId60"/>
    <p:sldId id="265" r:id="rId61"/>
    <p:sldId id="266" r:id="rId62"/>
    <p:sldId id="267" r:id="rId63"/>
    <p:sldId id="268" r:id="rId64"/>
    <p:sldId id="269" r:id="rId65"/>
    <p:sldId id="270" r:id="rId66"/>
    <p:sldId id="271" r:id="rId67"/>
    <p:sldId id="272" r:id="rId68"/>
    <p:sldId id="273" r:id="rId69"/>
    <p:sldId id="274" r:id="rId70"/>
    <p:sldId id="275" r:id="rId71"/>
    <p:sldId id="276" r:id="rId72"/>
    <p:sldId id="277" r:id="rId73"/>
    <p:sldId id="278" r:id="rId74"/>
    <p:sldId id="279" r:id="rId75"/>
    <p:sldId id="280" r:id="rId76"/>
    <p:sldId id="281" r:id="rId77"/>
    <p:sldId id="282" r:id="rId78"/>
    <p:sldId id="283" r:id="rId79"/>
    <p:sldId id="284" r:id="rId80"/>
    <p:sldId id="285" r:id="rId81"/>
    <p:sldId id="286" r:id="rId82"/>
    <p:sldId id="287" r:id="rId83"/>
    <p:sldId id="288" r:id="rId84"/>
    <p:sldId id="289" r:id="rId85"/>
    <p:sldId id="290" r:id="rId86"/>
    <p:sldId id="291" r:id="rId87"/>
    <p:sldId id="292" r:id="rId88"/>
    <p:sldId id="293" r:id="rId89"/>
    <p:sldId id="294" r:id="rId90"/>
    <p:sldId id="295" r:id="rId91"/>
    <p:sldId id="296" r:id="rId92"/>
    <p:sldId id="297" r:id="rId93"/>
    <p:sldId id="298" r:id="rId94"/>
    <p:sldId id="299" r:id="rId95"/>
    <p:sldId id="300" r:id="rId96"/>
    <p:sldId id="301" r:id="rId97"/>
    <p:sldId id="302" r:id="rId98"/>
    <p:sldId id="303" r:id="rId99"/>
    <p:sldId id="304" r:id="rId100"/>
    <p:sldId id="305" r:id="rId101"/>
    <p:sldId id="306" r:id="rId102"/>
    <p:sldId id="307" r:id="rId103"/>
    <p:sldId id="308" r:id="rId104"/>
    <p:sldId id="309" r:id="rId105"/>
    <p:sldId id="310" r:id="rId106"/>
    <p:sldId id="311" r:id="rId107"/>
    <p:sldId id="312" r:id="rId108"/>
    <p:sldId id="313" r:id="rId109"/>
    <p:sldId id="314" r:id="rId110"/>
    <p:sldId id="315" r:id="rId111"/>
    <p:sldId id="316" r:id="rId112"/>
    <p:sldId id="317" r:id="rId113"/>
    <p:sldId id="318" r:id="rId114"/>
    <p:sldId id="319" r:id="rId115"/>
    <p:sldId id="320" r:id="rId116"/>
    <p:sldId id="321" r:id="rId117"/>
    <p:sldId id="322" r:id="rId118"/>
    <p:sldId id="323" r:id="rId119"/>
    <p:sldId id="324" r:id="rId120"/>
    <p:sldId id="325" r:id="rId121"/>
    <p:sldId id="326" r:id="rId122"/>
    <p:sldId id="327" r:id="rId123"/>
    <p:sldId id="328" r:id="rId124"/>
    <p:sldId id="329" r:id="rId125"/>
    <p:sldId id="330" r:id="rId126"/>
    <p:sldId id="331" r:id="rId127"/>
    <p:sldId id="332" r:id="rId128"/>
    <p:sldId id="333" r:id="rId129"/>
    <p:sldId id="334" r:id="rId130"/>
    <p:sldId id="335" r:id="rId131"/>
    <p:sldId id="336" r:id="rId132"/>
    <p:sldId id="337" r:id="rId133"/>
    <p:sldId id="338" r:id="rId134"/>
    <p:sldId id="339" r:id="rId135"/>
    <p:sldId id="340" r:id="rId136"/>
    <p:sldId id="341" r:id="rId137"/>
    <p:sldId id="342" r:id="rId138"/>
    <p:sldId id="343" r:id="rId139"/>
    <p:sldId id="344" r:id="rId140"/>
    <p:sldId id="345" r:id="rId141"/>
    <p:sldId id="346" r:id="rId142"/>
    <p:sldId id="347" r:id="rId143"/>
    <p:sldId id="348" r:id="rId144"/>
    <p:sldId id="349" r:id="rId145"/>
    <p:sldId id="350" r:id="rId146"/>
    <p:sldId id="351" r:id="rId147"/>
    <p:sldId id="352" r:id="rId148"/>
    <p:sldId id="353" r:id="rId149"/>
    <p:sldId id="354" r:id="rId150"/>
    <p:sldId id="355" r:id="rId151"/>
    <p:sldId id="356" r:id="rId152"/>
    <p:sldId id="357" r:id="rId153"/>
    <p:sldId id="358" r:id="rId154"/>
    <p:sldId id="359" r:id="rId155"/>
    <p:sldId id="360" r:id="rId156"/>
    <p:sldId id="361" r:id="rId157"/>
    <p:sldId id="362" r:id="rId158"/>
    <p:sldId id="363" r:id="rId159"/>
    <p:sldId id="364" r:id="rId160"/>
    <p:sldId id="365" r:id="rId161"/>
    <p:sldId id="366" r:id="rId162"/>
    <p:sldId id="367" r:id="rId163"/>
    <p:sldId id="368" r:id="rId164"/>
    <p:sldId id="369" r:id="rId165"/>
  </p:sldIdLst>
  <p:sldSz cx="9144000" cy="6858000" type="screen4x3"/>
  <p:notesSz cx="7772400" cy="100584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Helle Formatvorlage 3 - Akz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02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a:defRPr lang="en-US" sz="2400" b="1" strike="noStrike" kern="1200" spc="-1">
                <a:solidFill>
                  <a:srgbClr val="990000"/>
                </a:solidFill>
                <a:latin typeface="Arial"/>
                <a:ea typeface="+mj-ea"/>
                <a:cs typeface="+mj-cs"/>
              </a:defRPr>
            </a:lvl1pPr>
          </a:lstStyle>
          <a:p>
            <a:pPr algn="ctr">
              <a:buNone/>
            </a:pPr>
            <a:endParaRPr lang="en-US" sz="4400" b="0" strike="noStrike" spc="-1" dirty="0">
              <a:latin typeface="Arial"/>
            </a:endParaRPr>
          </a:p>
        </p:txBody>
      </p:sp>
      <p:sp>
        <p:nvSpPr>
          <p:cNvPr id="9"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7"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8"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0"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5"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8"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9"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0"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1"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2"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3"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el und Inhalt (wid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585333" y="2146171"/>
            <a:ext cx="8229240" cy="3977280"/>
          </a:xfrm>
        </p:spPr>
        <p:txBody>
          <a:bodyPr/>
          <a:lstStyle>
            <a:lvl1pPr>
              <a:defRPr/>
            </a:lvl1pPr>
            <a:lvl2pPr marL="715963" indent="-266700">
              <a:buFont typeface="Wingdings" panose="05000000000000000000" pitchFamily="2" charset="2"/>
              <a:buChar char="§"/>
              <a:defRPr/>
            </a:lvl2pPr>
            <a:lvl3pPr>
              <a:defRPr/>
            </a:lvl3pPr>
            <a:lvl4pPr>
              <a:defRPr/>
            </a:lvl4pPr>
            <a:lvl5pPr>
              <a:defRPr/>
            </a:lvl5pPr>
          </a:lstStyle>
          <a:p>
            <a:pPr lvl="0"/>
            <a:r>
              <a:rPr lang="en-US" noProof="0" dirty="0"/>
              <a:t>Main items</a:t>
            </a:r>
          </a:p>
          <a:p>
            <a:pPr lvl="1"/>
            <a:r>
              <a:rPr lang="en-US" noProof="0" dirty="0"/>
              <a:t>Sub-items</a:t>
            </a:r>
          </a:p>
          <a:p>
            <a:pPr lvl="2"/>
            <a:r>
              <a:rPr lang="en-US" noProof="0" dirty="0"/>
              <a:t>Third layer</a:t>
            </a:r>
          </a:p>
          <a:p>
            <a:pPr lvl="3"/>
            <a:r>
              <a:rPr lang="en-US" noProof="0" dirty="0"/>
              <a:t>Fourth layer</a:t>
            </a:r>
          </a:p>
          <a:p>
            <a:pPr lvl="4"/>
            <a:r>
              <a:rPr lang="en-US" noProof="0" dirty="0"/>
              <a:t>Fifth layer</a:t>
            </a:r>
          </a:p>
        </p:txBody>
      </p:sp>
      <p:sp>
        <p:nvSpPr>
          <p:cNvPr id="6" name="Foliennummernplatzhalter 5"/>
          <p:cNvSpPr>
            <a:spLocks noGrp="1"/>
          </p:cNvSpPr>
          <p:nvPr>
            <p:ph type="sldNum" sz="quarter" idx="12"/>
          </p:nvPr>
        </p:nvSpPr>
        <p:spPr>
          <a:xfrm>
            <a:off x="128133" y="541651"/>
            <a:ext cx="0" cy="0"/>
          </a:xfrm>
        </p:spPr>
        <p:txBody>
          <a:bodyPr/>
          <a:lstStyle>
            <a:lvl1pPr>
              <a:defRPr sz="100">
                <a:solidFill>
                  <a:schemeClr val="bg1"/>
                </a:solidFill>
              </a:defRPr>
            </a:lvl1pPr>
          </a:lstStyle>
          <a:p>
            <a:endParaRPr lang="de-DE" dirty="0"/>
          </a:p>
        </p:txBody>
      </p:sp>
      <p:sp>
        <p:nvSpPr>
          <p:cNvPr id="5" name="Titel 4">
            <a:extLst>
              <a:ext uri="{FF2B5EF4-FFF2-40B4-BE49-F238E27FC236}">
                <a16:creationId xmlns:a16="http://schemas.microsoft.com/office/drawing/2014/main" id="{81462625-91C7-4999-896F-ACE029871690}"/>
              </a:ext>
            </a:extLst>
          </p:cNvPr>
          <p:cNvSpPr>
            <a:spLocks noGrp="1"/>
          </p:cNvSpPr>
          <p:nvPr>
            <p:ph type="title"/>
          </p:nvPr>
        </p:nvSpPr>
        <p:spPr>
          <a:xfrm>
            <a:off x="585333" y="850196"/>
            <a:ext cx="8229240" cy="1144800"/>
          </a:xfrm>
        </p:spPr>
        <p:txBody>
          <a:bodyPr/>
          <a:lstStyle/>
          <a:p>
            <a:r>
              <a:rPr lang="de-DE" dirty="0"/>
              <a:t>Mastertitelformat bearbeiten</a:t>
            </a:r>
            <a:endParaRPr lang="de-AT" dirty="0"/>
          </a:p>
        </p:txBody>
      </p:sp>
    </p:spTree>
    <p:extLst>
      <p:ext uri="{BB962C8B-B14F-4D97-AF65-F5344CB8AC3E}">
        <p14:creationId xmlns:p14="http://schemas.microsoft.com/office/powerpoint/2010/main" val="2660010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3"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5"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7"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8"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2"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3"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4"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6"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7"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8"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4"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5"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7"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0"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2"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3"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4"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5"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6"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7"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2.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Line 20"/>
          <p:cNvSpPr/>
          <p:nvPr/>
        </p:nvSpPr>
        <p:spPr>
          <a:xfrm>
            <a:off x="0" y="415800"/>
            <a:ext cx="9144000" cy="360"/>
          </a:xfrm>
          <a:prstGeom prst="line">
            <a:avLst/>
          </a:prstGeom>
          <a:ln w="9525">
            <a:solidFill>
              <a:srgbClr val="000000"/>
            </a:solidFill>
            <a:round/>
          </a:ln>
        </p:spPr>
        <p:style>
          <a:lnRef idx="0">
            <a:scrgbClr r="0" g="0" b="0"/>
          </a:lnRef>
          <a:fillRef idx="0">
            <a:scrgbClr r="0" g="0" b="0"/>
          </a:fillRef>
          <a:effectRef idx="0">
            <a:scrgbClr r="0" g="0" b="0"/>
          </a:effectRef>
          <a:fontRef idx="minor"/>
        </p:style>
      </p:sp>
      <p:sp>
        <p:nvSpPr>
          <p:cNvPr id="9" name="Text Box 24"/>
          <p:cNvSpPr/>
          <p:nvPr/>
        </p:nvSpPr>
        <p:spPr>
          <a:xfrm>
            <a:off x="7996320" y="6599160"/>
            <a:ext cx="924840" cy="2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spcBef>
                <a:spcPts val="499"/>
              </a:spcBef>
              <a:buNone/>
            </a:pPr>
            <a:fld id="{0A73C48F-7230-42C2-BF20-5E467D5F244F}" type="slidenum">
              <a:rPr lang="de-AT" sz="1000" b="1" strike="noStrike" spc="-1">
                <a:solidFill>
                  <a:srgbClr val="7D7D7D"/>
                </a:solidFill>
                <a:latin typeface="Verdana"/>
                <a:ea typeface="DejaVu Sans"/>
              </a:rPr>
              <a:t>‹Nr.›</a:t>
            </a:fld>
            <a:endParaRPr lang="en-US" sz="1000" b="0" strike="noStrike" spc="-1" dirty="0">
              <a:latin typeface="Arial"/>
            </a:endParaRPr>
          </a:p>
        </p:txBody>
      </p:sp>
      <p:sp>
        <p:nvSpPr>
          <p:cNvPr id="2" name="Text Box 30"/>
          <p:cNvSpPr/>
          <p:nvPr/>
        </p:nvSpPr>
        <p:spPr>
          <a:xfrm>
            <a:off x="144360" y="6627960"/>
            <a:ext cx="1882080" cy="215280"/>
          </a:xfrm>
          <a:prstGeom prst="rect">
            <a:avLst/>
          </a:prstGeom>
          <a:noFill/>
          <a:ln w="0">
            <a:noFill/>
          </a:ln>
        </p:spPr>
        <p:style>
          <a:lnRef idx="0">
            <a:scrgbClr r="0" g="0" b="0"/>
          </a:lnRef>
          <a:fillRef idx="0">
            <a:scrgbClr r="0" g="0" b="0"/>
          </a:fillRef>
          <a:effectRef idx="0">
            <a:scrgbClr r="0" g="0" b="0"/>
          </a:effectRef>
          <a:fontRef idx="minor"/>
        </p:style>
        <p:txBody>
          <a:bodyPr wrap="none" lIns="90000" tIns="39600" rIns="90000" bIns="45000" anchor="ctr">
            <a:noAutofit/>
          </a:bodyPr>
          <a:lstStyle/>
          <a:p>
            <a:pPr>
              <a:lnSpc>
                <a:spcPct val="100000"/>
              </a:lnSpc>
              <a:spcBef>
                <a:spcPts val="550"/>
              </a:spcBef>
              <a:buNone/>
            </a:pPr>
            <a:r>
              <a:rPr lang="en-US" sz="1100" b="0" strike="noStrike" spc="-1">
                <a:solidFill>
                  <a:srgbClr val="000000"/>
                </a:solidFill>
                <a:latin typeface="Verdana"/>
                <a:ea typeface="DejaVu Sans"/>
              </a:rPr>
              <a:t>VECTO Release Notes</a:t>
            </a:r>
            <a:endParaRPr lang="en-US" sz="1100" b="0" strike="noStrike" spc="-1">
              <a:latin typeface="Arial"/>
            </a:endParaRPr>
          </a:p>
        </p:txBody>
      </p:sp>
      <p:pic>
        <p:nvPicPr>
          <p:cNvPr id="3" name="Picture 2"/>
          <p:cNvPicPr/>
          <p:nvPr/>
        </p:nvPicPr>
        <p:blipFill>
          <a:blip r:embed="rId15"/>
          <a:stretch/>
        </p:blipFill>
        <p:spPr>
          <a:xfrm>
            <a:off x="7389360" y="37800"/>
            <a:ext cx="1420560" cy="352080"/>
          </a:xfrm>
          <a:prstGeom prst="rect">
            <a:avLst/>
          </a:prstGeom>
          <a:ln w="0">
            <a:noFill/>
          </a:ln>
        </p:spPr>
      </p:pic>
      <p:pic>
        <p:nvPicPr>
          <p:cNvPr id="4" name="Picture 3" descr="I:\raphaelluz\VECTO\source\VECTO\User Manual\pics\VECTO-small.PNG"/>
          <p:cNvPicPr/>
          <p:nvPr/>
        </p:nvPicPr>
        <p:blipFill>
          <a:blip r:embed="rId16"/>
          <a:stretch/>
        </p:blipFill>
        <p:spPr>
          <a:xfrm>
            <a:off x="107640" y="58680"/>
            <a:ext cx="977760" cy="331560"/>
          </a:xfrm>
          <a:prstGeom prst="rect">
            <a:avLst/>
          </a:prstGeom>
          <a:ln w="0">
            <a:noFill/>
          </a:ln>
        </p:spPr>
      </p:pic>
      <p:sp>
        <p:nvSpPr>
          <p:cNvPr id="5" name="Line 20"/>
          <p:cNvSpPr/>
          <p:nvPr/>
        </p:nvSpPr>
        <p:spPr>
          <a:xfrm>
            <a:off x="0" y="6599160"/>
            <a:ext cx="9144000" cy="360"/>
          </a:xfrm>
          <a:prstGeom prst="line">
            <a:avLst/>
          </a:prstGeom>
          <a:ln w="9525">
            <a:solidFill>
              <a:srgbClr val="000000"/>
            </a:solidFill>
            <a:round/>
          </a:ln>
        </p:spPr>
        <p:style>
          <a:lnRef idx="0">
            <a:scrgbClr r="0" g="0" b="0"/>
          </a:lnRef>
          <a:fillRef idx="0">
            <a:scrgbClr r="0" g="0" b="0"/>
          </a:fillRef>
          <a:effectRef idx="0">
            <a:scrgbClr r="0" g="0" b="0"/>
          </a:effectRef>
          <a:fontRef idx="minor"/>
        </p:style>
      </p:sp>
      <p:sp>
        <p:nvSpPr>
          <p:cNvPr id="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7"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Line 20"/>
          <p:cNvSpPr/>
          <p:nvPr/>
        </p:nvSpPr>
        <p:spPr>
          <a:xfrm>
            <a:off x="0" y="415800"/>
            <a:ext cx="9144000" cy="360"/>
          </a:xfrm>
          <a:prstGeom prst="line">
            <a:avLst/>
          </a:prstGeom>
          <a:ln w="9525">
            <a:solidFill>
              <a:srgbClr val="000000"/>
            </a:solidFill>
            <a:round/>
          </a:ln>
        </p:spPr>
        <p:style>
          <a:lnRef idx="0">
            <a:scrgbClr r="0" g="0" b="0"/>
          </a:lnRef>
          <a:fillRef idx="0">
            <a:scrgbClr r="0" g="0" b="0"/>
          </a:fillRef>
          <a:effectRef idx="0">
            <a:scrgbClr r="0" g="0" b="0"/>
          </a:effectRef>
          <a:fontRef idx="minor"/>
        </p:style>
      </p:sp>
      <p:sp>
        <p:nvSpPr>
          <p:cNvPr id="45" name="Text Box 24"/>
          <p:cNvSpPr/>
          <p:nvPr/>
        </p:nvSpPr>
        <p:spPr>
          <a:xfrm>
            <a:off x="7996320" y="6599160"/>
            <a:ext cx="924840" cy="2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spcBef>
                <a:spcPts val="499"/>
              </a:spcBef>
              <a:buNone/>
            </a:pPr>
            <a:fld id="{4CE03935-9F1B-40FD-BDE8-AA191BDA0FEB}" type="slidenum">
              <a:rPr lang="de-AT" sz="1000" b="1" strike="noStrike" spc="-1">
                <a:solidFill>
                  <a:srgbClr val="7D7D7D"/>
                </a:solidFill>
                <a:latin typeface="Verdana"/>
                <a:ea typeface="DejaVu Sans"/>
              </a:rPr>
              <a:t>‹Nr.›</a:t>
            </a:fld>
            <a:endParaRPr lang="en-US" sz="1000" b="0" strike="noStrike" spc="-1">
              <a:latin typeface="Arial"/>
            </a:endParaRPr>
          </a:p>
        </p:txBody>
      </p:sp>
      <p:sp>
        <p:nvSpPr>
          <p:cNvPr id="46" name="Text Box 30"/>
          <p:cNvSpPr/>
          <p:nvPr/>
        </p:nvSpPr>
        <p:spPr>
          <a:xfrm>
            <a:off x="144360" y="6627960"/>
            <a:ext cx="1882080" cy="215280"/>
          </a:xfrm>
          <a:prstGeom prst="rect">
            <a:avLst/>
          </a:prstGeom>
          <a:noFill/>
          <a:ln w="0">
            <a:noFill/>
          </a:ln>
        </p:spPr>
        <p:style>
          <a:lnRef idx="0">
            <a:scrgbClr r="0" g="0" b="0"/>
          </a:lnRef>
          <a:fillRef idx="0">
            <a:scrgbClr r="0" g="0" b="0"/>
          </a:fillRef>
          <a:effectRef idx="0">
            <a:scrgbClr r="0" g="0" b="0"/>
          </a:effectRef>
          <a:fontRef idx="minor"/>
        </p:style>
        <p:txBody>
          <a:bodyPr wrap="none" lIns="90000" tIns="39600" rIns="90000" bIns="45000" anchor="ctr">
            <a:noAutofit/>
          </a:bodyPr>
          <a:lstStyle/>
          <a:p>
            <a:pPr>
              <a:lnSpc>
                <a:spcPct val="100000"/>
              </a:lnSpc>
              <a:spcBef>
                <a:spcPts val="550"/>
              </a:spcBef>
              <a:buNone/>
            </a:pPr>
            <a:r>
              <a:rPr lang="en-US" sz="1100" b="0" strike="noStrike" spc="-1">
                <a:solidFill>
                  <a:srgbClr val="000000"/>
                </a:solidFill>
                <a:latin typeface="Verdana"/>
                <a:ea typeface="DejaVu Sans"/>
              </a:rPr>
              <a:t>VECTO Release Notes</a:t>
            </a:r>
            <a:endParaRPr lang="en-US" sz="1100" b="0" strike="noStrike" spc="-1">
              <a:latin typeface="Arial"/>
            </a:endParaRPr>
          </a:p>
        </p:txBody>
      </p:sp>
      <p:pic>
        <p:nvPicPr>
          <p:cNvPr id="47" name="Picture 2"/>
          <p:cNvPicPr/>
          <p:nvPr/>
        </p:nvPicPr>
        <p:blipFill>
          <a:blip r:embed="rId14"/>
          <a:stretch/>
        </p:blipFill>
        <p:spPr>
          <a:xfrm>
            <a:off x="7389360" y="37800"/>
            <a:ext cx="1420560" cy="352080"/>
          </a:xfrm>
          <a:prstGeom prst="rect">
            <a:avLst/>
          </a:prstGeom>
          <a:ln w="0">
            <a:noFill/>
          </a:ln>
        </p:spPr>
      </p:pic>
      <p:pic>
        <p:nvPicPr>
          <p:cNvPr id="48" name="Picture 3" descr="I:\raphaelluz\VECTO\source\VECTO\User Manual\pics\VECTO-small.PNG"/>
          <p:cNvPicPr/>
          <p:nvPr/>
        </p:nvPicPr>
        <p:blipFill>
          <a:blip r:embed="rId15"/>
          <a:stretch/>
        </p:blipFill>
        <p:spPr>
          <a:xfrm>
            <a:off x="107640" y="58680"/>
            <a:ext cx="977760" cy="331560"/>
          </a:xfrm>
          <a:prstGeom prst="rect">
            <a:avLst/>
          </a:prstGeom>
          <a:ln w="0">
            <a:noFill/>
          </a:ln>
        </p:spPr>
      </p:pic>
      <p:sp>
        <p:nvSpPr>
          <p:cNvPr id="49" name="Line 20"/>
          <p:cNvSpPr/>
          <p:nvPr/>
        </p:nvSpPr>
        <p:spPr>
          <a:xfrm>
            <a:off x="0" y="6599160"/>
            <a:ext cx="9144000" cy="360"/>
          </a:xfrm>
          <a:prstGeom prst="line">
            <a:avLst/>
          </a:prstGeom>
          <a:ln w="9525">
            <a:solidFill>
              <a:srgbClr val="000000"/>
            </a:solidFill>
            <a:round/>
          </a:ln>
        </p:spPr>
        <p:style>
          <a:lnRef idx="0">
            <a:scrgbClr r="0" g="0" b="0"/>
          </a:lnRef>
          <a:fillRef idx="0">
            <a:scrgbClr r="0" g="0" b="0"/>
          </a:fillRef>
          <a:effectRef idx="0">
            <a:scrgbClr r="0" g="0" b="0"/>
          </a:effectRef>
          <a:fontRef idx="minor"/>
        </p:style>
      </p:sp>
      <p:sp>
        <p:nvSpPr>
          <p:cNvPr id="5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51"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13.xml"/><Relationship Id="rId4" Type="http://schemas.openxmlformats.org/officeDocument/2006/relationships/image" Target="../media/image25.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32.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hyperlink" Target="https://citnet.tech.ec.europa.eu/CITnet/jira/projects/VECTO/versions/341166" TargetMode="Externa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hyperlink" Target="https://citnet.tech.ec.europa.eu/CITnet/jira/projects/VECTO/versions/341166" TargetMode="Externa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hyperlink" Target="https://citnet.tech.ec.europa.eu/CITnet/jira/projects/VECTO/versions/335270" TargetMode="Externa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hyperlink" Target="https://citnet.tech.ec.europa.eu/CITnet/jira/projects/VECTO/versions/335270" TargetMode="Externa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 Box 94"/>
          <p:cNvSpPr/>
          <p:nvPr/>
        </p:nvSpPr>
        <p:spPr>
          <a:xfrm>
            <a:off x="539640" y="1052640"/>
            <a:ext cx="8135640" cy="398425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1599"/>
              </a:spcBef>
              <a:buNone/>
            </a:pPr>
            <a:r>
              <a:rPr lang="en-US" sz="3200" b="1" strike="noStrike" spc="-1" dirty="0">
                <a:solidFill>
                  <a:srgbClr val="990000"/>
                </a:solidFill>
                <a:latin typeface="Arial"/>
                <a:ea typeface="DejaVu Sans"/>
              </a:rPr>
              <a:t>VECTO 4.x</a:t>
            </a:r>
            <a:endParaRPr lang="en-US" sz="3200" b="0" strike="noStrike" spc="-1" dirty="0">
              <a:latin typeface="Arial"/>
            </a:endParaRPr>
          </a:p>
          <a:p>
            <a:pPr algn="ctr">
              <a:lnSpc>
                <a:spcPct val="100000"/>
              </a:lnSpc>
              <a:spcBef>
                <a:spcPts val="1001"/>
              </a:spcBef>
              <a:buNone/>
            </a:pPr>
            <a:r>
              <a:rPr lang="en-US" sz="2000" b="1" spc="-1" dirty="0">
                <a:solidFill>
                  <a:srgbClr val="990000"/>
                </a:solidFill>
                <a:latin typeface="Arial"/>
                <a:ea typeface="DejaVu Sans"/>
              </a:rPr>
              <a:t>6</a:t>
            </a:r>
            <a:r>
              <a:rPr lang="en-US" sz="2000" b="1" strike="noStrike" spc="-1" dirty="0">
                <a:solidFill>
                  <a:srgbClr val="990000"/>
                </a:solidFill>
                <a:latin typeface="Arial"/>
                <a:ea typeface="DejaVu Sans"/>
              </a:rPr>
              <a:t>.6.2023</a:t>
            </a:r>
            <a:endParaRPr lang="en-US" sz="20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001"/>
              </a:spcBef>
              <a:buNone/>
            </a:pPr>
            <a:endParaRPr lang="en-US" sz="20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endParaRPr lang="en-US" sz="2400" b="0" strike="noStrike" spc="-1" dirty="0">
              <a:latin typeface="Arial"/>
            </a:endParaRPr>
          </a:p>
          <a:p>
            <a:pPr algn="ctr">
              <a:lnSpc>
                <a:spcPct val="100000"/>
              </a:lnSpc>
              <a:spcBef>
                <a:spcPts val="1199"/>
              </a:spcBef>
              <a:buNone/>
            </a:pPr>
            <a:r>
              <a:rPr lang="en-US" sz="2400" b="1" strike="noStrike" spc="-1" dirty="0">
                <a:solidFill>
                  <a:srgbClr val="990000"/>
                </a:solidFill>
                <a:latin typeface="Arial"/>
                <a:ea typeface="DejaVu Sans"/>
              </a:rPr>
              <a:t>Release Notes</a:t>
            </a:r>
            <a:endParaRPr lang="en-US" sz="2400" b="0" strike="noStrike" spc="-1" dirty="0">
              <a:latin typeface="Arial"/>
            </a:endParaRPr>
          </a:p>
        </p:txBody>
      </p:sp>
      <p:pic>
        <p:nvPicPr>
          <p:cNvPr id="89" name="Picture 2"/>
          <p:cNvPicPr/>
          <p:nvPr/>
        </p:nvPicPr>
        <p:blipFill>
          <a:blip r:embed="rId2"/>
          <a:stretch/>
        </p:blipFill>
        <p:spPr>
          <a:xfrm>
            <a:off x="2483640" y="2421000"/>
            <a:ext cx="4175640" cy="162684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68360" y="714240"/>
            <a:ext cx="8217720" cy="680400"/>
          </a:xfrm>
          <a:prstGeom prst="rect">
            <a:avLst/>
          </a:prstGeom>
          <a:noFill/>
          <a:ln w="0">
            <a:noFill/>
          </a:ln>
        </p:spPr>
        <p:txBody>
          <a:bodyPr lIns="0" tIns="0" rIns="0" bIns="0" numCol="1" spcCol="0" anchor="ctr">
            <a:noAutofit/>
          </a:bodyPr>
          <a:lstStyle/>
          <a:p>
            <a:pPr algn="ctr">
              <a:lnSpc>
                <a:spcPct val="100000"/>
              </a:lnSpc>
              <a:buNone/>
            </a:pPr>
            <a:r>
              <a:rPr lang="en-US" sz="2400" b="1" spc="-1" dirty="0">
                <a:solidFill>
                  <a:srgbClr val="990000"/>
                </a:solidFill>
                <a:latin typeface="Arial"/>
              </a:rPr>
              <a:t>Vecto</a:t>
            </a:r>
            <a:r>
              <a:rPr lang="en-US" sz="2400" b="1" strike="noStrike" spc="-1" dirty="0">
                <a:solidFill>
                  <a:srgbClr val="990000"/>
                </a:solidFill>
                <a:latin typeface="Arial"/>
              </a:rPr>
              <a:t> 4.0.0.xx  Development Version</a:t>
            </a:r>
            <a:br>
              <a:rPr lang="en-US" sz="2400" b="1" strike="noStrike" spc="-1" dirty="0">
                <a:solidFill>
                  <a:srgbClr val="990000"/>
                </a:solidFill>
                <a:latin typeface="Arial"/>
              </a:rPr>
            </a:br>
            <a:r>
              <a:rPr lang="en-US" sz="2400" b="1" strike="noStrike" spc="-1" dirty="0">
                <a:solidFill>
                  <a:srgbClr val="990000"/>
                </a:solidFill>
                <a:latin typeface="Arial"/>
              </a:rPr>
              <a:t>NOT FOR CERTIFICATION!</a:t>
            </a:r>
            <a:r>
              <a:rPr lang="en-US" sz="2400" b="0" strike="noStrike" spc="-1" dirty="0">
                <a:latin typeface="Arial"/>
              </a:rPr>
              <a:t> </a:t>
            </a:r>
            <a:br>
              <a:rPr sz="2400" dirty="0"/>
            </a:br>
            <a:r>
              <a:rPr lang="en-US" sz="1600" b="1" strike="noStrike" spc="-1" dirty="0">
                <a:solidFill>
                  <a:srgbClr val="990000"/>
                </a:solidFill>
                <a:latin typeface="Arial"/>
              </a:rPr>
              <a:t>June 2023</a:t>
            </a:r>
            <a:endParaRPr lang="en-US" sz="1600" b="0" strike="noStrike" spc="-1" dirty="0">
              <a:latin typeface="Arial"/>
            </a:endParaRPr>
          </a:p>
        </p:txBody>
      </p:sp>
      <p:sp>
        <p:nvSpPr>
          <p:cNvPr id="91" name="PlaceHolder 2"/>
          <p:cNvSpPr/>
          <p:nvPr/>
        </p:nvSpPr>
        <p:spPr>
          <a:xfrm>
            <a:off x="419760" y="2050256"/>
            <a:ext cx="8495280" cy="437250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dirty="0">
                <a:solidFill>
                  <a:srgbClr val="000000"/>
                </a:solidFill>
                <a:latin typeface="Arial"/>
              </a:rPr>
              <a:t>First fully functional tool version according to the provisions of the 2</a:t>
            </a:r>
            <a:r>
              <a:rPr lang="en-US" sz="1600" b="1" strike="noStrike" spc="-1" baseline="30000" dirty="0">
                <a:solidFill>
                  <a:srgbClr val="000000"/>
                </a:solidFill>
                <a:latin typeface="Arial"/>
              </a:rPr>
              <a:t>nd</a:t>
            </a:r>
            <a:r>
              <a:rPr lang="en-US" sz="1600" b="1" strike="noStrike" spc="-1" dirty="0">
                <a:solidFill>
                  <a:srgbClr val="000000"/>
                </a:solidFill>
                <a:latin typeface="Arial"/>
              </a:rPr>
              <a:t> amendment of Regulation (EU) 2017/2400</a:t>
            </a:r>
            <a:r>
              <a:rPr lang="en-US" sz="1600" b="0" strike="noStrike" spc="-1" dirty="0">
                <a:solidFill>
                  <a:srgbClr val="000000"/>
                </a:solidFill>
                <a:latin typeface="Arial"/>
              </a:rPr>
              <a:t>.  </a:t>
            </a:r>
            <a:br>
              <a:rPr sz="1600" dirty="0"/>
            </a:br>
            <a:r>
              <a:rPr lang="en-US" sz="1600" b="0" strike="noStrike" spc="-1" dirty="0">
                <a:solidFill>
                  <a:srgbClr val="000000"/>
                </a:solidFill>
                <a:latin typeface="Arial"/>
              </a:rPr>
              <a:t> </a:t>
            </a:r>
            <a:endParaRPr lang="en-US" sz="1600" b="0" strike="noStrike" spc="-1" dirty="0">
              <a:latin typeface="Arial"/>
            </a:endParaRPr>
          </a:p>
          <a:p>
            <a:pPr marL="343080" indent="-343080">
              <a:lnSpc>
                <a:spcPct val="100000"/>
              </a:lnSpc>
              <a:spcBef>
                <a:spcPts val="320"/>
              </a:spcBef>
              <a:buClr>
                <a:srgbClr val="000000"/>
              </a:buClr>
              <a:buFont typeface="Symbol"/>
              <a:buChar char=""/>
              <a:tabLst>
                <a:tab pos="1886040" algn="l"/>
              </a:tabLst>
            </a:pPr>
            <a:r>
              <a:rPr lang="en-US" sz="1600" b="1" strike="noStrike" spc="-1" dirty="0">
                <a:solidFill>
                  <a:srgbClr val="000000"/>
                </a:solidFill>
                <a:latin typeface="Arial"/>
              </a:rPr>
              <a:t>Changes</a:t>
            </a:r>
            <a:endParaRPr lang="en-US" sz="1600" b="0" strike="noStrike" spc="-1" dirty="0">
              <a:latin typeface="Arial"/>
            </a:endParaRPr>
          </a:p>
          <a:p>
            <a:pPr marL="743040" lvl="1" indent="-285840">
              <a:lnSpc>
                <a:spcPct val="100000"/>
              </a:lnSpc>
              <a:spcBef>
                <a:spcPts val="281"/>
              </a:spcBef>
              <a:buClr>
                <a:srgbClr val="000000"/>
              </a:buClr>
              <a:buFont typeface="Symbol"/>
              <a:buChar char=""/>
              <a:tabLst>
                <a:tab pos="1886040" algn="l"/>
              </a:tabLst>
            </a:pPr>
            <a:r>
              <a:rPr lang="en-US" sz="1400" spc="-1" dirty="0">
                <a:solidFill>
                  <a:srgbClr val="000000"/>
                </a:solidFill>
              </a:rPr>
              <a:t>Dropped support for </a:t>
            </a:r>
            <a:r>
              <a:rPr lang="en-US" sz="1400" spc="-1" dirty="0" err="1">
                <a:solidFill>
                  <a:srgbClr val="000000"/>
                </a:solidFill>
              </a:rPr>
              <a:t>.Net</a:t>
            </a:r>
            <a:r>
              <a:rPr lang="en-US" sz="1400" spc="-1" dirty="0">
                <a:solidFill>
                  <a:srgbClr val="000000"/>
                </a:solidFill>
              </a:rPr>
              <a:t> Framework 4.5 (EOL 04/2022)</a:t>
            </a:r>
          </a:p>
          <a:p>
            <a:pPr marL="1200240" lvl="2" indent="-285840">
              <a:spcBef>
                <a:spcPts val="281"/>
              </a:spcBef>
              <a:buClr>
                <a:srgbClr val="000000"/>
              </a:buClr>
              <a:buFont typeface="Symbol"/>
              <a:buChar char=""/>
              <a:tabLst>
                <a:tab pos="1886040" algn="l"/>
              </a:tabLst>
            </a:pPr>
            <a:r>
              <a:rPr lang="en-US" sz="1400" spc="-1" dirty="0">
                <a:solidFill>
                  <a:srgbClr val="000000"/>
                </a:solidFill>
              </a:rPr>
              <a:t>Supported </a:t>
            </a:r>
            <a:r>
              <a:rPr lang="en-US" sz="1400" spc="-1" dirty="0" err="1">
                <a:solidFill>
                  <a:srgbClr val="000000"/>
                </a:solidFill>
              </a:rPr>
              <a:t>.Net</a:t>
            </a:r>
            <a:r>
              <a:rPr lang="en-US" sz="1400" spc="-1" dirty="0">
                <a:solidFill>
                  <a:srgbClr val="000000"/>
                </a:solidFill>
              </a:rPr>
              <a:t> versions: </a:t>
            </a:r>
            <a:r>
              <a:rPr lang="en-US" sz="1400" spc="-1" dirty="0" err="1">
                <a:solidFill>
                  <a:srgbClr val="000000"/>
                </a:solidFill>
              </a:rPr>
              <a:t>.Net</a:t>
            </a:r>
            <a:r>
              <a:rPr lang="en-US" sz="1400" spc="-1" dirty="0">
                <a:solidFill>
                  <a:srgbClr val="000000"/>
                </a:solidFill>
              </a:rPr>
              <a:t> Framework 4.8, </a:t>
            </a:r>
            <a:r>
              <a:rPr lang="en-US" sz="1400" spc="-1" dirty="0" err="1">
                <a:solidFill>
                  <a:srgbClr val="000000"/>
                </a:solidFill>
              </a:rPr>
              <a:t>.Net</a:t>
            </a:r>
            <a:r>
              <a:rPr lang="en-US" sz="1400" spc="-1" dirty="0">
                <a:solidFill>
                  <a:srgbClr val="000000"/>
                </a:solidFill>
              </a:rPr>
              <a:t> 6.0</a:t>
            </a:r>
          </a:p>
          <a:p>
            <a:pPr marL="743040" lvl="1" indent="-285840">
              <a:lnSpc>
                <a:spcPct val="100000"/>
              </a:lnSpc>
              <a:spcBef>
                <a:spcPts val="281"/>
              </a:spcBef>
              <a:buClr>
                <a:srgbClr val="000000"/>
              </a:buClr>
              <a:buFont typeface="Symbol"/>
              <a:buChar char=""/>
              <a:tabLst>
                <a:tab pos="1886040" algn="l"/>
              </a:tabLst>
            </a:pPr>
            <a:r>
              <a:rPr lang="en-US" sz="1400" b="0" strike="noStrike" spc="-1" dirty="0">
                <a:solidFill>
                  <a:srgbClr val="000000"/>
                </a:solidFill>
                <a:latin typeface="Arial"/>
              </a:rPr>
              <a:t>Implementation of Declaration-Mode for </a:t>
            </a:r>
            <a:r>
              <a:rPr lang="en-US" sz="1400" b="0" strike="noStrike" spc="-1" dirty="0" err="1">
                <a:solidFill>
                  <a:srgbClr val="000000"/>
                </a:solidFill>
                <a:latin typeface="Arial"/>
              </a:rPr>
              <a:t>xEV</a:t>
            </a:r>
            <a:r>
              <a:rPr lang="en-US" sz="1400" b="0" strike="noStrike" spc="-1" dirty="0">
                <a:solidFill>
                  <a:srgbClr val="000000"/>
                </a:solidFill>
                <a:latin typeface="Arial"/>
              </a:rPr>
              <a:t>-Buses (see next slides)</a:t>
            </a:r>
          </a:p>
          <a:p>
            <a:pPr marL="1200240" lvl="2" indent="-285840">
              <a:spcBef>
                <a:spcPts val="281"/>
              </a:spcBef>
              <a:buClr>
                <a:srgbClr val="000000"/>
              </a:buClr>
              <a:buFont typeface="Symbol"/>
              <a:buChar char=""/>
              <a:tabLst>
                <a:tab pos="1886040" algn="l"/>
              </a:tabLst>
            </a:pPr>
            <a:r>
              <a:rPr lang="en-US" sz="1400" b="0" strike="noStrike" spc="-1" dirty="0">
                <a:solidFill>
                  <a:srgbClr val="000000"/>
                </a:solidFill>
                <a:latin typeface="Arial"/>
              </a:rPr>
              <a:t>New </a:t>
            </a:r>
            <a:r>
              <a:rPr lang="en-US" sz="1400" spc="-1" dirty="0">
                <a:solidFill>
                  <a:srgbClr val="000000"/>
                </a:solidFill>
                <a:latin typeface="Arial"/>
              </a:rPr>
              <a:t>g</a:t>
            </a:r>
            <a:r>
              <a:rPr lang="en-US" sz="1400" b="0" strike="noStrike" spc="-1" dirty="0">
                <a:solidFill>
                  <a:srgbClr val="000000"/>
                </a:solidFill>
                <a:latin typeface="Arial"/>
              </a:rPr>
              <a:t>eneric </a:t>
            </a:r>
            <a:r>
              <a:rPr lang="en-US" sz="1400" spc="-1" dirty="0">
                <a:solidFill>
                  <a:srgbClr val="000000"/>
                </a:solidFill>
                <a:latin typeface="Arial"/>
              </a:rPr>
              <a:t>vehicles (XML)</a:t>
            </a:r>
          </a:p>
          <a:p>
            <a:pPr marL="743040" lvl="1" indent="-285840">
              <a:spcBef>
                <a:spcPts val="281"/>
              </a:spcBef>
              <a:buClr>
                <a:srgbClr val="000000"/>
              </a:buClr>
              <a:buFont typeface="Symbol"/>
              <a:buChar char=""/>
              <a:tabLst>
                <a:tab pos="1886040" algn="l"/>
              </a:tabLst>
            </a:pPr>
            <a:r>
              <a:rPr lang="en-US" sz="1400" b="0" strike="noStrike" spc="-1" dirty="0">
                <a:solidFill>
                  <a:srgbClr val="000000"/>
                </a:solidFill>
                <a:latin typeface="Arial"/>
              </a:rPr>
              <a:t>Bugfixes XML </a:t>
            </a:r>
            <a:r>
              <a:rPr lang="en-US" sz="1400" spc="-1" dirty="0">
                <a:solidFill>
                  <a:srgbClr val="000000"/>
                </a:solidFill>
                <a:latin typeface="Arial"/>
              </a:rPr>
              <a:t>schema (see VECTO DEV WS #16, sl. 4)</a:t>
            </a:r>
          </a:p>
          <a:p>
            <a:pPr marL="743040" lvl="1" indent="-285840">
              <a:spcBef>
                <a:spcPts val="281"/>
              </a:spcBef>
              <a:buClr>
                <a:srgbClr val="000000"/>
              </a:buClr>
              <a:buFont typeface="Symbol"/>
              <a:buChar char=""/>
              <a:tabLst>
                <a:tab pos="1886040" algn="l"/>
              </a:tabLst>
            </a:pPr>
            <a:r>
              <a:rPr lang="en-US" sz="1400" b="0" strike="noStrike" spc="-1" dirty="0">
                <a:solidFill>
                  <a:srgbClr val="000000"/>
                </a:solidFill>
                <a:latin typeface="Arial"/>
              </a:rPr>
              <a:t>Bugfixes Battery Capacity in MRF/CIF (see VECTO DEV WS #16, sl. 5)</a:t>
            </a:r>
          </a:p>
          <a:p>
            <a:pPr marL="743040" lvl="1" indent="-285840">
              <a:spcBef>
                <a:spcPts val="281"/>
              </a:spcBef>
              <a:buClr>
                <a:srgbClr val="000000"/>
              </a:buClr>
              <a:buFont typeface="Symbol"/>
              <a:buChar char=""/>
              <a:tabLst>
                <a:tab pos="1886040" algn="l"/>
              </a:tabLst>
            </a:pPr>
            <a:r>
              <a:rPr lang="en-US" sz="1400" b="0" strike="noStrike" spc="-1" dirty="0">
                <a:solidFill>
                  <a:srgbClr val="000000"/>
                </a:solidFill>
                <a:latin typeface="Arial"/>
              </a:rPr>
              <a:t>Correction of internal resistance in case</a:t>
            </a:r>
            <a:r>
              <a:rPr lang="en-US" sz="1400" spc="-1" dirty="0">
                <a:solidFill>
                  <a:srgbClr val="000000"/>
                </a:solidFill>
                <a:latin typeface="Arial"/>
              </a:rPr>
              <a:t> of standard values for batteries (see VECTO DEV WS #16, sl. 6)</a:t>
            </a:r>
            <a:endParaRPr lang="en-US" sz="1400" b="0" strike="noStrike" spc="-1" dirty="0">
              <a:solidFill>
                <a:srgbClr val="000000"/>
              </a:solidFill>
              <a:latin typeface="Arial"/>
            </a:endParaRPr>
          </a:p>
          <a:p>
            <a:pPr>
              <a:lnSpc>
                <a:spcPct val="100000"/>
              </a:lnSpc>
              <a:spcBef>
                <a:spcPts val="281"/>
              </a:spcBef>
              <a:buNone/>
              <a:tabLst>
                <a:tab pos="1886040" algn="l"/>
              </a:tabLst>
            </a:pPr>
            <a:endParaRPr lang="en-US" sz="1400" b="0" strike="noStrike" spc="-1" dirty="0">
              <a:latin typeface="Arial"/>
            </a:endParaRPr>
          </a:p>
          <a:p>
            <a:pPr>
              <a:lnSpc>
                <a:spcPct val="100000"/>
              </a:lnSpc>
              <a:buNone/>
              <a:tabLst>
                <a:tab pos="1886040" algn="l"/>
              </a:tabLst>
            </a:pPr>
            <a:endParaRPr lang="en-US" sz="1400" b="0" strike="noStrike" spc="-1" dirty="0">
              <a:latin typeface="Arial"/>
            </a:endParaRPr>
          </a:p>
          <a:p>
            <a:pPr>
              <a:lnSpc>
                <a:spcPct val="100000"/>
              </a:lnSpc>
              <a:buNone/>
              <a:tabLst>
                <a:tab pos="1886040" algn="l"/>
              </a:tabLst>
            </a:pPr>
            <a:endParaRPr lang="en-US" sz="1400" b="0" strike="noStrike" spc="-1" dirty="0">
              <a:latin typeface="Arial"/>
            </a:endParaRPr>
          </a:p>
        </p:txBody>
      </p:sp>
    </p:spTree>
    <p:extLst>
      <p:ext uri="{BB962C8B-B14F-4D97-AF65-F5344CB8AC3E}">
        <p14:creationId xmlns:p14="http://schemas.microsoft.com/office/powerpoint/2010/main" val="3987543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267392"/>
          </a:xfrm>
        </p:spPr>
        <p:txBody>
          <a:bodyPr/>
          <a:lstStyle/>
          <a:p>
            <a:r>
              <a:rPr lang="en-US" sz="2400" b="1" spc="-1" dirty="0">
                <a:solidFill>
                  <a:srgbClr val="990000"/>
                </a:solidFill>
                <a:latin typeface="Arial"/>
              </a:rPr>
              <a:t>Updated bus auxiliary model (1/2)</a:t>
            </a:r>
            <a:endParaRPr lang="en-GB" sz="2400" b="1" spc="-1" dirty="0">
              <a:solidFill>
                <a:srgbClr val="990000"/>
              </a:solidFill>
              <a:latin typeface="Aria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3</a:t>
            </a:fld>
            <a:endParaRPr lang="de-DE"/>
          </a:p>
        </p:txBody>
      </p:sp>
      <p:sp>
        <p:nvSpPr>
          <p:cNvPr id="8" name="Inhaltsplatzhalter 7"/>
          <p:cNvSpPr>
            <a:spLocks noGrp="1"/>
          </p:cNvSpPr>
          <p:nvPr>
            <p:ph idx="1"/>
          </p:nvPr>
        </p:nvSpPr>
        <p:spPr>
          <a:xfrm>
            <a:off x="585333" y="1802765"/>
            <a:ext cx="8229240" cy="3977280"/>
          </a:xfrm>
        </p:spPr>
        <p:txBody>
          <a:bodyPr/>
          <a:lstStyle/>
          <a:p>
            <a:r>
              <a:rPr lang="en-US" sz="1800" dirty="0"/>
              <a:t>From the existing basis for conventional ICE-only buses released in summer 2020, the following elements were implemented/adapted:</a:t>
            </a:r>
          </a:p>
          <a:p>
            <a:pPr lvl="1"/>
            <a:r>
              <a:rPr lang="en-US" sz="1400" dirty="0"/>
              <a:t>Multiple bug-fixes in existing code developed by other contractor</a:t>
            </a:r>
            <a:br>
              <a:rPr lang="en-US" sz="1400" dirty="0"/>
            </a:br>
            <a:r>
              <a:rPr lang="en-US" sz="1400" i="1" dirty="0">
                <a:sym typeface="Wingdings" panose="05000000000000000000" pitchFamily="2" charset="2"/>
              </a:rPr>
              <a:t> exact aux power demand does not match anymore with 2020 version</a:t>
            </a:r>
          </a:p>
          <a:p>
            <a:pPr lvl="1"/>
            <a:r>
              <a:rPr lang="en-US" sz="1400" dirty="0">
                <a:sym typeface="Wingdings" panose="05000000000000000000" pitchFamily="2" charset="2"/>
              </a:rPr>
              <a:t>Basic methodology for determining aux power demand of each specific system was kept</a:t>
            </a:r>
            <a:br>
              <a:rPr lang="en-US" sz="1400" dirty="0">
                <a:sym typeface="Wingdings" panose="05000000000000000000" pitchFamily="2" charset="2"/>
              </a:rPr>
            </a:br>
            <a:r>
              <a:rPr lang="en-US" sz="1400" i="1" dirty="0">
                <a:sym typeface="Wingdings" panose="05000000000000000000" pitchFamily="2" charset="2"/>
              </a:rPr>
              <a:t> post-processing of all different systems was correctly implemented from a methodical point of view and completely restructured to be compatible with other elements outside of bus aux model</a:t>
            </a:r>
          </a:p>
          <a:p>
            <a:pPr lvl="1"/>
            <a:r>
              <a:rPr lang="en-US" sz="1400" dirty="0"/>
              <a:t>Different calculation cases for HEV depending on source of electric aux power (alternator or HV-REESS) and also alternator type (smart or not) implemented</a:t>
            </a:r>
          </a:p>
          <a:p>
            <a:pPr lvl="1"/>
            <a:endParaRPr lang="en-US" sz="1400" dirty="0"/>
          </a:p>
          <a:p>
            <a:pPr lvl="1"/>
            <a:endParaRPr lang="en-US" sz="1400" dirty="0"/>
          </a:p>
          <a:p>
            <a:pPr lvl="1"/>
            <a:endParaRPr lang="en-US" sz="1400" dirty="0"/>
          </a:p>
          <a:p>
            <a:pPr lvl="1"/>
            <a:endParaRPr lang="en-US" sz="1400" dirty="0"/>
          </a:p>
          <a:p>
            <a:pPr lvl="1"/>
            <a:r>
              <a:rPr lang="en-US" sz="1400" dirty="0"/>
              <a:t>Details regarding methodology for post-processing can be found in DEV-WS#6 (12.07.2021)</a:t>
            </a:r>
          </a:p>
          <a:p>
            <a:pPr lvl="1"/>
            <a:endParaRPr lang="en-US" sz="1400" dirty="0"/>
          </a:p>
        </p:txBody>
      </p:sp>
      <p:pic>
        <p:nvPicPr>
          <p:cNvPr id="3" name="Grafik 2"/>
          <p:cNvPicPr>
            <a:picLocks noChangeAspect="1"/>
          </p:cNvPicPr>
          <p:nvPr/>
        </p:nvPicPr>
        <p:blipFill>
          <a:blip r:embed="rId2"/>
          <a:stretch>
            <a:fillRect/>
          </a:stretch>
        </p:blipFill>
        <p:spPr>
          <a:xfrm>
            <a:off x="1319516" y="4063284"/>
            <a:ext cx="5399589" cy="1003172"/>
          </a:xfrm>
          <a:prstGeom prst="rect">
            <a:avLst/>
          </a:prstGeom>
        </p:spPr>
      </p:pic>
      <p:sp>
        <p:nvSpPr>
          <p:cNvPr id="9" name="PlaceHolder 1">
            <a:extLst>
              <a:ext uri="{FF2B5EF4-FFF2-40B4-BE49-F238E27FC236}">
                <a16:creationId xmlns:a16="http://schemas.microsoft.com/office/drawing/2014/main" id="{E6014A77-AE86-40F5-906C-089A798937F1}"/>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1520308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267392"/>
          </a:xfrm>
        </p:spPr>
        <p:txBody>
          <a:bodyPr/>
          <a:lstStyle/>
          <a:p>
            <a:r>
              <a:rPr lang="en-US" sz="2400" b="1" spc="-1" dirty="0">
                <a:solidFill>
                  <a:srgbClr val="990000"/>
                </a:solidFill>
                <a:latin typeface="Arial"/>
              </a:rPr>
              <a:t>Updated bus auxiliary model (2/2)</a:t>
            </a:r>
            <a:endParaRPr lang="en-GB" sz="2400" b="1" spc="-1" dirty="0">
              <a:solidFill>
                <a:srgbClr val="990000"/>
              </a:solidFill>
              <a:latin typeface="Aria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4</a:t>
            </a:fld>
            <a:endParaRPr lang="de-DE"/>
          </a:p>
        </p:txBody>
      </p:sp>
      <p:sp>
        <p:nvSpPr>
          <p:cNvPr id="8" name="Inhaltsplatzhalter 7"/>
          <p:cNvSpPr>
            <a:spLocks noGrp="1"/>
          </p:cNvSpPr>
          <p:nvPr>
            <p:ph idx="1"/>
          </p:nvPr>
        </p:nvSpPr>
        <p:spPr/>
        <p:txBody>
          <a:bodyPr/>
          <a:lstStyle/>
          <a:p>
            <a:r>
              <a:rPr lang="en-US" sz="1800" dirty="0"/>
              <a:t>List continued…</a:t>
            </a:r>
          </a:p>
          <a:p>
            <a:pPr lvl="1"/>
            <a:r>
              <a:rPr lang="en-US" sz="1800" dirty="0"/>
              <a:t>Electric technologies for all different aux systems</a:t>
            </a:r>
          </a:p>
          <a:p>
            <a:pPr lvl="1"/>
            <a:r>
              <a:rPr lang="en-US" sz="1800" dirty="0"/>
              <a:t>HVAC specific:</a:t>
            </a:r>
          </a:p>
          <a:p>
            <a:pPr lvl="2"/>
            <a:r>
              <a:rPr lang="en-US" sz="1600" dirty="0"/>
              <a:t>Input data structure for HVAC systems</a:t>
            </a:r>
            <a:br>
              <a:rPr lang="en-US" sz="1600" dirty="0"/>
            </a:br>
            <a:r>
              <a:rPr lang="en-US" sz="1600" dirty="0"/>
              <a:t>+ differentiation of systems for cooling and heating </a:t>
            </a:r>
          </a:p>
          <a:p>
            <a:pPr lvl="2"/>
            <a:r>
              <a:rPr lang="en-US" sz="1600" dirty="0"/>
              <a:t>Generation of cooling/heating power depending on HVAC system layout and technologies (handling of mixed configurations)</a:t>
            </a:r>
          </a:p>
          <a:p>
            <a:pPr lvl="1"/>
            <a:r>
              <a:rPr lang="en-US" sz="1800" dirty="0"/>
              <a:t>Methods for smart alternators (i.e. P0-HEV)</a:t>
            </a:r>
          </a:p>
          <a:p>
            <a:pPr lvl="1"/>
            <a:r>
              <a:rPr lang="en-US" sz="1800" dirty="0"/>
              <a:t>Methods for engine stop-start and corresponding post-processing</a:t>
            </a:r>
          </a:p>
          <a:p>
            <a:pPr lvl="1"/>
            <a:r>
              <a:rPr lang="en-US" sz="1800" dirty="0"/>
              <a:t>Methods for post-processing for all electrical auxiliary technologies</a:t>
            </a:r>
          </a:p>
          <a:p>
            <a:pPr lvl="1"/>
            <a:r>
              <a:rPr lang="en-US" sz="1800" dirty="0"/>
              <a:t>Methods for auxiliary fuel heater for different powertrain architectures</a:t>
            </a:r>
          </a:p>
          <a:p>
            <a:pPr lvl="1"/>
            <a:r>
              <a:rPr lang="en-US" sz="1800" dirty="0"/>
              <a:t>Differentiation in output regarding electrical or mechanical energy demand</a:t>
            </a:r>
          </a:p>
          <a:p>
            <a:endParaRPr lang="en-GB" sz="1800" dirty="0"/>
          </a:p>
        </p:txBody>
      </p:sp>
      <p:sp>
        <p:nvSpPr>
          <p:cNvPr id="5" name="PlaceHolder 1">
            <a:extLst>
              <a:ext uri="{FF2B5EF4-FFF2-40B4-BE49-F238E27FC236}">
                <a16:creationId xmlns:a16="http://schemas.microsoft.com/office/drawing/2014/main" id="{CF33E546-21BA-4D1D-8AF4-3E6314D86E02}"/>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1862639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2" y="850197"/>
            <a:ext cx="8488329" cy="267392"/>
          </a:xfrm>
        </p:spPr>
        <p:txBody>
          <a:bodyPr/>
          <a:lstStyle/>
          <a:p>
            <a:r>
              <a:rPr lang="en-US" sz="2400" b="1" spc="-1" dirty="0">
                <a:solidFill>
                  <a:srgbClr val="990000"/>
                </a:solidFill>
                <a:latin typeface="Arial"/>
              </a:rPr>
              <a:t>Updated bus auxiliary model – HVAC implementation (1/5)</a:t>
            </a:r>
            <a:endParaRPr lang="en-GB" sz="2400" b="1" spc="-1" dirty="0">
              <a:solidFill>
                <a:srgbClr val="990000"/>
              </a:solidFill>
              <a:latin typeface="Aria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5</a:t>
            </a:fld>
            <a:endParaRPr lang="de-DE"/>
          </a:p>
        </p:txBody>
      </p:sp>
      <p:sp>
        <p:nvSpPr>
          <p:cNvPr id="8" name="Inhaltsplatzhalter 7"/>
          <p:cNvSpPr>
            <a:spLocks noGrp="1"/>
          </p:cNvSpPr>
          <p:nvPr>
            <p:ph idx="1"/>
          </p:nvPr>
        </p:nvSpPr>
        <p:spPr>
          <a:xfrm>
            <a:off x="622356" y="2137413"/>
            <a:ext cx="7044974" cy="3482007"/>
          </a:xfrm>
        </p:spPr>
        <p:txBody>
          <a:bodyPr/>
          <a:lstStyle/>
          <a:p>
            <a:r>
              <a:rPr lang="en-US" sz="1800" dirty="0"/>
              <a:t>Details for HVAC system implementation</a:t>
            </a:r>
          </a:p>
          <a:p>
            <a:pPr lvl="1"/>
            <a:r>
              <a:rPr lang="en-US" sz="1600" dirty="0"/>
              <a:t>Generic values for efficiency/COP for all different</a:t>
            </a:r>
            <a:br>
              <a:rPr lang="en-US" sz="1600" dirty="0"/>
            </a:br>
            <a:r>
              <a:rPr lang="en-US" sz="1600" dirty="0"/>
              <a:t>cooling/heating systems</a:t>
            </a:r>
          </a:p>
          <a:p>
            <a:pPr lvl="1"/>
            <a:r>
              <a:rPr lang="en-US" sz="1600" dirty="0"/>
              <a:t>Generic load share per technology for all possible cases of combination of different heating systems</a:t>
            </a:r>
          </a:p>
          <a:p>
            <a:endParaRPr lang="en-GB" sz="1800" dirty="0"/>
          </a:p>
        </p:txBody>
      </p:sp>
      <p:sp>
        <p:nvSpPr>
          <p:cNvPr id="3" name="Geschweifte Klammer rechts 2"/>
          <p:cNvSpPr/>
          <p:nvPr/>
        </p:nvSpPr>
        <p:spPr>
          <a:xfrm>
            <a:off x="7190247" y="2460661"/>
            <a:ext cx="352130" cy="99212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5" name="Textfeld 4"/>
          <p:cNvSpPr txBox="1"/>
          <p:nvPr/>
        </p:nvSpPr>
        <p:spPr>
          <a:xfrm>
            <a:off x="7667331" y="2541224"/>
            <a:ext cx="1283567" cy="830997"/>
          </a:xfrm>
          <a:prstGeom prst="rect">
            <a:avLst/>
          </a:prstGeom>
          <a:noFill/>
        </p:spPr>
        <p:txBody>
          <a:bodyPr wrap="square" rtlCol="0">
            <a:spAutoFit/>
          </a:bodyPr>
          <a:lstStyle/>
          <a:p>
            <a:r>
              <a:rPr lang="en-US" sz="1200" i="1" dirty="0">
                <a:solidFill>
                  <a:srgbClr val="FF0000"/>
                </a:solidFill>
              </a:rPr>
              <a:t>as presented and distributed in DEV-WS#12 (18.05.2022)</a:t>
            </a:r>
            <a:endParaRPr lang="de-AT" sz="1200" i="1" dirty="0">
              <a:solidFill>
                <a:srgbClr val="FF0000"/>
              </a:solidFill>
            </a:endParaRPr>
          </a:p>
        </p:txBody>
      </p:sp>
      <p:pic>
        <p:nvPicPr>
          <p:cNvPr id="10" name="Grafik 9"/>
          <p:cNvPicPr>
            <a:picLocks noChangeAspect="1"/>
          </p:cNvPicPr>
          <p:nvPr/>
        </p:nvPicPr>
        <p:blipFill>
          <a:blip r:embed="rId2"/>
          <a:stretch>
            <a:fillRect/>
          </a:stretch>
        </p:blipFill>
        <p:spPr>
          <a:xfrm>
            <a:off x="622357" y="3487951"/>
            <a:ext cx="4653902" cy="1356105"/>
          </a:xfrm>
          <a:prstGeom prst="rect">
            <a:avLst/>
          </a:prstGeom>
        </p:spPr>
      </p:pic>
      <p:pic>
        <p:nvPicPr>
          <p:cNvPr id="11" name="Grafik 10"/>
          <p:cNvPicPr>
            <a:picLocks noChangeAspect="1"/>
          </p:cNvPicPr>
          <p:nvPr/>
        </p:nvPicPr>
        <p:blipFill>
          <a:blip r:embed="rId3"/>
          <a:stretch>
            <a:fillRect/>
          </a:stretch>
        </p:blipFill>
        <p:spPr>
          <a:xfrm>
            <a:off x="3747368" y="4459029"/>
            <a:ext cx="5061295" cy="1492796"/>
          </a:xfrm>
          <a:prstGeom prst="rect">
            <a:avLst/>
          </a:prstGeom>
        </p:spPr>
      </p:pic>
      <p:sp>
        <p:nvSpPr>
          <p:cNvPr id="16" name="Textfeld 15"/>
          <p:cNvSpPr txBox="1"/>
          <p:nvPr/>
        </p:nvSpPr>
        <p:spPr>
          <a:xfrm>
            <a:off x="5935741" y="4022169"/>
            <a:ext cx="2509013" cy="461665"/>
          </a:xfrm>
          <a:prstGeom prst="rect">
            <a:avLst/>
          </a:prstGeom>
          <a:noFill/>
        </p:spPr>
        <p:txBody>
          <a:bodyPr wrap="square" rtlCol="0">
            <a:spAutoFit/>
          </a:bodyPr>
          <a:lstStyle/>
          <a:p>
            <a:pPr algn="ctr"/>
            <a:r>
              <a:rPr lang="en-US" sz="1200" i="1" dirty="0">
                <a:solidFill>
                  <a:srgbClr val="FF0000"/>
                </a:solidFill>
              </a:rPr>
              <a:t>Example for one specific load distribution case</a:t>
            </a:r>
            <a:endParaRPr lang="de-AT" sz="1200" i="1" dirty="0">
              <a:solidFill>
                <a:srgbClr val="FF0000"/>
              </a:solidFill>
            </a:endParaRPr>
          </a:p>
        </p:txBody>
      </p:sp>
      <p:sp>
        <p:nvSpPr>
          <p:cNvPr id="12" name="PlaceHolder 1">
            <a:extLst>
              <a:ext uri="{FF2B5EF4-FFF2-40B4-BE49-F238E27FC236}">
                <a16:creationId xmlns:a16="http://schemas.microsoft.com/office/drawing/2014/main" id="{6D071655-0AC5-4B0D-93F5-F315085B688A}"/>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3017779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4B64EC4D-37E3-EF42-B9AB-6337577588CB}" type="slidenum">
              <a:rPr lang="de-DE" smtClean="0"/>
              <a:t>6</a:t>
            </a:fld>
            <a:endParaRPr lang="de-DE"/>
          </a:p>
        </p:txBody>
      </p:sp>
      <p:sp>
        <p:nvSpPr>
          <p:cNvPr id="8" name="Inhaltsplatzhalter 7"/>
          <p:cNvSpPr>
            <a:spLocks noGrp="1"/>
          </p:cNvSpPr>
          <p:nvPr>
            <p:ph idx="1"/>
          </p:nvPr>
        </p:nvSpPr>
        <p:spPr>
          <a:xfrm>
            <a:off x="622356" y="2137413"/>
            <a:ext cx="8394643" cy="3482007"/>
          </a:xfrm>
        </p:spPr>
        <p:txBody>
          <a:bodyPr/>
          <a:lstStyle/>
          <a:p>
            <a:r>
              <a:rPr lang="en-US" sz="1800" dirty="0"/>
              <a:t>Matching of configurations defined in Annex to specific calculation settings</a:t>
            </a:r>
            <a:br>
              <a:rPr lang="en-US" sz="1800" dirty="0"/>
            </a:br>
            <a:endParaRPr lang="en-US" sz="1800" dirty="0"/>
          </a:p>
          <a:p>
            <a:pPr marL="4572000" lvl="1"/>
            <a:r>
              <a:rPr lang="en-US" sz="1600" dirty="0"/>
              <a:t>Separate consideration of all cases for cooling and heating</a:t>
            </a:r>
          </a:p>
          <a:p>
            <a:pPr marL="4572000" lvl="1"/>
            <a:r>
              <a:rPr lang="en-US" sz="1600" dirty="0"/>
              <a:t>Configuration defines:</a:t>
            </a:r>
          </a:p>
          <a:p>
            <a:pPr marL="5021262" lvl="2"/>
            <a:r>
              <a:rPr lang="en-US" sz="1400" dirty="0"/>
              <a:t>If thermal comfort system is available</a:t>
            </a:r>
            <a:br>
              <a:rPr lang="en-US" sz="1400" dirty="0"/>
            </a:br>
            <a:r>
              <a:rPr lang="en-US" sz="1400" i="1" dirty="0"/>
              <a:t>(effect on ventilation power demand via different air exchange rate)</a:t>
            </a:r>
          </a:p>
          <a:p>
            <a:pPr marL="5021262" lvl="2"/>
            <a:r>
              <a:rPr lang="en-US" sz="1400" dirty="0"/>
              <a:t>If heat-pump is available for driver and/or passenger compartment</a:t>
            </a:r>
          </a:p>
          <a:p>
            <a:pPr marL="5021262" lvl="2"/>
            <a:r>
              <a:rPr lang="en-US" sz="1400" dirty="0"/>
              <a:t>If heat-pump of passenger compartment supplies also driver compartment</a:t>
            </a:r>
          </a:p>
          <a:p>
            <a:pPr marL="5021262" lvl="2"/>
            <a:r>
              <a:rPr lang="en-US" sz="1400" dirty="0"/>
              <a:t>Number of heat-pumps available </a:t>
            </a:r>
            <a:br>
              <a:rPr lang="en-US" sz="1400" dirty="0"/>
            </a:br>
            <a:r>
              <a:rPr lang="en-US" sz="1400" i="1" dirty="0"/>
              <a:t>(effect on limitation of heating/cooling power; more heat-pumps, more power)</a:t>
            </a:r>
            <a:endParaRPr lang="en-US" sz="1400" dirty="0"/>
          </a:p>
          <a:p>
            <a:pPr marL="0" indent="0">
              <a:buNone/>
            </a:pPr>
            <a:endParaRPr lang="en-US" sz="1800" dirty="0"/>
          </a:p>
          <a:p>
            <a:endParaRPr lang="en-GB" sz="1800" dirty="0"/>
          </a:p>
        </p:txBody>
      </p:sp>
      <p:pic>
        <p:nvPicPr>
          <p:cNvPr id="10" name="Grafik 9">
            <a:extLst>
              <a:ext uri="{FF2B5EF4-FFF2-40B4-BE49-F238E27FC236}">
                <a16:creationId xmlns:a16="http://schemas.microsoft.com/office/drawing/2014/main" id="{00000000-0008-0000-0000-000003000000}"/>
              </a:ext>
            </a:extLst>
          </p:cNvPr>
          <p:cNvPicPr>
            <a:picLocks noChangeAspect="1"/>
          </p:cNvPicPr>
          <p:nvPr/>
        </p:nvPicPr>
        <p:blipFill rotWithShape="1">
          <a:blip r:embed="rId2"/>
          <a:srcRect l="2922" r="2688"/>
          <a:stretch/>
        </p:blipFill>
        <p:spPr>
          <a:xfrm>
            <a:off x="457199" y="2414046"/>
            <a:ext cx="4427316" cy="3593265"/>
          </a:xfrm>
          <a:prstGeom prst="rect">
            <a:avLst/>
          </a:prstGeom>
        </p:spPr>
      </p:pic>
      <p:sp>
        <p:nvSpPr>
          <p:cNvPr id="12" name="Textfeld 11"/>
          <p:cNvSpPr txBox="1"/>
          <p:nvPr/>
        </p:nvSpPr>
        <p:spPr>
          <a:xfrm rot="18794450">
            <a:off x="1274141" y="3824731"/>
            <a:ext cx="2053920" cy="415498"/>
          </a:xfrm>
          <a:prstGeom prst="rect">
            <a:avLst/>
          </a:prstGeom>
          <a:solidFill>
            <a:schemeClr val="accent1"/>
          </a:solidFill>
          <a:ln>
            <a:solidFill>
              <a:srgbClr val="002060"/>
            </a:solidFill>
          </a:ln>
        </p:spPr>
        <p:txBody>
          <a:bodyPr wrap="square" rtlCol="0">
            <a:spAutoFit/>
          </a:bodyPr>
          <a:lstStyle/>
          <a:p>
            <a:pPr algn="ctr"/>
            <a:r>
              <a:rPr lang="en-US" sz="1050" b="1" i="1" dirty="0">
                <a:solidFill>
                  <a:schemeClr val="bg1"/>
                </a:solidFill>
              </a:rPr>
              <a:t>NB: Input independent of cooling/heating functionality!</a:t>
            </a:r>
            <a:endParaRPr lang="de-AT" sz="1050" b="1" i="1" dirty="0">
              <a:solidFill>
                <a:schemeClr val="bg1"/>
              </a:solidFill>
            </a:endParaRPr>
          </a:p>
        </p:txBody>
      </p:sp>
      <p:sp>
        <p:nvSpPr>
          <p:cNvPr id="7" name="PlaceHolder 1">
            <a:extLst>
              <a:ext uri="{FF2B5EF4-FFF2-40B4-BE49-F238E27FC236}">
                <a16:creationId xmlns:a16="http://schemas.microsoft.com/office/drawing/2014/main" id="{52B21FC0-BEBB-45CE-9D54-10CBB59A8C4E}"/>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
        <p:nvSpPr>
          <p:cNvPr id="11" name="Titel 1">
            <a:extLst>
              <a:ext uri="{FF2B5EF4-FFF2-40B4-BE49-F238E27FC236}">
                <a16:creationId xmlns:a16="http://schemas.microsoft.com/office/drawing/2014/main" id="{62916CEE-BFC3-41AC-8C60-B45651EEED23}"/>
              </a:ext>
            </a:extLst>
          </p:cNvPr>
          <p:cNvSpPr txBox="1">
            <a:spLocks/>
          </p:cNvSpPr>
          <p:nvPr/>
        </p:nvSpPr>
        <p:spPr>
          <a:xfrm>
            <a:off x="585332" y="850197"/>
            <a:ext cx="8488329" cy="267392"/>
          </a:xfrm>
          <a:prstGeom prst="rect">
            <a:avLst/>
          </a:prstGeom>
          <a:noFill/>
          <a:ln w="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spc="-1" dirty="0">
                <a:solidFill>
                  <a:srgbClr val="990000"/>
                </a:solidFill>
                <a:latin typeface="Arial"/>
              </a:rPr>
              <a:t>Updated bus auxiliary model – HVAC implementation (2/5)</a:t>
            </a:r>
            <a:endParaRPr lang="en-GB" sz="2400" b="1" spc="-1" dirty="0">
              <a:solidFill>
                <a:srgbClr val="990000"/>
              </a:solidFill>
              <a:latin typeface="Arial"/>
            </a:endParaRPr>
          </a:p>
        </p:txBody>
      </p:sp>
    </p:spTree>
    <p:extLst>
      <p:ext uri="{BB962C8B-B14F-4D97-AF65-F5344CB8AC3E}">
        <p14:creationId xmlns:p14="http://schemas.microsoft.com/office/powerpoint/2010/main" val="2975629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4B64EC4D-37E3-EF42-B9AB-6337577588CB}" type="slidenum">
              <a:rPr lang="de-DE" smtClean="0"/>
              <a:t>7</a:t>
            </a:fld>
            <a:endParaRPr lang="de-DE"/>
          </a:p>
        </p:txBody>
      </p:sp>
      <p:sp>
        <p:nvSpPr>
          <p:cNvPr id="8" name="Inhaltsplatzhalter 7"/>
          <p:cNvSpPr>
            <a:spLocks noGrp="1"/>
          </p:cNvSpPr>
          <p:nvPr>
            <p:ph idx="1"/>
          </p:nvPr>
        </p:nvSpPr>
        <p:spPr>
          <a:xfrm>
            <a:off x="622355" y="2137413"/>
            <a:ext cx="8394644" cy="3482007"/>
          </a:xfrm>
        </p:spPr>
        <p:txBody>
          <a:bodyPr/>
          <a:lstStyle/>
          <a:p>
            <a:r>
              <a:rPr lang="en-US" sz="1800" dirty="0"/>
              <a:t>Matching of HVAC input to specific calculation settings – Valid inputs</a:t>
            </a:r>
            <a:endParaRPr lang="en-US" sz="1400" dirty="0"/>
          </a:p>
          <a:p>
            <a:pPr marL="0" indent="0">
              <a:buNone/>
            </a:pPr>
            <a:endParaRPr lang="en-US" sz="1800" dirty="0"/>
          </a:p>
          <a:p>
            <a:endParaRPr lang="en-GB" sz="1800" dirty="0"/>
          </a:p>
        </p:txBody>
      </p:sp>
      <p:pic>
        <p:nvPicPr>
          <p:cNvPr id="9" name="Grafik 8"/>
          <p:cNvPicPr>
            <a:picLocks noChangeAspect="1"/>
          </p:cNvPicPr>
          <p:nvPr/>
        </p:nvPicPr>
        <p:blipFill rotWithShape="1">
          <a:blip r:embed="rId2"/>
          <a:srcRect b="25786"/>
          <a:stretch/>
        </p:blipFill>
        <p:spPr>
          <a:xfrm>
            <a:off x="5782586" y="2434876"/>
            <a:ext cx="1368000" cy="3568596"/>
          </a:xfrm>
          <a:prstGeom prst="rect">
            <a:avLst/>
          </a:prstGeom>
        </p:spPr>
      </p:pic>
      <p:pic>
        <p:nvPicPr>
          <p:cNvPr id="13" name="Grafik 12">
            <a:extLst>
              <a:ext uri="{FF2B5EF4-FFF2-40B4-BE49-F238E27FC236}">
                <a16:creationId xmlns:a16="http://schemas.microsoft.com/office/drawing/2014/main" id="{00000000-0008-0000-0000-000002000000}"/>
              </a:ext>
            </a:extLst>
          </p:cNvPr>
          <p:cNvPicPr>
            <a:picLocks noChangeAspect="1"/>
          </p:cNvPicPr>
          <p:nvPr/>
        </p:nvPicPr>
        <p:blipFill>
          <a:blip r:embed="rId3"/>
          <a:stretch>
            <a:fillRect/>
          </a:stretch>
        </p:blipFill>
        <p:spPr>
          <a:xfrm>
            <a:off x="457649" y="2478012"/>
            <a:ext cx="3835466" cy="3517107"/>
          </a:xfrm>
          <a:prstGeom prst="rect">
            <a:avLst/>
          </a:prstGeom>
        </p:spPr>
      </p:pic>
      <p:sp>
        <p:nvSpPr>
          <p:cNvPr id="3" name="Pfeil nach rechts 2"/>
          <p:cNvSpPr/>
          <p:nvPr/>
        </p:nvSpPr>
        <p:spPr>
          <a:xfrm>
            <a:off x="4969603" y="4331695"/>
            <a:ext cx="723418" cy="65469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grpSp>
        <p:nvGrpSpPr>
          <p:cNvPr id="5" name="Gruppieren 4"/>
          <p:cNvGrpSpPr/>
          <p:nvPr/>
        </p:nvGrpSpPr>
        <p:grpSpPr>
          <a:xfrm>
            <a:off x="7356388" y="4060169"/>
            <a:ext cx="1368000" cy="1890764"/>
            <a:chOff x="6845818" y="1708526"/>
            <a:chExt cx="1368000" cy="1890764"/>
          </a:xfrm>
        </p:grpSpPr>
        <p:pic>
          <p:nvPicPr>
            <p:cNvPr id="12" name="Grafik 11"/>
            <p:cNvPicPr>
              <a:picLocks noChangeAspect="1"/>
            </p:cNvPicPr>
            <p:nvPr/>
          </p:nvPicPr>
          <p:blipFill rotWithShape="1">
            <a:blip r:embed="rId2"/>
            <a:srcRect t="73565"/>
            <a:stretch/>
          </p:blipFill>
          <p:spPr>
            <a:xfrm>
              <a:off x="6845818" y="2328163"/>
              <a:ext cx="1368000" cy="1271127"/>
            </a:xfrm>
            <a:prstGeom prst="rect">
              <a:avLst/>
            </a:prstGeom>
          </p:spPr>
        </p:pic>
        <p:pic>
          <p:nvPicPr>
            <p:cNvPr id="14" name="Grafik 13"/>
            <p:cNvPicPr>
              <a:picLocks noChangeAspect="1"/>
            </p:cNvPicPr>
            <p:nvPr/>
          </p:nvPicPr>
          <p:blipFill rotWithShape="1">
            <a:blip r:embed="rId2"/>
            <a:srcRect b="86271"/>
            <a:stretch/>
          </p:blipFill>
          <p:spPr>
            <a:xfrm>
              <a:off x="6845818" y="1708526"/>
              <a:ext cx="1368000" cy="660146"/>
            </a:xfrm>
            <a:prstGeom prst="rect">
              <a:avLst/>
            </a:prstGeom>
          </p:spPr>
        </p:pic>
      </p:grpSp>
      <p:sp>
        <p:nvSpPr>
          <p:cNvPr id="15" name="Textfeld 14"/>
          <p:cNvSpPr txBox="1"/>
          <p:nvPr/>
        </p:nvSpPr>
        <p:spPr>
          <a:xfrm>
            <a:off x="7291764" y="3066254"/>
            <a:ext cx="1808558" cy="1015663"/>
          </a:xfrm>
          <a:prstGeom prst="rect">
            <a:avLst/>
          </a:prstGeom>
          <a:noFill/>
        </p:spPr>
        <p:txBody>
          <a:bodyPr wrap="square" rtlCol="0">
            <a:spAutoFit/>
          </a:bodyPr>
          <a:lstStyle/>
          <a:p>
            <a:r>
              <a:rPr lang="en-US" sz="1000" i="1" dirty="0" err="1">
                <a:solidFill>
                  <a:srgbClr val="FF0000"/>
                </a:solidFill>
              </a:rPr>
              <a:t>Configs</a:t>
            </a:r>
            <a:r>
              <a:rPr lang="en-US" sz="1000" i="1" dirty="0">
                <a:solidFill>
                  <a:srgbClr val="FF0000"/>
                </a:solidFill>
              </a:rPr>
              <a:t> 8-10 are matching </a:t>
            </a:r>
            <a:r>
              <a:rPr lang="en-US" sz="1000" i="1" dirty="0" err="1">
                <a:solidFill>
                  <a:srgbClr val="FF0000"/>
                </a:solidFill>
              </a:rPr>
              <a:t>configs</a:t>
            </a:r>
            <a:r>
              <a:rPr lang="en-US" sz="1000" i="1" dirty="0">
                <a:solidFill>
                  <a:srgbClr val="FF0000"/>
                </a:solidFill>
              </a:rPr>
              <a:t> 5-7 just with higher cooling/heating power limitation</a:t>
            </a:r>
          </a:p>
          <a:p>
            <a:r>
              <a:rPr lang="en-US" sz="1000" i="1" dirty="0">
                <a:solidFill>
                  <a:srgbClr val="FF0000"/>
                </a:solidFill>
                <a:sym typeface="Wingdings" panose="05000000000000000000" pitchFamily="2" charset="2"/>
              </a:rPr>
              <a:t> Calculation settings are exactly the same</a:t>
            </a:r>
            <a:endParaRPr lang="de-AT" sz="1000" i="1" dirty="0">
              <a:solidFill>
                <a:srgbClr val="FF0000"/>
              </a:solidFill>
            </a:endParaRPr>
          </a:p>
        </p:txBody>
      </p:sp>
      <p:sp>
        <p:nvSpPr>
          <p:cNvPr id="16" name="Geschweifte Klammer rechts 15"/>
          <p:cNvSpPr/>
          <p:nvPr/>
        </p:nvSpPr>
        <p:spPr>
          <a:xfrm>
            <a:off x="4238485" y="3826670"/>
            <a:ext cx="132442" cy="792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7" name="Textfeld 16"/>
          <p:cNvSpPr txBox="1"/>
          <p:nvPr/>
        </p:nvSpPr>
        <p:spPr>
          <a:xfrm rot="16200000">
            <a:off x="4139966" y="4049896"/>
            <a:ext cx="860015" cy="338554"/>
          </a:xfrm>
          <a:prstGeom prst="rect">
            <a:avLst/>
          </a:prstGeom>
          <a:noFill/>
        </p:spPr>
        <p:txBody>
          <a:bodyPr wrap="square" rtlCol="0">
            <a:spAutoFit/>
          </a:bodyPr>
          <a:lstStyle/>
          <a:p>
            <a:pPr algn="ctr"/>
            <a:r>
              <a:rPr lang="en-US" sz="800" i="1" dirty="0">
                <a:solidFill>
                  <a:srgbClr val="FF0000"/>
                </a:solidFill>
              </a:rPr>
              <a:t>No passenger HP</a:t>
            </a:r>
            <a:endParaRPr lang="de-AT" sz="800" i="1" dirty="0">
              <a:solidFill>
                <a:srgbClr val="FF0000"/>
              </a:solidFill>
            </a:endParaRPr>
          </a:p>
        </p:txBody>
      </p:sp>
      <p:sp>
        <p:nvSpPr>
          <p:cNvPr id="18" name="Geschweifte Klammer rechts 17"/>
          <p:cNvSpPr/>
          <p:nvPr/>
        </p:nvSpPr>
        <p:spPr>
          <a:xfrm>
            <a:off x="4238485" y="4670466"/>
            <a:ext cx="132442" cy="612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9" name="Textfeld 18"/>
          <p:cNvSpPr txBox="1"/>
          <p:nvPr/>
        </p:nvSpPr>
        <p:spPr>
          <a:xfrm rot="16200000">
            <a:off x="4203248" y="4803369"/>
            <a:ext cx="733451" cy="338554"/>
          </a:xfrm>
          <a:prstGeom prst="rect">
            <a:avLst/>
          </a:prstGeom>
          <a:noFill/>
        </p:spPr>
        <p:txBody>
          <a:bodyPr wrap="square" rtlCol="0">
            <a:spAutoFit/>
          </a:bodyPr>
          <a:lstStyle/>
          <a:p>
            <a:pPr algn="ctr"/>
            <a:r>
              <a:rPr lang="en-US" sz="800" i="1" dirty="0">
                <a:solidFill>
                  <a:srgbClr val="FF0000"/>
                </a:solidFill>
              </a:rPr>
              <a:t>Single</a:t>
            </a:r>
            <a:br>
              <a:rPr lang="en-US" sz="800" i="1" dirty="0">
                <a:solidFill>
                  <a:srgbClr val="FF0000"/>
                </a:solidFill>
              </a:rPr>
            </a:br>
            <a:r>
              <a:rPr lang="en-US" sz="800" i="1" dirty="0">
                <a:solidFill>
                  <a:srgbClr val="FF0000"/>
                </a:solidFill>
              </a:rPr>
              <a:t>pass. HP</a:t>
            </a:r>
            <a:endParaRPr lang="de-AT" sz="800" i="1" dirty="0">
              <a:solidFill>
                <a:srgbClr val="FF0000"/>
              </a:solidFill>
            </a:endParaRPr>
          </a:p>
        </p:txBody>
      </p:sp>
      <p:sp>
        <p:nvSpPr>
          <p:cNvPr id="20" name="Geschweifte Klammer rechts 19"/>
          <p:cNvSpPr/>
          <p:nvPr/>
        </p:nvSpPr>
        <p:spPr>
          <a:xfrm>
            <a:off x="4238485" y="5333692"/>
            <a:ext cx="132442" cy="612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21" name="Textfeld 20"/>
          <p:cNvSpPr txBox="1"/>
          <p:nvPr/>
        </p:nvSpPr>
        <p:spPr>
          <a:xfrm rot="16200000">
            <a:off x="4203248" y="5470414"/>
            <a:ext cx="733451" cy="338554"/>
          </a:xfrm>
          <a:prstGeom prst="rect">
            <a:avLst/>
          </a:prstGeom>
          <a:noFill/>
        </p:spPr>
        <p:txBody>
          <a:bodyPr wrap="square" rtlCol="0">
            <a:spAutoFit/>
          </a:bodyPr>
          <a:lstStyle/>
          <a:p>
            <a:pPr algn="ctr"/>
            <a:r>
              <a:rPr lang="en-US" sz="800" i="1" dirty="0">
                <a:solidFill>
                  <a:srgbClr val="FF0000"/>
                </a:solidFill>
              </a:rPr>
              <a:t>Multiple</a:t>
            </a:r>
            <a:br>
              <a:rPr lang="en-US" sz="800" i="1" dirty="0">
                <a:solidFill>
                  <a:srgbClr val="FF0000"/>
                </a:solidFill>
              </a:rPr>
            </a:br>
            <a:r>
              <a:rPr lang="en-US" sz="800" i="1" dirty="0">
                <a:solidFill>
                  <a:srgbClr val="FF0000"/>
                </a:solidFill>
              </a:rPr>
              <a:t>pass. HP</a:t>
            </a:r>
            <a:endParaRPr lang="de-AT" sz="800" i="1" dirty="0">
              <a:solidFill>
                <a:srgbClr val="FF0000"/>
              </a:solidFill>
            </a:endParaRPr>
          </a:p>
        </p:txBody>
      </p:sp>
      <p:sp>
        <p:nvSpPr>
          <p:cNvPr id="22" name="Textfeld 21"/>
          <p:cNvSpPr txBox="1"/>
          <p:nvPr/>
        </p:nvSpPr>
        <p:spPr>
          <a:xfrm rot="19800000">
            <a:off x="1200308" y="4946876"/>
            <a:ext cx="2053920" cy="415498"/>
          </a:xfrm>
          <a:prstGeom prst="rect">
            <a:avLst/>
          </a:prstGeom>
          <a:solidFill>
            <a:schemeClr val="accent1"/>
          </a:solidFill>
          <a:ln>
            <a:solidFill>
              <a:srgbClr val="002060"/>
            </a:solidFill>
          </a:ln>
        </p:spPr>
        <p:txBody>
          <a:bodyPr wrap="square" rtlCol="0">
            <a:spAutoFit/>
          </a:bodyPr>
          <a:lstStyle/>
          <a:p>
            <a:pPr algn="ctr"/>
            <a:r>
              <a:rPr lang="en-US" sz="1050" b="1" i="1" dirty="0">
                <a:solidFill>
                  <a:schemeClr val="bg1"/>
                </a:solidFill>
              </a:rPr>
              <a:t>NB: Input independent of cooling/heating functionality!</a:t>
            </a:r>
            <a:endParaRPr lang="de-AT" sz="1050" b="1" i="1" dirty="0">
              <a:solidFill>
                <a:schemeClr val="bg1"/>
              </a:solidFill>
            </a:endParaRPr>
          </a:p>
        </p:txBody>
      </p:sp>
      <p:sp>
        <p:nvSpPr>
          <p:cNvPr id="23" name="Textfeld 22"/>
          <p:cNvSpPr txBox="1"/>
          <p:nvPr/>
        </p:nvSpPr>
        <p:spPr>
          <a:xfrm>
            <a:off x="400852" y="2489351"/>
            <a:ext cx="1359557" cy="230832"/>
          </a:xfrm>
          <a:prstGeom prst="rect">
            <a:avLst/>
          </a:prstGeom>
          <a:noFill/>
        </p:spPr>
        <p:txBody>
          <a:bodyPr wrap="square" rtlCol="0">
            <a:spAutoFit/>
          </a:bodyPr>
          <a:lstStyle/>
          <a:p>
            <a:pPr algn="ctr"/>
            <a:r>
              <a:rPr lang="en-US" sz="900" b="1" i="1" dirty="0">
                <a:solidFill>
                  <a:srgbClr val="FF0000"/>
                </a:solidFill>
              </a:rPr>
              <a:t>Table 13 in Annex IX</a:t>
            </a:r>
            <a:endParaRPr lang="de-AT" sz="900" b="1" i="1" dirty="0">
              <a:solidFill>
                <a:srgbClr val="FF0000"/>
              </a:solidFill>
            </a:endParaRPr>
          </a:p>
        </p:txBody>
      </p:sp>
      <p:sp>
        <p:nvSpPr>
          <p:cNvPr id="24" name="Textfeld 23"/>
          <p:cNvSpPr txBox="1"/>
          <p:nvPr/>
        </p:nvSpPr>
        <p:spPr>
          <a:xfrm rot="20700000">
            <a:off x="7062308" y="2302674"/>
            <a:ext cx="2010492" cy="646331"/>
          </a:xfrm>
          <a:prstGeom prst="rect">
            <a:avLst/>
          </a:prstGeom>
          <a:solidFill>
            <a:schemeClr val="accent1"/>
          </a:solidFill>
          <a:ln>
            <a:solidFill>
              <a:srgbClr val="002060"/>
            </a:solidFill>
          </a:ln>
        </p:spPr>
        <p:txBody>
          <a:bodyPr wrap="square" lIns="0" rIns="0" rtlCol="0">
            <a:spAutoFit/>
          </a:bodyPr>
          <a:lstStyle/>
          <a:p>
            <a:pPr algn="ctr"/>
            <a:r>
              <a:rPr lang="en-US" sz="900" b="1" i="1" dirty="0">
                <a:solidFill>
                  <a:schemeClr val="bg1"/>
                </a:solidFill>
              </a:rPr>
              <a:t>Calculation configuration</a:t>
            </a:r>
            <a:br>
              <a:rPr lang="en-US" sz="900" b="1" i="1" dirty="0">
                <a:solidFill>
                  <a:schemeClr val="bg1"/>
                </a:solidFill>
              </a:rPr>
            </a:br>
            <a:r>
              <a:rPr lang="en-US" sz="900" b="1" i="1" dirty="0">
                <a:solidFill>
                  <a:schemeClr val="bg1"/>
                </a:solidFill>
              </a:rPr>
              <a:t>determined separately and independently</a:t>
            </a:r>
            <a:br>
              <a:rPr lang="en-US" sz="900" b="1" i="1" dirty="0">
                <a:solidFill>
                  <a:schemeClr val="bg1"/>
                </a:solidFill>
              </a:rPr>
            </a:br>
            <a:r>
              <a:rPr lang="en-US" sz="900" b="1" i="1" dirty="0">
                <a:solidFill>
                  <a:schemeClr val="bg1"/>
                </a:solidFill>
              </a:rPr>
              <a:t>for cooling + heating</a:t>
            </a:r>
            <a:endParaRPr lang="de-AT" sz="900" b="1" i="1" dirty="0">
              <a:solidFill>
                <a:schemeClr val="bg1"/>
              </a:solidFill>
            </a:endParaRPr>
          </a:p>
        </p:txBody>
      </p:sp>
      <p:sp>
        <p:nvSpPr>
          <p:cNvPr id="25" name="Textfeld 24"/>
          <p:cNvSpPr txBox="1"/>
          <p:nvPr/>
        </p:nvSpPr>
        <p:spPr>
          <a:xfrm>
            <a:off x="4912091" y="4962956"/>
            <a:ext cx="838442" cy="646331"/>
          </a:xfrm>
          <a:prstGeom prst="rect">
            <a:avLst/>
          </a:prstGeom>
          <a:noFill/>
        </p:spPr>
        <p:txBody>
          <a:bodyPr wrap="square" rtlCol="0">
            <a:spAutoFit/>
          </a:bodyPr>
          <a:lstStyle/>
          <a:p>
            <a:pPr algn="ctr"/>
            <a:r>
              <a:rPr lang="en-US" sz="900" b="1" i="1" dirty="0">
                <a:solidFill>
                  <a:srgbClr val="FF0000"/>
                </a:solidFill>
              </a:rPr>
              <a:t>VECTO</a:t>
            </a:r>
            <a:br>
              <a:rPr lang="en-US" sz="900" b="1" i="1" dirty="0">
                <a:solidFill>
                  <a:srgbClr val="FF0000"/>
                </a:solidFill>
              </a:rPr>
            </a:br>
            <a:r>
              <a:rPr lang="en-US" sz="900" b="1" i="1" dirty="0">
                <a:solidFill>
                  <a:srgbClr val="FF0000"/>
                </a:solidFill>
              </a:rPr>
              <a:t>determines</a:t>
            </a:r>
            <a:br>
              <a:rPr lang="en-US" sz="900" b="1" i="1" dirty="0">
                <a:solidFill>
                  <a:srgbClr val="FF0000"/>
                </a:solidFill>
              </a:rPr>
            </a:br>
            <a:r>
              <a:rPr lang="en-US" sz="900" b="1" i="1" dirty="0">
                <a:solidFill>
                  <a:srgbClr val="FF0000"/>
                </a:solidFill>
              </a:rPr>
              <a:t>calculation</a:t>
            </a:r>
            <a:br>
              <a:rPr lang="en-US" sz="900" b="1" i="1" dirty="0">
                <a:solidFill>
                  <a:srgbClr val="FF0000"/>
                </a:solidFill>
              </a:rPr>
            </a:br>
            <a:r>
              <a:rPr lang="en-US" sz="900" b="1" i="1" dirty="0" err="1">
                <a:solidFill>
                  <a:srgbClr val="FF0000"/>
                </a:solidFill>
              </a:rPr>
              <a:t>config</a:t>
            </a:r>
            <a:endParaRPr lang="de-AT" sz="900" b="1" i="1" dirty="0">
              <a:solidFill>
                <a:srgbClr val="FF0000"/>
              </a:solidFill>
            </a:endParaRPr>
          </a:p>
        </p:txBody>
      </p:sp>
      <p:sp>
        <p:nvSpPr>
          <p:cNvPr id="26" name="Textfeld 25"/>
          <p:cNvSpPr txBox="1"/>
          <p:nvPr/>
        </p:nvSpPr>
        <p:spPr>
          <a:xfrm>
            <a:off x="4912091" y="2568662"/>
            <a:ext cx="838442" cy="1754326"/>
          </a:xfrm>
          <a:prstGeom prst="rect">
            <a:avLst/>
          </a:prstGeom>
          <a:noFill/>
        </p:spPr>
        <p:txBody>
          <a:bodyPr wrap="square" rtlCol="0">
            <a:spAutoFit/>
          </a:bodyPr>
          <a:lstStyle/>
          <a:p>
            <a:pPr algn="ctr"/>
            <a:r>
              <a:rPr lang="en-US" sz="900" b="1" i="1" dirty="0">
                <a:solidFill>
                  <a:srgbClr val="FF0000"/>
                </a:solidFill>
              </a:rPr>
              <a:t>!!!</a:t>
            </a:r>
            <a:br>
              <a:rPr lang="en-US" sz="900" b="1" i="1" dirty="0">
                <a:solidFill>
                  <a:srgbClr val="FF0000"/>
                </a:solidFill>
              </a:rPr>
            </a:br>
            <a:r>
              <a:rPr lang="en-US" sz="900" b="1" i="1" dirty="0">
                <a:solidFill>
                  <a:srgbClr val="FF0000"/>
                </a:solidFill>
              </a:rPr>
              <a:t>At least for either cooling or heating number of declared HP types needs to match with declared </a:t>
            </a:r>
            <a:r>
              <a:rPr lang="en-US" sz="900" b="1" i="1" dirty="0" err="1">
                <a:solidFill>
                  <a:srgbClr val="FF0000"/>
                </a:solidFill>
              </a:rPr>
              <a:t>config</a:t>
            </a:r>
            <a:r>
              <a:rPr lang="en-US" sz="900" b="1" i="1" dirty="0">
                <a:solidFill>
                  <a:srgbClr val="FF0000"/>
                </a:solidFill>
              </a:rPr>
              <a:t>!</a:t>
            </a:r>
            <a:endParaRPr lang="de-AT" sz="900" b="1" i="1" dirty="0">
              <a:solidFill>
                <a:srgbClr val="FF0000"/>
              </a:solidFill>
            </a:endParaRPr>
          </a:p>
        </p:txBody>
      </p:sp>
      <p:sp>
        <p:nvSpPr>
          <p:cNvPr id="27" name="PlaceHolder 1">
            <a:extLst>
              <a:ext uri="{FF2B5EF4-FFF2-40B4-BE49-F238E27FC236}">
                <a16:creationId xmlns:a16="http://schemas.microsoft.com/office/drawing/2014/main" id="{9756EF92-391C-4DFC-8F57-4AF97CCA3FA4}"/>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
        <p:nvSpPr>
          <p:cNvPr id="28" name="Titel 1">
            <a:extLst>
              <a:ext uri="{FF2B5EF4-FFF2-40B4-BE49-F238E27FC236}">
                <a16:creationId xmlns:a16="http://schemas.microsoft.com/office/drawing/2014/main" id="{3F1328A3-3888-44C7-BAFB-CF3970F73570}"/>
              </a:ext>
            </a:extLst>
          </p:cNvPr>
          <p:cNvSpPr>
            <a:spLocks noGrp="1"/>
          </p:cNvSpPr>
          <p:nvPr>
            <p:ph type="title"/>
          </p:nvPr>
        </p:nvSpPr>
        <p:spPr>
          <a:xfrm>
            <a:off x="585332" y="850197"/>
            <a:ext cx="8488329" cy="267392"/>
          </a:xfrm>
        </p:spPr>
        <p:txBody>
          <a:bodyPr/>
          <a:lstStyle/>
          <a:p>
            <a:r>
              <a:rPr lang="en-US" sz="2400" b="1" spc="-1" dirty="0">
                <a:solidFill>
                  <a:srgbClr val="990000"/>
                </a:solidFill>
                <a:latin typeface="Arial"/>
              </a:rPr>
              <a:t>Updated bus auxiliary model – HVAC implementation (3/5)</a:t>
            </a:r>
            <a:endParaRPr lang="en-GB" sz="2400" b="1" spc="-1" dirty="0">
              <a:solidFill>
                <a:srgbClr val="990000"/>
              </a:solidFill>
              <a:latin typeface="Arial"/>
            </a:endParaRPr>
          </a:p>
        </p:txBody>
      </p:sp>
    </p:spTree>
    <p:extLst>
      <p:ext uri="{BB962C8B-B14F-4D97-AF65-F5344CB8AC3E}">
        <p14:creationId xmlns:p14="http://schemas.microsoft.com/office/powerpoint/2010/main" val="1774888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4B64EC4D-37E3-EF42-B9AB-6337577588CB}" type="slidenum">
              <a:rPr lang="de-DE" smtClean="0"/>
              <a:t>8</a:t>
            </a:fld>
            <a:endParaRPr lang="de-DE"/>
          </a:p>
        </p:txBody>
      </p:sp>
      <p:sp>
        <p:nvSpPr>
          <p:cNvPr id="8" name="Inhaltsplatzhalter 7"/>
          <p:cNvSpPr>
            <a:spLocks noGrp="1"/>
          </p:cNvSpPr>
          <p:nvPr>
            <p:ph idx="1"/>
          </p:nvPr>
        </p:nvSpPr>
        <p:spPr>
          <a:xfrm>
            <a:off x="622355" y="2137413"/>
            <a:ext cx="8394644" cy="3482007"/>
          </a:xfrm>
        </p:spPr>
        <p:txBody>
          <a:bodyPr/>
          <a:lstStyle/>
          <a:p>
            <a:r>
              <a:rPr lang="en-US" sz="1800" dirty="0"/>
              <a:t>Matching of HVAC input to specific calculation settings – Valid inputs</a:t>
            </a:r>
            <a:br>
              <a:rPr lang="en-US" sz="1800" dirty="0"/>
            </a:br>
            <a:endParaRPr lang="en-US" sz="1800" dirty="0"/>
          </a:p>
          <a:p>
            <a:pPr marL="4572000" lvl="1"/>
            <a:r>
              <a:rPr lang="en-US" sz="1400" dirty="0"/>
              <a:t>“None”  vs.  “Not applicable” ?</a:t>
            </a:r>
            <a:br>
              <a:rPr lang="en-US" sz="1400" dirty="0"/>
            </a:br>
            <a:endParaRPr lang="en-US" sz="1400" dirty="0"/>
          </a:p>
          <a:p>
            <a:pPr marL="4572000" lvl="1"/>
            <a:r>
              <a:rPr lang="en-US" sz="1400" dirty="0"/>
              <a:t>“None” is declared either for heating or cooling HP type if a HP is present in vehicle according to declared </a:t>
            </a:r>
            <a:r>
              <a:rPr lang="en-US" sz="1400" dirty="0" err="1"/>
              <a:t>Config</a:t>
            </a:r>
            <a:r>
              <a:rPr lang="en-US" sz="1400" dirty="0"/>
              <a:t>, but this HP is not used for one case</a:t>
            </a:r>
            <a:br>
              <a:rPr lang="en-US" sz="1400" dirty="0"/>
            </a:br>
            <a:r>
              <a:rPr lang="en-US" sz="1400" i="1" dirty="0"/>
              <a:t>(i.e. HP used only for heating or only for cooling and not for both cases)</a:t>
            </a:r>
            <a:br>
              <a:rPr lang="en-US" sz="1400" i="1" dirty="0"/>
            </a:br>
            <a:endParaRPr lang="en-US" sz="1400" i="1" dirty="0"/>
          </a:p>
          <a:p>
            <a:pPr marL="4572000" lvl="1"/>
            <a:r>
              <a:rPr lang="en-US" sz="1400" dirty="0"/>
              <a:t>“Not applicable” is declared </a:t>
            </a:r>
            <a:r>
              <a:rPr lang="en-US" sz="1400" b="1" u="sng" dirty="0"/>
              <a:t>only</a:t>
            </a:r>
            <a:r>
              <a:rPr lang="en-US" sz="1400" dirty="0"/>
              <a:t> for configurations 6 and 10, since there the driver compartment is supplied by HP of the passenger compartment</a:t>
            </a:r>
          </a:p>
          <a:p>
            <a:pPr marL="0" indent="0">
              <a:buNone/>
            </a:pPr>
            <a:endParaRPr lang="en-US" sz="1400" dirty="0"/>
          </a:p>
          <a:p>
            <a:endParaRPr lang="en-GB" sz="1400" dirty="0"/>
          </a:p>
        </p:txBody>
      </p:sp>
      <p:pic>
        <p:nvPicPr>
          <p:cNvPr id="3" name="Grafik 2"/>
          <p:cNvPicPr>
            <a:picLocks noChangeAspect="1"/>
          </p:cNvPicPr>
          <p:nvPr/>
        </p:nvPicPr>
        <p:blipFill>
          <a:blip r:embed="rId2"/>
          <a:stretch>
            <a:fillRect/>
          </a:stretch>
        </p:blipFill>
        <p:spPr>
          <a:xfrm>
            <a:off x="622355" y="2853021"/>
            <a:ext cx="4105924" cy="3046331"/>
          </a:xfrm>
          <a:prstGeom prst="rect">
            <a:avLst/>
          </a:prstGeom>
        </p:spPr>
      </p:pic>
      <p:sp>
        <p:nvSpPr>
          <p:cNvPr id="10" name="Textfeld 9"/>
          <p:cNvSpPr txBox="1"/>
          <p:nvPr/>
        </p:nvSpPr>
        <p:spPr>
          <a:xfrm>
            <a:off x="622355" y="2610886"/>
            <a:ext cx="4105924" cy="253916"/>
          </a:xfrm>
          <a:prstGeom prst="rect">
            <a:avLst/>
          </a:prstGeom>
          <a:noFill/>
        </p:spPr>
        <p:txBody>
          <a:bodyPr wrap="square" rtlCol="0">
            <a:spAutoFit/>
          </a:bodyPr>
          <a:lstStyle/>
          <a:p>
            <a:pPr algn="ctr"/>
            <a:r>
              <a:rPr lang="en-US" sz="1050" b="1" i="1" dirty="0">
                <a:solidFill>
                  <a:srgbClr val="FF0000"/>
                </a:solidFill>
              </a:rPr>
              <a:t>Table 3a in Annex III</a:t>
            </a:r>
            <a:endParaRPr lang="de-AT" sz="1050" b="1" i="1" dirty="0">
              <a:solidFill>
                <a:srgbClr val="FF0000"/>
              </a:solidFill>
            </a:endParaRPr>
          </a:p>
        </p:txBody>
      </p:sp>
      <p:sp>
        <p:nvSpPr>
          <p:cNvPr id="7" name="Rechteck 6"/>
          <p:cNvSpPr/>
          <p:nvPr/>
        </p:nvSpPr>
        <p:spPr>
          <a:xfrm>
            <a:off x="2355447" y="3224272"/>
            <a:ext cx="1788290" cy="300943"/>
          </a:xfrm>
          <a:prstGeom prst="rect">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cxnSp>
        <p:nvCxnSpPr>
          <p:cNvPr id="13" name="Gerader Verbinder 12"/>
          <p:cNvCxnSpPr/>
          <p:nvPr/>
        </p:nvCxnSpPr>
        <p:spPr>
          <a:xfrm>
            <a:off x="2928394" y="3044209"/>
            <a:ext cx="720000"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9" name="PlaceHolder 1">
            <a:extLst>
              <a:ext uri="{FF2B5EF4-FFF2-40B4-BE49-F238E27FC236}">
                <a16:creationId xmlns:a16="http://schemas.microsoft.com/office/drawing/2014/main" id="{AE450081-DEFF-4388-8043-5A6DCE077A8F}"/>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
        <p:nvSpPr>
          <p:cNvPr id="12" name="Titel 1">
            <a:extLst>
              <a:ext uri="{FF2B5EF4-FFF2-40B4-BE49-F238E27FC236}">
                <a16:creationId xmlns:a16="http://schemas.microsoft.com/office/drawing/2014/main" id="{812887C6-E8E6-4802-9429-0F7007EF2B95}"/>
              </a:ext>
            </a:extLst>
          </p:cNvPr>
          <p:cNvSpPr>
            <a:spLocks noGrp="1"/>
          </p:cNvSpPr>
          <p:nvPr>
            <p:ph type="title"/>
          </p:nvPr>
        </p:nvSpPr>
        <p:spPr>
          <a:xfrm>
            <a:off x="585332" y="850197"/>
            <a:ext cx="8488329" cy="267392"/>
          </a:xfrm>
        </p:spPr>
        <p:txBody>
          <a:bodyPr/>
          <a:lstStyle/>
          <a:p>
            <a:r>
              <a:rPr lang="en-US" sz="2400" b="1" spc="-1" dirty="0">
                <a:solidFill>
                  <a:srgbClr val="990000"/>
                </a:solidFill>
                <a:latin typeface="Arial"/>
              </a:rPr>
              <a:t>Updated bus auxiliary model – HVAC implementation (4/5)</a:t>
            </a:r>
            <a:endParaRPr lang="en-GB" sz="2400" b="1" spc="-1" dirty="0">
              <a:solidFill>
                <a:srgbClr val="990000"/>
              </a:solidFill>
              <a:latin typeface="Arial"/>
            </a:endParaRPr>
          </a:p>
        </p:txBody>
      </p:sp>
    </p:spTree>
    <p:extLst>
      <p:ext uri="{BB962C8B-B14F-4D97-AF65-F5344CB8AC3E}">
        <p14:creationId xmlns:p14="http://schemas.microsoft.com/office/powerpoint/2010/main" val="52965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4B64EC4D-37E3-EF42-B9AB-6337577588CB}" type="slidenum">
              <a:rPr lang="de-DE" smtClean="0"/>
              <a:t>9</a:t>
            </a:fld>
            <a:endParaRPr lang="de-DE"/>
          </a:p>
        </p:txBody>
      </p:sp>
      <p:sp>
        <p:nvSpPr>
          <p:cNvPr id="8" name="Inhaltsplatzhalter 7"/>
          <p:cNvSpPr>
            <a:spLocks noGrp="1"/>
          </p:cNvSpPr>
          <p:nvPr>
            <p:ph idx="1"/>
          </p:nvPr>
        </p:nvSpPr>
        <p:spPr>
          <a:xfrm>
            <a:off x="622355" y="2137413"/>
            <a:ext cx="8394644" cy="3482007"/>
          </a:xfrm>
        </p:spPr>
        <p:txBody>
          <a:bodyPr/>
          <a:lstStyle/>
          <a:p>
            <a:r>
              <a:rPr lang="en-US" sz="1800" dirty="0"/>
              <a:t>HVAC input – valid combinations of different heating systems</a:t>
            </a:r>
            <a:br>
              <a:rPr lang="en-US" sz="1800" dirty="0"/>
            </a:br>
            <a:endParaRPr lang="en-US" sz="1800" dirty="0"/>
          </a:p>
          <a:p>
            <a:pPr marL="4122738" lvl="1"/>
            <a:r>
              <a:rPr lang="en-US" sz="1400" dirty="0"/>
              <a:t>All other combinations are considered invalid</a:t>
            </a:r>
            <a:br>
              <a:rPr lang="en-US" sz="1400" dirty="0"/>
            </a:br>
            <a:endParaRPr lang="en-US" sz="1400" dirty="0"/>
          </a:p>
          <a:p>
            <a:pPr marL="4122738" lvl="1"/>
            <a:r>
              <a:rPr lang="en-US" sz="1400" dirty="0"/>
              <a:t>Excel table with specific heating distribution cases</a:t>
            </a:r>
            <a:br>
              <a:rPr lang="en-US" sz="1400" dirty="0"/>
            </a:br>
            <a:r>
              <a:rPr lang="en-US" sz="1400" dirty="0"/>
              <a:t>will be distributed together with meeting material </a:t>
            </a:r>
          </a:p>
          <a:p>
            <a:pPr marL="0" indent="0">
              <a:buNone/>
            </a:pPr>
            <a:endParaRPr lang="en-US" sz="1800" dirty="0"/>
          </a:p>
          <a:p>
            <a:endParaRPr lang="en-GB" sz="1800" dirty="0"/>
          </a:p>
        </p:txBody>
      </p:sp>
      <p:pic>
        <p:nvPicPr>
          <p:cNvPr id="20" name="Grafik 19"/>
          <p:cNvPicPr>
            <a:picLocks noChangeAspect="1"/>
          </p:cNvPicPr>
          <p:nvPr/>
        </p:nvPicPr>
        <p:blipFill>
          <a:blip r:embed="rId2"/>
          <a:stretch>
            <a:fillRect/>
          </a:stretch>
        </p:blipFill>
        <p:spPr>
          <a:xfrm>
            <a:off x="622356" y="2968708"/>
            <a:ext cx="3333349" cy="2448448"/>
          </a:xfrm>
          <a:prstGeom prst="rect">
            <a:avLst/>
          </a:prstGeom>
        </p:spPr>
      </p:pic>
      <p:pic>
        <p:nvPicPr>
          <p:cNvPr id="21" name="Grafik 20"/>
          <p:cNvPicPr>
            <a:picLocks noChangeAspect="1"/>
          </p:cNvPicPr>
          <p:nvPr/>
        </p:nvPicPr>
        <p:blipFill>
          <a:blip r:embed="rId3"/>
          <a:stretch>
            <a:fillRect/>
          </a:stretch>
        </p:blipFill>
        <p:spPr>
          <a:xfrm>
            <a:off x="4065419" y="4453358"/>
            <a:ext cx="5061295" cy="1492796"/>
          </a:xfrm>
          <a:prstGeom prst="rect">
            <a:avLst/>
          </a:prstGeom>
        </p:spPr>
      </p:pic>
      <p:sp>
        <p:nvSpPr>
          <p:cNvPr id="22" name="Textfeld 21"/>
          <p:cNvSpPr txBox="1"/>
          <p:nvPr/>
        </p:nvSpPr>
        <p:spPr>
          <a:xfrm>
            <a:off x="5341559" y="4032227"/>
            <a:ext cx="2509013" cy="461665"/>
          </a:xfrm>
          <a:prstGeom prst="rect">
            <a:avLst/>
          </a:prstGeom>
          <a:noFill/>
        </p:spPr>
        <p:txBody>
          <a:bodyPr wrap="square" rtlCol="0">
            <a:spAutoFit/>
          </a:bodyPr>
          <a:lstStyle/>
          <a:p>
            <a:pPr algn="ctr"/>
            <a:r>
              <a:rPr lang="en-US" sz="1200" i="1" dirty="0">
                <a:solidFill>
                  <a:srgbClr val="FF0000"/>
                </a:solidFill>
              </a:rPr>
              <a:t>Example for one specific</a:t>
            </a:r>
            <a:br>
              <a:rPr lang="en-US" sz="1200" i="1" dirty="0">
                <a:solidFill>
                  <a:srgbClr val="FF0000"/>
                </a:solidFill>
              </a:rPr>
            </a:br>
            <a:r>
              <a:rPr lang="en-US" sz="1200" i="1" dirty="0">
                <a:solidFill>
                  <a:srgbClr val="FF0000"/>
                </a:solidFill>
              </a:rPr>
              <a:t>heating distribution case</a:t>
            </a:r>
            <a:endParaRPr lang="de-AT" sz="1200" i="1" dirty="0">
              <a:solidFill>
                <a:srgbClr val="FF0000"/>
              </a:solidFill>
            </a:endParaRPr>
          </a:p>
        </p:txBody>
      </p:sp>
      <p:sp>
        <p:nvSpPr>
          <p:cNvPr id="23" name="Textfeld 22"/>
          <p:cNvSpPr txBox="1"/>
          <p:nvPr/>
        </p:nvSpPr>
        <p:spPr>
          <a:xfrm>
            <a:off x="1034523" y="2546973"/>
            <a:ext cx="2509013" cy="461665"/>
          </a:xfrm>
          <a:prstGeom prst="rect">
            <a:avLst/>
          </a:prstGeom>
          <a:noFill/>
        </p:spPr>
        <p:txBody>
          <a:bodyPr wrap="square" rtlCol="0">
            <a:spAutoFit/>
          </a:bodyPr>
          <a:lstStyle/>
          <a:p>
            <a:pPr algn="ctr"/>
            <a:r>
              <a:rPr lang="en-US" sz="1200" i="1" dirty="0">
                <a:solidFill>
                  <a:srgbClr val="FF0000"/>
                </a:solidFill>
              </a:rPr>
              <a:t>Valid combinations of</a:t>
            </a:r>
            <a:br>
              <a:rPr lang="en-US" sz="1200" i="1" dirty="0">
                <a:solidFill>
                  <a:srgbClr val="FF0000"/>
                </a:solidFill>
              </a:rPr>
            </a:br>
            <a:r>
              <a:rPr lang="en-US" sz="1200" i="1" dirty="0">
                <a:solidFill>
                  <a:srgbClr val="FF0000"/>
                </a:solidFill>
              </a:rPr>
              <a:t>heating distribution case</a:t>
            </a:r>
            <a:endParaRPr lang="de-AT" sz="1200" i="1" dirty="0">
              <a:solidFill>
                <a:srgbClr val="FF0000"/>
              </a:solidFill>
            </a:endParaRPr>
          </a:p>
        </p:txBody>
      </p:sp>
      <p:sp>
        <p:nvSpPr>
          <p:cNvPr id="9" name="PlaceHolder 1">
            <a:extLst>
              <a:ext uri="{FF2B5EF4-FFF2-40B4-BE49-F238E27FC236}">
                <a16:creationId xmlns:a16="http://schemas.microsoft.com/office/drawing/2014/main" id="{BF04D85B-81A7-4C8C-98E1-86BE773FC031}"/>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
        <p:nvSpPr>
          <p:cNvPr id="12" name="Titel 1">
            <a:extLst>
              <a:ext uri="{FF2B5EF4-FFF2-40B4-BE49-F238E27FC236}">
                <a16:creationId xmlns:a16="http://schemas.microsoft.com/office/drawing/2014/main" id="{FF422256-6D9E-4C02-859D-3B61E5B8D160}"/>
              </a:ext>
            </a:extLst>
          </p:cNvPr>
          <p:cNvSpPr>
            <a:spLocks noGrp="1"/>
          </p:cNvSpPr>
          <p:nvPr>
            <p:ph type="title"/>
          </p:nvPr>
        </p:nvSpPr>
        <p:spPr>
          <a:xfrm>
            <a:off x="585332" y="850197"/>
            <a:ext cx="8488329" cy="267392"/>
          </a:xfrm>
        </p:spPr>
        <p:txBody>
          <a:bodyPr/>
          <a:lstStyle/>
          <a:p>
            <a:r>
              <a:rPr lang="en-US" sz="2400" b="1" spc="-1" dirty="0">
                <a:solidFill>
                  <a:srgbClr val="990000"/>
                </a:solidFill>
                <a:latin typeface="Arial"/>
              </a:rPr>
              <a:t>Updated bus auxiliary model – HVAC implementation (5/5)</a:t>
            </a:r>
            <a:endParaRPr lang="en-GB" sz="2400" b="1" spc="-1" dirty="0">
              <a:solidFill>
                <a:srgbClr val="990000"/>
              </a:solidFill>
              <a:latin typeface="Arial"/>
            </a:endParaRPr>
          </a:p>
        </p:txBody>
      </p:sp>
    </p:spTree>
    <p:extLst>
      <p:ext uri="{BB962C8B-B14F-4D97-AF65-F5344CB8AC3E}">
        <p14:creationId xmlns:p14="http://schemas.microsoft.com/office/powerpoint/2010/main" val="943071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375703"/>
          </a:xfrm>
        </p:spPr>
        <p:txBody>
          <a:bodyPr anchor="t"/>
          <a:lstStyle/>
          <a:p>
            <a:r>
              <a:rPr lang="en-US" sz="2400" b="1" spc="-1" dirty="0">
                <a:solidFill>
                  <a:srgbClr val="990000"/>
                </a:solidFill>
                <a:latin typeface="Arial"/>
              </a:rPr>
              <a:t>Factor Method – General principle</a:t>
            </a:r>
            <a:endParaRPr lang="en-GB" sz="2400" b="1" spc="-1" dirty="0">
              <a:solidFill>
                <a:srgbClr val="990000"/>
              </a:solidFill>
              <a:latin typeface="Arial"/>
            </a:endParaRPr>
          </a:p>
        </p:txBody>
      </p:sp>
      <p:sp>
        <p:nvSpPr>
          <p:cNvPr id="3" name="Inhaltsplatzhalter 2"/>
          <p:cNvSpPr>
            <a:spLocks noGrp="1"/>
          </p:cNvSpPr>
          <p:nvPr>
            <p:ph idx="1"/>
          </p:nvPr>
        </p:nvSpPr>
        <p:spPr/>
        <p:txBody>
          <a:bodyPr>
            <a:normAutofit lnSpcReduction="10000"/>
          </a:bodyPr>
          <a:lstStyle/>
          <a:p>
            <a:endParaRPr lang="de-AT" sz="1600"/>
          </a:p>
          <a:p>
            <a:endParaRPr lang="de-AT" sz="1600"/>
          </a:p>
          <a:p>
            <a:endParaRPr lang="de-AT" sz="1600"/>
          </a:p>
          <a:p>
            <a:pPr marL="0" indent="0">
              <a:buNone/>
            </a:pPr>
            <a:endParaRPr lang="de-AT" sz="1600"/>
          </a:p>
          <a:p>
            <a:pPr marL="0" indent="0">
              <a:buNone/>
            </a:pPr>
            <a:endParaRPr lang="de-AT" sz="1600"/>
          </a:p>
          <a:p>
            <a:pPr marL="0" indent="0">
              <a:buNone/>
            </a:pPr>
            <a:endParaRPr lang="de-AT" sz="1600"/>
          </a:p>
          <a:p>
            <a:pPr marL="0" indent="0">
              <a:buNone/>
            </a:pPr>
            <a:endParaRPr lang="de-AT" sz="900"/>
          </a:p>
          <a:p>
            <a:pPr>
              <a:lnSpc>
                <a:spcPct val="108000"/>
              </a:lnSpc>
              <a:spcBef>
                <a:spcPts val="600"/>
              </a:spcBef>
            </a:pPr>
            <a:r>
              <a:rPr lang="de-AT" sz="1050"/>
              <a:t>First step (</a:t>
            </a:r>
            <a:r>
              <a:rPr lang="en-US" sz="1050"/>
              <a:t>separately for each relevant fuel/energy carrier): Factor method is applied to calculate energy consumption (EC in MJ/km), e.g.:</a:t>
            </a:r>
          </a:p>
          <a:p>
            <a:pPr lvl="1">
              <a:lnSpc>
                <a:spcPct val="108000"/>
              </a:lnSpc>
              <a:spcBef>
                <a:spcPts val="100"/>
              </a:spcBef>
            </a:pPr>
            <a:r>
              <a:rPr lang="en-US" sz="1000"/>
              <a:t>Conventional vehicle: Diesel or NG only</a:t>
            </a:r>
          </a:p>
          <a:p>
            <a:pPr lvl="1">
              <a:lnSpc>
                <a:spcPct val="108000"/>
              </a:lnSpc>
              <a:spcBef>
                <a:spcPts val="100"/>
              </a:spcBef>
            </a:pPr>
            <a:r>
              <a:rPr lang="en-US" sz="1000"/>
              <a:t>OVC-HEV: Diesel (or NG) and electric energy (separately for CD and CS mode)</a:t>
            </a:r>
          </a:p>
          <a:p>
            <a:pPr lvl="1">
              <a:lnSpc>
                <a:spcPct val="108000"/>
              </a:lnSpc>
              <a:spcBef>
                <a:spcPts val="100"/>
              </a:spcBef>
            </a:pPr>
            <a:r>
              <a:rPr lang="en-US" sz="1000"/>
              <a:t>Dual-fuel vehicle: Diesel and NG</a:t>
            </a:r>
          </a:p>
          <a:p>
            <a:pPr>
              <a:lnSpc>
                <a:spcPct val="108000"/>
              </a:lnSpc>
              <a:spcBef>
                <a:spcPts val="600"/>
              </a:spcBef>
            </a:pPr>
            <a:r>
              <a:rPr lang="en-GB" sz="1050"/>
              <a:t>Second step (separately for each relevant fuel/energy carrier): </a:t>
            </a:r>
            <a:br>
              <a:rPr lang="en-GB" sz="1050"/>
            </a:br>
            <a:r>
              <a:rPr lang="en-GB" sz="1050"/>
              <a:t>Fuel consumption e.g. [kg/km] = EC [MJ/km] / Lower Heating Value [MJ/kg]</a:t>
            </a:r>
          </a:p>
          <a:p>
            <a:pPr>
              <a:lnSpc>
                <a:spcPct val="108000"/>
              </a:lnSpc>
              <a:spcBef>
                <a:spcPts val="600"/>
              </a:spcBef>
            </a:pPr>
            <a:r>
              <a:rPr lang="en-GB" sz="1050"/>
              <a:t>Third step: Sum up CO</a:t>
            </a:r>
            <a:r>
              <a:rPr lang="en-GB" sz="1050" baseline="-25000"/>
              <a:t>2</a:t>
            </a:r>
            <a:r>
              <a:rPr lang="en-GB" sz="1050"/>
              <a:t> all fuels: CO</a:t>
            </a:r>
            <a:r>
              <a:rPr lang="en-GB" sz="1050" baseline="-25000"/>
              <a:t>2</a:t>
            </a:r>
            <a:r>
              <a:rPr lang="en-GB" sz="1050"/>
              <a:t> [g/km] = FC [kg/km] * CO</a:t>
            </a:r>
            <a:r>
              <a:rPr lang="en-GB" sz="1050" baseline="-25000"/>
              <a:t>2</a:t>
            </a:r>
            <a:r>
              <a:rPr lang="en-GB" sz="1050"/>
              <a:t> content [kg/kg] * 1000 </a:t>
            </a:r>
          </a:p>
          <a:p>
            <a:pPr>
              <a:lnSpc>
                <a:spcPct val="108000"/>
              </a:lnSpc>
              <a:spcBef>
                <a:spcPts val="600"/>
              </a:spcBef>
            </a:pPr>
            <a:r>
              <a:rPr lang="en-US" sz="1050"/>
              <a:t>For electrical energy cons. (EC_el): Factor method is applied to the values incl. battery losses during external charging</a:t>
            </a:r>
            <a:endParaRPr lang="en-GB" sz="1050"/>
          </a:p>
          <a:p>
            <a:pPr marL="449263" lvl="1" indent="0">
              <a:buNone/>
            </a:pPr>
            <a:endParaRPr lang="en-GB" sz="1400" dirty="0"/>
          </a:p>
          <a:p>
            <a:pPr lvl="1"/>
            <a:endParaRPr lang="en-GB" sz="1600" dirty="0"/>
          </a:p>
        </p:txBody>
      </p:sp>
      <p:sp>
        <p:nvSpPr>
          <p:cNvPr id="4" name="Foliennummernplatzhalter 3"/>
          <p:cNvSpPr>
            <a:spLocks noGrp="1"/>
          </p:cNvSpPr>
          <p:nvPr>
            <p:ph type="sldNum" sz="quarter" idx="12"/>
          </p:nvPr>
        </p:nvSpPr>
        <p:spPr/>
        <p:txBody>
          <a:bodyPr/>
          <a:lstStyle/>
          <a:p>
            <a:fld id="{4B64EC4D-37E3-EF42-B9AB-6337577588CB}" type="slidenum">
              <a:rPr lang="de-DE" smtClean="0"/>
              <a:t>10</a:t>
            </a:fld>
            <a:endParaRPr lang="de-DE"/>
          </a:p>
        </p:txBody>
      </p:sp>
      <p:grpSp>
        <p:nvGrpSpPr>
          <p:cNvPr id="7" name="Gruppieren 6"/>
          <p:cNvGrpSpPr/>
          <p:nvPr/>
        </p:nvGrpSpPr>
        <p:grpSpPr>
          <a:xfrm>
            <a:off x="1766692" y="2137412"/>
            <a:ext cx="5610616" cy="1788620"/>
            <a:chOff x="1842052" y="1723649"/>
            <a:chExt cx="5263147" cy="1488701"/>
          </a:xfrm>
          <a:solidFill>
            <a:schemeClr val="bg1"/>
          </a:solidFill>
          <a:effectLst>
            <a:outerShdw blurRad="50800" dist="38100" dir="2700000" algn="tl" rotWithShape="0">
              <a:prstClr val="black">
                <a:alpha val="40000"/>
              </a:prstClr>
            </a:outerShdw>
          </a:effectLst>
        </p:grpSpPr>
        <p:pic>
          <p:nvPicPr>
            <p:cNvPr id="5" name="Grafik 4"/>
            <p:cNvPicPr>
              <a:picLocks noChangeAspect="1"/>
            </p:cNvPicPr>
            <p:nvPr/>
          </p:nvPicPr>
          <p:blipFill>
            <a:blip r:embed="rId2"/>
            <a:stretch>
              <a:fillRect/>
            </a:stretch>
          </p:blipFill>
          <p:spPr>
            <a:xfrm>
              <a:off x="1842052" y="1723649"/>
              <a:ext cx="5263147" cy="922499"/>
            </a:xfrm>
            <a:prstGeom prst="rect">
              <a:avLst/>
            </a:prstGeom>
            <a:grpFill/>
          </p:spPr>
        </p:pic>
        <p:pic>
          <p:nvPicPr>
            <p:cNvPr id="6" name="Grafik 5"/>
            <p:cNvPicPr>
              <a:picLocks noChangeAspect="1"/>
            </p:cNvPicPr>
            <p:nvPr/>
          </p:nvPicPr>
          <p:blipFill rotWithShape="1">
            <a:blip r:embed="rId3"/>
            <a:srcRect r="5839"/>
            <a:stretch/>
          </p:blipFill>
          <p:spPr>
            <a:xfrm>
              <a:off x="1842053" y="2637180"/>
              <a:ext cx="5261112" cy="575170"/>
            </a:xfrm>
            <a:prstGeom prst="rect">
              <a:avLst/>
            </a:prstGeom>
            <a:grpFill/>
          </p:spPr>
        </p:pic>
      </p:grpSp>
      <p:sp>
        <p:nvSpPr>
          <p:cNvPr id="8" name="PlaceHolder 1">
            <a:extLst>
              <a:ext uri="{FF2B5EF4-FFF2-40B4-BE49-F238E27FC236}">
                <a16:creationId xmlns:a16="http://schemas.microsoft.com/office/drawing/2014/main" id="{BF1AD16D-8D3A-49BC-A24F-FB018C3F3DCE}"/>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421263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536230"/>
          </a:xfrm>
        </p:spPr>
        <p:txBody>
          <a:bodyPr anchor="t"/>
          <a:lstStyle/>
          <a:p>
            <a:r>
              <a:rPr lang="en-US" sz="2400" b="1" spc="-1" dirty="0">
                <a:solidFill>
                  <a:srgbClr val="990000"/>
                </a:solidFill>
                <a:latin typeface="Arial"/>
              </a:rPr>
              <a:t>Factor Method – Required number of simulations</a:t>
            </a:r>
            <a:endParaRPr lang="en-GB" sz="2400" b="1" spc="-1" dirty="0">
              <a:solidFill>
                <a:srgbClr val="990000"/>
              </a:solidFill>
              <a:latin typeface="Aria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11</a:t>
            </a:fld>
            <a:endParaRPr lang="de-DE"/>
          </a:p>
        </p:txBody>
      </p:sp>
      <p:pic>
        <p:nvPicPr>
          <p:cNvPr id="9" name="Grafik 8"/>
          <p:cNvPicPr>
            <a:picLocks noChangeAspect="1"/>
          </p:cNvPicPr>
          <p:nvPr/>
        </p:nvPicPr>
        <p:blipFill>
          <a:blip r:embed="rId2"/>
          <a:stretch>
            <a:fillRect/>
          </a:stretch>
        </p:blipFill>
        <p:spPr>
          <a:xfrm>
            <a:off x="4669958" y="2335758"/>
            <a:ext cx="4127592" cy="2937469"/>
          </a:xfrm>
          <a:prstGeom prst="rect">
            <a:avLst/>
          </a:prstGeom>
        </p:spPr>
      </p:pic>
      <p:sp>
        <p:nvSpPr>
          <p:cNvPr id="10" name="Inhaltsplatzhalter 4"/>
          <p:cNvSpPr txBox="1">
            <a:spLocks/>
          </p:cNvSpPr>
          <p:nvPr/>
        </p:nvSpPr>
        <p:spPr>
          <a:xfrm>
            <a:off x="622355" y="2137413"/>
            <a:ext cx="3801979" cy="3334161"/>
          </a:xfrm>
          <a:prstGeom prst="rect">
            <a:avLst/>
          </a:prstGeom>
        </p:spPr>
        <p:txBody>
          <a:bodyPr vert="horz" lIns="0" tIns="0" rIns="0" bIns="0" rtlCol="0" anchor="t">
            <a:noAutofit/>
          </a:bodyPr>
          <a:lstStyle>
            <a:lvl1pPr marL="266700" indent="-266700" algn="l" defTabSz="457200" rtl="0" eaLnBrk="1" latinLnBrk="0" hangingPunct="1">
              <a:spcBef>
                <a:spcPct val="20000"/>
              </a:spcBef>
              <a:buClr>
                <a:srgbClr val="F70146"/>
              </a:buClr>
              <a:buFont typeface="Wingdings" panose="05000000000000000000" pitchFamily="2" charset="2"/>
              <a:buChar char="§"/>
              <a:defRPr sz="2000" kern="1200" baseline="0">
                <a:solidFill>
                  <a:schemeClr val="tx1"/>
                </a:solidFill>
                <a:latin typeface="+mn-lt"/>
                <a:ea typeface="+mn-ea"/>
                <a:cs typeface="+mn-cs"/>
              </a:defRPr>
            </a:lvl1pPr>
            <a:lvl2pPr marL="715963" indent="-266700" algn="l" defTabSz="457200" rtl="0" eaLnBrk="1" latinLnBrk="0" hangingPunct="1">
              <a:spcBef>
                <a:spcPct val="20000"/>
              </a:spcBef>
              <a:buClr>
                <a:schemeClr val="tx1"/>
              </a:buClr>
              <a:buFont typeface="Wingdings" panose="05000000000000000000" pitchFamily="2" charset="2"/>
              <a:buChar char="§"/>
              <a:defRPr sz="2000" kern="1200">
                <a:solidFill>
                  <a:schemeClr val="tx1"/>
                </a:solidFill>
                <a:latin typeface="+mn-lt"/>
                <a:ea typeface="+mn-ea"/>
                <a:cs typeface="+mn-cs"/>
              </a:defRPr>
            </a:lvl2pPr>
            <a:lvl3pPr marL="1165225" indent="-266700" algn="l" defTabSz="457200" rtl="0" eaLnBrk="1" latinLnBrk="0" hangingPunct="1">
              <a:spcBef>
                <a:spcPct val="20000"/>
              </a:spcBef>
              <a:buClr>
                <a:schemeClr val="bg1">
                  <a:lumMod val="50000"/>
                </a:schemeClr>
              </a:buClr>
              <a:buFont typeface="Wingdings" charset="2"/>
              <a:buChar char="§"/>
              <a:tabLst/>
              <a:defRPr sz="1800" kern="1200">
                <a:solidFill>
                  <a:schemeClr val="tx1"/>
                </a:solidFill>
                <a:latin typeface="+mn-lt"/>
                <a:ea typeface="+mn-ea"/>
                <a:cs typeface="+mn-cs"/>
              </a:defRPr>
            </a:lvl3pPr>
            <a:lvl4pPr marL="1524000" indent="-269875" algn="l" defTabSz="457200" rtl="0" eaLnBrk="1" latinLnBrk="0" hangingPunct="1">
              <a:spcBef>
                <a:spcPct val="20000"/>
              </a:spcBef>
              <a:buClr>
                <a:srgbClr val="99A7B0"/>
              </a:buClr>
              <a:buFont typeface="Wingdings" panose="05000000000000000000" pitchFamily="2" charset="2"/>
              <a:buChar char="§"/>
              <a:defRPr sz="1600" kern="1200">
                <a:solidFill>
                  <a:schemeClr val="tx1"/>
                </a:solidFill>
                <a:latin typeface="+mn-lt"/>
                <a:ea typeface="+mn-ea"/>
                <a:cs typeface="+mn-cs"/>
              </a:defRPr>
            </a:lvl4pPr>
            <a:lvl5pPr marL="1884363" indent="-273050" algn="l" defTabSz="457200" rtl="0" eaLnBrk="1" latinLnBrk="0" hangingPunct="1">
              <a:spcBef>
                <a:spcPct val="20000"/>
              </a:spcBef>
              <a:buFont typeface="Lucida Grande"/>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600"/>
              </a:spcBef>
            </a:pPr>
            <a:r>
              <a:rPr lang="en-GB" sz="1600"/>
              <a:t>Primary vehicle</a:t>
            </a:r>
          </a:p>
          <a:p>
            <a:pPr lvl="1">
              <a:spcBef>
                <a:spcPts val="300"/>
              </a:spcBef>
            </a:pPr>
            <a:r>
              <a:rPr lang="en-GB" sz="1400"/>
              <a:t>Simulations for four sub-groups</a:t>
            </a:r>
            <a:br>
              <a:rPr lang="en-GB" sz="1400"/>
            </a:br>
            <a:r>
              <a:rPr lang="en-GB" sz="1400"/>
              <a:t>(LF/HF x SD/DD)</a:t>
            </a:r>
          </a:p>
          <a:p>
            <a:pPr lvl="1">
              <a:spcBef>
                <a:spcPts val="300"/>
              </a:spcBef>
            </a:pPr>
            <a:r>
              <a:rPr lang="en-GB" sz="1400">
                <a:sym typeface="Wingdings" panose="05000000000000000000" pitchFamily="2" charset="2"/>
              </a:rPr>
              <a:t> 11 x 2 = </a:t>
            </a:r>
            <a:r>
              <a:rPr lang="en-GB" sz="1400" b="1">
                <a:sym typeface="Wingdings" panose="05000000000000000000" pitchFamily="2" charset="2"/>
              </a:rPr>
              <a:t>22 simulations</a:t>
            </a:r>
          </a:p>
          <a:p>
            <a:pPr>
              <a:spcBef>
                <a:spcPts val="900"/>
              </a:spcBef>
            </a:pPr>
            <a:r>
              <a:rPr lang="en-GB" sz="1600">
                <a:sym typeface="Wingdings" panose="05000000000000000000" pitchFamily="2" charset="2"/>
              </a:rPr>
              <a:t>Completed vehicle</a:t>
            </a:r>
          </a:p>
          <a:p>
            <a:pPr lvl="1">
              <a:spcBef>
                <a:spcPts val="600"/>
              </a:spcBef>
            </a:pPr>
            <a:r>
              <a:rPr lang="en-GB" sz="1400">
                <a:sym typeface="Wingdings" panose="05000000000000000000" pitchFamily="2" charset="2"/>
              </a:rPr>
              <a:t>2 to 4 cycles x 2 payloads</a:t>
            </a:r>
            <a:br>
              <a:rPr lang="en-GB" sz="1400">
                <a:sym typeface="Wingdings" panose="05000000000000000000" pitchFamily="2" charset="2"/>
              </a:rPr>
            </a:br>
            <a:r>
              <a:rPr lang="en-GB" sz="1400">
                <a:sym typeface="Wingdings" panose="05000000000000000000" pitchFamily="2" charset="2"/>
              </a:rPr>
              <a:t>x 2 (spec / gen body) </a:t>
            </a:r>
          </a:p>
          <a:p>
            <a:pPr lvl="1">
              <a:spcBef>
                <a:spcPts val="600"/>
              </a:spcBef>
            </a:pPr>
            <a:r>
              <a:rPr lang="en-GB" sz="1400">
                <a:sym typeface="Wingdings" panose="05000000000000000000" pitchFamily="2" charset="2"/>
              </a:rPr>
              <a:t> </a:t>
            </a:r>
            <a:r>
              <a:rPr lang="en-GB" sz="1400" b="1">
                <a:sym typeface="Wingdings" panose="05000000000000000000" pitchFamily="2" charset="2"/>
              </a:rPr>
              <a:t>min 8 </a:t>
            </a:r>
            <a:r>
              <a:rPr lang="en-GB" sz="1400">
                <a:sym typeface="Wingdings" panose="05000000000000000000" pitchFamily="2" charset="2"/>
              </a:rPr>
              <a:t>to </a:t>
            </a:r>
            <a:r>
              <a:rPr lang="en-GB" sz="1400" b="1">
                <a:sym typeface="Wingdings" panose="05000000000000000000" pitchFamily="2" charset="2"/>
              </a:rPr>
              <a:t>max 16 simulations</a:t>
            </a:r>
          </a:p>
          <a:p>
            <a:pPr>
              <a:spcBef>
                <a:spcPts val="900"/>
              </a:spcBef>
            </a:pPr>
            <a:r>
              <a:rPr lang="en-GB" sz="1600">
                <a:sym typeface="Wingdings" panose="05000000000000000000" pitchFamily="2" charset="2"/>
              </a:rPr>
              <a:t>For OVC HEVs:</a:t>
            </a:r>
          </a:p>
          <a:p>
            <a:pPr lvl="1">
              <a:spcBef>
                <a:spcPts val="600"/>
              </a:spcBef>
            </a:pPr>
            <a:r>
              <a:rPr lang="en-US" sz="1400">
                <a:sym typeface="Wingdings" panose="05000000000000000000" pitchFamily="2" charset="2"/>
              </a:rPr>
              <a:t>Additional simulations for CD and CS mode, and - for P-HEVs – to determine the EF to be considered</a:t>
            </a:r>
          </a:p>
          <a:p>
            <a:pPr lvl="1">
              <a:spcBef>
                <a:spcPts val="600"/>
              </a:spcBef>
            </a:pPr>
            <a:r>
              <a:rPr lang="en-US" sz="1400">
                <a:sym typeface="Wingdings" panose="05000000000000000000" pitchFamily="2" charset="2"/>
              </a:rPr>
              <a:t>“Worst case” = complete OVC P-HEV:</a:t>
            </a:r>
            <a:br>
              <a:rPr lang="en-US" sz="1400">
                <a:sym typeface="Wingdings" panose="05000000000000000000" pitchFamily="2" charset="2"/>
              </a:rPr>
            </a:br>
            <a:r>
              <a:rPr lang="en-US" sz="1400" b="1">
                <a:sym typeface="Wingdings" panose="05000000000000000000" pitchFamily="2" charset="2"/>
              </a:rPr>
              <a:t> 152 simulations</a:t>
            </a:r>
            <a:endParaRPr lang="en-GB" sz="1600" b="1"/>
          </a:p>
          <a:p>
            <a:pPr marL="0" indent="0">
              <a:spcBef>
                <a:spcPts val="600"/>
              </a:spcBef>
              <a:buNone/>
            </a:pPr>
            <a:endParaRPr lang="en-GB" sz="1400"/>
          </a:p>
        </p:txBody>
      </p:sp>
      <p:sp>
        <p:nvSpPr>
          <p:cNvPr id="6" name="PlaceHolder 1">
            <a:extLst>
              <a:ext uri="{FF2B5EF4-FFF2-40B4-BE49-F238E27FC236}">
                <a16:creationId xmlns:a16="http://schemas.microsoft.com/office/drawing/2014/main" id="{0E7F5732-BA96-4EE8-85C4-661B5234EEAE}"/>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3706088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267392"/>
          </a:xfrm>
        </p:spPr>
        <p:txBody>
          <a:bodyPr anchor="t"/>
          <a:lstStyle/>
          <a:p>
            <a:r>
              <a:rPr lang="en-US" sz="2400" b="1" spc="-1" dirty="0">
                <a:solidFill>
                  <a:srgbClr val="990000"/>
                </a:solidFill>
                <a:latin typeface="Arial"/>
              </a:rPr>
              <a:t>Factor Method – Generic bodies for primary </a:t>
            </a:r>
            <a:r>
              <a:rPr lang="en-US" sz="2400" b="1" spc="-1" dirty="0" err="1">
                <a:solidFill>
                  <a:srgbClr val="990000"/>
                </a:solidFill>
                <a:latin typeface="Arial"/>
              </a:rPr>
              <a:t>xEV</a:t>
            </a:r>
            <a:endParaRPr lang="en-GB" sz="2400" b="1" spc="-1" dirty="0">
              <a:solidFill>
                <a:srgbClr val="990000"/>
              </a:solidFill>
              <a:latin typeface="Aria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12</a:t>
            </a:fld>
            <a:endParaRPr lang="de-DE"/>
          </a:p>
        </p:txBody>
      </p:sp>
      <p:sp>
        <p:nvSpPr>
          <p:cNvPr id="8" name="Inhaltsplatzhalter 7"/>
          <p:cNvSpPr>
            <a:spLocks noGrp="1"/>
          </p:cNvSpPr>
          <p:nvPr>
            <p:ph idx="1"/>
          </p:nvPr>
        </p:nvSpPr>
        <p:spPr/>
        <p:txBody>
          <a:bodyPr/>
          <a:lstStyle/>
          <a:p>
            <a:r>
              <a:rPr lang="en-US" sz="1800" dirty="0"/>
              <a:t>Basis of the methods for </a:t>
            </a:r>
            <a:r>
              <a:rPr lang="en-US" sz="1800" dirty="0" err="1"/>
              <a:t>xEV</a:t>
            </a:r>
            <a:r>
              <a:rPr lang="en-US" sz="1800" dirty="0"/>
              <a:t> are the generic bodies </a:t>
            </a:r>
            <a:r>
              <a:rPr lang="en-US" sz="1800"/>
              <a:t>for conventional</a:t>
            </a:r>
            <a:br>
              <a:rPr lang="en-US" sz="1800"/>
            </a:br>
            <a:r>
              <a:rPr lang="en-US" sz="1800"/>
              <a:t>(</a:t>
            </a:r>
            <a:r>
              <a:rPr lang="en-US" sz="1800" dirty="0"/>
              <a:t>i.e. ICE only) buses</a:t>
            </a:r>
          </a:p>
          <a:p>
            <a:r>
              <a:rPr lang="en-US" sz="1800" dirty="0"/>
              <a:t>Modified parameters are:</a:t>
            </a:r>
          </a:p>
          <a:p>
            <a:pPr lvl="1"/>
            <a:r>
              <a:rPr lang="en-GB" sz="1800"/>
              <a:t>Vehicle mass</a:t>
            </a:r>
            <a:endParaRPr lang="en-GB" sz="1800" dirty="0"/>
          </a:p>
          <a:p>
            <a:pPr lvl="1"/>
            <a:r>
              <a:rPr lang="en-GB" sz="1800"/>
              <a:t>Auxiliary configuration</a:t>
            </a:r>
            <a:endParaRPr lang="en-GB" sz="1800" dirty="0"/>
          </a:p>
        </p:txBody>
      </p:sp>
      <p:sp>
        <p:nvSpPr>
          <p:cNvPr id="5" name="PlaceHolder 1">
            <a:extLst>
              <a:ext uri="{FF2B5EF4-FFF2-40B4-BE49-F238E27FC236}">
                <a16:creationId xmlns:a16="http://schemas.microsoft.com/office/drawing/2014/main" id="{98E90DC3-F198-44C7-AA1E-FC1F2A7ADA0B}"/>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1166798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267392"/>
          </a:xfrm>
        </p:spPr>
        <p:txBody>
          <a:bodyPr anchor="t"/>
          <a:lstStyle/>
          <a:p>
            <a:r>
              <a:rPr lang="en-US" sz="2400" b="1" spc="-1" dirty="0">
                <a:solidFill>
                  <a:srgbClr val="990000"/>
                </a:solidFill>
                <a:latin typeface="Arial"/>
              </a:rPr>
              <a:t>Factor Method – Generic masses for primary </a:t>
            </a:r>
            <a:r>
              <a:rPr lang="en-US" sz="2400" b="1" spc="-1" dirty="0" err="1">
                <a:solidFill>
                  <a:srgbClr val="990000"/>
                </a:solidFill>
                <a:latin typeface="Arial"/>
              </a:rPr>
              <a:t>xEV</a:t>
            </a:r>
            <a:endParaRPr lang="en-GB" sz="2400" b="1" spc="-1" dirty="0">
              <a:solidFill>
                <a:srgbClr val="990000"/>
              </a:solidFill>
              <a:latin typeface="Aria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13</a:t>
            </a:fld>
            <a:endParaRPr lang="de-DE"/>
          </a:p>
        </p:txBody>
      </p:sp>
      <p:sp>
        <p:nvSpPr>
          <p:cNvPr id="8" name="Inhaltsplatzhalter 7"/>
          <p:cNvSpPr>
            <a:spLocks noGrp="1"/>
          </p:cNvSpPr>
          <p:nvPr>
            <p:ph idx="1"/>
          </p:nvPr>
        </p:nvSpPr>
        <p:spPr>
          <a:xfrm>
            <a:off x="622355" y="1993497"/>
            <a:ext cx="8394645" cy="3625923"/>
          </a:xfrm>
        </p:spPr>
        <p:txBody>
          <a:bodyPr/>
          <a:lstStyle/>
          <a:p>
            <a:r>
              <a:rPr lang="de-AT" sz="1600" dirty="0"/>
              <a:t>Approach </a:t>
            </a:r>
            <a:r>
              <a:rPr lang="de-AT" sz="1600" dirty="0" err="1"/>
              <a:t>already</a:t>
            </a:r>
            <a:r>
              <a:rPr lang="de-AT" sz="1600" dirty="0"/>
              <a:t> </a:t>
            </a:r>
            <a:r>
              <a:rPr lang="de-AT" sz="1600" dirty="0" err="1"/>
              <a:t>discussed</a:t>
            </a:r>
            <a:r>
              <a:rPr lang="de-AT" sz="1600" dirty="0"/>
              <a:t> in DEV Workshops #13 and #14 </a:t>
            </a:r>
            <a:endParaRPr lang="en-GB" sz="1600" dirty="0"/>
          </a:p>
        </p:txBody>
      </p:sp>
      <mc:AlternateContent xmlns:mc="http://schemas.openxmlformats.org/markup-compatibility/2006">
        <mc:Choice xmlns:a14="http://schemas.microsoft.com/office/drawing/2010/main" Requires="a14">
          <p:graphicFrame>
            <p:nvGraphicFramePr>
              <p:cNvPr id="6" name="Tabelle 5"/>
              <p:cNvGraphicFramePr>
                <a:graphicFrameLocks noGrp="1"/>
              </p:cNvGraphicFramePr>
              <p:nvPr>
                <p:extLst>
                  <p:ext uri="{D42A27DB-BD31-4B8C-83A1-F6EECF244321}">
                    <p14:modId xmlns:p14="http://schemas.microsoft.com/office/powerpoint/2010/main" val="3319702299"/>
                  </p:ext>
                </p:extLst>
              </p:nvPr>
            </p:nvGraphicFramePr>
            <p:xfrm>
              <a:off x="622354" y="2871785"/>
              <a:ext cx="6514252" cy="2893249"/>
            </p:xfrm>
            <a:graphic>
              <a:graphicData uri="http://schemas.openxmlformats.org/drawingml/2006/table">
                <a:tbl>
                  <a:tblPr firstCol="1" bandRow="1" bandCol="1">
                    <a:tableStyleId>{21E4AEA4-8DFA-4A89-87EB-49C32662AFE0}</a:tableStyleId>
                  </a:tblPr>
                  <a:tblGrid>
                    <a:gridCol w="969383">
                      <a:extLst>
                        <a:ext uri="{9D8B030D-6E8A-4147-A177-3AD203B41FA5}">
                          <a16:colId xmlns:a16="http://schemas.microsoft.com/office/drawing/2014/main" val="211861681"/>
                        </a:ext>
                      </a:extLst>
                    </a:gridCol>
                    <a:gridCol w="5544869">
                      <a:extLst>
                        <a:ext uri="{9D8B030D-6E8A-4147-A177-3AD203B41FA5}">
                          <a16:colId xmlns:a16="http://schemas.microsoft.com/office/drawing/2014/main" val="1528596377"/>
                        </a:ext>
                      </a:extLst>
                    </a:gridCol>
                  </a:tblGrid>
                  <a:tr h="162374">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𝑴</m:t>
                                    </m:r>
                                  </m:e>
                                  <m:sub>
                                    <m:r>
                                      <a:rPr lang="de-AT" sz="1050" b="1" i="1">
                                        <a:effectLst/>
                                        <a:latin typeface="Cambria Math" panose="02040503050406030204" pitchFamily="18" charset="0"/>
                                      </a:rPr>
                                      <m:t>𝒙𝑬𝑽</m:t>
                                    </m:r>
                                    <m:r>
                                      <a:rPr lang="de-AT" sz="1050" b="1">
                                        <a:effectLst/>
                                        <a:latin typeface="Cambria Math" panose="02040503050406030204" pitchFamily="18" charset="0"/>
                                      </a:rPr>
                                      <m:t>,</m:t>
                                    </m:r>
                                    <m:r>
                                      <a:rPr lang="de-AT" sz="1050" b="1" i="1">
                                        <a:effectLst/>
                                        <a:latin typeface="Cambria Math" panose="02040503050406030204" pitchFamily="18" charset="0"/>
                                      </a:rPr>
                                      <m:t>𝒑𝒓𝒊𝒎</m:t>
                                    </m:r>
                                  </m:sub>
                                </m:sSub>
                              </m:oMath>
                            </m:oMathPara>
                          </a14:m>
                          <a:endParaRPr lang="de-AT" sz="1050" b="1"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dirty="0">
                              <a:effectLst/>
                            </a:rPr>
                            <a:t>Mass primary </a:t>
                          </a:r>
                          <a:r>
                            <a:rPr lang="en-US" sz="1000" dirty="0" err="1">
                              <a:effectLst/>
                            </a:rPr>
                            <a:t>xEV</a:t>
                          </a:r>
                          <a:r>
                            <a:rPr lang="en-US" sz="1000" dirty="0">
                              <a:effectLst/>
                            </a:rPr>
                            <a:t> bus [kg]</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946593678"/>
                      </a:ext>
                    </a:extLst>
                  </a:tr>
                  <a:tr h="162374">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𝑴</m:t>
                                    </m:r>
                                  </m:e>
                                  <m:sub>
                                    <m:r>
                                      <a:rPr lang="de-AT" sz="1050" b="1" i="1">
                                        <a:effectLst/>
                                        <a:latin typeface="Cambria Math" panose="02040503050406030204" pitchFamily="18" charset="0"/>
                                      </a:rPr>
                                      <m:t>𝒄𝒐𝒏𝒗</m:t>
                                    </m:r>
                                    <m:r>
                                      <a:rPr lang="de-AT" sz="1050" b="1">
                                        <a:effectLst/>
                                        <a:latin typeface="Cambria Math" panose="02040503050406030204" pitchFamily="18" charset="0"/>
                                      </a:rPr>
                                      <m:t>,</m:t>
                                    </m:r>
                                    <m:r>
                                      <a:rPr lang="de-AT" sz="1050" b="1" i="1">
                                        <a:effectLst/>
                                        <a:latin typeface="Cambria Math" panose="02040503050406030204" pitchFamily="18" charset="0"/>
                                      </a:rPr>
                                      <m:t>𝒑𝒓𝒊𝒎</m:t>
                                    </m:r>
                                  </m:sub>
                                </m:sSub>
                              </m:oMath>
                            </m:oMathPara>
                          </a14:m>
                          <a:endParaRPr lang="de-AT" sz="1050" b="1"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dirty="0">
                              <a:effectLst/>
                            </a:rPr>
                            <a:t>Curb mass chassis of conventional primary bus [kg] – defined in segment table for each vehicle category</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3411716508"/>
                      </a:ext>
                    </a:extLst>
                  </a:tr>
                  <a:tr h="152832">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r>
                                  <a:rPr lang="de-AT" sz="1050" b="1" i="1">
                                    <a:effectLst/>
                                    <a:latin typeface="Cambria Math" panose="02040503050406030204" pitchFamily="18" charset="0"/>
                                  </a:rPr>
                                  <m:t>𝑫𝒊𝒔</m:t>
                                </m:r>
                              </m:oMath>
                            </m:oMathPara>
                          </a14:m>
                          <a:endParaRPr lang="de-AT" sz="1050" b="1"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dirty="0">
                              <a:effectLst/>
                            </a:rPr>
                            <a:t>ICE Displacement [cm³] – defined in segment table for each vehicle category</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2858520487"/>
                      </a:ext>
                    </a:extLst>
                  </a:tr>
                  <a:tr h="152832">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𝒄</m:t>
                                    </m:r>
                                  </m:e>
                                  <m:sub>
                                    <m:r>
                                      <a:rPr lang="de-AT" sz="1050" b="1">
                                        <a:effectLst/>
                                        <a:latin typeface="Cambria Math" panose="02040503050406030204" pitchFamily="18" charset="0"/>
                                      </a:rPr>
                                      <m:t> </m:t>
                                    </m:r>
                                    <m:r>
                                      <a:rPr lang="de-AT" sz="1050" b="1" i="1">
                                        <a:effectLst/>
                                        <a:latin typeface="Cambria Math" panose="02040503050406030204" pitchFamily="18" charset="0"/>
                                      </a:rPr>
                                      <m:t>𝑰𝑪𝑬</m:t>
                                    </m:r>
                                  </m:sub>
                                </m:sSub>
                              </m:oMath>
                            </m:oMathPara>
                          </a14:m>
                          <a:endParaRPr lang="de-AT" sz="1050" b="1">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dirty="0">
                              <a:effectLst/>
                            </a:rPr>
                            <a:t>Specific ICE mass: </a:t>
                          </a:r>
                          <a:r>
                            <a:rPr lang="en-US" sz="1000" dirty="0">
                              <a:solidFill>
                                <a:srgbClr val="FF0000"/>
                              </a:solidFill>
                              <a:effectLst/>
                            </a:rPr>
                            <a:t>0.1 kg/cm³</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3700112384"/>
                      </a:ext>
                    </a:extLst>
                  </a:tr>
                  <a:tr h="162913">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𝑪𝒂𝒑</m:t>
                                    </m:r>
                                  </m:e>
                                  <m:sub>
                                    <m:r>
                                      <a:rPr lang="de-AT" sz="1050" b="1">
                                        <a:effectLst/>
                                        <a:latin typeface="Cambria Math" panose="02040503050406030204" pitchFamily="18" charset="0"/>
                                      </a:rPr>
                                      <m:t> </m:t>
                                    </m:r>
                                    <m:r>
                                      <a:rPr lang="de-AT" sz="1050" b="1" i="1">
                                        <a:effectLst/>
                                        <a:latin typeface="Cambria Math" panose="02040503050406030204" pitchFamily="18" charset="0"/>
                                      </a:rPr>
                                      <m:t>𝒇𝒖𝒆𝒍</m:t>
                                    </m:r>
                                  </m:sub>
                                </m:sSub>
                              </m:oMath>
                            </m:oMathPara>
                          </a14:m>
                          <a:endParaRPr lang="de-AT" sz="1050" b="1">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dirty="0">
                              <a:effectLst/>
                            </a:rPr>
                            <a:t>Fuel capacity of tank system of the generic conventional primary vehicle [l] – defined in segment table for each vehicle category</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2483646037"/>
                      </a:ext>
                    </a:extLst>
                  </a:tr>
                  <a:tr h="162913">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𝒄</m:t>
                                    </m:r>
                                  </m:e>
                                  <m:sub>
                                    <m:r>
                                      <a:rPr lang="de-AT" sz="1050" b="1">
                                        <a:effectLst/>
                                        <a:latin typeface="Cambria Math" panose="02040503050406030204" pitchFamily="18" charset="0"/>
                                      </a:rPr>
                                      <m:t> </m:t>
                                    </m:r>
                                    <m:r>
                                      <a:rPr lang="de-AT" sz="1050" b="1" i="1">
                                        <a:effectLst/>
                                        <a:latin typeface="Cambria Math" panose="02040503050406030204" pitchFamily="18" charset="0"/>
                                      </a:rPr>
                                      <m:t>𝒇𝒖𝒆𝒍</m:t>
                                    </m:r>
                                  </m:sub>
                                </m:sSub>
                              </m:oMath>
                            </m:oMathPara>
                          </a14:m>
                          <a:endParaRPr lang="de-AT" sz="1050" b="1">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dirty="0">
                              <a:effectLst/>
                            </a:rPr>
                            <a:t>Specific fuel weight: </a:t>
                          </a:r>
                          <a:r>
                            <a:rPr lang="en-US" sz="1000" dirty="0">
                              <a:solidFill>
                                <a:srgbClr val="FF0000"/>
                              </a:solidFill>
                              <a:effectLst/>
                            </a:rPr>
                            <a:t>0.836 kg/l</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2244799492"/>
                      </a:ext>
                    </a:extLst>
                  </a:tr>
                  <a:tr h="152832">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𝑪𝒂𝒑</m:t>
                                    </m:r>
                                  </m:e>
                                  <m:sub>
                                    <m:r>
                                      <a:rPr lang="de-AT" sz="1050" b="1">
                                        <a:effectLst/>
                                        <a:latin typeface="Cambria Math" panose="02040503050406030204" pitchFamily="18" charset="0"/>
                                      </a:rPr>
                                      <m:t> </m:t>
                                    </m:r>
                                    <m:r>
                                      <a:rPr lang="de-AT" sz="1050" b="1" i="1">
                                        <a:effectLst/>
                                        <a:latin typeface="Cambria Math" panose="02040503050406030204" pitchFamily="18" charset="0"/>
                                      </a:rPr>
                                      <m:t>𝑩𝒂𝒕</m:t>
                                    </m:r>
                                  </m:sub>
                                </m:sSub>
                              </m:oMath>
                            </m:oMathPara>
                          </a14:m>
                          <a:endParaRPr lang="de-AT" sz="1050" b="1"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dirty="0">
                              <a:effectLst/>
                            </a:rPr>
                            <a:t>Battery capacity [kWh] (calculated based on nominal Ah and Voltage @ 50% SOC)</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351733406"/>
                      </a:ext>
                    </a:extLst>
                  </a:tr>
                  <a:tr h="152832">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𝒄</m:t>
                                    </m:r>
                                  </m:e>
                                  <m:sub>
                                    <m:r>
                                      <a:rPr lang="de-AT" sz="1050" b="1">
                                        <a:effectLst/>
                                        <a:latin typeface="Cambria Math" panose="02040503050406030204" pitchFamily="18" charset="0"/>
                                      </a:rPr>
                                      <m:t> </m:t>
                                    </m:r>
                                    <m:r>
                                      <a:rPr lang="de-AT" sz="1050" b="1" i="1">
                                        <a:effectLst/>
                                        <a:latin typeface="Cambria Math" panose="02040503050406030204" pitchFamily="18" charset="0"/>
                                      </a:rPr>
                                      <m:t>𝑩𝒂𝒕</m:t>
                                    </m:r>
                                  </m:sub>
                                </m:sSub>
                              </m:oMath>
                            </m:oMathPara>
                          </a14:m>
                          <a:endParaRPr lang="de-AT" sz="1050" b="1">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dirty="0">
                              <a:effectLst/>
                            </a:rPr>
                            <a:t>Specific battery weight: </a:t>
                          </a:r>
                          <a:r>
                            <a:rPr lang="en-US" sz="1000" dirty="0">
                              <a:solidFill>
                                <a:srgbClr val="FF0000"/>
                              </a:solidFill>
                              <a:effectLst/>
                            </a:rPr>
                            <a:t>6.7 kg/kWh</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2796789050"/>
                      </a:ext>
                    </a:extLst>
                  </a:tr>
                  <a:tr h="157488">
                    <a:tc>
                      <a:txBody>
                        <a:bodyPr/>
                        <a:lstStyle/>
                        <a:p>
                          <a:pPr algn="ctr">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𝑷</m:t>
                                    </m:r>
                                  </m:e>
                                  <m:sub>
                                    <m:r>
                                      <a:rPr lang="de-AT" sz="1050" b="1">
                                        <a:effectLst/>
                                        <a:latin typeface="Cambria Math" panose="02040503050406030204" pitchFamily="18" charset="0"/>
                                      </a:rPr>
                                      <m:t> </m:t>
                                    </m:r>
                                    <m:r>
                                      <a:rPr lang="de-AT" sz="1050" b="1" i="1">
                                        <a:effectLst/>
                                        <a:latin typeface="Cambria Math" panose="02040503050406030204" pitchFamily="18" charset="0"/>
                                      </a:rPr>
                                      <m:t>𝑬𝑴</m:t>
                                    </m:r>
                                    <m:r>
                                      <a:rPr lang="de-AT" sz="1050" b="1">
                                        <a:effectLst/>
                                        <a:latin typeface="Cambria Math" panose="02040503050406030204" pitchFamily="18" charset="0"/>
                                      </a:rPr>
                                      <m:t>,</m:t>
                                    </m:r>
                                    <m:r>
                                      <a:rPr lang="de-AT" sz="1050" b="1" i="1">
                                        <a:effectLst/>
                                        <a:latin typeface="Cambria Math" panose="02040503050406030204" pitchFamily="18" charset="0"/>
                                      </a:rPr>
                                      <m:t>𝒄𝒐𝒏𝒕</m:t>
                                    </m:r>
                                  </m:sub>
                                </m:sSub>
                              </m:oMath>
                            </m:oMathPara>
                          </a14:m>
                          <a:endParaRPr lang="de-AT" sz="1050" b="1">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tc>
                      <a:txBody>
                        <a:bodyPr/>
                        <a:lstStyle/>
                        <a:p>
                          <a:pPr algn="l">
                            <a:lnSpc>
                              <a:spcPct val="110000"/>
                            </a:lnSpc>
                            <a:spcAft>
                              <a:spcPts val="600"/>
                            </a:spcAft>
                          </a:pPr>
                          <a:r>
                            <a:rPr lang="en-US" sz="1000">
                              <a:effectLst/>
                            </a:rPr>
                            <a:t>Continuous EM Power [kW] </a:t>
                          </a:r>
                          <a:r>
                            <a:rPr lang="en-US" sz="1000">
                              <a:solidFill>
                                <a:srgbClr val="FF0000"/>
                              </a:solidFill>
                              <a:effectLst/>
                            </a:rPr>
                            <a:t>(based on high voltage input only)</a:t>
                          </a:r>
                          <a:endParaRPr lang="de-AT" sz="100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1973032380"/>
                      </a:ext>
                    </a:extLst>
                  </a:tr>
                  <a:tr h="221550">
                    <a:tc>
                      <a:txBody>
                        <a:bodyPr/>
                        <a:lstStyle/>
                        <a:p>
                          <a:pPr algn="ctr">
                            <a:lnSpc>
                              <a:spcPct val="110000"/>
                            </a:lnSpc>
                            <a:spcAft>
                              <a:spcPts val="600"/>
                            </a:spcAft>
                          </a:pPr>
                          <a14:m>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𝒄</m:t>
                                  </m:r>
                                </m:e>
                                <m:sub>
                                  <m:r>
                                    <a:rPr lang="de-AT" sz="1050" b="1">
                                      <a:effectLst/>
                                      <a:latin typeface="Cambria Math" panose="02040503050406030204" pitchFamily="18" charset="0"/>
                                    </a:rPr>
                                    <m:t> </m:t>
                                  </m:r>
                                  <m:r>
                                    <a:rPr lang="de-AT" sz="1050" b="1" i="1">
                                      <a:effectLst/>
                                      <a:latin typeface="Cambria Math" panose="02040503050406030204" pitchFamily="18" charset="0"/>
                                    </a:rPr>
                                    <m:t>𝑬𝑴</m:t>
                                  </m:r>
                                </m:sub>
                              </m:sSub>
                            </m:oMath>
                          </a14:m>
                          <a:r>
                            <a:rPr lang="de-AT" sz="1050" b="1" dirty="0">
                              <a:effectLst/>
                              <a:latin typeface="Arial" panose="020B0604020202020204" pitchFamily="34" charset="0"/>
                              <a:ea typeface="Calibri" panose="020F0502020204030204" pitchFamily="34" charset="0"/>
                              <a:cs typeface="Times New Roman" panose="02020603050405020304" pitchFamily="18" charset="0"/>
                            </a:rPr>
                            <a:t>,</a:t>
                          </a:r>
                          <a:r>
                            <a:rPr lang="de-AT" sz="1050" b="1" i="1" baseline="-25000" dirty="0">
                              <a:effectLst/>
                              <a:latin typeface="Arial" panose="020B0604020202020204" pitchFamily="34" charset="0"/>
                              <a:ea typeface="Calibri" panose="020F0502020204030204" pitchFamily="34" charset="0"/>
                              <a:cs typeface="Times New Roman" panose="02020603050405020304" pitchFamily="18" charset="0"/>
                            </a:rPr>
                            <a:t>s</a:t>
                          </a:r>
                        </a:p>
                      </a:txBody>
                      <a:tcPr marL="56128" marR="56128" marT="0" marB="0" anchor="ctr"/>
                    </a:tc>
                    <a:tc>
                      <a:txBody>
                        <a:bodyPr/>
                        <a:lstStyle/>
                        <a:p>
                          <a:pPr algn="l">
                            <a:lnSpc>
                              <a:spcPct val="110000"/>
                            </a:lnSpc>
                            <a:spcAft>
                              <a:spcPts val="600"/>
                            </a:spcAft>
                          </a:pPr>
                          <a:r>
                            <a:rPr lang="en-US" sz="1000" dirty="0">
                              <a:effectLst/>
                            </a:rPr>
                            <a:t>Rated power specific EM weight: </a:t>
                          </a:r>
                          <a:r>
                            <a:rPr lang="en-US" sz="1000" dirty="0">
                              <a:solidFill>
                                <a:srgbClr val="FF0000"/>
                              </a:solidFill>
                              <a:effectLst/>
                            </a:rPr>
                            <a:t>1.3 kg/kW</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1172279798"/>
                      </a:ext>
                    </a:extLst>
                  </a:tr>
                  <a:tr h="221550">
                    <a:tc>
                      <a:txBody>
                        <a:bodyPr/>
                        <a:lstStyle/>
                        <a:p>
                          <a:pPr algn="ctr">
                            <a:lnSpc>
                              <a:spcPct val="110000"/>
                            </a:lnSpc>
                            <a:spcAft>
                              <a:spcPts val="600"/>
                            </a:spcAft>
                          </a:pPr>
                          <a14:m>
                            <m:oMath xmlns:m="http://schemas.openxmlformats.org/officeDocument/2006/math">
                              <m:sSub>
                                <m:sSubPr>
                                  <m:ctrlPr>
                                    <a:rPr lang="de-AT" sz="1050" b="1" i="1">
                                      <a:effectLst/>
                                      <a:latin typeface="Cambria Math" panose="02040503050406030204" pitchFamily="18" charset="0"/>
                                    </a:rPr>
                                  </m:ctrlPr>
                                </m:sSubPr>
                                <m:e>
                                  <m:r>
                                    <a:rPr lang="de-AT" sz="1050" b="1" i="1">
                                      <a:effectLst/>
                                      <a:latin typeface="Cambria Math" panose="02040503050406030204" pitchFamily="18" charset="0"/>
                                    </a:rPr>
                                    <m:t>𝒄</m:t>
                                  </m:r>
                                </m:e>
                                <m:sub>
                                  <m:r>
                                    <a:rPr lang="de-AT" sz="1050" b="1">
                                      <a:effectLst/>
                                      <a:latin typeface="Cambria Math" panose="02040503050406030204" pitchFamily="18" charset="0"/>
                                    </a:rPr>
                                    <m:t> </m:t>
                                  </m:r>
                                  <m:r>
                                    <a:rPr lang="de-AT" sz="1050" b="1" i="1">
                                      <a:effectLst/>
                                      <a:latin typeface="Cambria Math" panose="02040503050406030204" pitchFamily="18" charset="0"/>
                                    </a:rPr>
                                    <m:t>𝑬𝑴</m:t>
                                  </m:r>
                                </m:sub>
                              </m:sSub>
                            </m:oMath>
                          </a14:m>
                          <a:r>
                            <a:rPr lang="de-AT" sz="1050" b="1" dirty="0">
                              <a:effectLst/>
                              <a:latin typeface="Arial" panose="020B0604020202020204" pitchFamily="34" charset="0"/>
                              <a:ea typeface="Calibri" panose="020F0502020204030204" pitchFamily="34" charset="0"/>
                              <a:cs typeface="Times New Roman" panose="02020603050405020304" pitchFamily="18" charset="0"/>
                            </a:rPr>
                            <a:t>,</a:t>
                          </a:r>
                          <a:r>
                            <a:rPr lang="de-AT" sz="1050" b="1" i="1" baseline="-25000" dirty="0">
                              <a:effectLst/>
                              <a:latin typeface="Arial" panose="020B0604020202020204" pitchFamily="34" charset="0"/>
                              <a:ea typeface="Calibri" panose="020F0502020204030204" pitchFamily="34" charset="0"/>
                              <a:cs typeface="Times New Roman" panose="02020603050405020304" pitchFamily="18" charset="0"/>
                            </a:rPr>
                            <a:t>g</a:t>
                          </a:r>
                        </a:p>
                      </a:txBody>
                      <a:tcPr marL="56128" marR="56128" marT="0" marB="0" anchor="ctr"/>
                    </a:tc>
                    <a:tc>
                      <a:txBody>
                        <a:bodyPr/>
                        <a:lstStyle/>
                        <a:p>
                          <a:pPr marL="0" marR="0" lvl="0" indent="0" algn="l" defTabSz="457200" rtl="0" eaLnBrk="1" fontAlgn="auto" latinLnBrk="0" hangingPunct="1">
                            <a:lnSpc>
                              <a:spcPct val="110000"/>
                            </a:lnSpc>
                            <a:spcBef>
                              <a:spcPts val="0"/>
                            </a:spcBef>
                            <a:spcAft>
                              <a:spcPts val="600"/>
                            </a:spcAft>
                            <a:buClrTx/>
                            <a:buSzTx/>
                            <a:buFontTx/>
                            <a:buNone/>
                            <a:tabLst/>
                            <a:defRPr/>
                          </a:pPr>
                          <a:r>
                            <a:rPr lang="en-US" sz="1000" dirty="0">
                              <a:effectLst/>
                            </a:rPr>
                            <a:t>Generic EM weight (electronics): </a:t>
                          </a:r>
                          <a:r>
                            <a:rPr lang="en-US" sz="1000" dirty="0">
                              <a:solidFill>
                                <a:srgbClr val="FF0000"/>
                              </a:solidFill>
                              <a:effectLst/>
                            </a:rPr>
                            <a:t>100 kg</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4258288131"/>
                      </a:ext>
                    </a:extLst>
                  </a:tr>
                </a:tbl>
              </a:graphicData>
            </a:graphic>
          </p:graphicFrame>
        </mc:Choice>
        <mc:Fallback>
          <p:graphicFrame>
            <p:nvGraphicFramePr>
              <p:cNvPr id="6" name="Tabelle 5"/>
              <p:cNvGraphicFramePr>
                <a:graphicFrameLocks noGrp="1"/>
              </p:cNvGraphicFramePr>
              <p:nvPr>
                <p:extLst>
                  <p:ext uri="{D42A27DB-BD31-4B8C-83A1-F6EECF244321}">
                    <p14:modId xmlns:p14="http://schemas.microsoft.com/office/powerpoint/2010/main" val="3319702299"/>
                  </p:ext>
                </p:extLst>
              </p:nvPr>
            </p:nvGraphicFramePr>
            <p:xfrm>
              <a:off x="622354" y="2871785"/>
              <a:ext cx="6514252" cy="2893249"/>
            </p:xfrm>
            <a:graphic>
              <a:graphicData uri="http://schemas.openxmlformats.org/drawingml/2006/table">
                <a:tbl>
                  <a:tblPr firstCol="1" bandRow="1" bandCol="1">
                    <a:tableStyleId>{21E4AEA4-8DFA-4A89-87EB-49C32662AFE0}</a:tableStyleId>
                  </a:tblPr>
                  <a:tblGrid>
                    <a:gridCol w="969383">
                      <a:extLst>
                        <a:ext uri="{9D8B030D-6E8A-4147-A177-3AD203B41FA5}">
                          <a16:colId xmlns:a16="http://schemas.microsoft.com/office/drawing/2014/main" val="211861681"/>
                        </a:ext>
                      </a:extLst>
                    </a:gridCol>
                    <a:gridCol w="5544869">
                      <a:extLst>
                        <a:ext uri="{9D8B030D-6E8A-4147-A177-3AD203B41FA5}">
                          <a16:colId xmlns:a16="http://schemas.microsoft.com/office/drawing/2014/main" val="1528596377"/>
                        </a:ext>
                      </a:extLst>
                    </a:gridCol>
                  </a:tblGrid>
                  <a:tr h="267970">
                    <a:tc>
                      <a:txBody>
                        <a:bodyPr/>
                        <a:lstStyle/>
                        <a:p>
                          <a:endParaRPr lang="de-DE"/>
                        </a:p>
                      </a:txBody>
                      <a:tcPr marL="56128" marR="56128" marT="0" marB="0" anchor="ctr">
                        <a:blipFill>
                          <a:blip r:embed="rId2"/>
                          <a:stretch>
                            <a:fillRect l="-629" t="-2273" r="-573585" b="-1000000"/>
                          </a:stretch>
                        </a:blipFill>
                      </a:tcPr>
                    </a:tc>
                    <a:tc>
                      <a:txBody>
                        <a:bodyPr/>
                        <a:lstStyle/>
                        <a:p>
                          <a:pPr algn="l">
                            <a:lnSpc>
                              <a:spcPct val="110000"/>
                            </a:lnSpc>
                            <a:spcAft>
                              <a:spcPts val="600"/>
                            </a:spcAft>
                          </a:pPr>
                          <a:r>
                            <a:rPr lang="en-US" sz="1000" dirty="0">
                              <a:effectLst/>
                            </a:rPr>
                            <a:t>Mass primary </a:t>
                          </a:r>
                          <a:r>
                            <a:rPr lang="en-US" sz="1000" dirty="0" err="1">
                              <a:effectLst/>
                            </a:rPr>
                            <a:t>xEV</a:t>
                          </a:r>
                          <a:r>
                            <a:rPr lang="en-US" sz="1000" dirty="0">
                              <a:effectLst/>
                            </a:rPr>
                            <a:t> bus [kg]</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946593678"/>
                      </a:ext>
                    </a:extLst>
                  </a:tr>
                  <a:tr h="322263">
                    <a:tc>
                      <a:txBody>
                        <a:bodyPr/>
                        <a:lstStyle/>
                        <a:p>
                          <a:endParaRPr lang="de-DE"/>
                        </a:p>
                      </a:txBody>
                      <a:tcPr marL="56128" marR="56128" marT="0" marB="0" anchor="ctr">
                        <a:blipFill>
                          <a:blip r:embed="rId2"/>
                          <a:stretch>
                            <a:fillRect l="-629" t="-84906" r="-573585" b="-730189"/>
                          </a:stretch>
                        </a:blipFill>
                      </a:tcPr>
                    </a:tc>
                    <a:tc>
                      <a:txBody>
                        <a:bodyPr/>
                        <a:lstStyle/>
                        <a:p>
                          <a:pPr algn="l">
                            <a:lnSpc>
                              <a:spcPct val="110000"/>
                            </a:lnSpc>
                            <a:spcAft>
                              <a:spcPts val="600"/>
                            </a:spcAft>
                          </a:pPr>
                          <a:r>
                            <a:rPr lang="en-US" sz="1000" dirty="0">
                              <a:effectLst/>
                            </a:rPr>
                            <a:t>Curb mass chassis of conventional primary bus [kg] – defined in segment table for each vehicle category</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3411716508"/>
                      </a:ext>
                    </a:extLst>
                  </a:tr>
                  <a:tr h="252222">
                    <a:tc>
                      <a:txBody>
                        <a:bodyPr/>
                        <a:lstStyle/>
                        <a:p>
                          <a:endParaRPr lang="de-DE"/>
                        </a:p>
                      </a:txBody>
                      <a:tcPr marL="56128" marR="56128" marT="0" marB="0" anchor="ctr">
                        <a:blipFill>
                          <a:blip r:embed="rId2"/>
                          <a:stretch>
                            <a:fillRect l="-629" t="-239024" r="-573585" b="-843902"/>
                          </a:stretch>
                        </a:blipFill>
                      </a:tcPr>
                    </a:tc>
                    <a:tc>
                      <a:txBody>
                        <a:bodyPr/>
                        <a:lstStyle/>
                        <a:p>
                          <a:pPr algn="l">
                            <a:lnSpc>
                              <a:spcPct val="110000"/>
                            </a:lnSpc>
                            <a:spcAft>
                              <a:spcPts val="600"/>
                            </a:spcAft>
                          </a:pPr>
                          <a:r>
                            <a:rPr lang="en-US" sz="1000" dirty="0">
                              <a:effectLst/>
                            </a:rPr>
                            <a:t>ICE Displacement [cm³] – defined in segment table for each vehicle category</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2858520487"/>
                      </a:ext>
                    </a:extLst>
                  </a:tr>
                  <a:tr h="252222">
                    <a:tc>
                      <a:txBody>
                        <a:bodyPr/>
                        <a:lstStyle/>
                        <a:p>
                          <a:endParaRPr lang="de-DE"/>
                        </a:p>
                      </a:txBody>
                      <a:tcPr marL="56128" marR="56128" marT="0" marB="0" anchor="ctr">
                        <a:blipFill>
                          <a:blip r:embed="rId2"/>
                          <a:stretch>
                            <a:fillRect l="-629" t="-330952" r="-573585" b="-723810"/>
                          </a:stretch>
                        </a:blipFill>
                      </a:tcPr>
                    </a:tc>
                    <a:tc>
                      <a:txBody>
                        <a:bodyPr/>
                        <a:lstStyle/>
                        <a:p>
                          <a:pPr algn="l">
                            <a:lnSpc>
                              <a:spcPct val="110000"/>
                            </a:lnSpc>
                            <a:spcAft>
                              <a:spcPts val="600"/>
                            </a:spcAft>
                          </a:pPr>
                          <a:r>
                            <a:rPr lang="en-US" sz="1000" dirty="0">
                              <a:effectLst/>
                            </a:rPr>
                            <a:t>Specific ICE mass: </a:t>
                          </a:r>
                          <a:r>
                            <a:rPr lang="en-US" sz="1000" dirty="0">
                              <a:solidFill>
                                <a:srgbClr val="FF0000"/>
                              </a:solidFill>
                              <a:effectLst/>
                            </a:rPr>
                            <a:t>0.1 kg/cm³</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3700112384"/>
                      </a:ext>
                    </a:extLst>
                  </a:tr>
                  <a:tr h="322263">
                    <a:tc>
                      <a:txBody>
                        <a:bodyPr/>
                        <a:lstStyle/>
                        <a:p>
                          <a:endParaRPr lang="de-DE"/>
                        </a:p>
                      </a:txBody>
                      <a:tcPr marL="56128" marR="56128" marT="0" marB="0" anchor="ctr">
                        <a:blipFill>
                          <a:blip r:embed="rId2"/>
                          <a:stretch>
                            <a:fillRect l="-629" t="-341509" r="-573585" b="-473585"/>
                          </a:stretch>
                        </a:blipFill>
                      </a:tcPr>
                    </a:tc>
                    <a:tc>
                      <a:txBody>
                        <a:bodyPr/>
                        <a:lstStyle/>
                        <a:p>
                          <a:pPr algn="l">
                            <a:lnSpc>
                              <a:spcPct val="110000"/>
                            </a:lnSpc>
                            <a:spcAft>
                              <a:spcPts val="600"/>
                            </a:spcAft>
                          </a:pPr>
                          <a:r>
                            <a:rPr lang="en-US" sz="1000" dirty="0">
                              <a:effectLst/>
                            </a:rPr>
                            <a:t>Fuel capacity of tank system of the generic conventional primary vehicle [l] – defined in segment table for each vehicle category</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2483646037"/>
                      </a:ext>
                    </a:extLst>
                  </a:tr>
                  <a:tr h="268859">
                    <a:tc>
                      <a:txBody>
                        <a:bodyPr/>
                        <a:lstStyle/>
                        <a:p>
                          <a:endParaRPr lang="de-DE"/>
                        </a:p>
                      </a:txBody>
                      <a:tcPr marL="56128" marR="56128" marT="0" marB="0" anchor="ctr">
                        <a:blipFill>
                          <a:blip r:embed="rId2"/>
                          <a:stretch>
                            <a:fillRect l="-629" t="-531818" r="-573585" b="-470455"/>
                          </a:stretch>
                        </a:blipFill>
                      </a:tcPr>
                    </a:tc>
                    <a:tc>
                      <a:txBody>
                        <a:bodyPr/>
                        <a:lstStyle/>
                        <a:p>
                          <a:pPr algn="l">
                            <a:lnSpc>
                              <a:spcPct val="110000"/>
                            </a:lnSpc>
                            <a:spcAft>
                              <a:spcPts val="600"/>
                            </a:spcAft>
                          </a:pPr>
                          <a:r>
                            <a:rPr lang="en-US" sz="1000" dirty="0">
                              <a:effectLst/>
                            </a:rPr>
                            <a:t>Specific fuel weight: </a:t>
                          </a:r>
                          <a:r>
                            <a:rPr lang="en-US" sz="1000" dirty="0">
                              <a:solidFill>
                                <a:srgbClr val="FF0000"/>
                              </a:solidFill>
                              <a:effectLst/>
                            </a:rPr>
                            <a:t>0.836 kg/l</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2244799492"/>
                      </a:ext>
                    </a:extLst>
                  </a:tr>
                  <a:tr h="252222">
                    <a:tc>
                      <a:txBody>
                        <a:bodyPr/>
                        <a:lstStyle/>
                        <a:p>
                          <a:endParaRPr lang="de-DE"/>
                        </a:p>
                      </a:txBody>
                      <a:tcPr marL="56128" marR="56128" marT="0" marB="0" anchor="ctr">
                        <a:blipFill>
                          <a:blip r:embed="rId2"/>
                          <a:stretch>
                            <a:fillRect l="-629" t="-678049" r="-573585" b="-404878"/>
                          </a:stretch>
                        </a:blipFill>
                      </a:tcPr>
                    </a:tc>
                    <a:tc>
                      <a:txBody>
                        <a:bodyPr/>
                        <a:lstStyle/>
                        <a:p>
                          <a:pPr algn="l">
                            <a:lnSpc>
                              <a:spcPct val="110000"/>
                            </a:lnSpc>
                            <a:spcAft>
                              <a:spcPts val="600"/>
                            </a:spcAft>
                          </a:pPr>
                          <a:r>
                            <a:rPr lang="en-US" sz="1000" dirty="0">
                              <a:effectLst/>
                            </a:rPr>
                            <a:t>Battery capacity [kWh] (calculated based on nominal Ah and Voltage @ 50% SOC)</a:t>
                          </a:r>
                          <a:endParaRPr lang="de-AT" sz="1000" dirty="0">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351733406"/>
                      </a:ext>
                    </a:extLst>
                  </a:tr>
                  <a:tr h="252222">
                    <a:tc>
                      <a:txBody>
                        <a:bodyPr/>
                        <a:lstStyle/>
                        <a:p>
                          <a:endParaRPr lang="de-DE"/>
                        </a:p>
                      </a:txBody>
                      <a:tcPr marL="56128" marR="56128" marT="0" marB="0" anchor="ctr">
                        <a:blipFill>
                          <a:blip r:embed="rId2"/>
                          <a:stretch>
                            <a:fillRect l="-629" t="-759524" r="-573585" b="-295238"/>
                          </a:stretch>
                        </a:blipFill>
                      </a:tcPr>
                    </a:tc>
                    <a:tc>
                      <a:txBody>
                        <a:bodyPr/>
                        <a:lstStyle/>
                        <a:p>
                          <a:pPr algn="l">
                            <a:lnSpc>
                              <a:spcPct val="110000"/>
                            </a:lnSpc>
                            <a:spcAft>
                              <a:spcPts val="600"/>
                            </a:spcAft>
                          </a:pPr>
                          <a:r>
                            <a:rPr lang="en-US" sz="1000" dirty="0">
                              <a:effectLst/>
                            </a:rPr>
                            <a:t>Specific battery weight: </a:t>
                          </a:r>
                          <a:r>
                            <a:rPr lang="en-US" sz="1000" dirty="0">
                              <a:solidFill>
                                <a:srgbClr val="FF0000"/>
                              </a:solidFill>
                              <a:effectLst/>
                            </a:rPr>
                            <a:t>6.7 kg/kWh</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2796789050"/>
                      </a:ext>
                    </a:extLst>
                  </a:tr>
                  <a:tr h="259906">
                    <a:tc>
                      <a:txBody>
                        <a:bodyPr/>
                        <a:lstStyle/>
                        <a:p>
                          <a:endParaRPr lang="de-DE"/>
                        </a:p>
                      </a:txBody>
                      <a:tcPr marL="56128" marR="56128" marT="0" marB="0" anchor="ctr">
                        <a:blipFill>
                          <a:blip r:embed="rId2"/>
                          <a:stretch>
                            <a:fillRect l="-629" t="-859524" r="-573585" b="-195238"/>
                          </a:stretch>
                        </a:blipFill>
                      </a:tcPr>
                    </a:tc>
                    <a:tc>
                      <a:txBody>
                        <a:bodyPr/>
                        <a:lstStyle/>
                        <a:p>
                          <a:pPr algn="l">
                            <a:lnSpc>
                              <a:spcPct val="110000"/>
                            </a:lnSpc>
                            <a:spcAft>
                              <a:spcPts val="600"/>
                            </a:spcAft>
                          </a:pPr>
                          <a:r>
                            <a:rPr lang="en-US" sz="1000">
                              <a:effectLst/>
                            </a:rPr>
                            <a:t>Continuous EM Power [kW] </a:t>
                          </a:r>
                          <a:r>
                            <a:rPr lang="en-US" sz="1000">
                              <a:solidFill>
                                <a:srgbClr val="FF0000"/>
                              </a:solidFill>
                              <a:effectLst/>
                            </a:rPr>
                            <a:t>(based on high voltage input only)</a:t>
                          </a:r>
                          <a:endParaRPr lang="de-AT" sz="100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1973032380"/>
                      </a:ext>
                    </a:extLst>
                  </a:tr>
                  <a:tr h="221550">
                    <a:tc>
                      <a:txBody>
                        <a:bodyPr/>
                        <a:lstStyle/>
                        <a:p>
                          <a:endParaRPr lang="de-DE"/>
                        </a:p>
                      </a:txBody>
                      <a:tcPr marL="56128" marR="56128" marT="0" marB="0" anchor="ctr">
                        <a:blipFill>
                          <a:blip r:embed="rId2"/>
                          <a:stretch>
                            <a:fillRect l="-629" t="-1089189" r="-573585" b="-121622"/>
                          </a:stretch>
                        </a:blipFill>
                      </a:tcPr>
                    </a:tc>
                    <a:tc>
                      <a:txBody>
                        <a:bodyPr/>
                        <a:lstStyle/>
                        <a:p>
                          <a:pPr algn="l">
                            <a:lnSpc>
                              <a:spcPct val="110000"/>
                            </a:lnSpc>
                            <a:spcAft>
                              <a:spcPts val="600"/>
                            </a:spcAft>
                          </a:pPr>
                          <a:r>
                            <a:rPr lang="en-US" sz="1000" dirty="0">
                              <a:effectLst/>
                            </a:rPr>
                            <a:t>Rated power specific EM weight: </a:t>
                          </a:r>
                          <a:r>
                            <a:rPr lang="en-US" sz="1000" dirty="0">
                              <a:solidFill>
                                <a:srgbClr val="FF0000"/>
                              </a:solidFill>
                              <a:effectLst/>
                            </a:rPr>
                            <a:t>1.3 kg/kW</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1172279798"/>
                      </a:ext>
                    </a:extLst>
                  </a:tr>
                  <a:tr h="221550">
                    <a:tc>
                      <a:txBody>
                        <a:bodyPr/>
                        <a:lstStyle/>
                        <a:p>
                          <a:endParaRPr lang="de-DE"/>
                        </a:p>
                      </a:txBody>
                      <a:tcPr marL="56128" marR="56128" marT="0" marB="0" anchor="ctr">
                        <a:blipFill>
                          <a:blip r:embed="rId2"/>
                          <a:stretch>
                            <a:fillRect l="-629" t="-1222222" r="-573585" b="-25000"/>
                          </a:stretch>
                        </a:blipFill>
                      </a:tcPr>
                    </a:tc>
                    <a:tc>
                      <a:txBody>
                        <a:bodyPr/>
                        <a:lstStyle/>
                        <a:p>
                          <a:pPr marL="0" marR="0" lvl="0" indent="0" algn="l" defTabSz="457200" rtl="0" eaLnBrk="1" fontAlgn="auto" latinLnBrk="0" hangingPunct="1">
                            <a:lnSpc>
                              <a:spcPct val="110000"/>
                            </a:lnSpc>
                            <a:spcBef>
                              <a:spcPts val="0"/>
                            </a:spcBef>
                            <a:spcAft>
                              <a:spcPts val="600"/>
                            </a:spcAft>
                            <a:buClrTx/>
                            <a:buSzTx/>
                            <a:buFontTx/>
                            <a:buNone/>
                            <a:tabLst/>
                            <a:defRPr/>
                          </a:pPr>
                          <a:r>
                            <a:rPr lang="en-US" sz="1000" dirty="0">
                              <a:effectLst/>
                            </a:rPr>
                            <a:t>Generic EM weight (electronics): </a:t>
                          </a:r>
                          <a:r>
                            <a:rPr lang="en-US" sz="1000" dirty="0">
                              <a:solidFill>
                                <a:srgbClr val="FF0000"/>
                              </a:solidFill>
                              <a:effectLst/>
                            </a:rPr>
                            <a:t>100 kg</a:t>
                          </a:r>
                          <a:endParaRPr lang="de-AT" sz="10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endParaRPr>
                        </a:p>
                      </a:txBody>
                      <a:tcPr marL="56128" marR="56128" marT="0" marB="0" anchor="ctr"/>
                    </a:tc>
                    <a:extLst>
                      <a:ext uri="{0D108BD9-81ED-4DB2-BD59-A6C34878D82A}">
                        <a16:rowId xmlns:a16="http://schemas.microsoft.com/office/drawing/2014/main" val="425828813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0" name="Tabelle 9">
                <a:extLst>
                  <a:ext uri="{FF2B5EF4-FFF2-40B4-BE49-F238E27FC236}">
                    <a16:creationId xmlns:a16="http://schemas.microsoft.com/office/drawing/2014/main" id="{27495FB1-EFD5-4530-A833-8A37F6354B16}"/>
                  </a:ext>
                </a:extLst>
              </p:cNvPr>
              <p:cNvGraphicFramePr>
                <a:graphicFrameLocks noGrp="1"/>
              </p:cNvGraphicFramePr>
              <p:nvPr>
                <p:extLst>
                  <p:ext uri="{D42A27DB-BD31-4B8C-83A1-F6EECF244321}">
                    <p14:modId xmlns:p14="http://schemas.microsoft.com/office/powerpoint/2010/main" val="4180918458"/>
                  </p:ext>
                </p:extLst>
              </p:nvPr>
            </p:nvGraphicFramePr>
            <p:xfrm>
              <a:off x="622354" y="2274167"/>
              <a:ext cx="7899292" cy="525018"/>
            </p:xfrm>
            <a:graphic>
              <a:graphicData uri="http://schemas.openxmlformats.org/drawingml/2006/table">
                <a:tbl>
                  <a:tblPr firstRow="1" firstCol="1" lastRow="1" lastCol="1" bandRow="1" bandCol="1"/>
                  <a:tblGrid>
                    <a:gridCol w="7899292">
                      <a:extLst>
                        <a:ext uri="{9D8B030D-6E8A-4147-A177-3AD203B41FA5}">
                          <a16:colId xmlns:a16="http://schemas.microsoft.com/office/drawing/2014/main" val="3748414563"/>
                        </a:ext>
                      </a:extLst>
                    </a:gridCol>
                  </a:tblGrid>
                  <a:tr h="0">
                    <a:tc>
                      <a:txBody>
                        <a:bodyPr/>
                        <a:lstStyle/>
                        <a:p>
                          <a:pPr algn="l">
                            <a:lnSpc>
                              <a:spcPct val="110000"/>
                            </a:lnSpc>
                            <a:spcAft>
                              <a:spcPts val="600"/>
                            </a:spcAft>
                          </a:pPr>
                          <a14:m>
                            <m:oMathPara xmlns:m="http://schemas.openxmlformats.org/officeDocument/2006/math">
                              <m:oMathParaPr>
                                <m:jc m:val="centerGroup"/>
                              </m:oMathParaPr>
                              <m:oMath xmlns:m="http://schemas.openxmlformats.org/officeDocument/2006/math">
                                <m:sSub>
                                  <m:sSubPr>
                                    <m:ctrlPr>
                                      <a:rPr lang="de-AT" sz="1200" i="1"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𝑀</m:t>
                                    </m:r>
                                  </m:e>
                                  <m: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𝑥𝐸𝑉</m:t>
                                    </m:r>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𝑝𝑟𝑖𝑚</m:t>
                                    </m:r>
                                  </m:sub>
                                </m:s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e-AT"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𝑀</m:t>
                                    </m:r>
                                  </m:e>
                                  <m: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𝑐𝑜𝑛𝑣</m:t>
                                    </m:r>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𝑝𝑟𝑖𝑚</m:t>
                                    </m:r>
                                  </m:sub>
                                </m:s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de-AT"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dPr>
                                  <m:e>
                                    <m:m>
                                      <m:mPr>
                                        <m:mcs>
                                          <m:mc>
                                            <m:mcPr>
                                              <m:count m:val="1"/>
                                              <m:mcJc m:val="center"/>
                                            </m:mcPr>
                                          </m:mc>
                                        </m:mcs>
                                        <m:ctrlPr>
                                          <a:rPr lang="de-AT" sz="1200" i="1"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mPr>
                                      <m:mr>
                                        <m:e>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𝐷𝑖𝑠</m:t>
                                          </m:r>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e-AT"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𝑐</m:t>
                                              </m:r>
                                            </m:e>
                                            <m: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𝐼𝐶𝐸</m:t>
                                              </m:r>
                                            </m:sub>
                                          </m:s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e-AT"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𝐶𝑎𝑝</m:t>
                                              </m:r>
                                            </m:e>
                                            <m: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𝐹𝑢𝑒𝑙</m:t>
                                              </m:r>
                                            </m:sub>
                                          </m:s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smtClean="0">
                                                  <a:solidFill>
                                                    <a:schemeClr val="bg1"/>
                                                  </a:solidFill>
                                                  <a:effectLst/>
                                                  <a:latin typeface="Cambria Math" panose="02040503050406030204" pitchFamily="18" charset="0"/>
                                                  <a:cs typeface="Times New Roman" panose="02020603050405020304" pitchFamily="18" charset="0"/>
                                                </a:rPr>
                                              </m:ctrlPr>
                                            </m:sSubPr>
                                            <m:e>
                                              <m:r>
                                                <a:rPr lang="de-AT" sz="1200" b="0" i="1" smtClean="0">
                                                  <a:solidFill>
                                                    <a:schemeClr val="bg1"/>
                                                  </a:solidFill>
                                                  <a:effectLst/>
                                                  <a:latin typeface="Cambria Math" panose="02040503050406030204" pitchFamily="18" charset="0"/>
                                                  <a:cs typeface="Times New Roman" panose="02020603050405020304" pitchFamily="18" charset="0"/>
                                                </a:rPr>
                                                <m:t>𝑐</m:t>
                                              </m:r>
                                            </m:e>
                                            <m:sub>
                                              <m:r>
                                                <a:rPr lang="de-AT" sz="1200" b="0" i="1" smtClean="0">
                                                  <a:solidFill>
                                                    <a:schemeClr val="bg1"/>
                                                  </a:solidFill>
                                                  <a:effectLst/>
                                                  <a:latin typeface="Cambria Math" panose="02040503050406030204" pitchFamily="18" charset="0"/>
                                                  <a:cs typeface="Times New Roman" panose="02020603050405020304" pitchFamily="18" charset="0"/>
                                                </a:rPr>
                                                <m:t>𝐹𝑢𝑒𝑙</m:t>
                                              </m:r>
                                            </m:sub>
                                          </m:sSub>
                                          <m:r>
                                            <a:rPr lang="de-AT" sz="1200" b="0" i="1" smtClean="0">
                                              <a:solidFill>
                                                <a:schemeClr val="bg1"/>
                                              </a:solidFill>
                                              <a:effectLst/>
                                              <a:latin typeface="Cambria Math" panose="02040503050406030204" pitchFamily="18" charset="0"/>
                                              <a:cs typeface="Times New Roman" panose="02020603050405020304" pitchFamily="18" charset="0"/>
                                            </a:rPr>
                                            <m:t>/2</m:t>
                                          </m:r>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𝑖𝑓</m:t>
                                          </m:r>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 </m:t>
                                          </m:r>
                                          <m:r>
                                            <a:rPr lang="de-AT" sz="1200" b="0" i="1"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𝑃𝐸𝑉</m:t>
                                          </m:r>
                                        </m:e>
                                      </m:mr>
                                      <m:mr>
                                        <m:e>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0 </m:t>
                                          </m:r>
                                          <m:r>
                                            <a:rPr lang="de-AT" sz="1200" b="0" i="1" smtClean="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𝑒𝑙𝑠𝑒</m:t>
                                          </m:r>
                                        </m:e>
                                      </m:mr>
                                    </m:m>
                                  </m:e>
                                </m:d>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e-AT"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𝐶𝑎𝑝</m:t>
                                    </m:r>
                                  </m:e>
                                  <m: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𝐵𝑎𝑡</m:t>
                                    </m:r>
                                  </m:sub>
                                </m:s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e-AT"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𝑐</m:t>
                                    </m:r>
                                  </m:e>
                                  <m: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𝐵𝑎𝑡</m:t>
                                    </m:r>
                                  </m:sub>
                                </m:sSub>
                                <m:r>
                                  <a:rPr lang="en-US" sz="12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kumimoji="0" lang="de-AT" sz="1200" b="0" i="1" u="none" strike="noStrike" kern="1200" cap="none" spc="0" normalizeH="0" baseline="0" noProof="0" smtClean="0">
                                        <a:ln>
                                          <a:noFill/>
                                        </a:ln>
                                        <a:solidFill>
                                          <a:schemeClr val="bg1"/>
                                        </a:solidFill>
                                        <a:effectLst/>
                                        <a:uLnTx/>
                                        <a:uFillTx/>
                                        <a:latin typeface="Cambria Math" panose="02040503050406030204" pitchFamily="18" charset="0"/>
                                        <a:ea typeface="+mn-ea"/>
                                        <a:cs typeface="+mn-cs"/>
                                      </a:rPr>
                                    </m:ctrlPr>
                                  </m:sSupPr>
                                  <m:e>
                                    <m:d>
                                      <m:dPr>
                                        <m:begChr m:val="["/>
                                        <m:endChr m:val="]"/>
                                        <m:ctrlPr>
                                          <a:rPr kumimoji="0" lang="de-AT" sz="1200" b="0" i="1" u="none" strike="noStrike" kern="1200" cap="none" spc="0" normalizeH="0" baseline="0" noProof="0" smtClean="0">
                                            <a:ln>
                                              <a:noFill/>
                                            </a:ln>
                                            <a:solidFill>
                                              <a:schemeClr val="bg1"/>
                                            </a:solidFill>
                                            <a:effectLst/>
                                            <a:uLnTx/>
                                            <a:uFillTx/>
                                            <a:latin typeface="Cambria Math" panose="02040503050406030204" pitchFamily="18" charset="0"/>
                                            <a:ea typeface="+mn-ea"/>
                                            <a:cs typeface="+mn-cs"/>
                                          </a:rPr>
                                        </m:ctrlPr>
                                      </m:dPr>
                                      <m:e>
                                        <m:sSub>
                                          <m:sSubPr>
                                            <m:ctrlPr>
                                              <a:rPr kumimoji="0" lang="de-AT" sz="1200" b="0" i="1" u="none" strike="noStrike" kern="1200" cap="none" spc="0" normalizeH="0" baseline="0" noProof="0" smtClean="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𝑃</m:t>
                                            </m:r>
                                          </m:e>
                                          <m:sub>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𝐸𝑀</m:t>
                                            </m:r>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𝑐𝑜𝑛𝑡</m:t>
                                            </m:r>
                                          </m:sub>
                                        </m:sSub>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m:t>
                                        </m:r>
                                        <m:sSub>
                                          <m:sSubPr>
                                            <m:ctrlPr>
                                              <a:rPr kumimoji="0" lang="de-AT"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𝑐</m:t>
                                            </m:r>
                                          </m:e>
                                          <m:sub>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𝐸𝑀</m:t>
                                            </m:r>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𝑠</m:t>
                                            </m:r>
                                          </m:sub>
                                        </m:sSub>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m:t>
                                        </m:r>
                                        <m:sSub>
                                          <m:sSubPr>
                                            <m:ctrlPr>
                                              <a:rPr kumimoji="0" lang="de-AT"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𝑐</m:t>
                                            </m:r>
                                          </m:e>
                                          <m:sub>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𝐸𝑀</m:t>
                                            </m:r>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1200" b="0" i="1" u="none" strike="noStrike" kern="1200" cap="none" spc="0" normalizeH="0" baseline="0" noProof="0">
                                                <a:ln>
                                                  <a:noFill/>
                                                </a:ln>
                                                <a:solidFill>
                                                  <a:schemeClr val="bg1"/>
                                                </a:solidFill>
                                                <a:effectLst/>
                                                <a:uLnTx/>
                                                <a:uFillTx/>
                                                <a:latin typeface="Cambria Math" panose="02040503050406030204" pitchFamily="18" charset="0"/>
                                                <a:ea typeface="Calibri" panose="020F0502020204030204" pitchFamily="34" charset="0"/>
                                                <a:cs typeface="Times New Roman" panose="02020603050405020304" pitchFamily="18" charset="0"/>
                                              </a:rPr>
                                              <m:t>𝑔</m:t>
                                            </m:r>
                                          </m:sub>
                                        </m:sSub>
                                      </m:e>
                                    </m:d>
                                  </m:e>
                                  <m:sup>
                                    <m:r>
                                      <a:rPr kumimoji="0" lang="de-AT" sz="1200" b="0" i="1" u="none" strike="noStrike" kern="1200" cap="none" spc="0" normalizeH="0" baseline="0" noProof="0" smtClean="0">
                                        <a:ln>
                                          <a:noFill/>
                                        </a:ln>
                                        <a:solidFill>
                                          <a:schemeClr val="bg1"/>
                                        </a:solidFill>
                                        <a:effectLst/>
                                        <a:uLnTx/>
                                        <a:uFillTx/>
                                        <a:latin typeface="Cambria Math" panose="02040503050406030204" pitchFamily="18" charset="0"/>
                                        <a:ea typeface="+mn-ea"/>
                                        <a:cs typeface="+mn-cs"/>
                                      </a:rPr>
                                      <m:t>∗</m:t>
                                    </m:r>
                                  </m:sup>
                                </m:sSup>
                              </m:oMath>
                            </m:oMathPara>
                          </a14:m>
                          <a:endParaRPr lang="de-AT" sz="12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solidFill>
                          <a:schemeClr val="accent2"/>
                        </a:solidFill>
                      </a:tcPr>
                    </a:tc>
                    <a:extLst>
                      <a:ext uri="{0D108BD9-81ED-4DB2-BD59-A6C34878D82A}">
                        <a16:rowId xmlns:a16="http://schemas.microsoft.com/office/drawing/2014/main" val="754696657"/>
                      </a:ext>
                    </a:extLst>
                  </a:tr>
                </a:tbl>
              </a:graphicData>
            </a:graphic>
          </p:graphicFrame>
        </mc:Choice>
        <mc:Fallback>
          <p:graphicFrame>
            <p:nvGraphicFramePr>
              <p:cNvPr id="10" name="Tabelle 9">
                <a:extLst>
                  <a:ext uri="{FF2B5EF4-FFF2-40B4-BE49-F238E27FC236}">
                    <a16:creationId xmlns:a16="http://schemas.microsoft.com/office/drawing/2014/main" id="{27495FB1-EFD5-4530-A833-8A37F6354B16}"/>
                  </a:ext>
                </a:extLst>
              </p:cNvPr>
              <p:cNvGraphicFramePr>
                <a:graphicFrameLocks noGrp="1"/>
              </p:cNvGraphicFramePr>
              <p:nvPr>
                <p:extLst>
                  <p:ext uri="{D42A27DB-BD31-4B8C-83A1-F6EECF244321}">
                    <p14:modId xmlns:p14="http://schemas.microsoft.com/office/powerpoint/2010/main" val="4180918458"/>
                  </p:ext>
                </p:extLst>
              </p:nvPr>
            </p:nvGraphicFramePr>
            <p:xfrm>
              <a:off x="622354" y="2274167"/>
              <a:ext cx="7899292" cy="525018"/>
            </p:xfrm>
            <a:graphic>
              <a:graphicData uri="http://schemas.openxmlformats.org/drawingml/2006/table">
                <a:tbl>
                  <a:tblPr firstRow="1" firstCol="1" lastRow="1" lastCol="1" bandRow="1" bandCol="1"/>
                  <a:tblGrid>
                    <a:gridCol w="7899292">
                      <a:extLst>
                        <a:ext uri="{9D8B030D-6E8A-4147-A177-3AD203B41FA5}">
                          <a16:colId xmlns:a16="http://schemas.microsoft.com/office/drawing/2014/main" val="3748414563"/>
                        </a:ext>
                      </a:extLst>
                    </a:gridCol>
                  </a:tblGrid>
                  <a:tr h="525018">
                    <a:tc>
                      <a:txBody>
                        <a:bodyPr/>
                        <a:lstStyle/>
                        <a:p>
                          <a:endParaRPr lang="de-DE"/>
                        </a:p>
                      </a:txBody>
                      <a:tcPr marL="68580" marR="68580" marT="0" marB="0">
                        <a:lnL>
                          <a:noFill/>
                        </a:lnL>
                        <a:lnR>
                          <a:noFill/>
                        </a:lnR>
                        <a:lnT>
                          <a:noFill/>
                        </a:lnT>
                        <a:lnB>
                          <a:noFill/>
                        </a:lnB>
                        <a:blipFill>
                          <a:blip r:embed="rId3"/>
                          <a:stretch>
                            <a:fillRect/>
                          </a:stretch>
                        </a:blipFill>
                      </a:tcPr>
                    </a:tc>
                    <a:extLst>
                      <a:ext uri="{0D108BD9-81ED-4DB2-BD59-A6C34878D82A}">
                        <a16:rowId xmlns:a16="http://schemas.microsoft.com/office/drawing/2014/main" val="754696657"/>
                      </a:ext>
                    </a:extLst>
                  </a:tr>
                </a:tbl>
              </a:graphicData>
            </a:graphic>
          </p:graphicFrame>
        </mc:Fallback>
      </mc:AlternateContent>
      <p:sp>
        <p:nvSpPr>
          <p:cNvPr id="9" name="Textfeld 8">
            <a:extLst>
              <a:ext uri="{FF2B5EF4-FFF2-40B4-BE49-F238E27FC236}">
                <a16:creationId xmlns:a16="http://schemas.microsoft.com/office/drawing/2014/main" id="{670FA0D4-3FB4-419A-A9AC-E4BAD8A49590}"/>
              </a:ext>
            </a:extLst>
          </p:cNvPr>
          <p:cNvSpPr txBox="1"/>
          <p:nvPr/>
        </p:nvSpPr>
        <p:spPr>
          <a:xfrm>
            <a:off x="7250906" y="2871786"/>
            <a:ext cx="1563667" cy="577081"/>
          </a:xfrm>
          <a:prstGeom prst="rect">
            <a:avLst/>
          </a:prstGeom>
          <a:noFill/>
        </p:spPr>
        <p:txBody>
          <a:bodyPr wrap="square" rtlCol="0">
            <a:spAutoFit/>
          </a:bodyPr>
          <a:lstStyle/>
          <a:p>
            <a:pPr marL="171450" indent="-171450">
              <a:buClr>
                <a:srgbClr val="FF0000"/>
              </a:buClr>
              <a:buFont typeface="Arial" panose="020B0604020202020204" pitchFamily="34" charset="0"/>
              <a:buChar char="⃰"/>
            </a:pPr>
            <a:r>
              <a:rPr lang="de-AT" sz="1050" dirty="0"/>
              <a:t>EM </a:t>
            </a:r>
            <a:r>
              <a:rPr lang="de-AT" sz="1050" dirty="0" err="1"/>
              <a:t>considered</a:t>
            </a:r>
            <a:r>
              <a:rPr lang="de-AT" sz="1050" dirty="0"/>
              <a:t> </a:t>
            </a:r>
            <a:r>
              <a:rPr lang="de-AT" sz="1050" dirty="0" err="1"/>
              <a:t>twice</a:t>
            </a:r>
            <a:r>
              <a:rPr lang="de-AT" sz="1050" dirty="0"/>
              <a:t> in </a:t>
            </a:r>
            <a:r>
              <a:rPr lang="de-AT" sz="1050" dirty="0" err="1"/>
              <a:t>case</a:t>
            </a:r>
            <a:r>
              <a:rPr lang="de-AT" sz="1050" dirty="0"/>
              <a:t> </a:t>
            </a:r>
            <a:r>
              <a:rPr lang="de-AT" sz="1050" dirty="0" err="1"/>
              <a:t>of</a:t>
            </a:r>
            <a:r>
              <a:rPr lang="de-AT" sz="1050" dirty="0"/>
              <a:t> S-HEV</a:t>
            </a:r>
          </a:p>
        </p:txBody>
      </p:sp>
      <p:sp>
        <p:nvSpPr>
          <p:cNvPr id="11" name="PlaceHolder 1">
            <a:extLst>
              <a:ext uri="{FF2B5EF4-FFF2-40B4-BE49-F238E27FC236}">
                <a16:creationId xmlns:a16="http://schemas.microsoft.com/office/drawing/2014/main" id="{9448207A-0022-41CA-8F83-F90B1B1012D4}"/>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2842587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267392"/>
          </a:xfrm>
        </p:spPr>
        <p:txBody>
          <a:bodyPr anchor="t"/>
          <a:lstStyle/>
          <a:p>
            <a:r>
              <a:rPr lang="en-US" sz="2400" b="1" spc="-1" dirty="0">
                <a:solidFill>
                  <a:srgbClr val="990000"/>
                </a:solidFill>
                <a:latin typeface="Arial"/>
              </a:rPr>
              <a:t>Factor Method – HVAC and AUX config for primary </a:t>
            </a:r>
            <a:r>
              <a:rPr lang="en-US" sz="2400" b="1" spc="-1" dirty="0" err="1">
                <a:solidFill>
                  <a:srgbClr val="990000"/>
                </a:solidFill>
                <a:latin typeface="Arial"/>
              </a:rPr>
              <a:t>xEV</a:t>
            </a:r>
            <a:endParaRPr lang="en-GB" sz="2400" b="1" spc="-1" dirty="0">
              <a:solidFill>
                <a:srgbClr val="990000"/>
              </a:solidFill>
              <a:latin typeface="Arial"/>
            </a:endParaRPr>
          </a:p>
        </p:txBody>
      </p:sp>
      <p:graphicFrame>
        <p:nvGraphicFramePr>
          <p:cNvPr id="14" name="Inhaltsplatzhalter 13">
            <a:extLst>
              <a:ext uri="{FF2B5EF4-FFF2-40B4-BE49-F238E27FC236}">
                <a16:creationId xmlns:a16="http://schemas.microsoft.com/office/drawing/2014/main" id="{627E8E16-8BB6-4081-A389-FAE07D739747}"/>
              </a:ext>
            </a:extLst>
          </p:cNvPr>
          <p:cNvGraphicFramePr>
            <a:graphicFrameLocks noGrp="1"/>
          </p:cNvGraphicFramePr>
          <p:nvPr>
            <p:ph idx="1"/>
            <p:extLst>
              <p:ext uri="{D42A27DB-BD31-4B8C-83A1-F6EECF244321}">
                <p14:modId xmlns:p14="http://schemas.microsoft.com/office/powerpoint/2010/main" val="1487844648"/>
              </p:ext>
            </p:extLst>
          </p:nvPr>
        </p:nvGraphicFramePr>
        <p:xfrm>
          <a:off x="622355" y="2136445"/>
          <a:ext cx="8177089" cy="3497870"/>
        </p:xfrm>
        <a:graphic>
          <a:graphicData uri="http://schemas.openxmlformats.org/drawingml/2006/table">
            <a:tbl>
              <a:tblPr firstRow="1" firstCol="1" bandRow="1">
                <a:tableStyleId>{21E4AEA4-8DFA-4A89-87EB-49C32662AFE0}</a:tableStyleId>
              </a:tblPr>
              <a:tblGrid>
                <a:gridCol w="756940">
                  <a:extLst>
                    <a:ext uri="{9D8B030D-6E8A-4147-A177-3AD203B41FA5}">
                      <a16:colId xmlns:a16="http://schemas.microsoft.com/office/drawing/2014/main" val="1506746834"/>
                    </a:ext>
                  </a:extLst>
                </a:gridCol>
                <a:gridCol w="639667">
                  <a:extLst>
                    <a:ext uri="{9D8B030D-6E8A-4147-A177-3AD203B41FA5}">
                      <a16:colId xmlns:a16="http://schemas.microsoft.com/office/drawing/2014/main" val="1912593918"/>
                    </a:ext>
                  </a:extLst>
                </a:gridCol>
                <a:gridCol w="714295">
                  <a:extLst>
                    <a:ext uri="{9D8B030D-6E8A-4147-A177-3AD203B41FA5}">
                      <a16:colId xmlns:a16="http://schemas.microsoft.com/office/drawing/2014/main" val="4289240537"/>
                    </a:ext>
                  </a:extLst>
                </a:gridCol>
                <a:gridCol w="1151403">
                  <a:extLst>
                    <a:ext uri="{9D8B030D-6E8A-4147-A177-3AD203B41FA5}">
                      <a16:colId xmlns:a16="http://schemas.microsoft.com/office/drawing/2014/main" val="3242606890"/>
                    </a:ext>
                  </a:extLst>
                </a:gridCol>
                <a:gridCol w="1151403">
                  <a:extLst>
                    <a:ext uri="{9D8B030D-6E8A-4147-A177-3AD203B41FA5}">
                      <a16:colId xmlns:a16="http://schemas.microsoft.com/office/drawing/2014/main" val="2154319218"/>
                    </a:ext>
                  </a:extLst>
                </a:gridCol>
                <a:gridCol w="1151403">
                  <a:extLst>
                    <a:ext uri="{9D8B030D-6E8A-4147-A177-3AD203B41FA5}">
                      <a16:colId xmlns:a16="http://schemas.microsoft.com/office/drawing/2014/main" val="1056889895"/>
                    </a:ext>
                  </a:extLst>
                </a:gridCol>
                <a:gridCol w="1151403">
                  <a:extLst>
                    <a:ext uri="{9D8B030D-6E8A-4147-A177-3AD203B41FA5}">
                      <a16:colId xmlns:a16="http://schemas.microsoft.com/office/drawing/2014/main" val="3795210338"/>
                    </a:ext>
                  </a:extLst>
                </a:gridCol>
                <a:gridCol w="714295">
                  <a:extLst>
                    <a:ext uri="{9D8B030D-6E8A-4147-A177-3AD203B41FA5}">
                      <a16:colId xmlns:a16="http://schemas.microsoft.com/office/drawing/2014/main" val="1472780259"/>
                    </a:ext>
                  </a:extLst>
                </a:gridCol>
                <a:gridCol w="746280">
                  <a:extLst>
                    <a:ext uri="{9D8B030D-6E8A-4147-A177-3AD203B41FA5}">
                      <a16:colId xmlns:a16="http://schemas.microsoft.com/office/drawing/2014/main" val="3697681331"/>
                    </a:ext>
                  </a:extLst>
                </a:gridCol>
              </a:tblGrid>
              <a:tr h="641064">
                <a:tc>
                  <a:txBody>
                    <a:bodyPr/>
                    <a:lstStyle/>
                    <a:p>
                      <a:pPr algn="ctr" fontAlgn="ctr"/>
                      <a:r>
                        <a:rPr lang="de-AT" sz="1000" u="none" strike="noStrike">
                          <a:effectLst/>
                        </a:rPr>
                        <a:t>Parameter</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Door drive technology</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HVAC/SystemConfiguration</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HVAC/ HeatPumpTypeDriverCompartmentCooling</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HVAC/ HeatPumpTypeDriverCompartmentHeating</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HVAC/ HeatPumpTypePassengerCompartmentCooling</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HVAC/ HeatPumpTypePassengerCompartmentHeating</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HVAC/AuxiliaryHeaterPower</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dirty="0">
                          <a:effectLst/>
                        </a:rPr>
                        <a:t>HVAC/</a:t>
                      </a:r>
                      <a:r>
                        <a:rPr lang="de-AT" sz="1000" u="none" strike="noStrike" dirty="0" err="1">
                          <a:effectLst/>
                        </a:rPr>
                        <a:t>WaterElectricHeater</a:t>
                      </a:r>
                      <a:endParaRPr lang="de-AT" sz="1000" b="1" i="0" u="none" strike="noStrike" dirty="0">
                        <a:solidFill>
                          <a:srgbClr val="FFFFFF"/>
                        </a:solidFill>
                        <a:effectLst/>
                        <a:latin typeface="Calibri" panose="020F0502020204030204" pitchFamily="34" charset="0"/>
                      </a:endParaRPr>
                    </a:p>
                  </a:txBody>
                  <a:tcPr marL="5618" marR="5618" marT="5618" marB="0" anchor="ctr"/>
                </a:tc>
                <a:extLst>
                  <a:ext uri="{0D108BD9-81ED-4DB2-BD59-A6C34878D82A}">
                    <a16:rowId xmlns:a16="http://schemas.microsoft.com/office/drawing/2014/main" val="470681245"/>
                  </a:ext>
                </a:extLst>
              </a:tr>
              <a:tr h="164657">
                <a:tc>
                  <a:txBody>
                    <a:bodyPr/>
                    <a:lstStyle/>
                    <a:p>
                      <a:pPr algn="ctr" fontAlgn="ctr"/>
                      <a:r>
                        <a:rPr lang="de-AT" sz="1000" u="none" strike="noStrike">
                          <a:effectLst/>
                        </a:rPr>
                        <a:t>ID</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P291</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P317</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P318</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P319</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P320</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P321</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P322</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P328</a:t>
                      </a:r>
                      <a:endParaRPr lang="de-AT" sz="1000" b="0" i="0" u="none" strike="noStrike">
                        <a:solidFill>
                          <a:srgbClr val="000000"/>
                        </a:solidFill>
                        <a:effectLst/>
                        <a:latin typeface="Calibri" panose="020F0502020204030204" pitchFamily="34" charset="0"/>
                      </a:endParaRPr>
                    </a:p>
                  </a:txBody>
                  <a:tcPr marL="5618" marR="5618" marT="5618" marB="0" anchor="ctr"/>
                </a:tc>
                <a:extLst>
                  <a:ext uri="{0D108BD9-81ED-4DB2-BD59-A6C34878D82A}">
                    <a16:rowId xmlns:a16="http://schemas.microsoft.com/office/drawing/2014/main" val="120786485"/>
                  </a:ext>
                </a:extLst>
              </a:tr>
              <a:tr h="164657">
                <a:tc>
                  <a:txBody>
                    <a:bodyPr/>
                    <a:lstStyle/>
                    <a:p>
                      <a:pPr algn="ctr" fontAlgn="ctr"/>
                      <a:r>
                        <a:rPr lang="de-AT" sz="1000" u="none" strike="noStrike">
                          <a:effectLst/>
                        </a:rPr>
                        <a:t>Type</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string</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int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string</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string</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string</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string</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int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bool.</a:t>
                      </a:r>
                      <a:endParaRPr lang="de-AT" sz="1000" b="0" i="0" u="none" strike="noStrike">
                        <a:solidFill>
                          <a:srgbClr val="000000"/>
                        </a:solidFill>
                        <a:effectLst/>
                        <a:latin typeface="Calibri" panose="020F0502020204030204" pitchFamily="34" charset="0"/>
                      </a:endParaRPr>
                    </a:p>
                  </a:txBody>
                  <a:tcPr marL="5618" marR="5618" marT="5618" marB="0" anchor="ctr"/>
                </a:tc>
                <a:extLst>
                  <a:ext uri="{0D108BD9-81ED-4DB2-BD59-A6C34878D82A}">
                    <a16:rowId xmlns:a16="http://schemas.microsoft.com/office/drawing/2014/main" val="4184872243"/>
                  </a:ext>
                </a:extLst>
              </a:tr>
              <a:tr h="164657">
                <a:tc>
                  <a:txBody>
                    <a:bodyPr/>
                    <a:lstStyle/>
                    <a:p>
                      <a:pPr algn="ctr" fontAlgn="ctr"/>
                      <a:r>
                        <a:rPr lang="de-AT" sz="1000" u="none" strike="noStrike">
                          <a:effectLst/>
                        </a:rPr>
                        <a:t>Unit</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extLst>
                  <a:ext uri="{0D108BD9-81ED-4DB2-BD59-A6C34878D82A}">
                    <a16:rowId xmlns:a16="http://schemas.microsoft.com/office/drawing/2014/main" val="3618536097"/>
                  </a:ext>
                </a:extLst>
              </a:tr>
              <a:tr h="1339795">
                <a:tc>
                  <a:txBody>
                    <a:bodyPr/>
                    <a:lstStyle/>
                    <a:p>
                      <a:pPr algn="ctr" fontAlgn="ctr"/>
                      <a:r>
                        <a:rPr lang="de-AT" sz="900" u="none" strike="noStrike" dirty="0">
                          <a:effectLst/>
                        </a:rPr>
                        <a:t>Description</a:t>
                      </a:r>
                      <a:endParaRPr lang="de-AT" sz="900" b="1" i="0" u="none" strike="noStrike" dirty="0">
                        <a:solidFill>
                          <a:srgbClr val="FFFFFF"/>
                        </a:solidFill>
                        <a:effectLst/>
                        <a:latin typeface="Calibri" panose="020F0502020204030204" pitchFamily="34" charset="0"/>
                      </a:endParaRPr>
                    </a:p>
                  </a:txBody>
                  <a:tcPr marL="5618" marR="5618" marT="5618" marB="0" anchor="ctr"/>
                </a:tc>
                <a:tc>
                  <a:txBody>
                    <a:bodyPr/>
                    <a:lstStyle/>
                    <a:p>
                      <a:pPr algn="ctr" fontAlgn="ctr"/>
                      <a:r>
                        <a:rPr lang="en-US" sz="700" u="none" strike="noStrike">
                          <a:effectLst/>
                        </a:rPr>
                        <a:t>Allowed values: ‘pneumatic’, ‘electric’, ‘mixed’</a:t>
                      </a:r>
                      <a:endParaRPr lang="en-US" sz="7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en-US" sz="700" u="none" strike="noStrike">
                          <a:effectLst/>
                        </a:rPr>
                        <a:t>Allowed values: ‘0’ to ‘10’ In the case of an incomplete HVAC system, ‘0’ shall be provided. ‘0’ is not applicable for complete or completed vehicles.</a:t>
                      </a:r>
                      <a:endParaRPr lang="en-US" sz="7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700" u="none" strike="noStrike" dirty="0" err="1">
                          <a:effectLst/>
                        </a:rPr>
                        <a:t>Allowed</a:t>
                      </a:r>
                      <a:r>
                        <a:rPr lang="de-AT" sz="700" u="none" strike="noStrike" dirty="0">
                          <a:effectLst/>
                        </a:rPr>
                        <a:t> </a:t>
                      </a:r>
                      <a:r>
                        <a:rPr lang="de-AT" sz="700" u="none" strike="noStrike" dirty="0" err="1">
                          <a:effectLst/>
                        </a:rPr>
                        <a:t>values</a:t>
                      </a:r>
                      <a:r>
                        <a:rPr lang="de-AT" sz="700" u="none" strike="noStrike" dirty="0">
                          <a:effectLst/>
                        </a:rPr>
                        <a:t>: ‘</a:t>
                      </a:r>
                      <a:r>
                        <a:rPr lang="de-AT" sz="700" u="none" strike="noStrike" dirty="0" err="1">
                          <a:effectLst/>
                        </a:rPr>
                        <a:t>none</a:t>
                      </a:r>
                      <a:r>
                        <a:rPr lang="de-AT" sz="700" u="none" strike="noStrike" dirty="0">
                          <a:effectLst/>
                        </a:rPr>
                        <a:t>’, ‘not </a:t>
                      </a:r>
                      <a:r>
                        <a:rPr lang="de-AT" sz="700" u="none" strike="noStrike" dirty="0" err="1">
                          <a:effectLst/>
                        </a:rPr>
                        <a:t>applicable</a:t>
                      </a:r>
                      <a:r>
                        <a:rPr lang="de-AT" sz="700" u="none" strike="noStrike" dirty="0">
                          <a:effectLst/>
                        </a:rPr>
                        <a:t>’, ‘R-744’, ‘non R-744 2-stage’, ‘non R-744 3-stage’, ‘non R-744 4- </a:t>
                      </a:r>
                      <a:r>
                        <a:rPr lang="de-AT" sz="700" u="none" strike="noStrike" dirty="0" err="1">
                          <a:effectLst/>
                        </a:rPr>
                        <a:t>stage</a:t>
                      </a:r>
                      <a:r>
                        <a:rPr lang="de-AT" sz="700" u="none" strike="noStrike" dirty="0">
                          <a:effectLst/>
                        </a:rPr>
                        <a:t>’, ‘non R-744 </a:t>
                      </a:r>
                      <a:r>
                        <a:rPr lang="de-AT" sz="700" u="none" strike="noStrike" dirty="0" err="1">
                          <a:effectLst/>
                        </a:rPr>
                        <a:t>continuous</a:t>
                      </a:r>
                      <a:r>
                        <a:rPr lang="de-AT" sz="700" u="none" strike="noStrike" dirty="0">
                          <a:effectLst/>
                        </a:rPr>
                        <a:t>’ ‘not </a:t>
                      </a:r>
                      <a:r>
                        <a:rPr lang="de-AT" sz="700" u="none" strike="noStrike" dirty="0" err="1">
                          <a:effectLst/>
                        </a:rPr>
                        <a:t>applicable</a:t>
                      </a:r>
                      <a:r>
                        <a:rPr lang="de-AT" sz="700" u="none" strike="noStrike" dirty="0">
                          <a:effectLst/>
                        </a:rPr>
                        <a:t>’ </a:t>
                      </a:r>
                      <a:r>
                        <a:rPr lang="de-AT" sz="700" u="none" strike="noStrike" dirty="0" err="1">
                          <a:effectLst/>
                        </a:rPr>
                        <a:t>shall</a:t>
                      </a:r>
                      <a:r>
                        <a:rPr lang="de-AT" sz="700" u="none" strike="noStrike" dirty="0">
                          <a:effectLst/>
                        </a:rPr>
                        <a:t> </a:t>
                      </a:r>
                      <a:r>
                        <a:rPr lang="de-AT" sz="700" u="none" strike="noStrike" dirty="0" err="1">
                          <a:effectLst/>
                        </a:rPr>
                        <a:t>be</a:t>
                      </a:r>
                      <a:r>
                        <a:rPr lang="de-AT" sz="700" u="none" strike="noStrike" dirty="0">
                          <a:effectLst/>
                        </a:rPr>
                        <a:t> </a:t>
                      </a:r>
                      <a:r>
                        <a:rPr lang="de-AT" sz="700" u="none" strike="noStrike" dirty="0" err="1">
                          <a:effectLst/>
                        </a:rPr>
                        <a:t>declared</a:t>
                      </a:r>
                      <a:r>
                        <a:rPr lang="de-AT" sz="700" u="none" strike="noStrike" dirty="0">
                          <a:effectLst/>
                        </a:rPr>
                        <a:t> </a:t>
                      </a:r>
                      <a:r>
                        <a:rPr lang="de-AT" sz="700" u="none" strike="noStrike" dirty="0" err="1">
                          <a:effectLst/>
                        </a:rPr>
                        <a:t>for</a:t>
                      </a:r>
                      <a:r>
                        <a:rPr lang="de-AT" sz="700" u="none" strike="noStrike" dirty="0">
                          <a:effectLst/>
                        </a:rPr>
                        <a:t> HVAC </a:t>
                      </a:r>
                      <a:r>
                        <a:rPr lang="de-AT" sz="700" u="none" strike="noStrike" dirty="0" err="1">
                          <a:effectLst/>
                        </a:rPr>
                        <a:t>system</a:t>
                      </a:r>
                      <a:r>
                        <a:rPr lang="de-AT" sz="700" u="none" strike="noStrike" dirty="0">
                          <a:effectLst/>
                        </a:rPr>
                        <a:t> </a:t>
                      </a:r>
                      <a:r>
                        <a:rPr lang="de-AT" sz="700" u="none" strike="noStrike" dirty="0" err="1">
                          <a:effectLst/>
                        </a:rPr>
                        <a:t>configurations</a:t>
                      </a:r>
                      <a:r>
                        <a:rPr lang="de-AT" sz="700" u="none" strike="noStrike" dirty="0">
                          <a:effectLst/>
                        </a:rPr>
                        <a:t> 6 and 10 due </a:t>
                      </a:r>
                      <a:r>
                        <a:rPr lang="de-AT" sz="700" u="none" strike="noStrike" dirty="0" err="1">
                          <a:effectLst/>
                        </a:rPr>
                        <a:t>to</a:t>
                      </a:r>
                      <a:r>
                        <a:rPr lang="de-AT" sz="700" u="none" strike="noStrike" dirty="0">
                          <a:effectLst/>
                        </a:rPr>
                        <a:t> </a:t>
                      </a:r>
                      <a:r>
                        <a:rPr lang="de-AT" sz="700" u="none" strike="noStrike" dirty="0" err="1">
                          <a:effectLst/>
                        </a:rPr>
                        <a:t>supply</a:t>
                      </a:r>
                      <a:r>
                        <a:rPr lang="de-AT" sz="700" u="none" strike="noStrike" dirty="0">
                          <a:effectLst/>
                        </a:rPr>
                        <a:t> </a:t>
                      </a:r>
                      <a:r>
                        <a:rPr lang="de-AT" sz="700" u="none" strike="noStrike" dirty="0" err="1">
                          <a:effectLst/>
                        </a:rPr>
                        <a:t>from</a:t>
                      </a:r>
                      <a:r>
                        <a:rPr lang="de-AT" sz="700" u="none" strike="noStrike" dirty="0">
                          <a:effectLst/>
                        </a:rPr>
                        <a:t> passenger </a:t>
                      </a:r>
                      <a:r>
                        <a:rPr lang="de-AT" sz="700" u="none" strike="noStrike" dirty="0" err="1">
                          <a:effectLst/>
                        </a:rPr>
                        <a:t>heat</a:t>
                      </a:r>
                      <a:r>
                        <a:rPr lang="de-AT" sz="700" u="none" strike="noStrike" dirty="0">
                          <a:effectLst/>
                        </a:rPr>
                        <a:t> pump</a:t>
                      </a:r>
                      <a:endParaRPr lang="de-AT" sz="700" b="0" i="0" u="none" strike="noStrike" dirty="0">
                        <a:solidFill>
                          <a:srgbClr val="000000"/>
                        </a:solidFill>
                        <a:effectLst/>
                        <a:latin typeface="Calibri" panose="020F0502020204030204" pitchFamily="34" charset="0"/>
                      </a:endParaRPr>
                    </a:p>
                  </a:txBody>
                  <a:tcPr marL="5618" marR="5618" marT="5618" marB="0" anchor="ctr"/>
                </a:tc>
                <a:tc>
                  <a:txBody>
                    <a:bodyPr/>
                    <a:lstStyle/>
                    <a:p>
                      <a:pPr algn="ctr" fontAlgn="ctr"/>
                      <a:r>
                        <a:rPr lang="de-AT" sz="700" u="none" strike="noStrike">
                          <a:effectLst/>
                        </a:rPr>
                        <a:t>Allowed values: ‘none’, ‘not applicable’, ‘R-744’, ‘non R-744 2-stage’, ‘non R-744 3-stage’, ‘non R-744 4- stage’, ‘non R-744 continuous’ ‘not applicable’ shall be declared for HVAC system configurations 6 and 10 due to supply from passenger heat pump</a:t>
                      </a:r>
                      <a:endParaRPr lang="de-AT" sz="7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en-US" sz="700" u="none" strike="noStrike">
                          <a:effectLst/>
                        </a:rPr>
                        <a:t>Allowed values: ‘none’, ‘R-744’, ‘non R-744 2-stage’, ‘non R-744 3-stage’, non R-744 4-stage’, ‘non R-744 continuous’ In the case of multiple heat pumps with different technologies for cooling the passenger compartment, the dominant technology shall be declared (e.g. according to available power or preferred usage in operation)</a:t>
                      </a:r>
                      <a:endParaRPr lang="en-US" sz="7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en-US" sz="700" u="none" strike="noStrike">
                          <a:effectLst/>
                        </a:rPr>
                        <a:t>Allowed values: ‘none’, ‘R-744’, ‘non R-744 2-stage’, ‘non R-744 3-stage’, non R-744 4-stage’, ‘non R-744 continuous’ In the case of multiple heat pumps with different technologies for heating the passenger compartment, the dominant technology shall be declared (e.g. according to available power or preferred usage in operation)</a:t>
                      </a:r>
                      <a:endParaRPr lang="en-US" sz="7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en-US" sz="700" u="none" strike="noStrike" dirty="0">
                          <a:effectLst/>
                        </a:rPr>
                        <a:t>Enter ‘0’ if no auxiliary heater is installed.</a:t>
                      </a:r>
                      <a:endParaRPr lang="en-US" sz="700" b="0" i="0" u="none" strike="noStrike" dirty="0">
                        <a:solidFill>
                          <a:srgbClr val="000000"/>
                        </a:solidFill>
                        <a:effectLst/>
                        <a:latin typeface="Calibri" panose="020F0502020204030204" pitchFamily="34" charset="0"/>
                      </a:endParaRPr>
                    </a:p>
                  </a:txBody>
                  <a:tcPr marL="5618" marR="5618" marT="5618" marB="0" anchor="ctr"/>
                </a:tc>
                <a:tc>
                  <a:txBody>
                    <a:bodyPr/>
                    <a:lstStyle/>
                    <a:p>
                      <a:pPr algn="ctr" fontAlgn="ctr"/>
                      <a:r>
                        <a:rPr lang="en-US" sz="700" u="none" strike="noStrike" dirty="0">
                          <a:effectLst/>
                        </a:rPr>
                        <a:t>Input to be provided only for HEV and PEV</a:t>
                      </a:r>
                      <a:endParaRPr lang="en-US" sz="700" b="0" i="0" u="none" strike="noStrike" dirty="0">
                        <a:solidFill>
                          <a:srgbClr val="000000"/>
                        </a:solidFill>
                        <a:effectLst/>
                        <a:latin typeface="Calibri" panose="020F0502020204030204" pitchFamily="34" charset="0"/>
                      </a:endParaRPr>
                    </a:p>
                  </a:txBody>
                  <a:tcPr marL="5618" marR="5618" marT="5618" marB="0" anchor="ctr"/>
                </a:tc>
                <a:extLst>
                  <a:ext uri="{0D108BD9-81ED-4DB2-BD59-A6C34878D82A}">
                    <a16:rowId xmlns:a16="http://schemas.microsoft.com/office/drawing/2014/main" val="2693343883"/>
                  </a:ext>
                </a:extLst>
              </a:tr>
              <a:tr h="323459">
                <a:tc>
                  <a:txBody>
                    <a:bodyPr/>
                    <a:lstStyle/>
                    <a:p>
                      <a:pPr algn="ctr" fontAlgn="ctr"/>
                      <a:r>
                        <a:rPr lang="de-AT" sz="1000" u="none" strike="noStrike">
                          <a:effectLst/>
                        </a:rPr>
                        <a:t>Conventional</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pneumatic</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6</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not applicable</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dirty="0" err="1">
                          <a:effectLst/>
                        </a:rPr>
                        <a:t>none</a:t>
                      </a:r>
                      <a:endParaRPr lang="de-AT" sz="1000" b="0" i="0" u="none" strike="noStrike" dirty="0">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non R-744 2-stage</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dirty="0" err="1">
                          <a:effectLst/>
                        </a:rPr>
                        <a:t>none</a:t>
                      </a:r>
                      <a:endParaRPr lang="de-AT" sz="1000" b="0" i="0" u="none" strike="noStrike" dirty="0">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LF: 15000</a:t>
                      </a:r>
                      <a:br>
                        <a:rPr lang="de-AT" sz="1000" u="none" strike="noStrike">
                          <a:effectLst/>
                        </a:rPr>
                      </a:br>
                      <a:r>
                        <a:rPr lang="de-AT" sz="1000" u="none" strike="noStrike">
                          <a:effectLst/>
                        </a:rPr>
                        <a:t>HF: 30000</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a:t>
                      </a:r>
                      <a:endParaRPr lang="de-AT" sz="1000" b="0" i="0" u="none" strike="noStrike">
                        <a:solidFill>
                          <a:srgbClr val="000000"/>
                        </a:solidFill>
                        <a:effectLst/>
                        <a:latin typeface="Calibri" panose="020F0502020204030204" pitchFamily="34" charset="0"/>
                      </a:endParaRPr>
                    </a:p>
                  </a:txBody>
                  <a:tcPr marL="5618" marR="5618" marT="5618" marB="0" anchor="ctr"/>
                </a:tc>
                <a:extLst>
                  <a:ext uri="{0D108BD9-81ED-4DB2-BD59-A6C34878D82A}">
                    <a16:rowId xmlns:a16="http://schemas.microsoft.com/office/drawing/2014/main" val="196164823"/>
                  </a:ext>
                </a:extLst>
              </a:tr>
              <a:tr h="323459">
                <a:tc>
                  <a:txBody>
                    <a:bodyPr/>
                    <a:lstStyle/>
                    <a:p>
                      <a:pPr algn="ctr" fontAlgn="ctr"/>
                      <a:r>
                        <a:rPr lang="de-AT" sz="1000" u="none" strike="noStrike">
                          <a:effectLst/>
                        </a:rPr>
                        <a:t>HEV</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pneumatic</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6</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not applicable</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dirty="0" err="1">
                          <a:effectLst/>
                        </a:rPr>
                        <a:t>none</a:t>
                      </a:r>
                      <a:endParaRPr lang="de-AT" sz="1000" b="0" i="0" u="none" strike="noStrike" dirty="0">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non R-744 2-stage</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none</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LF: 15000</a:t>
                      </a:r>
                      <a:br>
                        <a:rPr lang="de-AT" sz="1000" u="none" strike="noStrike">
                          <a:effectLst/>
                        </a:rPr>
                      </a:br>
                      <a:r>
                        <a:rPr lang="de-AT" sz="1000" u="none" strike="noStrike">
                          <a:effectLst/>
                        </a:rPr>
                        <a:t>HF: 30000</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False</a:t>
                      </a:r>
                      <a:endParaRPr lang="de-AT" sz="1000" b="0" i="0" u="none" strike="noStrike">
                        <a:solidFill>
                          <a:srgbClr val="000000"/>
                        </a:solidFill>
                        <a:effectLst/>
                        <a:latin typeface="Calibri" panose="020F0502020204030204" pitchFamily="34" charset="0"/>
                      </a:endParaRPr>
                    </a:p>
                  </a:txBody>
                  <a:tcPr marL="5618" marR="5618" marT="5618" marB="0" anchor="ctr"/>
                </a:tc>
                <a:extLst>
                  <a:ext uri="{0D108BD9-81ED-4DB2-BD59-A6C34878D82A}">
                    <a16:rowId xmlns:a16="http://schemas.microsoft.com/office/drawing/2014/main" val="3976367182"/>
                  </a:ext>
                </a:extLst>
              </a:tr>
              <a:tr h="323459">
                <a:tc>
                  <a:txBody>
                    <a:bodyPr/>
                    <a:lstStyle/>
                    <a:p>
                      <a:pPr algn="ctr" fontAlgn="ctr"/>
                      <a:r>
                        <a:rPr lang="de-AT" sz="1000" u="none" strike="noStrike">
                          <a:effectLst/>
                        </a:rPr>
                        <a:t>PEV</a:t>
                      </a:r>
                      <a:endParaRPr lang="de-AT" sz="1000" b="1" i="0" u="none" strike="noStrike">
                        <a:solidFill>
                          <a:srgbClr val="FFFFFF"/>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pneumatic</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6</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not applicable</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not applicable</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dirty="0">
                          <a:effectLst/>
                        </a:rPr>
                        <a:t>non R-744-continuous</a:t>
                      </a:r>
                      <a:endParaRPr lang="de-AT" sz="1000" b="0" i="0" u="none" strike="noStrike" dirty="0">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non R-744 continuous</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a:effectLst/>
                        </a:rPr>
                        <a:t>LF: 0</a:t>
                      </a:r>
                      <a:br>
                        <a:rPr lang="de-AT" sz="1000" u="none" strike="noStrike">
                          <a:effectLst/>
                        </a:rPr>
                      </a:br>
                      <a:r>
                        <a:rPr lang="de-AT" sz="1000" u="none" strike="noStrike">
                          <a:effectLst/>
                        </a:rPr>
                        <a:t>HF: 0</a:t>
                      </a:r>
                      <a:endParaRPr lang="de-AT" sz="1000" b="0" i="0" u="none" strike="noStrike">
                        <a:solidFill>
                          <a:srgbClr val="000000"/>
                        </a:solidFill>
                        <a:effectLst/>
                        <a:latin typeface="Calibri" panose="020F0502020204030204" pitchFamily="34" charset="0"/>
                      </a:endParaRPr>
                    </a:p>
                  </a:txBody>
                  <a:tcPr marL="5618" marR="5618" marT="5618" marB="0" anchor="ctr"/>
                </a:tc>
                <a:tc>
                  <a:txBody>
                    <a:bodyPr/>
                    <a:lstStyle/>
                    <a:p>
                      <a:pPr algn="ctr" fontAlgn="ctr"/>
                      <a:r>
                        <a:rPr lang="de-AT" sz="1000" u="none" strike="noStrike" dirty="0">
                          <a:effectLst/>
                        </a:rPr>
                        <a:t>True</a:t>
                      </a:r>
                      <a:endParaRPr lang="de-AT" sz="1000" b="0" i="0" u="none" strike="noStrike" dirty="0">
                        <a:solidFill>
                          <a:srgbClr val="000000"/>
                        </a:solidFill>
                        <a:effectLst/>
                        <a:latin typeface="Calibri" panose="020F0502020204030204" pitchFamily="34" charset="0"/>
                      </a:endParaRPr>
                    </a:p>
                  </a:txBody>
                  <a:tcPr marL="5618" marR="5618" marT="5618" marB="0" anchor="ctr"/>
                </a:tc>
                <a:extLst>
                  <a:ext uri="{0D108BD9-81ED-4DB2-BD59-A6C34878D82A}">
                    <a16:rowId xmlns:a16="http://schemas.microsoft.com/office/drawing/2014/main" val="3424101413"/>
                  </a:ext>
                </a:extLst>
              </a:tr>
            </a:tbl>
          </a:graphicData>
        </a:graphic>
      </p:graphicFrame>
      <p:sp>
        <p:nvSpPr>
          <p:cNvPr id="4" name="Foliennummernplatzhalter 3"/>
          <p:cNvSpPr>
            <a:spLocks noGrp="1"/>
          </p:cNvSpPr>
          <p:nvPr>
            <p:ph type="sldNum" sz="quarter" idx="12"/>
          </p:nvPr>
        </p:nvSpPr>
        <p:spPr/>
        <p:txBody>
          <a:bodyPr/>
          <a:lstStyle/>
          <a:p>
            <a:fld id="{4B64EC4D-37E3-EF42-B9AB-6337577588CB}" type="slidenum">
              <a:rPr lang="de-DE" smtClean="0"/>
              <a:pPr/>
              <a:t>14</a:t>
            </a:fld>
            <a:endParaRPr lang="de-DE"/>
          </a:p>
        </p:txBody>
      </p:sp>
      <p:sp>
        <p:nvSpPr>
          <p:cNvPr id="20" name="Inhaltsplatzhalter 2">
            <a:extLst>
              <a:ext uri="{FF2B5EF4-FFF2-40B4-BE49-F238E27FC236}">
                <a16:creationId xmlns:a16="http://schemas.microsoft.com/office/drawing/2014/main" id="{F18C3BD0-2BA9-418F-9828-248C4CDA30D6}"/>
              </a:ext>
            </a:extLst>
          </p:cNvPr>
          <p:cNvSpPr txBox="1">
            <a:spLocks/>
          </p:cNvSpPr>
          <p:nvPr/>
        </p:nvSpPr>
        <p:spPr>
          <a:xfrm>
            <a:off x="655983" y="5662207"/>
            <a:ext cx="8143460" cy="246715"/>
          </a:xfrm>
          <a:prstGeom prst="rect">
            <a:avLst/>
          </a:prstGeom>
        </p:spPr>
        <p:txBody>
          <a:bodyPr vert="horz" lIns="0" tIns="0" rIns="0" bIns="0" rtlCol="0" anchor="t">
            <a:noAutofit/>
          </a:bodyPr>
          <a:lstStyle>
            <a:lvl1pPr marL="266700" indent="-266700" algn="l" defTabSz="457200" rtl="0" eaLnBrk="1" latinLnBrk="0" hangingPunct="1">
              <a:spcBef>
                <a:spcPct val="20000"/>
              </a:spcBef>
              <a:buClr>
                <a:srgbClr val="F70146"/>
              </a:buClr>
              <a:buFont typeface="Wingdings" panose="05000000000000000000" pitchFamily="2" charset="2"/>
              <a:buChar char="§"/>
              <a:defRPr sz="2000" kern="1200" baseline="0">
                <a:solidFill>
                  <a:schemeClr val="tx1"/>
                </a:solidFill>
                <a:latin typeface="+mn-lt"/>
                <a:ea typeface="+mn-ea"/>
                <a:cs typeface="+mn-cs"/>
              </a:defRPr>
            </a:lvl1pPr>
            <a:lvl2pPr marL="715963" indent="-266700" algn="l" defTabSz="457200" rtl="0" eaLnBrk="1" latinLnBrk="0" hangingPunct="1">
              <a:spcBef>
                <a:spcPct val="20000"/>
              </a:spcBef>
              <a:buClr>
                <a:schemeClr val="tx1"/>
              </a:buClr>
              <a:buFont typeface="Wingdings" panose="05000000000000000000" pitchFamily="2" charset="2"/>
              <a:buChar char="§"/>
              <a:defRPr sz="2000" kern="1200">
                <a:solidFill>
                  <a:schemeClr val="tx1"/>
                </a:solidFill>
                <a:latin typeface="+mn-lt"/>
                <a:ea typeface="+mn-ea"/>
                <a:cs typeface="+mn-cs"/>
              </a:defRPr>
            </a:lvl2pPr>
            <a:lvl3pPr marL="1165225" indent="-266700" algn="l" defTabSz="457200" rtl="0" eaLnBrk="1" latinLnBrk="0" hangingPunct="1">
              <a:spcBef>
                <a:spcPct val="20000"/>
              </a:spcBef>
              <a:buClr>
                <a:schemeClr val="bg1">
                  <a:lumMod val="50000"/>
                </a:schemeClr>
              </a:buClr>
              <a:buFont typeface="Wingdings" charset="2"/>
              <a:buChar char="§"/>
              <a:tabLst/>
              <a:defRPr sz="1800" kern="1200">
                <a:solidFill>
                  <a:schemeClr val="tx1"/>
                </a:solidFill>
                <a:latin typeface="+mn-lt"/>
                <a:ea typeface="+mn-ea"/>
                <a:cs typeface="+mn-cs"/>
              </a:defRPr>
            </a:lvl3pPr>
            <a:lvl4pPr marL="1524000" indent="-269875" algn="l" defTabSz="457200" rtl="0" eaLnBrk="1" latinLnBrk="0" hangingPunct="1">
              <a:spcBef>
                <a:spcPct val="20000"/>
              </a:spcBef>
              <a:buClr>
                <a:srgbClr val="99A7B0"/>
              </a:buClr>
              <a:buFont typeface="Wingdings" panose="05000000000000000000" pitchFamily="2" charset="2"/>
              <a:buChar char="§"/>
              <a:defRPr sz="1600" kern="1200">
                <a:solidFill>
                  <a:schemeClr val="tx1"/>
                </a:solidFill>
                <a:latin typeface="+mn-lt"/>
                <a:ea typeface="+mn-ea"/>
                <a:cs typeface="+mn-cs"/>
              </a:defRPr>
            </a:lvl4pPr>
            <a:lvl5pPr marL="1884363" indent="-273050" algn="l" defTabSz="457200" rtl="0" eaLnBrk="1" latinLnBrk="0" hangingPunct="1">
              <a:spcBef>
                <a:spcPct val="20000"/>
              </a:spcBef>
              <a:buFont typeface="Lucida Grande"/>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de-AT" sz="1000"/>
              <a:t>HVAC Configuration 6: Thermal </a:t>
            </a:r>
            <a:r>
              <a:rPr lang="de-AT" sz="1000" err="1"/>
              <a:t>comfort</a:t>
            </a:r>
            <a:r>
              <a:rPr lang="de-AT" sz="1000"/>
              <a:t> system; Heat pump </a:t>
            </a:r>
            <a:r>
              <a:rPr lang="de-AT" sz="1000" dirty="0" err="1"/>
              <a:t>for</a:t>
            </a:r>
            <a:r>
              <a:rPr lang="de-AT" sz="1000" dirty="0"/>
              <a:t> </a:t>
            </a:r>
            <a:r>
              <a:rPr lang="de-AT" sz="1000"/>
              <a:t>passenger compartment; No </a:t>
            </a:r>
            <a:r>
              <a:rPr lang="de-AT" sz="1000" err="1"/>
              <a:t>independent</a:t>
            </a:r>
            <a:r>
              <a:rPr lang="de-AT" sz="1000"/>
              <a:t> heat pump </a:t>
            </a:r>
            <a:r>
              <a:rPr lang="de-AT" sz="1000" dirty="0" err="1"/>
              <a:t>for</a:t>
            </a:r>
            <a:r>
              <a:rPr lang="de-AT" sz="1000" dirty="0"/>
              <a:t> </a:t>
            </a:r>
            <a:r>
              <a:rPr lang="de-AT" sz="1000" dirty="0" err="1"/>
              <a:t>driver</a:t>
            </a:r>
            <a:r>
              <a:rPr lang="de-AT" sz="1000" dirty="0"/>
              <a:t> </a:t>
            </a:r>
            <a:r>
              <a:rPr lang="de-AT" sz="1000" dirty="0" err="1"/>
              <a:t>compartment</a:t>
            </a:r>
            <a:endParaRPr lang="de-AT" sz="1000" dirty="0"/>
          </a:p>
        </p:txBody>
      </p:sp>
      <p:sp>
        <p:nvSpPr>
          <p:cNvPr id="6" name="PlaceHolder 1">
            <a:extLst>
              <a:ext uri="{FF2B5EF4-FFF2-40B4-BE49-F238E27FC236}">
                <a16:creationId xmlns:a16="http://schemas.microsoft.com/office/drawing/2014/main" id="{B9800E52-F0C1-4EF3-81A4-1E39B9D02C2A}"/>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43490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585333" y="1478756"/>
            <a:ext cx="8229240" cy="4644695"/>
          </a:xfrm>
        </p:spPr>
        <p:txBody>
          <a:bodyPr/>
          <a:lstStyle/>
          <a:p>
            <a:pPr>
              <a:spcBef>
                <a:spcPts val="600"/>
              </a:spcBef>
            </a:pPr>
            <a:r>
              <a:rPr lang="de-AT" sz="1800" dirty="0"/>
              <a:t>Approach </a:t>
            </a:r>
            <a:r>
              <a:rPr lang="de-AT" sz="1800" dirty="0" err="1"/>
              <a:t>for</a:t>
            </a:r>
            <a:r>
              <a:rPr lang="de-AT" sz="1800" dirty="0"/>
              <a:t> </a:t>
            </a:r>
            <a:r>
              <a:rPr lang="de-AT" sz="1800" dirty="0" err="1"/>
              <a:t>energy</a:t>
            </a:r>
            <a:r>
              <a:rPr lang="de-AT" sz="1800" dirty="0"/>
              <a:t> </a:t>
            </a:r>
            <a:r>
              <a:rPr lang="de-AT" sz="1800" dirty="0" err="1"/>
              <a:t>consumption</a:t>
            </a:r>
            <a:r>
              <a:rPr lang="de-AT" sz="1800" dirty="0"/>
              <a:t> „EC“ [MJ/km]</a:t>
            </a:r>
          </a:p>
          <a:p>
            <a:pPr lvl="1">
              <a:spcBef>
                <a:spcPts val="300"/>
              </a:spcBef>
            </a:pPr>
            <a:r>
              <a:rPr lang="de-AT" sz="1600" dirty="0"/>
              <a:t>Applied </a:t>
            </a:r>
            <a:r>
              <a:rPr lang="de-AT" sz="1600" dirty="0" err="1"/>
              <a:t>both</a:t>
            </a:r>
            <a:r>
              <a:rPr lang="de-AT" sz="1600" dirty="0"/>
              <a:t> </a:t>
            </a:r>
            <a:r>
              <a:rPr lang="de-AT" sz="1600" dirty="0" err="1"/>
              <a:t>for</a:t>
            </a:r>
            <a:r>
              <a:rPr lang="de-AT" sz="1600" dirty="0"/>
              <a:t> </a:t>
            </a:r>
            <a:r>
              <a:rPr lang="de-AT" sz="1600" dirty="0" err="1"/>
              <a:t>fuel</a:t>
            </a:r>
            <a:r>
              <a:rPr lang="de-AT" sz="1600" dirty="0"/>
              <a:t> and </a:t>
            </a:r>
            <a:r>
              <a:rPr lang="de-AT" sz="1600" dirty="0" err="1"/>
              <a:t>electric</a:t>
            </a:r>
            <a:r>
              <a:rPr lang="de-AT" sz="1600" dirty="0"/>
              <a:t> </a:t>
            </a:r>
            <a:r>
              <a:rPr lang="de-AT" sz="1600" dirty="0" err="1"/>
              <a:t>energy</a:t>
            </a:r>
            <a:endParaRPr lang="de-AT" sz="1600" dirty="0"/>
          </a:p>
          <a:p>
            <a:pPr lvl="1">
              <a:spcBef>
                <a:spcPts val="300"/>
              </a:spcBef>
            </a:pPr>
            <a:r>
              <a:rPr lang="de-AT" sz="1600" dirty="0"/>
              <a:t>Fuel </a:t>
            </a:r>
            <a:r>
              <a:rPr lang="de-AT" sz="1600" dirty="0" err="1"/>
              <a:t>consumption</a:t>
            </a:r>
            <a:r>
              <a:rPr lang="de-AT" sz="1600" dirty="0"/>
              <a:t> in </a:t>
            </a:r>
            <a:r>
              <a:rPr lang="de-AT" sz="1600" dirty="0" err="1"/>
              <a:t>grams</a:t>
            </a:r>
            <a:r>
              <a:rPr lang="de-AT" sz="1600" dirty="0"/>
              <a:t> / </a:t>
            </a:r>
            <a:r>
              <a:rPr lang="de-AT" sz="1600" dirty="0" err="1"/>
              <a:t>liters</a:t>
            </a:r>
            <a:r>
              <a:rPr lang="de-AT" sz="1600" dirty="0"/>
              <a:t> and CO</a:t>
            </a:r>
            <a:r>
              <a:rPr lang="de-AT" sz="1600" baseline="-25000" dirty="0"/>
              <a:t>2</a:t>
            </a:r>
            <a:r>
              <a:rPr lang="de-AT" sz="1600" dirty="0"/>
              <a:t> </a:t>
            </a:r>
            <a:r>
              <a:rPr lang="de-AT" sz="1600" dirty="0" err="1"/>
              <a:t>emissions</a:t>
            </a:r>
            <a:r>
              <a:rPr lang="de-AT" sz="1600" dirty="0"/>
              <a:t> </a:t>
            </a:r>
            <a:r>
              <a:rPr lang="de-AT" sz="1600" dirty="0" err="1"/>
              <a:t>are</a:t>
            </a:r>
            <a:r>
              <a:rPr lang="de-AT" sz="1600" dirty="0"/>
              <a:t> </a:t>
            </a:r>
            <a:r>
              <a:rPr lang="de-AT" sz="1600" dirty="0" err="1"/>
              <a:t>derivates</a:t>
            </a:r>
            <a:r>
              <a:rPr lang="de-AT" sz="1600" dirty="0"/>
              <a:t> </a:t>
            </a:r>
            <a:r>
              <a:rPr lang="de-AT" sz="1600" dirty="0" err="1"/>
              <a:t>of</a:t>
            </a:r>
            <a:r>
              <a:rPr lang="de-AT" sz="1600" dirty="0"/>
              <a:t> </a:t>
            </a:r>
            <a:r>
              <a:rPr lang="de-AT" sz="1600" dirty="0" err="1"/>
              <a:t>those</a:t>
            </a:r>
            <a:endParaRPr lang="en-GB" sz="1600" dirty="0"/>
          </a:p>
          <a:p>
            <a:pPr>
              <a:spcBef>
                <a:spcPts val="600"/>
              </a:spcBef>
            </a:pPr>
            <a:endParaRPr lang="en-GB" sz="1600" dirty="0"/>
          </a:p>
        </p:txBody>
      </p:sp>
      <p:sp>
        <p:nvSpPr>
          <p:cNvPr id="5" name="Titel 4"/>
          <p:cNvSpPr>
            <a:spLocks noGrp="1"/>
          </p:cNvSpPr>
          <p:nvPr>
            <p:ph type="title"/>
          </p:nvPr>
        </p:nvSpPr>
        <p:spPr>
          <a:xfrm>
            <a:off x="585333" y="850196"/>
            <a:ext cx="8229240" cy="293239"/>
          </a:xfrm>
        </p:spPr>
        <p:txBody>
          <a:bodyPr anchor="t"/>
          <a:lstStyle/>
          <a:p>
            <a:r>
              <a:rPr lang="en-US" sz="2400" b="1" spc="-1" dirty="0">
                <a:solidFill>
                  <a:srgbClr val="990000"/>
                </a:solidFill>
                <a:latin typeface="Arial"/>
              </a:rPr>
              <a:t>Factor Method – OVC-HEVs (1/2)</a:t>
            </a:r>
            <a:endParaRPr lang="en-GB" sz="2400" b="1" spc="-1" dirty="0">
              <a:solidFill>
                <a:srgbClr val="990000"/>
              </a:solidFill>
              <a:latin typeface="Aria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15</a:t>
            </a:fld>
            <a:endParaRPr lang="de-DE"/>
          </a:p>
        </p:txBody>
      </p:sp>
      <p:graphicFrame>
        <p:nvGraphicFramePr>
          <p:cNvPr id="2" name="Tabelle 1"/>
          <p:cNvGraphicFramePr>
            <a:graphicFrameLocks noGrp="1"/>
          </p:cNvGraphicFramePr>
          <p:nvPr>
            <p:extLst>
              <p:ext uri="{D42A27DB-BD31-4B8C-83A1-F6EECF244321}">
                <p14:modId xmlns:p14="http://schemas.microsoft.com/office/powerpoint/2010/main" val="1066834012"/>
              </p:ext>
            </p:extLst>
          </p:nvPr>
        </p:nvGraphicFramePr>
        <p:xfrm>
          <a:off x="4285531" y="3108960"/>
          <a:ext cx="3043821" cy="640080"/>
        </p:xfrm>
        <a:graphic>
          <a:graphicData uri="http://schemas.openxmlformats.org/drawingml/2006/table">
            <a:tbl>
              <a:tblPr firstCol="1" bandRow="1">
                <a:tableStyleId>{5C22544A-7EE6-4342-B048-85BDC9FD1C3A}</a:tableStyleId>
              </a:tblPr>
              <a:tblGrid>
                <a:gridCol w="662767">
                  <a:extLst>
                    <a:ext uri="{9D8B030D-6E8A-4147-A177-3AD203B41FA5}">
                      <a16:colId xmlns:a16="http://schemas.microsoft.com/office/drawing/2014/main" val="1106390703"/>
                    </a:ext>
                  </a:extLst>
                </a:gridCol>
                <a:gridCol w="2381054">
                  <a:extLst>
                    <a:ext uri="{9D8B030D-6E8A-4147-A177-3AD203B41FA5}">
                      <a16:colId xmlns:a16="http://schemas.microsoft.com/office/drawing/2014/main" val="490876514"/>
                    </a:ext>
                  </a:extLst>
                </a:gridCol>
              </a:tblGrid>
              <a:tr h="136370">
                <a:tc>
                  <a:txBody>
                    <a:bodyPr/>
                    <a:lstStyle/>
                    <a:p>
                      <a:r>
                        <a:rPr lang="en-GB" sz="800"/>
                        <a:t>CD</a:t>
                      </a:r>
                    </a:p>
                  </a:txBody>
                  <a:tcPr marL="45720" marR="45720"/>
                </a:tc>
                <a:tc>
                  <a:txBody>
                    <a:bodyPr/>
                    <a:lstStyle/>
                    <a:p>
                      <a:r>
                        <a:rPr lang="en-GB" sz="800"/>
                        <a:t>EC</a:t>
                      </a:r>
                      <a:r>
                        <a:rPr lang="en-GB" sz="800" baseline="-25000"/>
                        <a:t>prim,CD</a:t>
                      </a:r>
                    </a:p>
                  </a:txBody>
                  <a:tcPr marL="45720" marR="45720"/>
                </a:tc>
                <a:extLst>
                  <a:ext uri="{0D108BD9-81ED-4DB2-BD59-A6C34878D82A}">
                    <a16:rowId xmlns:a16="http://schemas.microsoft.com/office/drawing/2014/main" val="4283314988"/>
                  </a:ext>
                </a:extLst>
              </a:tr>
              <a:tr h="136370">
                <a:tc>
                  <a:txBody>
                    <a:bodyPr/>
                    <a:lstStyle/>
                    <a:p>
                      <a:r>
                        <a:rPr lang="en-GB" sz="800"/>
                        <a:t>CS</a:t>
                      </a:r>
                    </a:p>
                  </a:txBody>
                  <a:tcPr marL="45720" marR="4572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800"/>
                        <a:t>EC</a:t>
                      </a:r>
                      <a:r>
                        <a:rPr lang="en-GB" sz="800" baseline="-25000"/>
                        <a:t>prim,CS</a:t>
                      </a:r>
                    </a:p>
                  </a:txBody>
                  <a:tcPr marL="45720" marR="45720"/>
                </a:tc>
                <a:extLst>
                  <a:ext uri="{0D108BD9-81ED-4DB2-BD59-A6C34878D82A}">
                    <a16:rowId xmlns:a16="http://schemas.microsoft.com/office/drawing/2014/main" val="3421966655"/>
                  </a:ext>
                </a:extLst>
              </a:tr>
              <a:tr h="167101">
                <a:tc>
                  <a:txBody>
                    <a:bodyPr/>
                    <a:lstStyle/>
                    <a:p>
                      <a:r>
                        <a:rPr lang="en-GB" sz="800"/>
                        <a:t>Weighted</a:t>
                      </a:r>
                    </a:p>
                  </a:txBody>
                  <a:tcPr marL="45720" marR="4572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800">
                          <a:solidFill>
                            <a:schemeClr val="bg1">
                              <a:lumMod val="50000"/>
                            </a:schemeClr>
                          </a:solidFill>
                        </a:rPr>
                        <a:t>EC</a:t>
                      </a:r>
                      <a:r>
                        <a:rPr lang="en-GB" sz="800" baseline="-25000">
                          <a:solidFill>
                            <a:schemeClr val="bg1">
                              <a:lumMod val="50000"/>
                            </a:schemeClr>
                          </a:solidFill>
                        </a:rPr>
                        <a:t>prim,weighted</a:t>
                      </a:r>
                      <a:r>
                        <a:rPr lang="en-GB" sz="800" baseline="0">
                          <a:solidFill>
                            <a:schemeClr val="bg1">
                              <a:lumMod val="50000"/>
                            </a:schemeClr>
                          </a:solidFill>
                        </a:rPr>
                        <a:t>= EC</a:t>
                      </a:r>
                      <a:r>
                        <a:rPr lang="en-GB" sz="800" baseline="-25000">
                          <a:solidFill>
                            <a:schemeClr val="bg1">
                              <a:lumMod val="50000"/>
                            </a:schemeClr>
                          </a:solidFill>
                        </a:rPr>
                        <a:t>prim,CD</a:t>
                      </a:r>
                      <a:r>
                        <a:rPr lang="en-GB" sz="800" baseline="0">
                          <a:solidFill>
                            <a:schemeClr val="bg1">
                              <a:lumMod val="50000"/>
                            </a:schemeClr>
                          </a:solidFill>
                        </a:rPr>
                        <a:t> x UF + EC</a:t>
                      </a:r>
                      <a:r>
                        <a:rPr lang="en-GB" sz="800" baseline="-25000">
                          <a:solidFill>
                            <a:schemeClr val="bg1">
                              <a:lumMod val="50000"/>
                            </a:schemeClr>
                          </a:solidFill>
                        </a:rPr>
                        <a:t>prim,CS</a:t>
                      </a:r>
                      <a:r>
                        <a:rPr lang="en-GB" sz="800" baseline="0">
                          <a:solidFill>
                            <a:schemeClr val="bg1">
                              <a:lumMod val="50000"/>
                            </a:schemeClr>
                          </a:solidFill>
                        </a:rPr>
                        <a:t> x (1-UF)</a:t>
                      </a:r>
                    </a:p>
                  </a:txBody>
                  <a:tcPr marL="45720" marR="45720"/>
                </a:tc>
                <a:extLst>
                  <a:ext uri="{0D108BD9-81ED-4DB2-BD59-A6C34878D82A}">
                    <a16:rowId xmlns:a16="http://schemas.microsoft.com/office/drawing/2014/main" val="1912643433"/>
                  </a:ext>
                </a:extLst>
              </a:tr>
            </a:tbl>
          </a:graphicData>
        </a:graphic>
      </p:graphicFrame>
      <p:graphicFrame>
        <p:nvGraphicFramePr>
          <p:cNvPr id="7" name="Tabelle 6"/>
          <p:cNvGraphicFramePr>
            <a:graphicFrameLocks noGrp="1"/>
          </p:cNvGraphicFramePr>
          <p:nvPr>
            <p:extLst>
              <p:ext uri="{D42A27DB-BD31-4B8C-83A1-F6EECF244321}">
                <p14:modId xmlns:p14="http://schemas.microsoft.com/office/powerpoint/2010/main" val="3467979410"/>
              </p:ext>
            </p:extLst>
          </p:nvPr>
        </p:nvGraphicFramePr>
        <p:xfrm>
          <a:off x="7514864" y="2699201"/>
          <a:ext cx="1493135" cy="644321"/>
        </p:xfrm>
        <a:graphic>
          <a:graphicData uri="http://schemas.openxmlformats.org/drawingml/2006/table">
            <a:tbl>
              <a:tblPr firstCol="1" bandRow="1">
                <a:tableStyleId>{5C22544A-7EE6-4342-B048-85BDC9FD1C3A}</a:tableStyleId>
              </a:tblPr>
              <a:tblGrid>
                <a:gridCol w="572947">
                  <a:extLst>
                    <a:ext uri="{9D8B030D-6E8A-4147-A177-3AD203B41FA5}">
                      <a16:colId xmlns:a16="http://schemas.microsoft.com/office/drawing/2014/main" val="1106390703"/>
                    </a:ext>
                  </a:extLst>
                </a:gridCol>
                <a:gridCol w="920188">
                  <a:extLst>
                    <a:ext uri="{9D8B030D-6E8A-4147-A177-3AD203B41FA5}">
                      <a16:colId xmlns:a16="http://schemas.microsoft.com/office/drawing/2014/main" val="490876514"/>
                    </a:ext>
                  </a:extLst>
                </a:gridCol>
              </a:tblGrid>
              <a:tr h="217601">
                <a:tc>
                  <a:txBody>
                    <a:bodyPr/>
                    <a:lstStyle/>
                    <a:p>
                      <a:r>
                        <a:rPr lang="en-GB" sz="800"/>
                        <a:t>CD</a:t>
                      </a:r>
                    </a:p>
                  </a:txBody>
                  <a:tcPr marL="45720" marR="45720"/>
                </a:tc>
                <a:tc>
                  <a:txBody>
                    <a:bodyPr/>
                    <a:lstStyle/>
                    <a:p>
                      <a:r>
                        <a:rPr lang="en-GB" sz="800"/>
                        <a:t>EC</a:t>
                      </a:r>
                      <a:r>
                        <a:rPr lang="en-GB" sz="800" baseline="-25000"/>
                        <a:t>compl,specBody,CD</a:t>
                      </a:r>
                    </a:p>
                  </a:txBody>
                  <a:tcPr marL="45720" marR="45720"/>
                </a:tc>
                <a:extLst>
                  <a:ext uri="{0D108BD9-81ED-4DB2-BD59-A6C34878D82A}">
                    <a16:rowId xmlns:a16="http://schemas.microsoft.com/office/drawing/2014/main" val="4283314988"/>
                  </a:ext>
                </a:extLst>
              </a:tr>
              <a:tr h="163005">
                <a:tc>
                  <a:txBody>
                    <a:bodyPr/>
                    <a:lstStyle/>
                    <a:p>
                      <a:r>
                        <a:rPr lang="en-GB" sz="800"/>
                        <a:t>CS</a:t>
                      </a:r>
                    </a:p>
                  </a:txBody>
                  <a:tcPr marL="45720" marR="45720"/>
                </a:tc>
                <a:tc>
                  <a:txBody>
                    <a:bodyPr/>
                    <a:lstStyle/>
                    <a:p>
                      <a:r>
                        <a:rPr lang="en-GB" sz="800"/>
                        <a:t>EC</a:t>
                      </a:r>
                      <a:r>
                        <a:rPr lang="en-GB" sz="800" baseline="-25000"/>
                        <a:t>compl,specBody,CS</a:t>
                      </a:r>
                    </a:p>
                  </a:txBody>
                  <a:tcPr marL="45720" marR="45720"/>
                </a:tc>
                <a:extLst>
                  <a:ext uri="{0D108BD9-81ED-4DB2-BD59-A6C34878D82A}">
                    <a16:rowId xmlns:a16="http://schemas.microsoft.com/office/drawing/2014/main" val="3421966655"/>
                  </a:ext>
                </a:extLst>
              </a:tr>
              <a:tr h="163005">
                <a:tc>
                  <a:txBody>
                    <a:bodyPr/>
                    <a:lstStyle/>
                    <a:p>
                      <a:r>
                        <a:rPr lang="en-GB" sz="800"/>
                        <a:t>Weighted</a:t>
                      </a:r>
                    </a:p>
                  </a:txBody>
                  <a:tcPr marL="45720" marR="45720"/>
                </a:tc>
                <a:tc>
                  <a:txBody>
                    <a:bodyPr/>
                    <a:lstStyle/>
                    <a:p>
                      <a:pPr algn="ctr"/>
                      <a:r>
                        <a:rPr lang="en-GB" sz="600" i="1" baseline="0">
                          <a:solidFill>
                            <a:schemeClr val="bg1">
                              <a:lumMod val="50000"/>
                            </a:schemeClr>
                          </a:solidFill>
                        </a:rPr>
                        <a:t>not calculated</a:t>
                      </a:r>
                      <a:endParaRPr lang="en-GB" sz="600" i="1" baseline="-25000">
                        <a:solidFill>
                          <a:schemeClr val="bg1">
                            <a:lumMod val="50000"/>
                          </a:schemeClr>
                        </a:solidFill>
                      </a:endParaRPr>
                    </a:p>
                  </a:txBody>
                  <a:tcPr marL="45720" marR="45720"/>
                </a:tc>
                <a:extLst>
                  <a:ext uri="{0D108BD9-81ED-4DB2-BD59-A6C34878D82A}">
                    <a16:rowId xmlns:a16="http://schemas.microsoft.com/office/drawing/2014/main" val="1912643433"/>
                  </a:ext>
                </a:extLst>
              </a:tr>
            </a:tbl>
          </a:graphicData>
        </a:graphic>
      </p:graphicFrame>
      <p:graphicFrame>
        <p:nvGraphicFramePr>
          <p:cNvPr id="8" name="Tabelle 7"/>
          <p:cNvGraphicFramePr>
            <a:graphicFrameLocks noGrp="1"/>
          </p:cNvGraphicFramePr>
          <p:nvPr>
            <p:extLst>
              <p:ext uri="{D42A27DB-BD31-4B8C-83A1-F6EECF244321}">
                <p14:modId xmlns:p14="http://schemas.microsoft.com/office/powerpoint/2010/main" val="436027172"/>
              </p:ext>
            </p:extLst>
          </p:nvPr>
        </p:nvGraphicFramePr>
        <p:xfrm>
          <a:off x="7514864" y="3548802"/>
          <a:ext cx="1493135" cy="645439"/>
        </p:xfrm>
        <a:graphic>
          <a:graphicData uri="http://schemas.openxmlformats.org/drawingml/2006/table">
            <a:tbl>
              <a:tblPr firstCol="1" bandRow="1">
                <a:tableStyleId>{5C22544A-7EE6-4342-B048-85BDC9FD1C3A}</a:tableStyleId>
              </a:tblPr>
              <a:tblGrid>
                <a:gridCol w="572947">
                  <a:extLst>
                    <a:ext uri="{9D8B030D-6E8A-4147-A177-3AD203B41FA5}">
                      <a16:colId xmlns:a16="http://schemas.microsoft.com/office/drawing/2014/main" val="1106390703"/>
                    </a:ext>
                  </a:extLst>
                </a:gridCol>
                <a:gridCol w="920188">
                  <a:extLst>
                    <a:ext uri="{9D8B030D-6E8A-4147-A177-3AD203B41FA5}">
                      <a16:colId xmlns:a16="http://schemas.microsoft.com/office/drawing/2014/main" val="490876514"/>
                    </a:ext>
                  </a:extLst>
                </a:gridCol>
              </a:tblGrid>
              <a:tr h="218719">
                <a:tc>
                  <a:txBody>
                    <a:bodyPr/>
                    <a:lstStyle/>
                    <a:p>
                      <a:r>
                        <a:rPr lang="en-GB" sz="800"/>
                        <a:t>CD</a:t>
                      </a:r>
                    </a:p>
                  </a:txBody>
                  <a:tcPr marL="45720" marR="45720"/>
                </a:tc>
                <a:tc>
                  <a:txBody>
                    <a:bodyPr/>
                    <a:lstStyle/>
                    <a:p>
                      <a:r>
                        <a:rPr lang="en-GB" sz="800"/>
                        <a:t>EC</a:t>
                      </a:r>
                      <a:r>
                        <a:rPr lang="en-GB" sz="800" baseline="-25000"/>
                        <a:t>compl,genBody,CD</a:t>
                      </a:r>
                    </a:p>
                  </a:txBody>
                  <a:tcPr marL="45720" marR="45720"/>
                </a:tc>
                <a:extLst>
                  <a:ext uri="{0D108BD9-81ED-4DB2-BD59-A6C34878D82A}">
                    <a16:rowId xmlns:a16="http://schemas.microsoft.com/office/drawing/2014/main" val="4283314988"/>
                  </a:ext>
                </a:extLst>
              </a:tr>
              <a:tr h="163005">
                <a:tc>
                  <a:txBody>
                    <a:bodyPr/>
                    <a:lstStyle/>
                    <a:p>
                      <a:r>
                        <a:rPr lang="en-GB" sz="800"/>
                        <a:t>CS</a:t>
                      </a:r>
                    </a:p>
                  </a:txBody>
                  <a:tcPr marL="45720" marR="45720"/>
                </a:tc>
                <a:tc>
                  <a:txBody>
                    <a:bodyPr/>
                    <a:lstStyle/>
                    <a:p>
                      <a:r>
                        <a:rPr lang="en-GB" sz="800"/>
                        <a:t>EC</a:t>
                      </a:r>
                      <a:r>
                        <a:rPr lang="en-GB" sz="800" baseline="-25000"/>
                        <a:t>compl,genBody,CS</a:t>
                      </a:r>
                    </a:p>
                  </a:txBody>
                  <a:tcPr marL="45720" marR="45720"/>
                </a:tc>
                <a:extLst>
                  <a:ext uri="{0D108BD9-81ED-4DB2-BD59-A6C34878D82A}">
                    <a16:rowId xmlns:a16="http://schemas.microsoft.com/office/drawing/2014/main" val="3421966655"/>
                  </a:ext>
                </a:extLst>
              </a:tr>
              <a:tr h="163005">
                <a:tc>
                  <a:txBody>
                    <a:bodyPr/>
                    <a:lstStyle/>
                    <a:p>
                      <a:r>
                        <a:rPr lang="en-GB" sz="800"/>
                        <a:t>Weighted</a:t>
                      </a:r>
                    </a:p>
                  </a:txBody>
                  <a:tcPr marL="45720" marR="45720"/>
                </a:tc>
                <a:tc>
                  <a:txBody>
                    <a:bodyPr/>
                    <a:lstStyle/>
                    <a:p>
                      <a:pPr algn="ctr"/>
                      <a:r>
                        <a:rPr lang="en-GB" sz="600" i="1" baseline="0">
                          <a:solidFill>
                            <a:schemeClr val="bg1">
                              <a:lumMod val="50000"/>
                            </a:schemeClr>
                          </a:solidFill>
                        </a:rPr>
                        <a:t>not calculated</a:t>
                      </a:r>
                      <a:endParaRPr lang="en-GB" sz="600" i="1" baseline="-25000">
                        <a:solidFill>
                          <a:schemeClr val="bg1">
                            <a:lumMod val="50000"/>
                          </a:schemeClr>
                        </a:solidFill>
                      </a:endParaRPr>
                    </a:p>
                  </a:txBody>
                  <a:tcPr marL="45720" marR="45720"/>
                </a:tc>
                <a:extLst>
                  <a:ext uri="{0D108BD9-81ED-4DB2-BD59-A6C34878D82A}">
                    <a16:rowId xmlns:a16="http://schemas.microsoft.com/office/drawing/2014/main" val="1912643433"/>
                  </a:ext>
                </a:extLst>
              </a:tr>
            </a:tbl>
          </a:graphicData>
        </a:graphic>
      </p:graphicFrame>
      <p:graphicFrame>
        <p:nvGraphicFramePr>
          <p:cNvPr id="9" name="Tabelle 8"/>
          <p:cNvGraphicFramePr>
            <a:graphicFrameLocks noGrp="1"/>
          </p:cNvGraphicFramePr>
          <p:nvPr>
            <p:extLst>
              <p:ext uri="{D42A27DB-BD31-4B8C-83A1-F6EECF244321}">
                <p14:modId xmlns:p14="http://schemas.microsoft.com/office/powerpoint/2010/main" val="2686944368"/>
              </p:ext>
            </p:extLst>
          </p:nvPr>
        </p:nvGraphicFramePr>
        <p:xfrm>
          <a:off x="162981" y="3108960"/>
          <a:ext cx="3848582" cy="640080"/>
        </p:xfrm>
        <a:graphic>
          <a:graphicData uri="http://schemas.openxmlformats.org/drawingml/2006/table">
            <a:tbl>
              <a:tblPr firstCol="1" bandRow="1">
                <a:tableStyleId>{5C22544A-7EE6-4342-B048-85BDC9FD1C3A}</a:tableStyleId>
              </a:tblPr>
              <a:tblGrid>
                <a:gridCol w="1024360">
                  <a:extLst>
                    <a:ext uri="{9D8B030D-6E8A-4147-A177-3AD203B41FA5}">
                      <a16:colId xmlns:a16="http://schemas.microsoft.com/office/drawing/2014/main" val="1106390703"/>
                    </a:ext>
                  </a:extLst>
                </a:gridCol>
                <a:gridCol w="2824222">
                  <a:extLst>
                    <a:ext uri="{9D8B030D-6E8A-4147-A177-3AD203B41FA5}">
                      <a16:colId xmlns:a16="http://schemas.microsoft.com/office/drawing/2014/main" val="490876514"/>
                    </a:ext>
                  </a:extLst>
                </a:gridCol>
              </a:tblGrid>
              <a:tr h="163005">
                <a:tc>
                  <a:txBody>
                    <a:bodyPr/>
                    <a:lstStyle/>
                    <a:p>
                      <a:r>
                        <a:rPr lang="en-GB" sz="800" dirty="0"/>
                        <a:t>CD</a:t>
                      </a:r>
                    </a:p>
                  </a:txBody>
                  <a:tcPr marL="45720" marR="4572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800" b="1" baseline="0"/>
                        <a:t>EC</a:t>
                      </a:r>
                      <a:r>
                        <a:rPr lang="en-GB" sz="800" b="1" baseline="-25000"/>
                        <a:t>compl,CD</a:t>
                      </a:r>
                      <a:r>
                        <a:rPr lang="en-GB" sz="800" baseline="0"/>
                        <a:t> = EC</a:t>
                      </a:r>
                      <a:r>
                        <a:rPr lang="en-GB" sz="800" baseline="-25000"/>
                        <a:t>prim,CD</a:t>
                      </a:r>
                      <a:r>
                        <a:rPr lang="en-GB" sz="800" baseline="0"/>
                        <a:t> x (EC</a:t>
                      </a:r>
                      <a:r>
                        <a:rPr lang="en-GB" sz="800" baseline="-25000"/>
                        <a:t>compl,specBody,CD</a:t>
                      </a:r>
                      <a:r>
                        <a:rPr lang="en-GB" sz="800" baseline="0"/>
                        <a:t> / EC</a:t>
                      </a:r>
                      <a:r>
                        <a:rPr lang="en-GB" sz="800" baseline="-25000"/>
                        <a:t>compl,genBody,CD</a:t>
                      </a:r>
                      <a:r>
                        <a:rPr lang="en-GB" sz="800" baseline="0"/>
                        <a:t>)</a:t>
                      </a:r>
                    </a:p>
                  </a:txBody>
                  <a:tcPr marL="45720" marR="45720"/>
                </a:tc>
                <a:extLst>
                  <a:ext uri="{0D108BD9-81ED-4DB2-BD59-A6C34878D82A}">
                    <a16:rowId xmlns:a16="http://schemas.microsoft.com/office/drawing/2014/main" val="4283314988"/>
                  </a:ext>
                </a:extLst>
              </a:tr>
              <a:tr h="163005">
                <a:tc>
                  <a:txBody>
                    <a:bodyPr/>
                    <a:lstStyle/>
                    <a:p>
                      <a:r>
                        <a:rPr lang="en-GB" sz="800"/>
                        <a:t>CS</a:t>
                      </a:r>
                    </a:p>
                  </a:txBody>
                  <a:tcPr marL="45720" marR="4572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800" b="1" baseline="0"/>
                        <a:t>EC</a:t>
                      </a:r>
                      <a:r>
                        <a:rPr lang="en-GB" sz="800" b="1" baseline="-25000"/>
                        <a:t>compl,CS</a:t>
                      </a:r>
                      <a:r>
                        <a:rPr lang="en-GB" sz="800" baseline="0"/>
                        <a:t> = EC</a:t>
                      </a:r>
                      <a:r>
                        <a:rPr lang="en-GB" sz="800" baseline="-25000"/>
                        <a:t>prim,CS</a:t>
                      </a:r>
                      <a:r>
                        <a:rPr lang="en-GB" sz="800" baseline="0"/>
                        <a:t> x (EC</a:t>
                      </a:r>
                      <a:r>
                        <a:rPr lang="en-GB" sz="800" baseline="-25000"/>
                        <a:t>compl,specBody,CS</a:t>
                      </a:r>
                      <a:r>
                        <a:rPr lang="en-GB" sz="800" baseline="0"/>
                        <a:t> / EC</a:t>
                      </a:r>
                      <a:r>
                        <a:rPr lang="en-GB" sz="800" baseline="-25000"/>
                        <a:t>compl,genBody,CS</a:t>
                      </a:r>
                      <a:r>
                        <a:rPr lang="en-GB" sz="800" baseline="0"/>
                        <a:t>)</a:t>
                      </a:r>
                    </a:p>
                  </a:txBody>
                  <a:tcPr marL="45720" marR="45720"/>
                </a:tc>
                <a:extLst>
                  <a:ext uri="{0D108BD9-81ED-4DB2-BD59-A6C34878D82A}">
                    <a16:rowId xmlns:a16="http://schemas.microsoft.com/office/drawing/2014/main" val="3421966655"/>
                  </a:ext>
                </a:extLst>
              </a:tr>
              <a:tr h="163005">
                <a:tc>
                  <a:txBody>
                    <a:bodyPr/>
                    <a:lstStyle/>
                    <a:p>
                      <a:r>
                        <a:rPr lang="en-GB" sz="800"/>
                        <a:t>Weighted (CD, CS)</a:t>
                      </a:r>
                    </a:p>
                  </a:txBody>
                  <a:tcPr marL="45720" marR="4572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800" baseline="0" dirty="0" err="1"/>
                        <a:t>EC</a:t>
                      </a:r>
                      <a:r>
                        <a:rPr lang="en-GB" sz="800" baseline="-25000" dirty="0" err="1"/>
                        <a:t>compl,weighted</a:t>
                      </a:r>
                      <a:r>
                        <a:rPr lang="en-GB" sz="800" baseline="0" dirty="0"/>
                        <a:t> = </a:t>
                      </a:r>
                      <a:r>
                        <a:rPr lang="en-GB" sz="800" baseline="0" dirty="0" err="1"/>
                        <a:t>EC</a:t>
                      </a:r>
                      <a:r>
                        <a:rPr lang="en-GB" sz="800" baseline="-25000" dirty="0" err="1"/>
                        <a:t>compl,CD</a:t>
                      </a:r>
                      <a:r>
                        <a:rPr lang="en-GB" sz="800" baseline="0" dirty="0"/>
                        <a:t> x UF + </a:t>
                      </a:r>
                      <a:r>
                        <a:rPr lang="en-GB" sz="800" baseline="0" dirty="0" err="1"/>
                        <a:t>EC</a:t>
                      </a:r>
                      <a:r>
                        <a:rPr lang="en-GB" sz="800" baseline="-25000" dirty="0" err="1"/>
                        <a:t>compl,CS</a:t>
                      </a:r>
                      <a:r>
                        <a:rPr lang="en-GB" sz="800" baseline="0" dirty="0"/>
                        <a:t> x (1-UF)</a:t>
                      </a:r>
                    </a:p>
                  </a:txBody>
                  <a:tcPr marL="45720" marR="45720"/>
                </a:tc>
                <a:extLst>
                  <a:ext uri="{0D108BD9-81ED-4DB2-BD59-A6C34878D82A}">
                    <a16:rowId xmlns:a16="http://schemas.microsoft.com/office/drawing/2014/main" val="1912643433"/>
                  </a:ext>
                </a:extLst>
              </a:tr>
            </a:tbl>
          </a:graphicData>
        </a:graphic>
      </p:graphicFrame>
      <p:sp>
        <p:nvSpPr>
          <p:cNvPr id="12" name="Textfeld 11"/>
          <p:cNvSpPr txBox="1"/>
          <p:nvPr/>
        </p:nvSpPr>
        <p:spPr>
          <a:xfrm>
            <a:off x="87746" y="3846837"/>
            <a:ext cx="3665356" cy="261610"/>
          </a:xfrm>
          <a:prstGeom prst="rect">
            <a:avLst/>
          </a:prstGeom>
          <a:noFill/>
        </p:spPr>
        <p:txBody>
          <a:bodyPr wrap="square" rtlCol="0">
            <a:spAutoFit/>
          </a:bodyPr>
          <a:lstStyle/>
          <a:p>
            <a:r>
              <a:rPr lang="en-GB" sz="1100" b="1"/>
              <a:t>Results for complete(d) vehicle</a:t>
            </a:r>
          </a:p>
        </p:txBody>
      </p:sp>
      <p:sp>
        <p:nvSpPr>
          <p:cNvPr id="13" name="Textfeld 12"/>
          <p:cNvSpPr txBox="1"/>
          <p:nvPr/>
        </p:nvSpPr>
        <p:spPr>
          <a:xfrm>
            <a:off x="4210255" y="3843967"/>
            <a:ext cx="2632960" cy="430887"/>
          </a:xfrm>
          <a:prstGeom prst="rect">
            <a:avLst/>
          </a:prstGeom>
          <a:noFill/>
        </p:spPr>
        <p:txBody>
          <a:bodyPr wrap="square" rtlCol="0">
            <a:spAutoFit/>
          </a:bodyPr>
          <a:lstStyle>
            <a:defPPr>
              <a:defRPr lang="de-DE"/>
            </a:defPPr>
            <a:lvl1pPr>
              <a:defRPr sz="1100" b="1"/>
            </a:lvl1pPr>
          </a:lstStyle>
          <a:p>
            <a:r>
              <a:rPr lang="en-GB"/>
              <a:t>Results for primary vehicle</a:t>
            </a:r>
            <a:br>
              <a:rPr lang="en-GB"/>
            </a:br>
            <a:r>
              <a:rPr lang="en-GB"/>
              <a:t>(similar to “single step” OVC)</a:t>
            </a:r>
          </a:p>
        </p:txBody>
      </p:sp>
      <p:sp>
        <p:nvSpPr>
          <p:cNvPr id="14" name="Textfeld 13"/>
          <p:cNvSpPr txBox="1"/>
          <p:nvPr/>
        </p:nvSpPr>
        <p:spPr>
          <a:xfrm>
            <a:off x="7445415" y="4279444"/>
            <a:ext cx="1632030" cy="769441"/>
          </a:xfrm>
          <a:prstGeom prst="rect">
            <a:avLst/>
          </a:prstGeom>
          <a:noFill/>
        </p:spPr>
        <p:txBody>
          <a:bodyPr wrap="square" rtlCol="0">
            <a:spAutoFit/>
          </a:bodyPr>
          <a:lstStyle>
            <a:defPPr>
              <a:defRPr lang="de-DE"/>
            </a:defPPr>
            <a:lvl1pPr>
              <a:defRPr sz="1100" b="1"/>
            </a:lvl1pPr>
          </a:lstStyle>
          <a:p>
            <a:r>
              <a:rPr lang="en-GB"/>
              <a:t>Factor method simulations at the complete(d) vehicle stage</a:t>
            </a:r>
          </a:p>
        </p:txBody>
      </p:sp>
      <p:sp>
        <p:nvSpPr>
          <p:cNvPr id="3" name="Gleich 2"/>
          <p:cNvSpPr/>
          <p:nvPr/>
        </p:nvSpPr>
        <p:spPr>
          <a:xfrm>
            <a:off x="4013207" y="3320373"/>
            <a:ext cx="254963" cy="205280"/>
          </a:xfrm>
          <a:prstGeom prst="mathEqual">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tx1"/>
              </a:solidFill>
            </a:endParaRPr>
          </a:p>
        </p:txBody>
      </p:sp>
      <p:sp>
        <p:nvSpPr>
          <p:cNvPr id="10" name="Multiplizieren 9"/>
          <p:cNvSpPr/>
          <p:nvPr/>
        </p:nvSpPr>
        <p:spPr>
          <a:xfrm>
            <a:off x="7323564" y="3331860"/>
            <a:ext cx="179727" cy="205280"/>
          </a:xfrm>
          <a:prstGeom prst="mathMultiply">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Minus 10"/>
          <p:cNvSpPr/>
          <p:nvPr/>
        </p:nvSpPr>
        <p:spPr>
          <a:xfrm>
            <a:off x="7378861" y="3331860"/>
            <a:ext cx="1765139" cy="212218"/>
          </a:xfrm>
          <a:prstGeom prst="mathMin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PlaceHolder 1">
            <a:extLst>
              <a:ext uri="{FF2B5EF4-FFF2-40B4-BE49-F238E27FC236}">
                <a16:creationId xmlns:a16="http://schemas.microsoft.com/office/drawing/2014/main" id="{B1AAFEFA-1F76-4149-9DBA-C3DAE1DD38CD}"/>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96097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nhaltsplatzhalter 5"/>
          <p:cNvSpPr>
            <a:spLocks noGrp="1"/>
          </p:cNvSpPr>
          <p:nvPr>
            <p:ph idx="1"/>
          </p:nvPr>
        </p:nvSpPr>
        <p:spPr>
          <a:xfrm>
            <a:off x="585333" y="1423267"/>
            <a:ext cx="8229240" cy="4700184"/>
          </a:xfrm>
        </p:spPr>
        <p:txBody>
          <a:bodyPr/>
          <a:lstStyle/>
          <a:p>
            <a:pPr>
              <a:spcBef>
                <a:spcPts val="600"/>
              </a:spcBef>
            </a:pPr>
            <a:r>
              <a:rPr lang="de-AT" sz="1800" dirty="0"/>
              <a:t>Approach </a:t>
            </a:r>
            <a:r>
              <a:rPr lang="de-AT" sz="1800" dirty="0" err="1"/>
              <a:t>for</a:t>
            </a:r>
            <a:r>
              <a:rPr lang="de-AT" sz="1800" dirty="0"/>
              <a:t> </a:t>
            </a:r>
            <a:r>
              <a:rPr lang="de-AT" sz="1800" dirty="0" err="1"/>
              <a:t>electric</a:t>
            </a:r>
            <a:r>
              <a:rPr lang="de-AT" sz="1800" dirty="0"/>
              <a:t> </a:t>
            </a:r>
            <a:r>
              <a:rPr lang="de-AT" sz="1800" dirty="0" err="1"/>
              <a:t>ranges</a:t>
            </a:r>
            <a:endParaRPr lang="de-AT" sz="1800" dirty="0"/>
          </a:p>
          <a:p>
            <a:pPr lvl="1">
              <a:spcBef>
                <a:spcPts val="300"/>
              </a:spcBef>
            </a:pPr>
            <a:r>
              <a:rPr lang="de-AT" sz="1600" dirty="0" err="1"/>
              <a:t>Results</a:t>
            </a:r>
            <a:r>
              <a:rPr lang="de-AT" sz="1600" dirty="0"/>
              <a:t> </a:t>
            </a:r>
            <a:r>
              <a:rPr lang="de-AT" sz="1600" dirty="0" err="1"/>
              <a:t>for</a:t>
            </a:r>
            <a:r>
              <a:rPr lang="de-AT" sz="1600" dirty="0"/>
              <a:t> </a:t>
            </a:r>
            <a:r>
              <a:rPr lang="de-AT" sz="1600" dirty="0" err="1"/>
              <a:t>completed</a:t>
            </a:r>
            <a:r>
              <a:rPr lang="de-AT" sz="1600" dirty="0"/>
              <a:t> </a:t>
            </a:r>
            <a:r>
              <a:rPr lang="de-AT" sz="1600" dirty="0" err="1"/>
              <a:t>vehicle</a:t>
            </a:r>
            <a:r>
              <a:rPr lang="de-AT" sz="1600" dirty="0"/>
              <a:t> </a:t>
            </a:r>
            <a:r>
              <a:rPr lang="de-AT" sz="1600" dirty="0" err="1"/>
              <a:t>can</a:t>
            </a:r>
            <a:r>
              <a:rPr lang="de-AT" sz="1600" dirty="0"/>
              <a:t> </a:t>
            </a:r>
            <a:r>
              <a:rPr lang="de-AT" sz="1600" dirty="0" err="1"/>
              <a:t>simply</a:t>
            </a:r>
            <a:r>
              <a:rPr lang="de-AT" sz="1600" dirty="0"/>
              <a:t> </a:t>
            </a:r>
            <a:r>
              <a:rPr lang="de-AT" sz="1600" dirty="0" err="1"/>
              <a:t>be</a:t>
            </a:r>
            <a:r>
              <a:rPr lang="de-AT" sz="1600" dirty="0"/>
              <a:t> </a:t>
            </a:r>
            <a:r>
              <a:rPr lang="de-AT" sz="1600" dirty="0" err="1"/>
              <a:t>calulated</a:t>
            </a:r>
            <a:r>
              <a:rPr lang="de-AT" sz="1600" dirty="0"/>
              <a:t> </a:t>
            </a:r>
            <a:r>
              <a:rPr lang="de-AT" sz="1600" dirty="0" err="1"/>
              <a:t>based</a:t>
            </a:r>
            <a:r>
              <a:rPr lang="de-AT" sz="1600" dirty="0"/>
              <a:t> on </a:t>
            </a:r>
            <a:r>
              <a:rPr lang="de-AT" sz="1600" dirty="0" err="1"/>
              <a:t>EC</a:t>
            </a:r>
            <a:r>
              <a:rPr lang="de-AT" sz="1600" baseline="-25000" dirty="0" err="1"/>
              <a:t>compl,CD</a:t>
            </a:r>
            <a:r>
              <a:rPr lang="de-AT" sz="1600" dirty="0"/>
              <a:t> </a:t>
            </a:r>
            <a:r>
              <a:rPr lang="de-AT" sz="1600" dirty="0" err="1"/>
              <a:t>as</a:t>
            </a:r>
            <a:r>
              <a:rPr lang="de-AT" sz="1600" dirty="0"/>
              <a:t> </a:t>
            </a:r>
            <a:r>
              <a:rPr lang="de-AT" sz="1600" dirty="0" err="1"/>
              <a:t>calculated</a:t>
            </a:r>
            <a:r>
              <a:rPr lang="de-AT" sz="1600" dirty="0"/>
              <a:t> </a:t>
            </a:r>
            <a:r>
              <a:rPr lang="de-AT" sz="1600" dirty="0" err="1"/>
              <a:t>above</a:t>
            </a:r>
            <a:endParaRPr lang="de-AT" sz="1600" dirty="0"/>
          </a:p>
          <a:p>
            <a:pPr>
              <a:spcBef>
                <a:spcPts val="1200"/>
              </a:spcBef>
            </a:pPr>
            <a:r>
              <a:rPr lang="de-AT" sz="1800" dirty="0"/>
              <a:t>Approach </a:t>
            </a:r>
            <a:r>
              <a:rPr lang="de-AT" sz="1800" dirty="0" err="1"/>
              <a:t>for</a:t>
            </a:r>
            <a:r>
              <a:rPr lang="de-AT" sz="1800" dirty="0"/>
              <a:t> </a:t>
            </a:r>
            <a:r>
              <a:rPr lang="de-AT" sz="1800" dirty="0" err="1"/>
              <a:t>vehicle</a:t>
            </a:r>
            <a:r>
              <a:rPr lang="de-AT" sz="1800" dirty="0"/>
              <a:t> </a:t>
            </a:r>
            <a:r>
              <a:rPr lang="de-AT" sz="1800" dirty="0" err="1"/>
              <a:t>speeds</a:t>
            </a:r>
            <a:r>
              <a:rPr lang="de-AT" sz="1800" dirty="0"/>
              <a:t> and </a:t>
            </a:r>
            <a:r>
              <a:rPr lang="de-AT" sz="1800" dirty="0" err="1"/>
              <a:t>other</a:t>
            </a:r>
            <a:r>
              <a:rPr lang="de-AT" sz="1800" dirty="0"/>
              <a:t> </a:t>
            </a:r>
            <a:r>
              <a:rPr lang="de-AT" sz="1800" dirty="0" err="1"/>
              <a:t>simulation</a:t>
            </a:r>
            <a:r>
              <a:rPr lang="de-AT" sz="1800" dirty="0"/>
              <a:t> </a:t>
            </a:r>
            <a:r>
              <a:rPr lang="de-AT" sz="1800" dirty="0" err="1"/>
              <a:t>related</a:t>
            </a:r>
            <a:r>
              <a:rPr lang="de-AT" sz="1800" dirty="0"/>
              <a:t> </a:t>
            </a:r>
            <a:r>
              <a:rPr lang="de-AT" sz="1800" dirty="0" err="1"/>
              <a:t>results</a:t>
            </a:r>
            <a:r>
              <a:rPr lang="de-AT" sz="1800" dirty="0"/>
              <a:t> </a:t>
            </a:r>
            <a:r>
              <a:rPr lang="de-AT" sz="1800" dirty="0" err="1"/>
              <a:t>reported</a:t>
            </a:r>
            <a:r>
              <a:rPr lang="de-AT" sz="1800" dirty="0"/>
              <a:t> in </a:t>
            </a:r>
            <a:r>
              <a:rPr lang="de-AT" sz="1800" dirty="0" err="1"/>
              <a:t>the</a:t>
            </a:r>
            <a:r>
              <a:rPr lang="de-AT" sz="1800" dirty="0"/>
              <a:t> MRF (</a:t>
            </a:r>
            <a:r>
              <a:rPr lang="de-AT" sz="1800" dirty="0" err="1"/>
              <a:t>nr.</a:t>
            </a:r>
            <a:r>
              <a:rPr lang="de-AT" sz="1800" dirty="0"/>
              <a:t> </a:t>
            </a:r>
            <a:r>
              <a:rPr lang="de-AT" sz="1800" dirty="0" err="1"/>
              <a:t>of</a:t>
            </a:r>
            <a:r>
              <a:rPr lang="de-AT" sz="1800" dirty="0"/>
              <a:t> </a:t>
            </a:r>
            <a:r>
              <a:rPr lang="de-AT" sz="1800" dirty="0" err="1"/>
              <a:t>gear</a:t>
            </a:r>
            <a:r>
              <a:rPr lang="de-AT" sz="1800" dirty="0"/>
              <a:t> </a:t>
            </a:r>
            <a:r>
              <a:rPr lang="de-AT" sz="1800" dirty="0" err="1"/>
              <a:t>shifts</a:t>
            </a:r>
            <a:r>
              <a:rPr lang="de-AT" sz="1800" dirty="0"/>
              <a:t>, % </a:t>
            </a:r>
            <a:r>
              <a:rPr lang="de-AT" sz="1800" dirty="0" err="1"/>
              <a:t>full-load</a:t>
            </a:r>
            <a:r>
              <a:rPr lang="de-AT" sz="1800" dirty="0"/>
              <a:t> etc.)</a:t>
            </a:r>
          </a:p>
          <a:p>
            <a:pPr lvl="1">
              <a:spcBef>
                <a:spcPts val="300"/>
              </a:spcBef>
            </a:pPr>
            <a:r>
              <a:rPr lang="en-US" sz="1600" dirty="0"/>
              <a:t>Results for completed vehicle to be taken from simulations for completed vehicle with specific body</a:t>
            </a:r>
          </a:p>
          <a:p>
            <a:pPr marL="0" indent="0">
              <a:spcBef>
                <a:spcPts val="600"/>
              </a:spcBef>
              <a:buNone/>
            </a:pPr>
            <a:endParaRPr lang="en-GB" sz="1600" dirty="0"/>
          </a:p>
        </p:txBody>
      </p:sp>
      <p:sp>
        <p:nvSpPr>
          <p:cNvPr id="5" name="Titel 4"/>
          <p:cNvSpPr>
            <a:spLocks noGrp="1"/>
          </p:cNvSpPr>
          <p:nvPr>
            <p:ph type="title"/>
          </p:nvPr>
        </p:nvSpPr>
        <p:spPr>
          <a:xfrm>
            <a:off x="585333" y="850196"/>
            <a:ext cx="8229240" cy="328523"/>
          </a:xfrm>
        </p:spPr>
        <p:txBody>
          <a:bodyPr anchor="t"/>
          <a:lstStyle/>
          <a:p>
            <a:r>
              <a:rPr lang="en-US" sz="2400" b="1" spc="-1" dirty="0">
                <a:solidFill>
                  <a:srgbClr val="990000"/>
                </a:solidFill>
                <a:latin typeface="Arial"/>
              </a:rPr>
              <a:t>Factor Method – OVC-HEVs (2/2)</a:t>
            </a:r>
            <a:endParaRPr lang="en-GB" sz="2400" b="1" spc="-1" dirty="0">
              <a:solidFill>
                <a:srgbClr val="990000"/>
              </a:solidFill>
              <a:latin typeface="Aria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16</a:t>
            </a:fld>
            <a:endParaRPr lang="de-DE"/>
          </a:p>
        </p:txBody>
      </p:sp>
      <p:graphicFrame>
        <p:nvGraphicFramePr>
          <p:cNvPr id="7" name="Tabelle 6"/>
          <p:cNvGraphicFramePr>
            <a:graphicFrameLocks noGrp="1"/>
          </p:cNvGraphicFramePr>
          <p:nvPr>
            <p:extLst>
              <p:ext uri="{D42A27DB-BD31-4B8C-83A1-F6EECF244321}">
                <p14:modId xmlns:p14="http://schemas.microsoft.com/office/powerpoint/2010/main" val="2657616658"/>
              </p:ext>
            </p:extLst>
          </p:nvPr>
        </p:nvGraphicFramePr>
        <p:xfrm>
          <a:off x="3978335" y="3963409"/>
          <a:ext cx="1278682" cy="640080"/>
        </p:xfrm>
        <a:graphic>
          <a:graphicData uri="http://schemas.openxmlformats.org/drawingml/2006/table">
            <a:tbl>
              <a:tblPr firstCol="1" bandRow="1">
                <a:tableStyleId>{5C22544A-7EE6-4342-B048-85BDC9FD1C3A}</a:tableStyleId>
              </a:tblPr>
              <a:tblGrid>
                <a:gridCol w="694419">
                  <a:extLst>
                    <a:ext uri="{9D8B030D-6E8A-4147-A177-3AD203B41FA5}">
                      <a16:colId xmlns:a16="http://schemas.microsoft.com/office/drawing/2014/main" val="1106390703"/>
                    </a:ext>
                  </a:extLst>
                </a:gridCol>
                <a:gridCol w="584263">
                  <a:extLst>
                    <a:ext uri="{9D8B030D-6E8A-4147-A177-3AD203B41FA5}">
                      <a16:colId xmlns:a16="http://schemas.microsoft.com/office/drawing/2014/main" val="490876514"/>
                    </a:ext>
                  </a:extLst>
                </a:gridCol>
              </a:tblGrid>
              <a:tr h="136370">
                <a:tc>
                  <a:txBody>
                    <a:bodyPr/>
                    <a:lstStyle/>
                    <a:p>
                      <a:r>
                        <a:rPr lang="en-GB" sz="800"/>
                        <a:t>CD</a:t>
                      </a:r>
                    </a:p>
                  </a:txBody>
                  <a:tcPr marL="45720" marR="45720"/>
                </a:tc>
                <a:tc>
                  <a:txBody>
                    <a:bodyPr/>
                    <a:lstStyle/>
                    <a:p>
                      <a:r>
                        <a:rPr lang="en-GB" sz="800">
                          <a:solidFill>
                            <a:schemeClr val="bg1">
                              <a:lumMod val="65000"/>
                            </a:schemeClr>
                          </a:solidFill>
                        </a:rPr>
                        <a:t>v</a:t>
                      </a:r>
                      <a:r>
                        <a:rPr lang="en-GB" sz="800" baseline="-25000">
                          <a:solidFill>
                            <a:schemeClr val="bg1">
                              <a:lumMod val="65000"/>
                            </a:schemeClr>
                          </a:solidFill>
                        </a:rPr>
                        <a:t>prim,CD</a:t>
                      </a:r>
                    </a:p>
                  </a:txBody>
                  <a:tcPr marL="45720" marR="45720"/>
                </a:tc>
                <a:extLst>
                  <a:ext uri="{0D108BD9-81ED-4DB2-BD59-A6C34878D82A}">
                    <a16:rowId xmlns:a16="http://schemas.microsoft.com/office/drawing/2014/main" val="4283314988"/>
                  </a:ext>
                </a:extLst>
              </a:tr>
              <a:tr h="136370">
                <a:tc>
                  <a:txBody>
                    <a:bodyPr/>
                    <a:lstStyle/>
                    <a:p>
                      <a:r>
                        <a:rPr lang="en-GB" sz="800"/>
                        <a:t>CS</a:t>
                      </a:r>
                    </a:p>
                  </a:txBody>
                  <a:tcPr marL="45720" marR="4572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800">
                          <a:solidFill>
                            <a:schemeClr val="bg1">
                              <a:lumMod val="65000"/>
                            </a:schemeClr>
                          </a:solidFill>
                        </a:rPr>
                        <a:t>v</a:t>
                      </a:r>
                      <a:r>
                        <a:rPr lang="en-GB" sz="800" baseline="-25000">
                          <a:solidFill>
                            <a:schemeClr val="bg1">
                              <a:lumMod val="65000"/>
                            </a:schemeClr>
                          </a:solidFill>
                        </a:rPr>
                        <a:t>prim,CS</a:t>
                      </a:r>
                    </a:p>
                  </a:txBody>
                  <a:tcPr marL="45720" marR="45720"/>
                </a:tc>
                <a:extLst>
                  <a:ext uri="{0D108BD9-81ED-4DB2-BD59-A6C34878D82A}">
                    <a16:rowId xmlns:a16="http://schemas.microsoft.com/office/drawing/2014/main" val="3421966655"/>
                  </a:ext>
                </a:extLst>
              </a:tr>
              <a:tr h="167101">
                <a:tc>
                  <a:txBody>
                    <a:bodyPr/>
                    <a:lstStyle/>
                    <a:p>
                      <a:r>
                        <a:rPr lang="en-GB" sz="800"/>
                        <a:t>Weighted</a:t>
                      </a:r>
                    </a:p>
                  </a:txBody>
                  <a:tcPr marL="45720" marR="45720"/>
                </a:tc>
                <a:tc>
                  <a:txBody>
                    <a:bodyPr/>
                    <a:lstStyle/>
                    <a:p>
                      <a:pPr algn="ctr"/>
                      <a:r>
                        <a:rPr lang="en-GB" sz="700" i="1" baseline="0">
                          <a:solidFill>
                            <a:schemeClr val="bg1">
                              <a:lumMod val="65000"/>
                            </a:schemeClr>
                          </a:solidFill>
                        </a:rPr>
                        <a:t>not required</a:t>
                      </a:r>
                      <a:endParaRPr lang="en-GB" sz="700" i="1" baseline="-25000">
                        <a:solidFill>
                          <a:schemeClr val="bg1">
                            <a:lumMod val="65000"/>
                          </a:schemeClr>
                        </a:solidFill>
                      </a:endParaRPr>
                    </a:p>
                  </a:txBody>
                  <a:tcPr marL="45720" marR="45720"/>
                </a:tc>
                <a:extLst>
                  <a:ext uri="{0D108BD9-81ED-4DB2-BD59-A6C34878D82A}">
                    <a16:rowId xmlns:a16="http://schemas.microsoft.com/office/drawing/2014/main" val="1912643433"/>
                  </a:ext>
                </a:extLst>
              </a:tr>
            </a:tbl>
          </a:graphicData>
        </a:graphic>
      </p:graphicFrame>
      <p:graphicFrame>
        <p:nvGraphicFramePr>
          <p:cNvPr id="8" name="Tabelle 7"/>
          <p:cNvGraphicFramePr>
            <a:graphicFrameLocks noGrp="1"/>
          </p:cNvGraphicFramePr>
          <p:nvPr>
            <p:extLst>
              <p:ext uri="{D42A27DB-BD31-4B8C-83A1-F6EECF244321}">
                <p14:modId xmlns:p14="http://schemas.microsoft.com/office/powerpoint/2010/main" val="749257797"/>
              </p:ext>
            </p:extLst>
          </p:nvPr>
        </p:nvGraphicFramePr>
        <p:xfrm>
          <a:off x="6052957" y="3553649"/>
          <a:ext cx="1493135" cy="670560"/>
        </p:xfrm>
        <a:graphic>
          <a:graphicData uri="http://schemas.openxmlformats.org/drawingml/2006/table">
            <a:tbl>
              <a:tblPr firstCol="1" bandRow="1">
                <a:tableStyleId>{5C22544A-7EE6-4342-B048-85BDC9FD1C3A}</a:tableStyleId>
              </a:tblPr>
              <a:tblGrid>
                <a:gridCol w="572947">
                  <a:extLst>
                    <a:ext uri="{9D8B030D-6E8A-4147-A177-3AD203B41FA5}">
                      <a16:colId xmlns:a16="http://schemas.microsoft.com/office/drawing/2014/main" val="1106390703"/>
                    </a:ext>
                  </a:extLst>
                </a:gridCol>
                <a:gridCol w="920188">
                  <a:extLst>
                    <a:ext uri="{9D8B030D-6E8A-4147-A177-3AD203B41FA5}">
                      <a16:colId xmlns:a16="http://schemas.microsoft.com/office/drawing/2014/main" val="490876514"/>
                    </a:ext>
                  </a:extLst>
                </a:gridCol>
              </a:tblGrid>
              <a:tr h="217601">
                <a:tc>
                  <a:txBody>
                    <a:bodyPr/>
                    <a:lstStyle/>
                    <a:p>
                      <a:r>
                        <a:rPr lang="en-GB" sz="800"/>
                        <a:t>CD</a:t>
                      </a:r>
                    </a:p>
                  </a:txBody>
                  <a:tcPr marL="45720" marR="45720"/>
                </a:tc>
                <a:tc>
                  <a:txBody>
                    <a:bodyPr/>
                    <a:lstStyle/>
                    <a:p>
                      <a:r>
                        <a:rPr lang="en-GB" sz="900" b="1" baseline="0"/>
                        <a:t>v</a:t>
                      </a:r>
                      <a:r>
                        <a:rPr lang="en-GB" sz="900" b="1" baseline="-25000"/>
                        <a:t>compl,specBody,CD</a:t>
                      </a:r>
                    </a:p>
                  </a:txBody>
                  <a:tcPr marL="45720" marR="45720"/>
                </a:tc>
                <a:extLst>
                  <a:ext uri="{0D108BD9-81ED-4DB2-BD59-A6C34878D82A}">
                    <a16:rowId xmlns:a16="http://schemas.microsoft.com/office/drawing/2014/main" val="4283314988"/>
                  </a:ext>
                </a:extLst>
              </a:tr>
              <a:tr h="163005">
                <a:tc>
                  <a:txBody>
                    <a:bodyPr/>
                    <a:lstStyle/>
                    <a:p>
                      <a:r>
                        <a:rPr lang="en-GB" sz="800"/>
                        <a:t>CS</a:t>
                      </a:r>
                    </a:p>
                  </a:txBody>
                  <a:tcPr marL="45720" marR="45720"/>
                </a:tc>
                <a:tc>
                  <a:txBody>
                    <a:bodyPr/>
                    <a:lstStyle/>
                    <a:p>
                      <a:r>
                        <a:rPr lang="en-GB" sz="900" b="1">
                          <a:solidFill>
                            <a:schemeClr val="tx1"/>
                          </a:solidFill>
                        </a:rPr>
                        <a:t>v</a:t>
                      </a:r>
                      <a:r>
                        <a:rPr lang="en-GB" sz="900" b="1" baseline="-25000">
                          <a:solidFill>
                            <a:schemeClr val="tx1"/>
                          </a:solidFill>
                        </a:rPr>
                        <a:t>compl,specBody,CS</a:t>
                      </a:r>
                    </a:p>
                  </a:txBody>
                  <a:tcPr marL="45720" marR="45720"/>
                </a:tc>
                <a:extLst>
                  <a:ext uri="{0D108BD9-81ED-4DB2-BD59-A6C34878D82A}">
                    <a16:rowId xmlns:a16="http://schemas.microsoft.com/office/drawing/2014/main" val="3421966655"/>
                  </a:ext>
                </a:extLst>
              </a:tr>
              <a:tr h="163005">
                <a:tc>
                  <a:txBody>
                    <a:bodyPr/>
                    <a:lstStyle/>
                    <a:p>
                      <a:r>
                        <a:rPr lang="en-GB" sz="800"/>
                        <a:t>Weighted</a:t>
                      </a:r>
                    </a:p>
                  </a:txBody>
                  <a:tcPr marL="45720" marR="45720"/>
                </a:tc>
                <a:tc>
                  <a:txBody>
                    <a:bodyPr/>
                    <a:lstStyle/>
                    <a:p>
                      <a:pPr algn="ctr"/>
                      <a:r>
                        <a:rPr lang="en-GB" sz="700" i="1" baseline="0">
                          <a:solidFill>
                            <a:schemeClr val="bg1">
                              <a:lumMod val="65000"/>
                            </a:schemeClr>
                          </a:solidFill>
                        </a:rPr>
                        <a:t>not required</a:t>
                      </a:r>
                      <a:endParaRPr lang="en-GB" sz="700" i="1" baseline="-25000">
                        <a:solidFill>
                          <a:schemeClr val="bg1">
                            <a:lumMod val="65000"/>
                          </a:schemeClr>
                        </a:solidFill>
                      </a:endParaRPr>
                    </a:p>
                  </a:txBody>
                  <a:tcPr marL="45720" marR="45720"/>
                </a:tc>
                <a:extLst>
                  <a:ext uri="{0D108BD9-81ED-4DB2-BD59-A6C34878D82A}">
                    <a16:rowId xmlns:a16="http://schemas.microsoft.com/office/drawing/2014/main" val="1912643433"/>
                  </a:ext>
                </a:extLst>
              </a:tr>
            </a:tbl>
          </a:graphicData>
        </a:graphic>
      </p:graphicFrame>
      <p:graphicFrame>
        <p:nvGraphicFramePr>
          <p:cNvPr id="9" name="Tabelle 8"/>
          <p:cNvGraphicFramePr>
            <a:graphicFrameLocks noGrp="1"/>
          </p:cNvGraphicFramePr>
          <p:nvPr>
            <p:extLst>
              <p:ext uri="{D42A27DB-BD31-4B8C-83A1-F6EECF244321}">
                <p14:modId xmlns:p14="http://schemas.microsoft.com/office/powerpoint/2010/main" val="262525335"/>
              </p:ext>
            </p:extLst>
          </p:nvPr>
        </p:nvGraphicFramePr>
        <p:xfrm>
          <a:off x="6052957" y="4403251"/>
          <a:ext cx="1493135" cy="645439"/>
        </p:xfrm>
        <a:graphic>
          <a:graphicData uri="http://schemas.openxmlformats.org/drawingml/2006/table">
            <a:tbl>
              <a:tblPr firstCol="1" bandRow="1">
                <a:tableStyleId>{5C22544A-7EE6-4342-B048-85BDC9FD1C3A}</a:tableStyleId>
              </a:tblPr>
              <a:tblGrid>
                <a:gridCol w="572947">
                  <a:extLst>
                    <a:ext uri="{9D8B030D-6E8A-4147-A177-3AD203B41FA5}">
                      <a16:colId xmlns:a16="http://schemas.microsoft.com/office/drawing/2014/main" val="1106390703"/>
                    </a:ext>
                  </a:extLst>
                </a:gridCol>
                <a:gridCol w="920188">
                  <a:extLst>
                    <a:ext uri="{9D8B030D-6E8A-4147-A177-3AD203B41FA5}">
                      <a16:colId xmlns:a16="http://schemas.microsoft.com/office/drawing/2014/main" val="490876514"/>
                    </a:ext>
                  </a:extLst>
                </a:gridCol>
              </a:tblGrid>
              <a:tr h="218719">
                <a:tc>
                  <a:txBody>
                    <a:bodyPr/>
                    <a:lstStyle/>
                    <a:p>
                      <a:r>
                        <a:rPr lang="en-GB" sz="800"/>
                        <a:t>CD</a:t>
                      </a:r>
                    </a:p>
                  </a:txBody>
                  <a:tcPr marL="45720" marR="45720"/>
                </a:tc>
                <a:tc>
                  <a:txBody>
                    <a:bodyPr/>
                    <a:lstStyle/>
                    <a:p>
                      <a:r>
                        <a:rPr lang="en-GB" sz="800">
                          <a:solidFill>
                            <a:schemeClr val="bg1">
                              <a:lumMod val="65000"/>
                            </a:schemeClr>
                          </a:solidFill>
                        </a:rPr>
                        <a:t>v</a:t>
                      </a:r>
                      <a:r>
                        <a:rPr lang="en-GB" sz="800" baseline="-25000">
                          <a:solidFill>
                            <a:schemeClr val="bg1">
                              <a:lumMod val="65000"/>
                            </a:schemeClr>
                          </a:solidFill>
                        </a:rPr>
                        <a:t>compl,genBody,CD</a:t>
                      </a:r>
                    </a:p>
                  </a:txBody>
                  <a:tcPr marL="45720" marR="45720"/>
                </a:tc>
                <a:extLst>
                  <a:ext uri="{0D108BD9-81ED-4DB2-BD59-A6C34878D82A}">
                    <a16:rowId xmlns:a16="http://schemas.microsoft.com/office/drawing/2014/main" val="4283314988"/>
                  </a:ext>
                </a:extLst>
              </a:tr>
              <a:tr h="163005">
                <a:tc>
                  <a:txBody>
                    <a:bodyPr/>
                    <a:lstStyle/>
                    <a:p>
                      <a:r>
                        <a:rPr lang="en-GB" sz="800"/>
                        <a:t>CS</a:t>
                      </a:r>
                    </a:p>
                  </a:txBody>
                  <a:tcPr marL="45720" marR="45720"/>
                </a:tc>
                <a:tc>
                  <a:txBody>
                    <a:bodyPr/>
                    <a:lstStyle/>
                    <a:p>
                      <a:r>
                        <a:rPr lang="en-GB" sz="800">
                          <a:solidFill>
                            <a:schemeClr val="bg1">
                              <a:lumMod val="65000"/>
                            </a:schemeClr>
                          </a:solidFill>
                        </a:rPr>
                        <a:t>v</a:t>
                      </a:r>
                      <a:r>
                        <a:rPr lang="en-GB" sz="800" baseline="-25000">
                          <a:solidFill>
                            <a:schemeClr val="bg1">
                              <a:lumMod val="65000"/>
                            </a:schemeClr>
                          </a:solidFill>
                        </a:rPr>
                        <a:t>compl,genBody,CS</a:t>
                      </a:r>
                    </a:p>
                  </a:txBody>
                  <a:tcPr marL="45720" marR="45720"/>
                </a:tc>
                <a:extLst>
                  <a:ext uri="{0D108BD9-81ED-4DB2-BD59-A6C34878D82A}">
                    <a16:rowId xmlns:a16="http://schemas.microsoft.com/office/drawing/2014/main" val="3421966655"/>
                  </a:ext>
                </a:extLst>
              </a:tr>
              <a:tr h="163005">
                <a:tc>
                  <a:txBody>
                    <a:bodyPr/>
                    <a:lstStyle/>
                    <a:p>
                      <a:r>
                        <a:rPr lang="en-GB" sz="800"/>
                        <a:t>Weighted</a:t>
                      </a:r>
                    </a:p>
                  </a:txBody>
                  <a:tcPr marL="45720" marR="45720"/>
                </a:tc>
                <a:tc>
                  <a:txBody>
                    <a:bodyPr/>
                    <a:lstStyle/>
                    <a:p>
                      <a:pPr algn="ctr"/>
                      <a:r>
                        <a:rPr lang="en-GB" sz="700" i="1" baseline="0">
                          <a:solidFill>
                            <a:schemeClr val="bg1">
                              <a:lumMod val="65000"/>
                            </a:schemeClr>
                          </a:solidFill>
                        </a:rPr>
                        <a:t>not required</a:t>
                      </a:r>
                      <a:endParaRPr lang="en-GB" sz="700" i="1" baseline="-25000">
                        <a:solidFill>
                          <a:schemeClr val="bg1">
                            <a:lumMod val="65000"/>
                          </a:schemeClr>
                        </a:solidFill>
                      </a:endParaRPr>
                    </a:p>
                  </a:txBody>
                  <a:tcPr marL="45720" marR="45720"/>
                </a:tc>
                <a:extLst>
                  <a:ext uri="{0D108BD9-81ED-4DB2-BD59-A6C34878D82A}">
                    <a16:rowId xmlns:a16="http://schemas.microsoft.com/office/drawing/2014/main" val="1912643433"/>
                  </a:ext>
                </a:extLst>
              </a:tr>
            </a:tbl>
          </a:graphicData>
        </a:graphic>
      </p:graphicFrame>
      <p:graphicFrame>
        <p:nvGraphicFramePr>
          <p:cNvPr id="10" name="Tabelle 9"/>
          <p:cNvGraphicFramePr>
            <a:graphicFrameLocks noGrp="1"/>
          </p:cNvGraphicFramePr>
          <p:nvPr>
            <p:extLst>
              <p:ext uri="{D42A27DB-BD31-4B8C-83A1-F6EECF244321}">
                <p14:modId xmlns:p14="http://schemas.microsoft.com/office/powerpoint/2010/main" val="2955472718"/>
              </p:ext>
            </p:extLst>
          </p:nvPr>
        </p:nvGraphicFramePr>
        <p:xfrm>
          <a:off x="1247140" y="3963409"/>
          <a:ext cx="2322373" cy="640080"/>
        </p:xfrm>
        <a:graphic>
          <a:graphicData uri="http://schemas.openxmlformats.org/drawingml/2006/table">
            <a:tbl>
              <a:tblPr firstCol="1" bandRow="1">
                <a:tableStyleId>{5C22544A-7EE6-4342-B048-85BDC9FD1C3A}</a:tableStyleId>
              </a:tblPr>
              <a:tblGrid>
                <a:gridCol w="1012044">
                  <a:extLst>
                    <a:ext uri="{9D8B030D-6E8A-4147-A177-3AD203B41FA5}">
                      <a16:colId xmlns:a16="http://schemas.microsoft.com/office/drawing/2014/main" val="1106390703"/>
                    </a:ext>
                  </a:extLst>
                </a:gridCol>
                <a:gridCol w="1310329">
                  <a:extLst>
                    <a:ext uri="{9D8B030D-6E8A-4147-A177-3AD203B41FA5}">
                      <a16:colId xmlns:a16="http://schemas.microsoft.com/office/drawing/2014/main" val="490876514"/>
                    </a:ext>
                  </a:extLst>
                </a:gridCol>
              </a:tblGrid>
              <a:tr h="163005">
                <a:tc>
                  <a:txBody>
                    <a:bodyPr/>
                    <a:lstStyle/>
                    <a:p>
                      <a:r>
                        <a:rPr lang="en-GB" sz="800"/>
                        <a:t>CD</a:t>
                      </a:r>
                    </a:p>
                  </a:txBody>
                  <a:tcPr marL="45720" marR="4572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800" b="1" baseline="0"/>
                        <a:t>v</a:t>
                      </a:r>
                      <a:r>
                        <a:rPr lang="en-GB" sz="800" b="1" baseline="-25000"/>
                        <a:t>compl,CD</a:t>
                      </a:r>
                      <a:r>
                        <a:rPr lang="en-GB" sz="800" b="1" baseline="0"/>
                        <a:t> = v</a:t>
                      </a:r>
                      <a:r>
                        <a:rPr lang="en-GB" sz="800" b="1" baseline="-25000"/>
                        <a:t>compl,specBody,CD</a:t>
                      </a:r>
                      <a:endParaRPr lang="en-GB" sz="800" b="1" baseline="0"/>
                    </a:p>
                  </a:txBody>
                  <a:tcPr marL="45720" marR="45720"/>
                </a:tc>
                <a:extLst>
                  <a:ext uri="{0D108BD9-81ED-4DB2-BD59-A6C34878D82A}">
                    <a16:rowId xmlns:a16="http://schemas.microsoft.com/office/drawing/2014/main" val="4283314988"/>
                  </a:ext>
                </a:extLst>
              </a:tr>
              <a:tr h="163005">
                <a:tc>
                  <a:txBody>
                    <a:bodyPr/>
                    <a:lstStyle/>
                    <a:p>
                      <a:r>
                        <a:rPr lang="en-GB" sz="800"/>
                        <a:t>CS</a:t>
                      </a:r>
                    </a:p>
                  </a:txBody>
                  <a:tcPr marL="45720" marR="4572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800" b="1" baseline="0"/>
                        <a:t>v</a:t>
                      </a:r>
                      <a:r>
                        <a:rPr lang="en-GB" sz="800" b="1" baseline="-25000"/>
                        <a:t>compl,CS</a:t>
                      </a:r>
                      <a:r>
                        <a:rPr lang="en-GB" sz="800" b="1" baseline="0"/>
                        <a:t> = v</a:t>
                      </a:r>
                      <a:r>
                        <a:rPr lang="en-GB" sz="800" b="1" baseline="-25000"/>
                        <a:t>compl,specBody,CS</a:t>
                      </a:r>
                      <a:endParaRPr lang="en-GB" sz="800" b="1" baseline="0"/>
                    </a:p>
                  </a:txBody>
                  <a:tcPr marL="45720" marR="45720"/>
                </a:tc>
                <a:extLst>
                  <a:ext uri="{0D108BD9-81ED-4DB2-BD59-A6C34878D82A}">
                    <a16:rowId xmlns:a16="http://schemas.microsoft.com/office/drawing/2014/main" val="3421966655"/>
                  </a:ext>
                </a:extLst>
              </a:tr>
              <a:tr h="163005">
                <a:tc>
                  <a:txBody>
                    <a:bodyPr/>
                    <a:lstStyle/>
                    <a:p>
                      <a:r>
                        <a:rPr lang="en-GB" sz="800"/>
                        <a:t>Weighted (CD, CS)</a:t>
                      </a:r>
                    </a:p>
                  </a:txBody>
                  <a:tcPr marL="45720" marR="45720"/>
                </a:tc>
                <a:tc>
                  <a:txBody>
                    <a:bodyPr/>
                    <a:lstStyle/>
                    <a:p>
                      <a:pPr algn="ctr"/>
                      <a:r>
                        <a:rPr lang="en-GB" sz="700" i="1" baseline="0">
                          <a:solidFill>
                            <a:schemeClr val="bg1">
                              <a:lumMod val="65000"/>
                            </a:schemeClr>
                          </a:solidFill>
                        </a:rPr>
                        <a:t>not required</a:t>
                      </a:r>
                      <a:endParaRPr lang="en-GB" sz="700" i="1" baseline="-25000">
                        <a:solidFill>
                          <a:schemeClr val="bg1">
                            <a:lumMod val="65000"/>
                          </a:schemeClr>
                        </a:solidFill>
                      </a:endParaRPr>
                    </a:p>
                  </a:txBody>
                  <a:tcPr marL="45720" marR="45720"/>
                </a:tc>
                <a:extLst>
                  <a:ext uri="{0D108BD9-81ED-4DB2-BD59-A6C34878D82A}">
                    <a16:rowId xmlns:a16="http://schemas.microsoft.com/office/drawing/2014/main" val="1912643433"/>
                  </a:ext>
                </a:extLst>
              </a:tr>
            </a:tbl>
          </a:graphicData>
        </a:graphic>
      </p:graphicFrame>
      <p:sp>
        <p:nvSpPr>
          <p:cNvPr id="11" name="Textfeld 10"/>
          <p:cNvSpPr txBox="1"/>
          <p:nvPr/>
        </p:nvSpPr>
        <p:spPr>
          <a:xfrm>
            <a:off x="1151648" y="4694492"/>
            <a:ext cx="2513354" cy="261610"/>
          </a:xfrm>
          <a:prstGeom prst="rect">
            <a:avLst/>
          </a:prstGeom>
          <a:noFill/>
        </p:spPr>
        <p:txBody>
          <a:bodyPr wrap="square" rtlCol="0">
            <a:spAutoFit/>
          </a:bodyPr>
          <a:lstStyle/>
          <a:p>
            <a:r>
              <a:rPr lang="en-GB" sz="1100" b="1"/>
              <a:t>Results for complete(d) vehicle</a:t>
            </a:r>
          </a:p>
        </p:txBody>
      </p:sp>
      <p:sp>
        <p:nvSpPr>
          <p:cNvPr id="12" name="Textfeld 11"/>
          <p:cNvSpPr txBox="1"/>
          <p:nvPr/>
        </p:nvSpPr>
        <p:spPr>
          <a:xfrm>
            <a:off x="3888452" y="4701286"/>
            <a:ext cx="2019501" cy="261610"/>
          </a:xfrm>
          <a:prstGeom prst="rect">
            <a:avLst/>
          </a:prstGeom>
          <a:noFill/>
        </p:spPr>
        <p:txBody>
          <a:bodyPr wrap="square" rtlCol="0">
            <a:spAutoFit/>
          </a:bodyPr>
          <a:lstStyle>
            <a:defPPr>
              <a:defRPr lang="de-DE"/>
            </a:defPPr>
            <a:lvl1pPr>
              <a:defRPr sz="1100" b="1"/>
            </a:lvl1pPr>
          </a:lstStyle>
          <a:p>
            <a:r>
              <a:rPr lang="en-GB"/>
              <a:t>Results for primary vehicle</a:t>
            </a:r>
          </a:p>
        </p:txBody>
      </p:sp>
      <p:sp>
        <p:nvSpPr>
          <p:cNvPr id="13" name="Textfeld 12"/>
          <p:cNvSpPr txBox="1"/>
          <p:nvPr/>
        </p:nvSpPr>
        <p:spPr>
          <a:xfrm>
            <a:off x="5983508" y="5102264"/>
            <a:ext cx="2272164" cy="430887"/>
          </a:xfrm>
          <a:prstGeom prst="rect">
            <a:avLst/>
          </a:prstGeom>
          <a:noFill/>
        </p:spPr>
        <p:txBody>
          <a:bodyPr wrap="square" rtlCol="0">
            <a:spAutoFit/>
          </a:bodyPr>
          <a:lstStyle>
            <a:defPPr>
              <a:defRPr lang="de-DE"/>
            </a:defPPr>
            <a:lvl1pPr>
              <a:defRPr sz="1100" b="1"/>
            </a:lvl1pPr>
          </a:lstStyle>
          <a:p>
            <a:r>
              <a:rPr lang="en-GB"/>
              <a:t>Factor method simulations at the complete(d) vehicle stage</a:t>
            </a:r>
          </a:p>
        </p:txBody>
      </p:sp>
      <p:sp>
        <p:nvSpPr>
          <p:cNvPr id="14" name="PlaceHolder 1">
            <a:extLst>
              <a:ext uri="{FF2B5EF4-FFF2-40B4-BE49-F238E27FC236}">
                <a16:creationId xmlns:a16="http://schemas.microsoft.com/office/drawing/2014/main" id="{62F724D9-4E8B-4C06-85AC-537982F66A8E}"/>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3061622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349954"/>
          </a:xfrm>
        </p:spPr>
        <p:txBody>
          <a:bodyPr anchor="t"/>
          <a:lstStyle/>
          <a:p>
            <a:r>
              <a:rPr lang="en-GB" sz="2400" b="1" spc="-1" dirty="0">
                <a:solidFill>
                  <a:srgbClr val="990000"/>
                </a:solidFill>
                <a:latin typeface="Arial"/>
              </a:rPr>
              <a:t>Results for fuel-fired heater</a:t>
            </a:r>
          </a:p>
        </p:txBody>
      </p:sp>
      <p:sp>
        <p:nvSpPr>
          <p:cNvPr id="3" name="Inhaltsplatzhalter 2"/>
          <p:cNvSpPr>
            <a:spLocks noGrp="1"/>
          </p:cNvSpPr>
          <p:nvPr>
            <p:ph idx="1"/>
          </p:nvPr>
        </p:nvSpPr>
        <p:spPr>
          <a:xfrm>
            <a:off x="585333" y="1578769"/>
            <a:ext cx="8229240" cy="4544682"/>
          </a:xfrm>
        </p:spPr>
        <p:txBody>
          <a:bodyPr/>
          <a:lstStyle/>
          <a:p>
            <a:pPr>
              <a:spcBef>
                <a:spcPts val="600"/>
              </a:spcBef>
            </a:pPr>
            <a:r>
              <a:rPr lang="en-GB" sz="1600" dirty="0"/>
              <a:t>For vehicles with ICE:</a:t>
            </a:r>
          </a:p>
          <a:p>
            <a:pPr lvl="1">
              <a:spcBef>
                <a:spcPts val="600"/>
              </a:spcBef>
            </a:pPr>
            <a:r>
              <a:rPr lang="en-GB" sz="1400" dirty="0"/>
              <a:t>the fuel consumed by a fuel-fired heater is added to the fuel consumption of the ICE</a:t>
            </a:r>
          </a:p>
          <a:p>
            <a:pPr lvl="1">
              <a:spcBef>
                <a:spcPts val="600"/>
              </a:spcBef>
            </a:pPr>
            <a:r>
              <a:rPr lang="en-US" sz="1400" dirty="0"/>
              <a:t>the input data for the fuel-fired heater does not specify the fuel with which it is operated. VECTO assigns by default the fuel of the ICE</a:t>
            </a:r>
          </a:p>
          <a:p>
            <a:pPr lvl="1">
              <a:spcBef>
                <a:spcPts val="600"/>
              </a:spcBef>
            </a:pPr>
            <a:r>
              <a:rPr lang="en-US" sz="1400" dirty="0"/>
              <a:t>in the factor method, this part of the fuel consumption is implicitly part of the “factor formula”</a:t>
            </a:r>
          </a:p>
          <a:p>
            <a:pPr lvl="1">
              <a:spcBef>
                <a:spcPts val="600"/>
              </a:spcBef>
            </a:pPr>
            <a:r>
              <a:rPr lang="en-US" sz="1400" dirty="0"/>
              <a:t>nearly no impact on overall result (only 0,5% weighting of -20°C climate scenario)</a:t>
            </a:r>
          </a:p>
          <a:p>
            <a:pPr>
              <a:spcBef>
                <a:spcPts val="600"/>
              </a:spcBef>
            </a:pPr>
            <a:endParaRPr lang="en-US" sz="1600" dirty="0"/>
          </a:p>
          <a:p>
            <a:pPr>
              <a:spcBef>
                <a:spcPts val="600"/>
              </a:spcBef>
            </a:pPr>
            <a:r>
              <a:rPr lang="en-US" sz="1600" dirty="0"/>
              <a:t>For PEV:</a:t>
            </a:r>
            <a:endParaRPr lang="en-US" sz="1400" dirty="0"/>
          </a:p>
          <a:p>
            <a:pPr lvl="1">
              <a:spcBef>
                <a:spcPts val="600"/>
              </a:spcBef>
            </a:pPr>
            <a:r>
              <a:rPr lang="en-US" sz="1400" dirty="0"/>
              <a:t>if a heater is declared to be present on the complete(d) vehicle, automatically “Diesel” is allocated</a:t>
            </a:r>
          </a:p>
          <a:p>
            <a:pPr lvl="1">
              <a:spcBef>
                <a:spcPts val="600"/>
              </a:spcBef>
            </a:pPr>
            <a:r>
              <a:rPr lang="en-US" sz="1400" dirty="0"/>
              <a:t>the fuel consumption / CO</a:t>
            </a:r>
            <a:r>
              <a:rPr lang="en-US" sz="1400" baseline="-25000" dirty="0"/>
              <a:t>2</a:t>
            </a:r>
            <a:r>
              <a:rPr lang="en-US" sz="1400" dirty="0"/>
              <a:t> emissions is reported separately (to not come across with the emissions in accordance with the ZEV definition, which is – so far – only linked to propulsion system)</a:t>
            </a:r>
          </a:p>
          <a:p>
            <a:pPr lvl="1">
              <a:spcBef>
                <a:spcPts val="600"/>
              </a:spcBef>
            </a:pPr>
            <a:r>
              <a:rPr lang="en-US" sz="1400" dirty="0"/>
              <a:t>in the factor method, the result is taken from the simulation for the completed vehicle with the specific body</a:t>
            </a:r>
          </a:p>
        </p:txBody>
      </p:sp>
      <p:sp>
        <p:nvSpPr>
          <p:cNvPr id="4" name="Foliennummernplatzhalter 3"/>
          <p:cNvSpPr>
            <a:spLocks noGrp="1"/>
          </p:cNvSpPr>
          <p:nvPr>
            <p:ph type="sldNum" sz="quarter" idx="12"/>
          </p:nvPr>
        </p:nvSpPr>
        <p:spPr/>
        <p:txBody>
          <a:bodyPr/>
          <a:lstStyle/>
          <a:p>
            <a:fld id="{4B64EC4D-37E3-EF42-B9AB-6337577588CB}" type="slidenum">
              <a:rPr lang="de-DE" smtClean="0"/>
              <a:t>17</a:t>
            </a:fld>
            <a:endParaRPr lang="de-DE"/>
          </a:p>
        </p:txBody>
      </p:sp>
      <p:sp>
        <p:nvSpPr>
          <p:cNvPr id="5" name="PlaceHolder 1">
            <a:extLst>
              <a:ext uri="{FF2B5EF4-FFF2-40B4-BE49-F238E27FC236}">
                <a16:creationId xmlns:a16="http://schemas.microsoft.com/office/drawing/2014/main" id="{5053193E-96CC-4717-B6F2-9FE760C2F9C0}"/>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1969963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ADF70F-854F-40E5-ACCC-934FE6B4D6F2}"/>
              </a:ext>
            </a:extLst>
          </p:cNvPr>
          <p:cNvSpPr>
            <a:spLocks noGrp="1"/>
          </p:cNvSpPr>
          <p:nvPr>
            <p:ph type="title"/>
          </p:nvPr>
        </p:nvSpPr>
        <p:spPr>
          <a:xfrm>
            <a:off x="585333" y="850196"/>
            <a:ext cx="8229240" cy="430313"/>
          </a:xfrm>
        </p:spPr>
        <p:txBody>
          <a:bodyPr anchor="t"/>
          <a:lstStyle/>
          <a:p>
            <a:r>
              <a:rPr lang="en-US" sz="2400" b="1" spc="-1" dirty="0">
                <a:solidFill>
                  <a:srgbClr val="990000"/>
                </a:solidFill>
                <a:latin typeface="Arial"/>
              </a:rPr>
              <a:t>Overview VECTO Tool Modes</a:t>
            </a:r>
            <a:endParaRPr lang="de-AT" sz="2400" b="1" spc="-1" dirty="0">
              <a:solidFill>
                <a:srgbClr val="990000"/>
              </a:solidFill>
              <a:latin typeface="Arial"/>
            </a:endParaRPr>
          </a:p>
        </p:txBody>
      </p:sp>
      <p:sp>
        <p:nvSpPr>
          <p:cNvPr id="4" name="Foliennummernplatzhalter 3">
            <a:extLst>
              <a:ext uri="{FF2B5EF4-FFF2-40B4-BE49-F238E27FC236}">
                <a16:creationId xmlns:a16="http://schemas.microsoft.com/office/drawing/2014/main" id="{0D196E5A-B7D4-423E-8FC8-43E03AE7C912}"/>
              </a:ext>
            </a:extLst>
          </p:cNvPr>
          <p:cNvSpPr>
            <a:spLocks noGrp="1"/>
          </p:cNvSpPr>
          <p:nvPr>
            <p:ph type="sldNum" sz="quarter" idx="12"/>
          </p:nvPr>
        </p:nvSpPr>
        <p:spPr/>
        <p:txBody>
          <a:bodyPr/>
          <a:lstStyle/>
          <a:p>
            <a:fld id="{4B64EC4D-37E3-EF42-B9AB-6337577588CB}" type="slidenum">
              <a:rPr lang="de-DE" smtClean="0"/>
              <a:t>18</a:t>
            </a:fld>
            <a:endParaRPr lang="de-DE"/>
          </a:p>
        </p:txBody>
      </p:sp>
      <p:sp>
        <p:nvSpPr>
          <p:cNvPr id="6" name="Textfeld 5">
            <a:extLst>
              <a:ext uri="{FF2B5EF4-FFF2-40B4-BE49-F238E27FC236}">
                <a16:creationId xmlns:a16="http://schemas.microsoft.com/office/drawing/2014/main" id="{68162059-72EB-42B7-954C-BD04B9D00937}"/>
              </a:ext>
            </a:extLst>
          </p:cNvPr>
          <p:cNvSpPr txBox="1"/>
          <p:nvPr/>
        </p:nvSpPr>
        <p:spPr>
          <a:xfrm>
            <a:off x="1745315" y="5177381"/>
            <a:ext cx="4705034" cy="400110"/>
          </a:xfrm>
          <a:prstGeom prst="rect">
            <a:avLst/>
          </a:prstGeom>
          <a:noFill/>
        </p:spPr>
        <p:txBody>
          <a:bodyPr wrap="square" rtlCol="0">
            <a:spAutoFit/>
          </a:bodyPr>
          <a:lstStyle/>
          <a:p>
            <a:r>
              <a:rPr lang="de-AT" sz="1000" b="1" dirty="0">
                <a:solidFill>
                  <a:schemeClr val="accent2"/>
                </a:solidFill>
              </a:rPr>
              <a:t>X</a:t>
            </a:r>
            <a:r>
              <a:rPr lang="de-AT" sz="1000" b="1" dirty="0"/>
              <a:t> </a:t>
            </a:r>
            <a:r>
              <a:rPr lang="de-AT" sz="1000" dirty="0"/>
              <a:t>… Simulation </a:t>
            </a:r>
            <a:r>
              <a:rPr lang="de-AT" sz="1000" dirty="0" err="1"/>
              <a:t>only</a:t>
            </a:r>
            <a:endParaRPr lang="de-AT" sz="1000" dirty="0"/>
          </a:p>
          <a:p>
            <a:r>
              <a:rPr lang="de-AT" sz="1000" b="1" dirty="0">
                <a:solidFill>
                  <a:schemeClr val="accent4">
                    <a:lumMod val="75000"/>
                  </a:schemeClr>
                </a:solidFill>
              </a:rPr>
              <a:t>X</a:t>
            </a:r>
            <a:r>
              <a:rPr lang="de-AT" sz="1000" b="1" dirty="0">
                <a:solidFill>
                  <a:schemeClr val="accent4">
                    <a:lumMod val="75000"/>
                  </a:schemeClr>
                </a:solidFill>
                <a:latin typeface="Calibri" panose="020F0502020204030204" pitchFamily="34" charset="0"/>
              </a:rPr>
              <a:t> </a:t>
            </a:r>
            <a:r>
              <a:rPr lang="en-US" sz="1000" dirty="0"/>
              <a:t>…</a:t>
            </a:r>
            <a:r>
              <a:rPr lang="de-AT" sz="1000" dirty="0"/>
              <a:t> Simulation and </a:t>
            </a:r>
            <a:r>
              <a:rPr lang="de-AT" sz="1000" dirty="0" err="1"/>
              <a:t>editing</a:t>
            </a:r>
            <a:endParaRPr lang="de-AT" sz="1000" dirty="0"/>
          </a:p>
        </p:txBody>
      </p:sp>
      <p:graphicFrame>
        <p:nvGraphicFramePr>
          <p:cNvPr id="7" name="Inhaltsplatzhalter 4">
            <a:extLst>
              <a:ext uri="{FF2B5EF4-FFF2-40B4-BE49-F238E27FC236}">
                <a16:creationId xmlns:a16="http://schemas.microsoft.com/office/drawing/2014/main" id="{717A00B2-A846-4460-966A-793E9DA4FAE0}"/>
              </a:ext>
            </a:extLst>
          </p:cNvPr>
          <p:cNvGraphicFramePr>
            <a:graphicFrameLocks noGrp="1"/>
          </p:cNvGraphicFramePr>
          <p:nvPr>
            <p:ph idx="1"/>
            <p:extLst>
              <p:ext uri="{D42A27DB-BD31-4B8C-83A1-F6EECF244321}">
                <p14:modId xmlns:p14="http://schemas.microsoft.com/office/powerpoint/2010/main" val="3093168330"/>
              </p:ext>
            </p:extLst>
          </p:nvPr>
        </p:nvGraphicFramePr>
        <p:xfrm>
          <a:off x="622355" y="2393156"/>
          <a:ext cx="8394697" cy="2039441"/>
        </p:xfrm>
        <a:graphic>
          <a:graphicData uri="http://schemas.openxmlformats.org/drawingml/2006/table">
            <a:tbl>
              <a:tblPr firstRow="1" firstCol="1">
                <a:tableStyleId>{5C22544A-7EE6-4342-B048-85BDC9FD1C3A}</a:tableStyleId>
              </a:tblPr>
              <a:tblGrid>
                <a:gridCol w="1178048">
                  <a:extLst>
                    <a:ext uri="{9D8B030D-6E8A-4147-A177-3AD203B41FA5}">
                      <a16:colId xmlns:a16="http://schemas.microsoft.com/office/drawing/2014/main" val="3036773087"/>
                    </a:ext>
                  </a:extLst>
                </a:gridCol>
                <a:gridCol w="582277">
                  <a:extLst>
                    <a:ext uri="{9D8B030D-6E8A-4147-A177-3AD203B41FA5}">
                      <a16:colId xmlns:a16="http://schemas.microsoft.com/office/drawing/2014/main" val="2625993109"/>
                    </a:ext>
                  </a:extLst>
                </a:gridCol>
                <a:gridCol w="582277">
                  <a:extLst>
                    <a:ext uri="{9D8B030D-6E8A-4147-A177-3AD203B41FA5}">
                      <a16:colId xmlns:a16="http://schemas.microsoft.com/office/drawing/2014/main" val="1667919727"/>
                    </a:ext>
                  </a:extLst>
                </a:gridCol>
                <a:gridCol w="582277">
                  <a:extLst>
                    <a:ext uri="{9D8B030D-6E8A-4147-A177-3AD203B41FA5}">
                      <a16:colId xmlns:a16="http://schemas.microsoft.com/office/drawing/2014/main" val="364420564"/>
                    </a:ext>
                  </a:extLst>
                </a:gridCol>
                <a:gridCol w="582277">
                  <a:extLst>
                    <a:ext uri="{9D8B030D-6E8A-4147-A177-3AD203B41FA5}">
                      <a16:colId xmlns:a16="http://schemas.microsoft.com/office/drawing/2014/main" val="1977283227"/>
                    </a:ext>
                  </a:extLst>
                </a:gridCol>
                <a:gridCol w="582277">
                  <a:extLst>
                    <a:ext uri="{9D8B030D-6E8A-4147-A177-3AD203B41FA5}">
                      <a16:colId xmlns:a16="http://schemas.microsoft.com/office/drawing/2014/main" val="3275534285"/>
                    </a:ext>
                  </a:extLst>
                </a:gridCol>
                <a:gridCol w="681572">
                  <a:extLst>
                    <a:ext uri="{9D8B030D-6E8A-4147-A177-3AD203B41FA5}">
                      <a16:colId xmlns:a16="http://schemas.microsoft.com/office/drawing/2014/main" val="563089415"/>
                    </a:ext>
                  </a:extLst>
                </a:gridCol>
                <a:gridCol w="681572">
                  <a:extLst>
                    <a:ext uri="{9D8B030D-6E8A-4147-A177-3AD203B41FA5}">
                      <a16:colId xmlns:a16="http://schemas.microsoft.com/office/drawing/2014/main" val="2634600933"/>
                    </a:ext>
                  </a:extLst>
                </a:gridCol>
                <a:gridCol w="681572">
                  <a:extLst>
                    <a:ext uri="{9D8B030D-6E8A-4147-A177-3AD203B41FA5}">
                      <a16:colId xmlns:a16="http://schemas.microsoft.com/office/drawing/2014/main" val="3914140480"/>
                    </a:ext>
                  </a:extLst>
                </a:gridCol>
                <a:gridCol w="681572">
                  <a:extLst>
                    <a:ext uri="{9D8B030D-6E8A-4147-A177-3AD203B41FA5}">
                      <a16:colId xmlns:a16="http://schemas.microsoft.com/office/drawing/2014/main" val="958945114"/>
                    </a:ext>
                  </a:extLst>
                </a:gridCol>
                <a:gridCol w="791526">
                  <a:extLst>
                    <a:ext uri="{9D8B030D-6E8A-4147-A177-3AD203B41FA5}">
                      <a16:colId xmlns:a16="http://schemas.microsoft.com/office/drawing/2014/main" val="1051965380"/>
                    </a:ext>
                  </a:extLst>
                </a:gridCol>
                <a:gridCol w="787450">
                  <a:extLst>
                    <a:ext uri="{9D8B030D-6E8A-4147-A177-3AD203B41FA5}">
                      <a16:colId xmlns:a16="http://schemas.microsoft.com/office/drawing/2014/main" val="3718446415"/>
                    </a:ext>
                  </a:extLst>
                </a:gridCol>
              </a:tblGrid>
              <a:tr h="597083">
                <a:tc>
                  <a:txBody>
                    <a:bodyPr/>
                    <a:lstStyle/>
                    <a:p>
                      <a:pPr algn="l" fontAlgn="b"/>
                      <a:r>
                        <a:rPr lang="de-AT" sz="900" u="none" strike="noStrike" dirty="0">
                          <a:effectLst/>
                        </a:rPr>
                        <a:t> </a:t>
                      </a:r>
                      <a:endParaRPr lang="de-AT" sz="900" b="0"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a:effectLst/>
                        </a:rPr>
                        <a:t>Medium Lorries (XML)</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a:effectLst/>
                        </a:rPr>
                        <a:t>Heavy Lorries (XML)</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a:effectLst/>
                        </a:rPr>
                        <a:t>Primary </a:t>
                      </a:r>
                      <a:r>
                        <a:rPr lang="de-AT" sz="900" u="none" strike="noStrike" dirty="0" err="1">
                          <a:effectLst/>
                        </a:rPr>
                        <a:t>buses</a:t>
                      </a:r>
                      <a:r>
                        <a:rPr lang="de-AT" sz="900" u="none" strike="noStrike" dirty="0">
                          <a:effectLst/>
                        </a:rPr>
                        <a:t> (XML)</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a:effectLst/>
                        </a:rPr>
                        <a:t>Interim </a:t>
                      </a:r>
                      <a:r>
                        <a:rPr lang="de-AT" sz="900" u="none" strike="noStrike" dirty="0" err="1">
                          <a:effectLst/>
                        </a:rPr>
                        <a:t>buses</a:t>
                      </a:r>
                      <a:r>
                        <a:rPr lang="de-AT" sz="900" u="none" strike="noStrike" dirty="0">
                          <a:effectLst/>
                        </a:rPr>
                        <a:t> </a:t>
                      </a:r>
                      <a:br>
                        <a:rPr lang="de-AT" sz="900" u="none" strike="noStrike" dirty="0">
                          <a:effectLst/>
                        </a:rPr>
                      </a:br>
                      <a:r>
                        <a:rPr lang="de-AT" sz="900" u="none" strike="noStrike" dirty="0">
                          <a:effectLst/>
                        </a:rPr>
                        <a:t>(GUI)</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a:effectLst/>
                        </a:rPr>
                        <a:t>Interim </a:t>
                      </a:r>
                      <a:r>
                        <a:rPr lang="de-AT" sz="900" u="none" strike="noStrike" dirty="0" err="1">
                          <a:effectLst/>
                        </a:rPr>
                        <a:t>buses</a:t>
                      </a:r>
                      <a:r>
                        <a:rPr lang="de-AT" sz="900" u="none" strike="noStrike" dirty="0">
                          <a:effectLst/>
                        </a:rPr>
                        <a:t> (XML)</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err="1">
                          <a:effectLst/>
                        </a:rPr>
                        <a:t>Completed</a:t>
                      </a:r>
                      <a:r>
                        <a:rPr lang="de-AT" sz="900" u="none" strike="noStrike" dirty="0">
                          <a:effectLst/>
                        </a:rPr>
                        <a:t> </a:t>
                      </a:r>
                      <a:r>
                        <a:rPr lang="de-AT" sz="900" u="none" strike="noStrike" dirty="0" err="1">
                          <a:effectLst/>
                        </a:rPr>
                        <a:t>buses</a:t>
                      </a:r>
                      <a:r>
                        <a:rPr lang="de-AT" sz="900" u="none" strike="noStrike" dirty="0">
                          <a:effectLst/>
                        </a:rPr>
                        <a:t> (JSON v7)</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err="1">
                          <a:effectLst/>
                        </a:rPr>
                        <a:t>Completed</a:t>
                      </a:r>
                      <a:r>
                        <a:rPr lang="de-AT" sz="900" u="none" strike="noStrike" dirty="0">
                          <a:effectLst/>
                        </a:rPr>
                        <a:t> </a:t>
                      </a:r>
                      <a:r>
                        <a:rPr lang="de-AT" sz="900" u="none" strike="noStrike" dirty="0" err="1">
                          <a:effectLst/>
                        </a:rPr>
                        <a:t>buses</a:t>
                      </a:r>
                      <a:r>
                        <a:rPr lang="de-AT" sz="900" u="none" strike="noStrike" dirty="0">
                          <a:effectLst/>
                        </a:rPr>
                        <a:t> </a:t>
                      </a:r>
                      <a:br>
                        <a:rPr lang="de-AT" sz="900" u="none" strike="noStrike" dirty="0">
                          <a:effectLst/>
                        </a:rPr>
                      </a:br>
                      <a:r>
                        <a:rPr lang="de-AT" sz="900" u="none" strike="noStrike" dirty="0">
                          <a:effectLst/>
                        </a:rPr>
                        <a:t>(GUI)</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err="1">
                          <a:effectLst/>
                        </a:rPr>
                        <a:t>Completed</a:t>
                      </a:r>
                      <a:r>
                        <a:rPr lang="de-AT" sz="900" u="none" strike="noStrike" dirty="0">
                          <a:effectLst/>
                        </a:rPr>
                        <a:t> </a:t>
                      </a:r>
                      <a:r>
                        <a:rPr lang="de-AT" sz="900" u="none" strike="noStrike" dirty="0" err="1">
                          <a:effectLst/>
                        </a:rPr>
                        <a:t>buses</a:t>
                      </a:r>
                      <a:r>
                        <a:rPr lang="de-AT" sz="900" u="none" strike="noStrike" dirty="0">
                          <a:effectLst/>
                        </a:rPr>
                        <a:t> (XML)</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err="1">
                          <a:effectLst/>
                        </a:rPr>
                        <a:t>Complete</a:t>
                      </a:r>
                      <a:r>
                        <a:rPr lang="de-AT" sz="900" u="none" strike="noStrike" dirty="0">
                          <a:effectLst/>
                        </a:rPr>
                        <a:t> </a:t>
                      </a:r>
                      <a:r>
                        <a:rPr lang="de-AT" sz="900" u="none" strike="noStrike" dirty="0" err="1">
                          <a:effectLst/>
                        </a:rPr>
                        <a:t>buses</a:t>
                      </a:r>
                      <a:r>
                        <a:rPr lang="de-AT" sz="900" u="none" strike="noStrike" dirty="0">
                          <a:effectLst/>
                        </a:rPr>
                        <a:t> (JSON v10)</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dirty="0" err="1">
                          <a:effectLst/>
                        </a:rPr>
                        <a:t>Complete</a:t>
                      </a:r>
                      <a:r>
                        <a:rPr lang="de-AT" sz="900" u="none" strike="noStrike" dirty="0">
                          <a:effectLst/>
                        </a:rPr>
                        <a:t> </a:t>
                      </a:r>
                      <a:r>
                        <a:rPr lang="de-AT" sz="900" u="none" strike="noStrike" dirty="0" err="1">
                          <a:effectLst/>
                        </a:rPr>
                        <a:t>buses</a:t>
                      </a:r>
                      <a:r>
                        <a:rPr lang="de-AT" sz="900" u="none" strike="noStrike" dirty="0">
                          <a:effectLst/>
                        </a:rPr>
                        <a:t> (XML)</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en-US" sz="900" u="none" strike="noStrike" dirty="0">
                          <a:effectLst/>
                        </a:rPr>
                        <a:t>Single bus (JSON v6 + 2 XMLs)</a:t>
                      </a:r>
                      <a:endParaRPr lang="en-US" sz="900" b="1" i="0" u="none" strike="noStrike" dirty="0">
                        <a:solidFill>
                          <a:srgbClr val="000000"/>
                        </a:solidFill>
                        <a:effectLst/>
                        <a:latin typeface="Calibri" panose="020F0502020204030204" pitchFamily="34" charset="0"/>
                      </a:endParaRPr>
                    </a:p>
                  </a:txBody>
                  <a:tcPr marL="8520" marR="8520" marT="8520" marB="0" anchor="ctr"/>
                </a:tc>
                <a:extLst>
                  <a:ext uri="{0D108BD9-81ED-4DB2-BD59-A6C34878D82A}">
                    <a16:rowId xmlns:a16="http://schemas.microsoft.com/office/drawing/2014/main" val="3899500880"/>
                  </a:ext>
                </a:extLst>
              </a:tr>
              <a:tr h="170393">
                <a:tc>
                  <a:txBody>
                    <a:bodyPr/>
                    <a:lstStyle/>
                    <a:p>
                      <a:pPr algn="l" fontAlgn="b"/>
                      <a:r>
                        <a:rPr lang="de-AT" sz="900" u="none" strike="noStrike" dirty="0">
                          <a:effectLst/>
                        </a:rPr>
                        <a:t>VECTO.exe</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u="none" strike="noStrike">
                          <a:effectLst/>
                        </a:rPr>
                        <a:t> </a:t>
                      </a:r>
                      <a:endParaRPr lang="de-AT" sz="900" b="1" i="0" u="none" strike="noStrike">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u="none" strike="noStrike">
                          <a:effectLst/>
                        </a:rPr>
                        <a:t> </a:t>
                      </a:r>
                      <a:endParaRPr lang="de-AT" sz="900" b="1" i="0" u="none" strike="noStrike">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 </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extLst>
                  <a:ext uri="{0D108BD9-81ED-4DB2-BD59-A6C34878D82A}">
                    <a16:rowId xmlns:a16="http://schemas.microsoft.com/office/drawing/2014/main" val="442008541"/>
                  </a:ext>
                </a:extLst>
              </a:tr>
              <a:tr h="511179">
                <a:tc>
                  <a:txBody>
                    <a:bodyPr/>
                    <a:lstStyle/>
                    <a:p>
                      <a:pPr algn="l" fontAlgn="b"/>
                      <a:r>
                        <a:rPr lang="de-AT" sz="900" u="none" strike="noStrike" dirty="0">
                          <a:effectLst/>
                        </a:rPr>
                        <a:t>VECTOcmd.exe</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l" fontAlgn="b"/>
                      <a:r>
                        <a:rPr lang="de-AT" sz="900" b="1" u="none" strike="noStrike" dirty="0">
                          <a:solidFill>
                            <a:schemeClr val="accent2"/>
                          </a:solidFill>
                          <a:effectLst/>
                        </a:rPr>
                        <a:t> </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l" fontAlgn="b"/>
                      <a:r>
                        <a:rPr lang="de-AT" sz="900" b="1" u="none" strike="noStrike" dirty="0">
                          <a:solidFill>
                            <a:schemeClr val="accent2"/>
                          </a:solidFill>
                          <a:effectLst/>
                        </a:rPr>
                        <a:t> </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l" fontAlgn="b"/>
                      <a:r>
                        <a:rPr lang="de-AT" sz="900" b="1" u="none" strike="noStrike" dirty="0">
                          <a:solidFill>
                            <a:schemeClr val="accent2"/>
                          </a:solidFill>
                          <a:effectLst/>
                        </a:rPr>
                        <a:t> </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a:solidFill>
                            <a:schemeClr val="accent2"/>
                          </a:solidFill>
                          <a:effectLst/>
                        </a:rPr>
                        <a:t>X</a:t>
                      </a:r>
                      <a:endParaRPr lang="de-AT" sz="900" b="1" i="0" u="none" strike="noStrike">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extLst>
                  <a:ext uri="{0D108BD9-81ED-4DB2-BD59-A6C34878D82A}">
                    <a16:rowId xmlns:a16="http://schemas.microsoft.com/office/drawing/2014/main" val="2390163657"/>
                  </a:ext>
                </a:extLst>
              </a:tr>
              <a:tr h="340786">
                <a:tc>
                  <a:txBody>
                    <a:bodyPr/>
                    <a:lstStyle/>
                    <a:p>
                      <a:pPr algn="l" fontAlgn="b"/>
                      <a:r>
                        <a:rPr lang="de-AT" sz="900" u="none" strike="noStrike" dirty="0">
                          <a:effectLst/>
                        </a:rPr>
                        <a:t>VECTOMultistep.exe</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4">
                              <a:lumMod val="75000"/>
                            </a:schemeClr>
                          </a:solidFill>
                          <a:effectLst/>
                        </a:rPr>
                        <a:t>X</a:t>
                      </a:r>
                      <a:endParaRPr lang="de-AT" sz="900" b="1" i="0" u="none" strike="noStrike" dirty="0">
                        <a:solidFill>
                          <a:schemeClr val="accent4">
                            <a:lumMod val="75000"/>
                          </a:schemeClr>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4">
                              <a:lumMod val="75000"/>
                            </a:schemeClr>
                          </a:solidFill>
                          <a:effectLst/>
                        </a:rPr>
                        <a:t>X</a:t>
                      </a:r>
                      <a:endParaRPr lang="de-AT" sz="900" b="1" i="0" u="none" strike="noStrike" dirty="0">
                        <a:solidFill>
                          <a:schemeClr val="accent4">
                            <a:lumMod val="75000"/>
                          </a:schemeClr>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4">
                              <a:lumMod val="75000"/>
                            </a:schemeClr>
                          </a:solidFill>
                          <a:effectLst/>
                        </a:rPr>
                        <a:t>X</a:t>
                      </a:r>
                      <a:endParaRPr lang="de-AT" sz="900" b="1" i="0" u="none" strike="noStrike" dirty="0">
                        <a:solidFill>
                          <a:schemeClr val="accent4">
                            <a:lumMod val="75000"/>
                          </a:schemeClr>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4">
                              <a:lumMod val="75000"/>
                            </a:schemeClr>
                          </a:solidFill>
                          <a:effectLst/>
                        </a:rPr>
                        <a:t>X</a:t>
                      </a:r>
                      <a:endParaRPr lang="de-AT" sz="900" b="1" i="0" u="none" strike="noStrike" dirty="0">
                        <a:solidFill>
                          <a:schemeClr val="accent4">
                            <a:lumMod val="75000"/>
                          </a:schemeClr>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4">
                              <a:lumMod val="75000"/>
                            </a:schemeClr>
                          </a:solidFill>
                          <a:effectLst/>
                        </a:rPr>
                        <a:t>X</a:t>
                      </a:r>
                      <a:endParaRPr lang="de-AT" sz="900" b="1" i="0" u="none" strike="noStrike" dirty="0">
                        <a:solidFill>
                          <a:schemeClr val="accent4">
                            <a:lumMod val="75000"/>
                          </a:schemeClr>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4">
                              <a:lumMod val="75000"/>
                            </a:schemeClr>
                          </a:solidFill>
                          <a:effectLst/>
                        </a:rPr>
                        <a:t>X</a:t>
                      </a:r>
                      <a:endParaRPr lang="de-AT" sz="900" b="1" i="0" u="none" strike="noStrike" dirty="0">
                        <a:solidFill>
                          <a:schemeClr val="accent4">
                            <a:lumMod val="75000"/>
                          </a:schemeClr>
                        </a:solidFill>
                        <a:effectLst/>
                        <a:latin typeface="Calibri" panose="020F0502020204030204" pitchFamily="34" charset="0"/>
                      </a:endParaRPr>
                    </a:p>
                  </a:txBody>
                  <a:tcPr marL="8520" marR="8520" marT="8520" marB="0" anchor="ctr"/>
                </a:tc>
                <a:tc>
                  <a:txBody>
                    <a:bodyPr/>
                    <a:lstStyle/>
                    <a:p>
                      <a:pPr algn="ctr" fontAlgn="b"/>
                      <a:r>
                        <a:rPr lang="de-AT" sz="900" b="1" u="none" strike="noStrike" dirty="0">
                          <a:solidFill>
                            <a:schemeClr val="accent4">
                              <a:lumMod val="75000"/>
                            </a:schemeClr>
                          </a:solidFill>
                          <a:effectLst/>
                        </a:rPr>
                        <a:t>X</a:t>
                      </a:r>
                      <a:endParaRPr lang="de-AT" sz="900" b="1" i="0" u="none" strike="noStrike" dirty="0">
                        <a:solidFill>
                          <a:schemeClr val="accent4">
                            <a:lumMod val="75000"/>
                          </a:schemeClr>
                        </a:solidFill>
                        <a:effectLst/>
                        <a:latin typeface="Calibri" panose="020F0502020204030204" pitchFamily="34" charset="0"/>
                      </a:endParaRPr>
                    </a:p>
                  </a:txBody>
                  <a:tcPr marL="8520" marR="8520" marT="8520" marB="0" anchor="ctr"/>
                </a:tc>
                <a:tc>
                  <a:txBody>
                    <a:bodyPr/>
                    <a:lstStyle/>
                    <a:p>
                      <a:pPr algn="ctr" fontAlgn="b"/>
                      <a:r>
                        <a:rPr lang="de-AT" sz="900" b="1" u="none" strike="noStrike">
                          <a:solidFill>
                            <a:schemeClr val="accent2"/>
                          </a:solidFill>
                          <a:effectLst/>
                        </a:rPr>
                        <a:t>X</a:t>
                      </a:r>
                      <a:endParaRPr lang="de-AT" sz="900" b="1" i="0" u="none" strike="noStrike" dirty="0">
                        <a:solidFill>
                          <a:schemeClr val="accent2"/>
                        </a:solidFill>
                        <a:effectLst/>
                        <a:latin typeface="Calibri" panose="020F0502020204030204" pitchFamily="34" charset="0"/>
                      </a:endParaRPr>
                    </a:p>
                  </a:txBody>
                  <a:tcPr marL="8520" marR="8520" marT="8520" marB="0" anchor="ctr"/>
                </a:tc>
                <a:extLst>
                  <a:ext uri="{0D108BD9-81ED-4DB2-BD59-A6C34878D82A}">
                    <a16:rowId xmlns:a16="http://schemas.microsoft.com/office/drawing/2014/main" val="983811649"/>
                  </a:ext>
                </a:extLst>
              </a:tr>
              <a:tr h="366345">
                <a:tc>
                  <a:txBody>
                    <a:bodyPr/>
                    <a:lstStyle/>
                    <a:p>
                      <a:pPr algn="l" fontAlgn="b"/>
                      <a:r>
                        <a:rPr lang="de-AT" sz="900" u="none" strike="noStrike" dirty="0">
                          <a:effectLst/>
                        </a:rPr>
                        <a:t>Comments</a:t>
                      </a:r>
                      <a:endParaRPr lang="de-AT" sz="900" b="1" i="0" u="none" strike="noStrike" dirty="0">
                        <a:solidFill>
                          <a:srgbClr val="000000"/>
                        </a:solidFill>
                        <a:effectLst/>
                        <a:latin typeface="Calibri" panose="020F0502020204030204" pitchFamily="34" charset="0"/>
                      </a:endParaRPr>
                    </a:p>
                  </a:txBody>
                  <a:tcPr marL="8520" marR="8520" marT="8520" marB="0" anchor="ctr"/>
                </a:tc>
                <a:tc>
                  <a:txBody>
                    <a:bodyPr/>
                    <a:lstStyle/>
                    <a:p>
                      <a:pPr algn="l" fontAlgn="b"/>
                      <a:r>
                        <a:rPr lang="de-AT" sz="900" u="none" strike="noStrike">
                          <a:effectLst/>
                        </a:rPr>
                        <a:t> </a:t>
                      </a:r>
                      <a:endParaRPr lang="de-AT" sz="900" b="0" i="0" u="none" strike="noStrike">
                        <a:solidFill>
                          <a:srgbClr val="000000"/>
                        </a:solidFill>
                        <a:effectLst/>
                        <a:latin typeface="Calibri" panose="020F0502020204030204" pitchFamily="34" charset="0"/>
                      </a:endParaRPr>
                    </a:p>
                  </a:txBody>
                  <a:tcPr marL="8520" marR="8520" marT="8520" marB="0" anchor="ctr"/>
                </a:tc>
                <a:tc>
                  <a:txBody>
                    <a:bodyPr/>
                    <a:lstStyle/>
                    <a:p>
                      <a:pPr algn="l" fontAlgn="b"/>
                      <a:r>
                        <a:rPr lang="de-AT" sz="900" u="none" strike="noStrike">
                          <a:effectLst/>
                        </a:rPr>
                        <a:t> </a:t>
                      </a:r>
                      <a:endParaRPr lang="de-AT" sz="900" b="0" i="0" u="none" strike="noStrike">
                        <a:solidFill>
                          <a:srgbClr val="000000"/>
                        </a:solidFill>
                        <a:effectLst/>
                        <a:latin typeface="Calibri" panose="020F0502020204030204" pitchFamily="34" charset="0"/>
                      </a:endParaRPr>
                    </a:p>
                  </a:txBody>
                  <a:tcPr marL="8520" marR="8520" marT="8520" marB="0" anchor="ctr"/>
                </a:tc>
                <a:tc>
                  <a:txBody>
                    <a:bodyPr/>
                    <a:lstStyle/>
                    <a:p>
                      <a:pPr algn="l" fontAlgn="b"/>
                      <a:r>
                        <a:rPr lang="de-AT" sz="900" u="none" strike="noStrike">
                          <a:effectLst/>
                        </a:rPr>
                        <a:t> </a:t>
                      </a:r>
                      <a:endParaRPr lang="de-AT" sz="900" b="0" i="0" u="none" strike="noStrike">
                        <a:solidFill>
                          <a:srgbClr val="000000"/>
                        </a:solidFill>
                        <a:effectLst/>
                        <a:latin typeface="Calibri" panose="020F0502020204030204" pitchFamily="34" charset="0"/>
                      </a:endParaRPr>
                    </a:p>
                  </a:txBody>
                  <a:tcPr marL="8520" marR="8520" marT="8520" marB="0" anchor="ctr"/>
                </a:tc>
                <a:tc gridSpan="2">
                  <a:txBody>
                    <a:bodyPr/>
                    <a:lstStyle/>
                    <a:p>
                      <a:pPr algn="ctr" fontAlgn="b"/>
                      <a:r>
                        <a:rPr lang="de-AT" sz="900" u="none" strike="noStrike">
                          <a:effectLst/>
                        </a:rPr>
                        <a:t>function: generates updated VIF</a:t>
                      </a:r>
                      <a:endParaRPr lang="de-AT" sz="900" b="0" i="0" u="none" strike="noStrike">
                        <a:solidFill>
                          <a:srgbClr val="000000"/>
                        </a:solidFill>
                        <a:effectLst/>
                        <a:latin typeface="Calibri" panose="020F0502020204030204" pitchFamily="34" charset="0"/>
                      </a:endParaRPr>
                    </a:p>
                  </a:txBody>
                  <a:tcPr marL="8520" marR="8520" marT="8520" marB="0" anchor="ctr"/>
                </a:tc>
                <a:tc hMerge="1">
                  <a:txBody>
                    <a:bodyPr/>
                    <a:lstStyle/>
                    <a:p>
                      <a:endParaRPr lang="de-AT"/>
                    </a:p>
                  </a:txBody>
                  <a:tcPr/>
                </a:tc>
                <a:tc>
                  <a:txBody>
                    <a:bodyPr/>
                    <a:lstStyle/>
                    <a:p>
                      <a:pPr algn="ctr" fontAlgn="b"/>
                      <a:r>
                        <a:rPr lang="de-AT" sz="900" u="none" strike="noStrike">
                          <a:effectLst/>
                        </a:rPr>
                        <a:t> </a:t>
                      </a:r>
                      <a:endParaRPr lang="de-AT" sz="900" b="0" i="0" u="none" strike="noStrike">
                        <a:solidFill>
                          <a:srgbClr val="000000"/>
                        </a:solidFill>
                        <a:effectLst/>
                        <a:latin typeface="Calibri" panose="020F0502020204030204" pitchFamily="34" charset="0"/>
                      </a:endParaRPr>
                    </a:p>
                  </a:txBody>
                  <a:tcPr marL="8520" marR="8520" marT="8520" marB="0" anchor="ctr"/>
                </a:tc>
                <a:tc>
                  <a:txBody>
                    <a:bodyPr/>
                    <a:lstStyle/>
                    <a:p>
                      <a:pPr algn="l" fontAlgn="b"/>
                      <a:r>
                        <a:rPr lang="de-AT" sz="900" u="none" strike="noStrike">
                          <a:effectLst/>
                        </a:rPr>
                        <a:t> </a:t>
                      </a:r>
                      <a:endParaRPr lang="de-AT" sz="900" b="0" i="0" u="none" strike="noStrike">
                        <a:solidFill>
                          <a:srgbClr val="000000"/>
                        </a:solidFill>
                        <a:effectLst/>
                        <a:latin typeface="Calibri" panose="020F0502020204030204" pitchFamily="34" charset="0"/>
                      </a:endParaRPr>
                    </a:p>
                  </a:txBody>
                  <a:tcPr marL="8520" marR="8520" marT="8520" marB="0" anchor="ctr"/>
                </a:tc>
                <a:tc>
                  <a:txBody>
                    <a:bodyPr/>
                    <a:lstStyle/>
                    <a:p>
                      <a:pPr algn="l" fontAlgn="b"/>
                      <a:r>
                        <a:rPr lang="de-AT" sz="900" u="none" strike="noStrike" dirty="0">
                          <a:effectLst/>
                        </a:rPr>
                        <a:t> </a:t>
                      </a:r>
                      <a:endParaRPr lang="de-AT" sz="900" b="0" i="0" u="none" strike="noStrike" dirty="0">
                        <a:solidFill>
                          <a:srgbClr val="000000"/>
                        </a:solidFill>
                        <a:effectLst/>
                        <a:latin typeface="Calibri" panose="020F0502020204030204" pitchFamily="34" charset="0"/>
                      </a:endParaRPr>
                    </a:p>
                  </a:txBody>
                  <a:tcPr marL="8520" marR="8520" marT="8520" marB="0" anchor="ctr"/>
                </a:tc>
                <a:tc gridSpan="2">
                  <a:txBody>
                    <a:bodyPr/>
                    <a:lstStyle/>
                    <a:p>
                      <a:pPr algn="ctr" fontAlgn="b"/>
                      <a:r>
                        <a:rPr lang="de-AT" sz="900" u="none" strike="noStrike" dirty="0">
                          <a:effectLst/>
                        </a:rPr>
                        <a:t>"Single </a:t>
                      </a:r>
                      <a:r>
                        <a:rPr lang="de-AT" sz="900" u="none" strike="noStrike" dirty="0" err="1">
                          <a:effectLst/>
                        </a:rPr>
                        <a:t>step</a:t>
                      </a:r>
                      <a:r>
                        <a:rPr lang="de-AT" sz="900" u="none" strike="noStrike" dirty="0">
                          <a:effectLst/>
                        </a:rPr>
                        <a:t>" </a:t>
                      </a:r>
                      <a:r>
                        <a:rPr lang="de-AT" sz="900" u="none" strike="noStrike" dirty="0" err="1">
                          <a:effectLst/>
                        </a:rPr>
                        <a:t>manufacturing</a:t>
                      </a:r>
                      <a:r>
                        <a:rPr lang="de-AT" sz="900" u="none" strike="noStrike" dirty="0">
                          <a:effectLst/>
                        </a:rPr>
                        <a:t> </a:t>
                      </a:r>
                      <a:r>
                        <a:rPr lang="de-AT" sz="900" u="none" strike="noStrike" dirty="0" err="1">
                          <a:effectLst/>
                        </a:rPr>
                        <a:t>process</a:t>
                      </a:r>
                      <a:endParaRPr lang="de-AT" sz="900" b="0" i="0" u="none" strike="noStrike" dirty="0">
                        <a:solidFill>
                          <a:srgbClr val="000000"/>
                        </a:solidFill>
                        <a:effectLst/>
                        <a:latin typeface="Calibri" panose="020F0502020204030204" pitchFamily="34" charset="0"/>
                      </a:endParaRPr>
                    </a:p>
                  </a:txBody>
                  <a:tcPr marL="8520" marR="8520" marT="8520" marB="0" anchor="ctr"/>
                </a:tc>
                <a:tc hMerge="1">
                  <a:txBody>
                    <a:bodyPr/>
                    <a:lstStyle/>
                    <a:p>
                      <a:endParaRPr lang="de-AT"/>
                    </a:p>
                  </a:txBody>
                  <a:tcPr/>
                </a:tc>
                <a:tc>
                  <a:txBody>
                    <a:bodyPr/>
                    <a:lstStyle/>
                    <a:p>
                      <a:pPr algn="ctr" fontAlgn="b"/>
                      <a:r>
                        <a:rPr lang="en-US" sz="900" u="none" strike="noStrike" dirty="0">
                          <a:effectLst/>
                        </a:rPr>
                        <a:t>for validation of factor method</a:t>
                      </a:r>
                      <a:endParaRPr lang="en-US" sz="900" b="0" i="0" u="none" strike="noStrike" dirty="0">
                        <a:solidFill>
                          <a:srgbClr val="000000"/>
                        </a:solidFill>
                        <a:effectLst/>
                        <a:latin typeface="Calibri" panose="020F0502020204030204" pitchFamily="34" charset="0"/>
                      </a:endParaRPr>
                    </a:p>
                  </a:txBody>
                  <a:tcPr marL="8520" marR="8520" marT="8520" marB="0" anchor="ctr"/>
                </a:tc>
                <a:extLst>
                  <a:ext uri="{0D108BD9-81ED-4DB2-BD59-A6C34878D82A}">
                    <a16:rowId xmlns:a16="http://schemas.microsoft.com/office/drawing/2014/main" val="4166233477"/>
                  </a:ext>
                </a:extLst>
              </a:tr>
            </a:tbl>
          </a:graphicData>
        </a:graphic>
      </p:graphicFrame>
      <p:sp>
        <p:nvSpPr>
          <p:cNvPr id="8" name="PlaceHolder 1">
            <a:extLst>
              <a:ext uri="{FF2B5EF4-FFF2-40B4-BE49-F238E27FC236}">
                <a16:creationId xmlns:a16="http://schemas.microsoft.com/office/drawing/2014/main" id="{BFA9DF33-D190-4151-B3CB-A06079769C69}"/>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2575472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5333" y="850196"/>
            <a:ext cx="8229240" cy="267392"/>
          </a:xfrm>
        </p:spPr>
        <p:txBody>
          <a:bodyPr anchor="t"/>
          <a:lstStyle/>
          <a:p>
            <a:r>
              <a:rPr lang="en-US" sz="2400" b="1" spc="-1" dirty="0">
                <a:solidFill>
                  <a:srgbClr val="990000"/>
                </a:solidFill>
                <a:latin typeface="Arial"/>
              </a:rPr>
              <a:t>Known issues</a:t>
            </a:r>
          </a:p>
        </p:txBody>
      </p:sp>
      <p:sp>
        <p:nvSpPr>
          <p:cNvPr id="3" name="Inhaltsplatzhalter 2"/>
          <p:cNvSpPr>
            <a:spLocks noGrp="1"/>
          </p:cNvSpPr>
          <p:nvPr>
            <p:ph idx="1"/>
          </p:nvPr>
        </p:nvSpPr>
        <p:spPr>
          <a:xfrm>
            <a:off x="585333" y="1443038"/>
            <a:ext cx="8229240" cy="4680413"/>
          </a:xfrm>
        </p:spPr>
        <p:txBody>
          <a:bodyPr/>
          <a:lstStyle/>
          <a:p>
            <a:pPr>
              <a:spcBef>
                <a:spcPts val="1200"/>
              </a:spcBef>
            </a:pPr>
            <a:r>
              <a:rPr lang="en-US" sz="1600" dirty="0"/>
              <a:t>Elements not yet implemented</a:t>
            </a:r>
          </a:p>
          <a:p>
            <a:pPr lvl="1"/>
            <a:r>
              <a:rPr lang="en-US" sz="1600" dirty="0"/>
              <a:t>Battery connectors / junction box not included</a:t>
            </a:r>
            <a:br>
              <a:rPr lang="en-US" sz="1600" dirty="0"/>
            </a:br>
            <a:r>
              <a:rPr lang="en-US" sz="1400" dirty="0">
                <a:sym typeface="Wingdings" panose="05000000000000000000" pitchFamily="2" charset="2"/>
              </a:rPr>
              <a:t> define and implement generic additional resistances (i.e. loss factors) </a:t>
            </a:r>
            <a:endParaRPr lang="en-US" sz="1600" dirty="0">
              <a:sym typeface="Wingdings" panose="05000000000000000000" pitchFamily="2" charset="2"/>
            </a:endParaRPr>
          </a:p>
          <a:p>
            <a:pPr lvl="1"/>
            <a:r>
              <a:rPr lang="en-US" sz="1600" dirty="0"/>
              <a:t>Technical elements as resulting from the revision of the CO</a:t>
            </a:r>
            <a:r>
              <a:rPr lang="en-US" sz="1600" baseline="-25000" dirty="0"/>
              <a:t>2</a:t>
            </a:r>
            <a:r>
              <a:rPr lang="en-US" sz="1600" dirty="0"/>
              <a:t> Standards to be added</a:t>
            </a:r>
          </a:p>
          <a:p>
            <a:pPr lvl="2"/>
            <a:r>
              <a:rPr lang="en-US" sz="1400" dirty="0"/>
              <a:t>Sub-group allocation for the for the newly covered vehicle groups </a:t>
            </a:r>
          </a:p>
          <a:p>
            <a:pPr lvl="2"/>
            <a:r>
              <a:rPr lang="en-US" sz="1400" dirty="0"/>
              <a:t>Generation of weighted results for vocational vehicles</a:t>
            </a:r>
          </a:p>
          <a:p>
            <a:pPr lvl="2"/>
            <a:r>
              <a:rPr lang="en-US" sz="1400" dirty="0"/>
              <a:t>Anything related to ZEV definition?</a:t>
            </a:r>
          </a:p>
          <a:p>
            <a:pPr>
              <a:spcBef>
                <a:spcPts val="1200"/>
              </a:spcBef>
            </a:pPr>
            <a:r>
              <a:rPr lang="en-US" sz="1600" dirty="0"/>
              <a:t>Elements still under discussion</a:t>
            </a:r>
          </a:p>
          <a:p>
            <a:pPr lvl="1"/>
            <a:r>
              <a:rPr lang="en-US" sz="1400" dirty="0"/>
              <a:t>Medium lorries mission profile and payload weighting factors (equally weighted, only preliminary)</a:t>
            </a:r>
          </a:p>
          <a:p>
            <a:pPr lvl="1"/>
            <a:r>
              <a:rPr lang="en-US" sz="1400" dirty="0"/>
              <a:t>Multiple SOC level(s) for VECTO PEV simulation and respective weighting of results (?)</a:t>
            </a:r>
          </a:p>
          <a:p>
            <a:pPr lvl="2"/>
            <a:endParaRPr lang="en-GB" sz="1200" dirty="0">
              <a:solidFill>
                <a:srgbClr val="FF0000"/>
              </a:solidFil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19</a:t>
            </a:fld>
            <a:endParaRPr lang="de-DE"/>
          </a:p>
        </p:txBody>
      </p:sp>
      <p:sp>
        <p:nvSpPr>
          <p:cNvPr id="5" name="PlaceHolder 1">
            <a:extLst>
              <a:ext uri="{FF2B5EF4-FFF2-40B4-BE49-F238E27FC236}">
                <a16:creationId xmlns:a16="http://schemas.microsoft.com/office/drawing/2014/main" id="{4911B340-765B-47B6-8E98-E95BA18E08D0}"/>
              </a:ext>
            </a:extLst>
          </p:cNvPr>
          <p:cNvSpPr txBox="1">
            <a:spLocks/>
          </p:cNvSpPr>
          <p:nvPr/>
        </p:nvSpPr>
        <p:spPr>
          <a:xfrm>
            <a:off x="1151648" y="140677"/>
            <a:ext cx="4596009" cy="267392"/>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b="1" spc="-1" dirty="0">
                <a:solidFill>
                  <a:srgbClr val="990000"/>
                </a:solidFill>
                <a:latin typeface="Arial"/>
              </a:rPr>
              <a:t>Vecto 4.0.0.xx  Development Version</a:t>
            </a:r>
            <a:endParaRPr lang="en-US" sz="1200" spc="-1" dirty="0">
              <a:latin typeface="Arial"/>
            </a:endParaRPr>
          </a:p>
        </p:txBody>
      </p:sp>
    </p:spTree>
    <p:extLst>
      <p:ext uri="{BB962C8B-B14F-4D97-AF65-F5344CB8AC3E}">
        <p14:creationId xmlns:p14="http://schemas.microsoft.com/office/powerpoint/2010/main" val="3007153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68360" y="714240"/>
            <a:ext cx="8217720" cy="680400"/>
          </a:xfrm>
          <a:prstGeom prst="rect">
            <a:avLst/>
          </a:prstGeom>
          <a:noFill/>
          <a:ln w="0">
            <a:noFill/>
          </a:ln>
        </p:spPr>
        <p:txBody>
          <a:bodyPr lIns="0" tIns="0" rIns="0" bIns="0" numCol="1" spcCol="0" anchor="ctr">
            <a:noAutofit/>
          </a:bodyPr>
          <a:lstStyle/>
          <a:p>
            <a:pPr algn="ctr">
              <a:lnSpc>
                <a:spcPct val="100000"/>
              </a:lnSpc>
              <a:buNone/>
            </a:pPr>
            <a:r>
              <a:rPr lang="en-US" sz="2400" b="1" strike="noStrike" spc="-1" dirty="0">
                <a:solidFill>
                  <a:srgbClr val="990000"/>
                </a:solidFill>
                <a:latin typeface="Arial"/>
              </a:rPr>
              <a:t>Vecto 0.7.10.2996  Development Version</a:t>
            </a:r>
            <a:r>
              <a:rPr lang="en-US" sz="2400" b="0" strike="noStrike" spc="-1" dirty="0">
                <a:latin typeface="Arial"/>
              </a:rPr>
              <a:t> </a:t>
            </a:r>
            <a:br>
              <a:rPr sz="2400" dirty="0"/>
            </a:br>
            <a:r>
              <a:rPr lang="en-US" sz="1600" b="1" strike="noStrike" spc="-1" dirty="0">
                <a:solidFill>
                  <a:srgbClr val="990000"/>
                </a:solidFill>
                <a:latin typeface="Arial"/>
              </a:rPr>
              <a:t>March 2023</a:t>
            </a:r>
            <a:endParaRPr lang="en-US" sz="1600" b="0" strike="noStrike" spc="-1" dirty="0">
              <a:latin typeface="Arial"/>
            </a:endParaRPr>
          </a:p>
        </p:txBody>
      </p:sp>
      <p:sp>
        <p:nvSpPr>
          <p:cNvPr id="91" name="PlaceHolder 2"/>
          <p:cNvSpPr/>
          <p:nvPr/>
        </p:nvSpPr>
        <p:spPr>
          <a:xfrm>
            <a:off x="419760" y="1600200"/>
            <a:ext cx="8495280" cy="482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dirty="0">
                <a:solidFill>
                  <a:srgbClr val="000000"/>
                </a:solidFill>
                <a:latin typeface="Arial"/>
              </a:rPr>
              <a:t>Important Note</a:t>
            </a:r>
            <a:br>
              <a:rPr sz="1600" dirty="0"/>
            </a:br>
            <a:r>
              <a:rPr lang="en-US" sz="1600" b="0" strike="noStrike" spc="-1" dirty="0">
                <a:solidFill>
                  <a:srgbClr val="000000"/>
                </a:solidFill>
                <a:latin typeface="Arial"/>
              </a:rPr>
              <a:t>This is a development release for </a:t>
            </a:r>
            <a:r>
              <a:rPr lang="en-US" sz="1600" b="0" strike="noStrike" spc="-1" dirty="0" err="1">
                <a:solidFill>
                  <a:srgbClr val="000000"/>
                </a:solidFill>
                <a:latin typeface="Arial"/>
              </a:rPr>
              <a:t>xEV</a:t>
            </a:r>
            <a:r>
              <a:rPr lang="en-US" sz="1600" b="0" strike="noStrike" spc="-1" dirty="0">
                <a:solidFill>
                  <a:srgbClr val="000000"/>
                </a:solidFill>
                <a:latin typeface="Arial"/>
              </a:rPr>
              <a:t>-Lorries. Bus related functionalities may be broken. </a:t>
            </a:r>
            <a:br>
              <a:rPr sz="1600" dirty="0"/>
            </a:br>
            <a:r>
              <a:rPr lang="en-US" sz="1600" b="0" strike="noStrike" spc="-1" dirty="0">
                <a:solidFill>
                  <a:srgbClr val="000000"/>
                </a:solidFill>
                <a:latin typeface="Arial"/>
              </a:rPr>
              <a:t> </a:t>
            </a:r>
            <a:endParaRPr lang="en-US" sz="1600" b="0" strike="noStrike" spc="-1" dirty="0">
              <a:latin typeface="Arial"/>
            </a:endParaRPr>
          </a:p>
          <a:p>
            <a:pPr marL="343080" indent="-343080">
              <a:lnSpc>
                <a:spcPct val="100000"/>
              </a:lnSpc>
              <a:spcBef>
                <a:spcPts val="320"/>
              </a:spcBef>
              <a:buClr>
                <a:srgbClr val="000000"/>
              </a:buClr>
              <a:buFont typeface="Symbol"/>
              <a:buChar char=""/>
              <a:tabLst>
                <a:tab pos="1886040" algn="l"/>
              </a:tabLst>
            </a:pPr>
            <a:r>
              <a:rPr lang="en-US" sz="1600" b="1" strike="noStrike" spc="-1" dirty="0">
                <a:solidFill>
                  <a:srgbClr val="000000"/>
                </a:solidFill>
                <a:latin typeface="Arial"/>
              </a:rPr>
              <a:t>Changes</a:t>
            </a:r>
            <a:endParaRPr lang="en-US" sz="1600" b="0" strike="noStrike" spc="-1" dirty="0">
              <a:latin typeface="Arial"/>
            </a:endParaRPr>
          </a:p>
          <a:p>
            <a:pPr marL="743040" lvl="1" indent="-285840">
              <a:lnSpc>
                <a:spcPct val="100000"/>
              </a:lnSpc>
              <a:spcBef>
                <a:spcPts val="281"/>
              </a:spcBef>
              <a:buClr>
                <a:srgbClr val="000000"/>
              </a:buClr>
              <a:buFont typeface="Symbol"/>
              <a:buChar char=""/>
              <a:tabLst>
                <a:tab pos="1886040" algn="l"/>
              </a:tabLst>
            </a:pPr>
            <a:r>
              <a:rPr lang="en-US" sz="1400" spc="-1" dirty="0">
                <a:solidFill>
                  <a:srgbClr val="000000"/>
                </a:solidFill>
                <a:latin typeface="Arial"/>
              </a:rPr>
              <a:t>Test settings:</a:t>
            </a:r>
          </a:p>
          <a:p>
            <a:pPr marL="1200240" lvl="2" indent="-285840">
              <a:spcBef>
                <a:spcPts val="281"/>
              </a:spcBef>
              <a:buClr>
                <a:srgbClr val="000000"/>
              </a:buClr>
              <a:buFont typeface="Symbol"/>
              <a:buChar char=""/>
              <a:tabLst>
                <a:tab pos="1886040" algn="l"/>
              </a:tabLst>
            </a:pPr>
            <a:r>
              <a:rPr lang="en-US" sz="1400" spc="-1" dirty="0">
                <a:solidFill>
                  <a:srgbClr val="000000"/>
                </a:solidFill>
                <a:latin typeface="Arial"/>
              </a:rPr>
              <a:t>Charge-Sustaining-Mode:</a:t>
            </a:r>
          </a:p>
          <a:p>
            <a:pPr marL="1657440" lvl="3" indent="-285840">
              <a:spcBef>
                <a:spcPts val="281"/>
              </a:spcBef>
              <a:buClr>
                <a:srgbClr val="000000"/>
              </a:buClr>
              <a:buFont typeface="Symbol"/>
              <a:buChar char=""/>
              <a:tabLst>
                <a:tab pos="1886040" algn="l"/>
              </a:tabLst>
            </a:pPr>
            <a:r>
              <a:rPr lang="en-US" sz="1400" b="0" strike="noStrike" spc="-1" dirty="0">
                <a:solidFill>
                  <a:srgbClr val="000000"/>
                </a:solidFill>
                <a:latin typeface="Arial"/>
              </a:rPr>
              <a:t>Iterative </a:t>
            </a:r>
            <a:r>
              <a:rPr lang="en-US" sz="1400" spc="-1" dirty="0">
                <a:solidFill>
                  <a:srgbClr val="000000"/>
                </a:solidFill>
                <a:latin typeface="Arial"/>
              </a:rPr>
              <a:t>simulation for OVC-P-HEVs </a:t>
            </a:r>
          </a:p>
          <a:p>
            <a:pPr lvl="3">
              <a:spcBef>
                <a:spcPts val="281"/>
              </a:spcBef>
              <a:buClr>
                <a:srgbClr val="000000"/>
              </a:buClr>
              <a:tabLst>
                <a:tab pos="1886040" algn="l"/>
              </a:tabLst>
            </a:pPr>
            <a:r>
              <a:rPr lang="en-US" sz="1400" spc="-1" dirty="0">
                <a:solidFill>
                  <a:srgbClr val="000000"/>
                </a:solidFill>
                <a:latin typeface="Arial"/>
              </a:rPr>
              <a:t>	can be disabled</a:t>
            </a:r>
          </a:p>
          <a:p>
            <a:pPr marL="1200240" lvl="2" indent="-285840">
              <a:spcBef>
                <a:spcPts val="281"/>
              </a:spcBef>
              <a:buClr>
                <a:srgbClr val="000000"/>
              </a:buClr>
              <a:buFont typeface="Symbol"/>
              <a:buChar char=""/>
              <a:tabLst>
                <a:tab pos="1886040" algn="l"/>
              </a:tabLst>
            </a:pPr>
            <a:r>
              <a:rPr lang="en-US" sz="1400" b="0" strike="noStrike" spc="-1" dirty="0">
                <a:solidFill>
                  <a:srgbClr val="000000"/>
                </a:solidFill>
                <a:latin typeface="Arial"/>
              </a:rPr>
              <a:t>Charge</a:t>
            </a:r>
            <a:r>
              <a:rPr lang="en-US" sz="1400" spc="-1" dirty="0">
                <a:solidFill>
                  <a:srgbClr val="000000"/>
                </a:solidFill>
                <a:latin typeface="Arial"/>
              </a:rPr>
              <a:t>-</a:t>
            </a:r>
            <a:r>
              <a:rPr lang="en-US" sz="1400" b="0" strike="noStrike" spc="-1" dirty="0">
                <a:solidFill>
                  <a:srgbClr val="000000"/>
                </a:solidFill>
                <a:latin typeface="Arial"/>
              </a:rPr>
              <a:t>Depleting-</a:t>
            </a:r>
            <a:r>
              <a:rPr lang="en-US" sz="1400" spc="-1" dirty="0">
                <a:solidFill>
                  <a:srgbClr val="000000"/>
                </a:solidFill>
                <a:latin typeface="Arial"/>
              </a:rPr>
              <a:t>Mode:</a:t>
            </a:r>
          </a:p>
          <a:p>
            <a:pPr marL="1657440" lvl="3" indent="-285840">
              <a:spcBef>
                <a:spcPts val="281"/>
              </a:spcBef>
              <a:buClr>
                <a:srgbClr val="000000"/>
              </a:buClr>
              <a:buFont typeface="Symbol"/>
              <a:buChar char=""/>
              <a:tabLst>
                <a:tab pos="1886040" algn="l"/>
              </a:tabLst>
            </a:pPr>
            <a:r>
              <a:rPr lang="en-US" sz="1400" b="0" strike="noStrike" spc="-1" dirty="0">
                <a:solidFill>
                  <a:srgbClr val="000000"/>
                </a:solidFill>
                <a:latin typeface="Arial"/>
              </a:rPr>
              <a:t>Central SOC can be overridden for </a:t>
            </a:r>
          </a:p>
          <a:p>
            <a:pPr lvl="3">
              <a:spcBef>
                <a:spcPts val="281"/>
              </a:spcBef>
              <a:buClr>
                <a:srgbClr val="000000"/>
              </a:buClr>
              <a:tabLst>
                <a:tab pos="1886040" algn="l"/>
              </a:tabLst>
            </a:pPr>
            <a:r>
              <a:rPr lang="en-US" sz="1400" spc="-1" dirty="0">
                <a:solidFill>
                  <a:srgbClr val="000000"/>
                </a:solidFill>
                <a:latin typeface="Arial"/>
              </a:rPr>
              <a:t>	</a:t>
            </a:r>
            <a:r>
              <a:rPr lang="en-US" sz="1400" b="0" strike="noStrike" spc="-1" dirty="0">
                <a:solidFill>
                  <a:srgbClr val="000000"/>
                </a:solidFill>
                <a:latin typeface="Arial"/>
              </a:rPr>
              <a:t>Charge</a:t>
            </a:r>
            <a:r>
              <a:rPr lang="en-US" sz="1400" spc="-1" dirty="0">
                <a:solidFill>
                  <a:srgbClr val="000000"/>
                </a:solidFill>
                <a:latin typeface="Arial"/>
              </a:rPr>
              <a:t>-Depleting-Mode </a:t>
            </a:r>
            <a:endParaRPr lang="en-US" sz="1400" b="0" strike="noStrike" spc="-1" dirty="0">
              <a:solidFill>
                <a:srgbClr val="000000"/>
              </a:solidFill>
              <a:latin typeface="Arial"/>
            </a:endParaRPr>
          </a:p>
          <a:p>
            <a:pPr marL="743040" lvl="1" indent="-285840">
              <a:lnSpc>
                <a:spcPct val="100000"/>
              </a:lnSpc>
              <a:spcBef>
                <a:spcPts val="281"/>
              </a:spcBef>
              <a:buClr>
                <a:srgbClr val="000000"/>
              </a:buClr>
              <a:buFont typeface="Symbol"/>
              <a:buChar char=""/>
              <a:tabLst>
                <a:tab pos="1886040" algn="l"/>
              </a:tabLst>
            </a:pPr>
            <a:r>
              <a:rPr lang="en-US" sz="1400" spc="-1" dirty="0">
                <a:solidFill>
                  <a:srgbClr val="000000"/>
                </a:solidFill>
                <a:latin typeface="Arial"/>
              </a:rPr>
              <a:t>Declaration values can be overridden by copying the particular file to &lt;</a:t>
            </a:r>
            <a:r>
              <a:rPr lang="en-US" sz="1400" spc="-1" dirty="0" err="1">
                <a:solidFill>
                  <a:srgbClr val="000000"/>
                </a:solidFill>
                <a:latin typeface="Arial"/>
              </a:rPr>
              <a:t>VectoDir</a:t>
            </a:r>
            <a:r>
              <a:rPr lang="en-US" sz="1400" spc="-1" dirty="0">
                <a:solidFill>
                  <a:srgbClr val="000000"/>
                </a:solidFill>
                <a:latin typeface="Arial"/>
              </a:rPr>
              <a:t>&gt;\Declaration\Override and changing the desired value.</a:t>
            </a:r>
          </a:p>
          <a:p>
            <a:pPr marL="743040" lvl="1" indent="-285840">
              <a:lnSpc>
                <a:spcPct val="100000"/>
              </a:lnSpc>
              <a:spcBef>
                <a:spcPts val="281"/>
              </a:spcBef>
              <a:buClr>
                <a:srgbClr val="000000"/>
              </a:buClr>
              <a:buFont typeface="Symbol"/>
              <a:buChar char=""/>
              <a:tabLst>
                <a:tab pos="1886040" algn="l"/>
              </a:tabLst>
            </a:pPr>
            <a:r>
              <a:rPr lang="en-US" sz="1400" spc="-1" dirty="0">
                <a:solidFill>
                  <a:srgbClr val="000000"/>
                </a:solidFill>
                <a:latin typeface="Arial"/>
              </a:rPr>
              <a:t>New XSD-Schema for XML Reports</a:t>
            </a:r>
          </a:p>
          <a:p>
            <a:pPr marL="743040" lvl="1" indent="-285840">
              <a:lnSpc>
                <a:spcPct val="100000"/>
              </a:lnSpc>
              <a:spcBef>
                <a:spcPts val="281"/>
              </a:spcBef>
              <a:buClr>
                <a:srgbClr val="000000"/>
              </a:buClr>
              <a:buFont typeface="Symbol"/>
              <a:buChar char=""/>
              <a:tabLst>
                <a:tab pos="1886040" algn="l"/>
              </a:tabLst>
            </a:pPr>
            <a:r>
              <a:rPr lang="en-US" sz="1400" b="0" strike="noStrike" spc="-1" dirty="0">
                <a:solidFill>
                  <a:srgbClr val="000000"/>
                </a:solidFill>
                <a:latin typeface="Arial"/>
              </a:rPr>
              <a:t>Updated Hybrid </a:t>
            </a:r>
            <a:r>
              <a:rPr lang="en-US" sz="1400" spc="-1" dirty="0">
                <a:solidFill>
                  <a:srgbClr val="000000"/>
                </a:solidFill>
                <a:latin typeface="Arial"/>
              </a:rPr>
              <a:t>Strategy and </a:t>
            </a:r>
            <a:r>
              <a:rPr lang="en-US" sz="1400" spc="-1" dirty="0" err="1">
                <a:solidFill>
                  <a:srgbClr val="000000"/>
                </a:solidFill>
                <a:latin typeface="Arial"/>
              </a:rPr>
              <a:t>Gearshifting</a:t>
            </a:r>
            <a:endParaRPr lang="en-US" sz="1400" b="0" strike="noStrike" spc="-1" dirty="0">
              <a:latin typeface="Arial"/>
            </a:endParaRPr>
          </a:p>
          <a:p>
            <a:pPr>
              <a:lnSpc>
                <a:spcPct val="100000"/>
              </a:lnSpc>
              <a:spcBef>
                <a:spcPts val="281"/>
              </a:spcBef>
              <a:buNone/>
              <a:tabLst>
                <a:tab pos="1886040" algn="l"/>
              </a:tabLst>
            </a:pPr>
            <a:endParaRPr lang="en-US" sz="1400" b="0" strike="noStrike" spc="-1" dirty="0">
              <a:latin typeface="Arial"/>
            </a:endParaRPr>
          </a:p>
          <a:p>
            <a:pPr>
              <a:lnSpc>
                <a:spcPct val="100000"/>
              </a:lnSpc>
              <a:buNone/>
              <a:tabLst>
                <a:tab pos="1886040" algn="l"/>
              </a:tabLst>
            </a:pPr>
            <a:endParaRPr lang="en-US" sz="1400" b="0" strike="noStrike" spc="-1" dirty="0">
              <a:latin typeface="Arial"/>
            </a:endParaRPr>
          </a:p>
          <a:p>
            <a:pPr>
              <a:lnSpc>
                <a:spcPct val="100000"/>
              </a:lnSpc>
              <a:buNone/>
              <a:tabLst>
                <a:tab pos="1886040" algn="l"/>
              </a:tabLst>
            </a:pPr>
            <a:endParaRPr lang="en-US" sz="1400" b="0" strike="noStrike" spc="-1" dirty="0">
              <a:latin typeface="Arial"/>
            </a:endParaRPr>
          </a:p>
        </p:txBody>
      </p:sp>
      <p:pic>
        <p:nvPicPr>
          <p:cNvPr id="2" name="Grafik 1">
            <a:extLst>
              <a:ext uri="{FF2B5EF4-FFF2-40B4-BE49-F238E27FC236}">
                <a16:creationId xmlns:a16="http://schemas.microsoft.com/office/drawing/2014/main" id="{476EFD3B-3989-4B04-9588-FADCA3A9950D}"/>
              </a:ext>
            </a:extLst>
          </p:cNvPr>
          <p:cNvPicPr>
            <a:picLocks noChangeAspect="1"/>
          </p:cNvPicPr>
          <p:nvPr/>
        </p:nvPicPr>
        <p:blipFill>
          <a:blip r:embed="rId2"/>
          <a:stretch>
            <a:fillRect/>
          </a:stretch>
        </p:blipFill>
        <p:spPr>
          <a:xfrm>
            <a:off x="5323286" y="3429000"/>
            <a:ext cx="3362794" cy="1505160"/>
          </a:xfrm>
          <a:prstGeom prst="rect">
            <a:avLst/>
          </a:prstGeom>
        </p:spPr>
      </p:pic>
    </p:spTree>
    <p:extLst>
      <p:ext uri="{BB962C8B-B14F-4D97-AF65-F5344CB8AC3E}">
        <p14:creationId xmlns:p14="http://schemas.microsoft.com/office/powerpoint/2010/main" val="2238298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Declaration Mode Lorries – Overview (1/2)</a:t>
            </a:r>
          </a:p>
        </p:txBody>
      </p:sp>
      <p:sp>
        <p:nvSpPr>
          <p:cNvPr id="3" name="Inhaltsplatzhalter 2"/>
          <p:cNvSpPr>
            <a:spLocks noGrp="1"/>
          </p:cNvSpPr>
          <p:nvPr>
            <p:ph idx="1"/>
          </p:nvPr>
        </p:nvSpPr>
        <p:spPr>
          <a:xfrm>
            <a:off x="622355" y="2137413"/>
            <a:ext cx="8281366" cy="3482007"/>
          </a:xfrm>
        </p:spPr>
        <p:txBody>
          <a:bodyPr/>
          <a:lstStyle/>
          <a:p>
            <a:pPr>
              <a:spcBef>
                <a:spcPts val="600"/>
              </a:spcBef>
            </a:pPr>
            <a:r>
              <a:rPr lang="en-US" sz="1800" dirty="0"/>
              <a:t>VECTO Development Version </a:t>
            </a:r>
            <a:r>
              <a:rPr lang="en-US" sz="1800" dirty="0">
                <a:solidFill>
                  <a:srgbClr val="FF0000"/>
                </a:solidFill>
              </a:rPr>
              <a:t>0.7.10.2996</a:t>
            </a:r>
            <a:r>
              <a:rPr lang="en-US" sz="1800" dirty="0"/>
              <a:t> as released on </a:t>
            </a:r>
            <a:r>
              <a:rPr lang="en-US" sz="1800" dirty="0">
                <a:solidFill>
                  <a:srgbClr val="FF0000"/>
                </a:solidFill>
              </a:rPr>
              <a:t>March 15</a:t>
            </a:r>
            <a:r>
              <a:rPr lang="en-US" sz="1800" dirty="0"/>
              <a:t>, features the Declaration Mode for Lorries according to the 2</a:t>
            </a:r>
            <a:r>
              <a:rPr lang="en-US" sz="1800" baseline="30000" dirty="0"/>
              <a:t>nd</a:t>
            </a:r>
            <a:r>
              <a:rPr lang="en-US" sz="1800" dirty="0"/>
              <a:t> Amendment.</a:t>
            </a:r>
          </a:p>
          <a:p>
            <a:pPr>
              <a:spcBef>
                <a:spcPts val="600"/>
              </a:spcBef>
            </a:pPr>
            <a:r>
              <a:rPr lang="en-US" sz="1800" dirty="0"/>
              <a:t>This enables the official output XMLs (MRF, CIF) to be generated using the official input XMLs.</a:t>
            </a:r>
          </a:p>
          <a:p>
            <a:pPr>
              <a:spcBef>
                <a:spcPts val="600"/>
              </a:spcBef>
            </a:pPr>
            <a:r>
              <a:rPr lang="en-US" sz="1800" dirty="0"/>
              <a:t>The result values correspond to the official results, subject to minor adjustments and additions from the testing period (see later slides).</a:t>
            </a:r>
          </a:p>
          <a:p>
            <a:pPr>
              <a:spcBef>
                <a:spcPts val="600"/>
              </a:spcBef>
            </a:pPr>
            <a:r>
              <a:rPr lang="en-US" sz="1800" dirty="0"/>
              <a:t>With this version, the Declaration Mode can also be calculated via the GUI (</a:t>
            </a:r>
            <a:r>
              <a:rPr lang="en-US" sz="1800" dirty="0" err="1"/>
              <a:t>json</a:t>
            </a:r>
            <a:r>
              <a:rPr lang="en-US" sz="1800" dirty="0"/>
              <a:t> + csv). This mode also contains some special features for the upcoming test phase (see later slides).</a:t>
            </a:r>
            <a:endParaRPr lang="en-GB" sz="1600" dirty="0"/>
          </a:p>
          <a:p>
            <a:pPr lvl="1">
              <a:spcBef>
                <a:spcPts val="600"/>
              </a:spcBef>
            </a:pPr>
            <a:endParaRPr lang="en-GB" sz="1600" dirty="0"/>
          </a:p>
          <a:p>
            <a:pPr lvl="2">
              <a:spcBef>
                <a:spcPts val="600"/>
              </a:spcBef>
            </a:pPr>
            <a:endParaRPr lang="en-GB" sz="1400" dirty="0"/>
          </a:p>
          <a:p>
            <a:pPr lvl="2">
              <a:spcBef>
                <a:spcPts val="600"/>
              </a:spcBef>
            </a:pPr>
            <a:endParaRPr lang="en-GB"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21</a:t>
            </a:fld>
            <a:endParaRPr lang="de-DE" dirty="0"/>
          </a:p>
        </p:txBody>
      </p:sp>
    </p:spTree>
    <p:extLst>
      <p:ext uri="{BB962C8B-B14F-4D97-AF65-F5344CB8AC3E}">
        <p14:creationId xmlns:p14="http://schemas.microsoft.com/office/powerpoint/2010/main" val="1654852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Declaration Mode Lorries – Overview (2/2)</a:t>
            </a:r>
          </a:p>
        </p:txBody>
      </p:sp>
      <p:sp>
        <p:nvSpPr>
          <p:cNvPr id="3" name="Inhaltsplatzhalter 2"/>
          <p:cNvSpPr>
            <a:spLocks noGrp="1"/>
          </p:cNvSpPr>
          <p:nvPr>
            <p:ph idx="1"/>
          </p:nvPr>
        </p:nvSpPr>
        <p:spPr>
          <a:xfrm>
            <a:off x="622355" y="2137413"/>
            <a:ext cx="8281366" cy="3482007"/>
          </a:xfrm>
        </p:spPr>
        <p:txBody>
          <a:bodyPr/>
          <a:lstStyle/>
          <a:p>
            <a:pPr>
              <a:spcBef>
                <a:spcPts val="600"/>
              </a:spcBef>
            </a:pPr>
            <a:r>
              <a:rPr lang="de-AT" sz="1800"/>
              <a:t>Overview new elements</a:t>
            </a:r>
          </a:p>
          <a:p>
            <a:pPr lvl="1">
              <a:spcBef>
                <a:spcPts val="300"/>
              </a:spcBef>
            </a:pPr>
            <a:r>
              <a:rPr lang="en-GB" sz="1600"/>
              <a:t>Generic parameterisation of auxiliaries </a:t>
            </a:r>
            <a:endParaRPr lang="en-US" sz="1600"/>
          </a:p>
          <a:p>
            <a:pPr lvl="1">
              <a:spcBef>
                <a:spcPts val="300"/>
              </a:spcBef>
            </a:pPr>
            <a:r>
              <a:rPr lang="en-US" sz="1600"/>
              <a:t>Generic parametrisation of P-HEV strategy including update of gear shift strategy</a:t>
            </a:r>
          </a:p>
          <a:p>
            <a:pPr lvl="1">
              <a:spcBef>
                <a:spcPts val="300"/>
              </a:spcBef>
            </a:pPr>
            <a:r>
              <a:rPr lang="en-US" sz="1600"/>
              <a:t>Generic parametrisation of S-HEV strategy</a:t>
            </a:r>
          </a:p>
          <a:p>
            <a:pPr lvl="1">
              <a:spcBef>
                <a:spcPts val="300"/>
              </a:spcBef>
            </a:pPr>
            <a:r>
              <a:rPr lang="en-US" sz="1600"/>
              <a:t>Generic parametrisation of usable SOC range</a:t>
            </a:r>
          </a:p>
          <a:p>
            <a:pPr lvl="1">
              <a:spcBef>
                <a:spcPts val="300"/>
              </a:spcBef>
            </a:pPr>
            <a:r>
              <a:rPr lang="fr-FR" sz="1600"/>
              <a:t>Separate approach for „Charge depleting mode“ simulation</a:t>
            </a:r>
          </a:p>
          <a:p>
            <a:pPr lvl="1">
              <a:spcBef>
                <a:spcPts val="300"/>
              </a:spcBef>
            </a:pPr>
            <a:r>
              <a:rPr lang="en-US" sz="1600"/>
              <a:t>Calculation of energy consumption at “battery terminals” considering battery charging losses during external charging</a:t>
            </a:r>
          </a:p>
          <a:p>
            <a:pPr lvl="1">
              <a:spcBef>
                <a:spcPts val="300"/>
              </a:spcBef>
            </a:pPr>
            <a:r>
              <a:rPr lang="en-US" sz="1600"/>
              <a:t>Range calculations</a:t>
            </a:r>
          </a:p>
          <a:p>
            <a:pPr lvl="1">
              <a:spcBef>
                <a:spcPts val="300"/>
              </a:spcBef>
            </a:pPr>
            <a:r>
              <a:rPr lang="en-US" sz="1600"/>
              <a:t>Automation of the various simulation runs necessary for PHEVs plus post processing elements</a:t>
            </a:r>
          </a:p>
          <a:p>
            <a:pPr lvl="1">
              <a:spcBef>
                <a:spcPts val="300"/>
              </a:spcBef>
            </a:pPr>
            <a:r>
              <a:rPr lang="en-US" sz="1600"/>
              <a:t>Generic e-PTO cycle for PEV and S-HEV in the MUN cycle</a:t>
            </a:r>
          </a:p>
          <a:p>
            <a:pPr lvl="1">
              <a:spcBef>
                <a:spcPts val="300"/>
              </a:spcBef>
            </a:pPr>
            <a:r>
              <a:rPr lang="en-US" sz="1600"/>
              <a:t>Generation of MRF and CIF</a:t>
            </a:r>
          </a:p>
          <a:p>
            <a:pPr lvl="1">
              <a:spcBef>
                <a:spcPts val="600"/>
              </a:spcBef>
            </a:pPr>
            <a:endParaRPr lang="fr-FR" sz="1600"/>
          </a:p>
          <a:p>
            <a:pPr lvl="1">
              <a:spcBef>
                <a:spcPts val="600"/>
              </a:spcBef>
            </a:pPr>
            <a:endParaRPr lang="en-GB" sz="1600"/>
          </a:p>
          <a:p>
            <a:pPr lvl="1">
              <a:spcBef>
                <a:spcPts val="600"/>
              </a:spcBef>
            </a:pPr>
            <a:endParaRPr lang="en-GB" sz="1600"/>
          </a:p>
          <a:p>
            <a:pPr lvl="2">
              <a:spcBef>
                <a:spcPts val="600"/>
              </a:spcBef>
            </a:pPr>
            <a:endParaRPr lang="en-GB" sz="1400"/>
          </a:p>
          <a:p>
            <a:pPr lvl="2">
              <a:spcBef>
                <a:spcPts val="600"/>
              </a:spcBef>
            </a:pPr>
            <a:endParaRPr lang="en-GB" sz="1400"/>
          </a:p>
        </p:txBody>
      </p:sp>
      <p:sp>
        <p:nvSpPr>
          <p:cNvPr id="4" name="Foliennummernplatzhalter 3"/>
          <p:cNvSpPr>
            <a:spLocks noGrp="1"/>
          </p:cNvSpPr>
          <p:nvPr>
            <p:ph type="sldNum" sz="quarter" idx="12"/>
          </p:nvPr>
        </p:nvSpPr>
        <p:spPr/>
        <p:txBody>
          <a:bodyPr/>
          <a:lstStyle/>
          <a:p>
            <a:fld id="{4B64EC4D-37E3-EF42-B9AB-6337577588CB}" type="slidenum">
              <a:rPr lang="de-DE" smtClean="0"/>
              <a:t>22</a:t>
            </a:fld>
            <a:endParaRPr lang="de-DE"/>
          </a:p>
        </p:txBody>
      </p:sp>
    </p:spTree>
    <p:extLst>
      <p:ext uri="{BB962C8B-B14F-4D97-AF65-F5344CB8AC3E}">
        <p14:creationId xmlns:p14="http://schemas.microsoft.com/office/powerpoint/2010/main" val="3430927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Generic parameterisation of auxiliaries </a:t>
            </a:r>
          </a:p>
        </p:txBody>
      </p:sp>
      <p:sp>
        <p:nvSpPr>
          <p:cNvPr id="3" name="Inhaltsplatzhalter 2"/>
          <p:cNvSpPr>
            <a:spLocks noGrp="1"/>
          </p:cNvSpPr>
          <p:nvPr>
            <p:ph idx="1"/>
          </p:nvPr>
        </p:nvSpPr>
        <p:spPr>
          <a:xfrm>
            <a:off x="594900" y="1471871"/>
            <a:ext cx="8394645" cy="2841602"/>
          </a:xfrm>
        </p:spPr>
        <p:txBody>
          <a:bodyPr/>
          <a:lstStyle/>
          <a:p>
            <a:r>
              <a:rPr lang="en-US" sz="1800" dirty="0"/>
              <a:t>Basic principles of generic data used in DECL</a:t>
            </a:r>
          </a:p>
          <a:p>
            <a:pPr lvl="1"/>
            <a:r>
              <a:rPr lang="en-US" sz="1400" dirty="0"/>
              <a:t>Relevant auxiliary systems:</a:t>
            </a:r>
          </a:p>
          <a:p>
            <a:pPr lvl="2"/>
            <a:r>
              <a:rPr lang="en-US" sz="1200" dirty="0"/>
              <a:t>Pneumatic system</a:t>
            </a:r>
          </a:p>
          <a:p>
            <a:pPr lvl="2"/>
            <a:r>
              <a:rPr lang="en-US" sz="1200" dirty="0"/>
              <a:t>ICE cooling fan + conditioning power for electric propulsion components</a:t>
            </a:r>
          </a:p>
          <a:p>
            <a:pPr lvl="2"/>
            <a:r>
              <a:rPr lang="en-US" sz="1200" dirty="0"/>
              <a:t>Steering system</a:t>
            </a:r>
          </a:p>
          <a:p>
            <a:pPr lvl="2"/>
            <a:r>
              <a:rPr lang="en-US" sz="1200" dirty="0"/>
              <a:t>HVAC: for lorries only “yes/no”</a:t>
            </a:r>
          </a:p>
          <a:p>
            <a:pPr lvl="2"/>
            <a:r>
              <a:rPr lang="en-US" sz="1200" dirty="0"/>
              <a:t>Electric board net (is called “electric system”): for lorries only headlights technology (LED or standard)</a:t>
            </a:r>
            <a:br>
              <a:rPr lang="en-US" sz="1200" dirty="0"/>
            </a:br>
            <a:endParaRPr lang="en-US" sz="600" dirty="0"/>
          </a:p>
          <a:p>
            <a:pPr lvl="1"/>
            <a:r>
              <a:rPr lang="en-US" sz="1400" dirty="0"/>
              <a:t>Respective tables with generic power demand for each auxiliary system can be found in specific subfolder “Declaration\VAUX” under VECTO main path as csv-files</a:t>
            </a:r>
            <a:br>
              <a:rPr lang="en-US" sz="1400" dirty="0"/>
            </a:br>
            <a:endParaRPr lang="en-US" sz="800" dirty="0"/>
          </a:p>
          <a:p>
            <a:pPr lvl="1"/>
            <a:r>
              <a:rPr lang="en-GB" sz="1400" dirty="0"/>
              <a:t>General table structure looks as follows:</a:t>
            </a:r>
          </a:p>
        </p:txBody>
      </p:sp>
      <p:sp>
        <p:nvSpPr>
          <p:cNvPr id="4" name="Foliennummernplatzhalter 3"/>
          <p:cNvSpPr>
            <a:spLocks noGrp="1"/>
          </p:cNvSpPr>
          <p:nvPr>
            <p:ph type="sldNum" sz="quarter" idx="12"/>
          </p:nvPr>
        </p:nvSpPr>
        <p:spPr/>
        <p:txBody>
          <a:bodyPr/>
          <a:lstStyle/>
          <a:p>
            <a:fld id="{4B64EC4D-37E3-EF42-B9AB-6337577588CB}" type="slidenum">
              <a:rPr lang="de-DE" smtClean="0"/>
              <a:t>23</a:t>
            </a:fld>
            <a:endParaRPr lang="de-DE"/>
          </a:p>
        </p:txBody>
      </p:sp>
      <p:graphicFrame>
        <p:nvGraphicFramePr>
          <p:cNvPr id="6" name="Tabelle 5"/>
          <p:cNvGraphicFramePr>
            <a:graphicFrameLocks noGrp="1"/>
          </p:cNvGraphicFramePr>
          <p:nvPr/>
        </p:nvGraphicFramePr>
        <p:xfrm>
          <a:off x="858719" y="5253659"/>
          <a:ext cx="8158280" cy="731520"/>
        </p:xfrm>
        <a:graphic>
          <a:graphicData uri="http://schemas.openxmlformats.org/drawingml/2006/table">
            <a:tbl>
              <a:tblPr>
                <a:tableStyleId>{5C22544A-7EE6-4342-B048-85BDC9FD1C3A}</a:tableStyleId>
              </a:tblPr>
              <a:tblGrid>
                <a:gridCol w="1680518">
                  <a:extLst>
                    <a:ext uri="{9D8B030D-6E8A-4147-A177-3AD203B41FA5}">
                      <a16:colId xmlns:a16="http://schemas.microsoft.com/office/drawing/2014/main" val="2708968632"/>
                    </a:ext>
                  </a:extLst>
                </a:gridCol>
                <a:gridCol w="753762">
                  <a:extLst>
                    <a:ext uri="{9D8B030D-6E8A-4147-A177-3AD203B41FA5}">
                      <a16:colId xmlns:a16="http://schemas.microsoft.com/office/drawing/2014/main" val="2329139440"/>
                    </a:ext>
                  </a:extLst>
                </a:gridCol>
                <a:gridCol w="468000">
                  <a:extLst>
                    <a:ext uri="{9D8B030D-6E8A-4147-A177-3AD203B41FA5}">
                      <a16:colId xmlns:a16="http://schemas.microsoft.com/office/drawing/2014/main" val="1079992728"/>
                    </a:ext>
                  </a:extLst>
                </a:gridCol>
                <a:gridCol w="468000">
                  <a:extLst>
                    <a:ext uri="{9D8B030D-6E8A-4147-A177-3AD203B41FA5}">
                      <a16:colId xmlns:a16="http://schemas.microsoft.com/office/drawing/2014/main" val="2677453291"/>
                    </a:ext>
                  </a:extLst>
                </a:gridCol>
                <a:gridCol w="468000">
                  <a:extLst>
                    <a:ext uri="{9D8B030D-6E8A-4147-A177-3AD203B41FA5}">
                      <a16:colId xmlns:a16="http://schemas.microsoft.com/office/drawing/2014/main" val="3530008801"/>
                    </a:ext>
                  </a:extLst>
                </a:gridCol>
                <a:gridCol w="720000">
                  <a:extLst>
                    <a:ext uri="{9D8B030D-6E8A-4147-A177-3AD203B41FA5}">
                      <a16:colId xmlns:a16="http://schemas.microsoft.com/office/drawing/2014/main" val="2408429903"/>
                    </a:ext>
                  </a:extLst>
                </a:gridCol>
                <a:gridCol w="720000">
                  <a:extLst>
                    <a:ext uri="{9D8B030D-6E8A-4147-A177-3AD203B41FA5}">
                      <a16:colId xmlns:a16="http://schemas.microsoft.com/office/drawing/2014/main" val="3710519613"/>
                    </a:ext>
                  </a:extLst>
                </a:gridCol>
                <a:gridCol w="720000">
                  <a:extLst>
                    <a:ext uri="{9D8B030D-6E8A-4147-A177-3AD203B41FA5}">
                      <a16:colId xmlns:a16="http://schemas.microsoft.com/office/drawing/2014/main" val="3392582189"/>
                    </a:ext>
                  </a:extLst>
                </a:gridCol>
                <a:gridCol w="720000">
                  <a:extLst>
                    <a:ext uri="{9D8B030D-6E8A-4147-A177-3AD203B41FA5}">
                      <a16:colId xmlns:a16="http://schemas.microsoft.com/office/drawing/2014/main" val="1550305414"/>
                    </a:ext>
                  </a:extLst>
                </a:gridCol>
                <a:gridCol w="720000">
                  <a:extLst>
                    <a:ext uri="{9D8B030D-6E8A-4147-A177-3AD203B41FA5}">
                      <a16:colId xmlns:a16="http://schemas.microsoft.com/office/drawing/2014/main" val="2137604710"/>
                    </a:ext>
                  </a:extLst>
                </a:gridCol>
                <a:gridCol w="720000">
                  <a:extLst>
                    <a:ext uri="{9D8B030D-6E8A-4147-A177-3AD203B41FA5}">
                      <a16:colId xmlns:a16="http://schemas.microsoft.com/office/drawing/2014/main" val="2879809701"/>
                    </a:ext>
                  </a:extLst>
                </a:gridCol>
              </a:tblGrid>
              <a:tr h="106712">
                <a:tc>
                  <a:txBody>
                    <a:bodyPr/>
                    <a:lstStyle/>
                    <a:p>
                      <a:pPr algn="ctr" fontAlgn="b"/>
                      <a:r>
                        <a:rPr lang="de-AT" sz="800" b="1" u="none" strike="noStrike" dirty="0">
                          <a:effectLst/>
                        </a:rPr>
                        <a:t>Technology                             </a:t>
                      </a:r>
                      <a:endParaRPr lang="de-AT" sz="8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dirty="0" err="1">
                          <a:effectLst/>
                        </a:rPr>
                        <a:t>conventional</a:t>
                      </a:r>
                      <a:endParaRPr lang="de-AT" sz="8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P-HEV</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S-HEV</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PEV</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fully electric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Long haul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Regional delivery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Urban delivery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Municipal utility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dirty="0">
                          <a:effectLst/>
                        </a:rPr>
                        <a:t> </a:t>
                      </a:r>
                      <a:r>
                        <a:rPr lang="de-AT" sz="800" b="1" u="none" strike="noStrike" dirty="0" err="1">
                          <a:effectLst/>
                        </a:rPr>
                        <a:t>Construction</a:t>
                      </a:r>
                      <a:r>
                        <a:rPr lang="de-AT" sz="800" b="1" u="none" strike="noStrike" dirty="0">
                          <a:effectLst/>
                        </a:rPr>
                        <a:t> </a:t>
                      </a:r>
                      <a:endParaRPr lang="de-AT" sz="8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71874194"/>
                  </a:ext>
                </a:extLst>
              </a:tr>
              <a:tr h="106712">
                <a:tc>
                  <a:txBody>
                    <a:bodyPr/>
                    <a:lstStyle/>
                    <a:p>
                      <a:pPr algn="l" fontAlgn="b"/>
                      <a:r>
                        <a:rPr lang="en-US" sz="800" u="none" strike="noStrike" dirty="0">
                          <a:effectLst/>
                        </a:rPr>
                        <a:t>Tech #1</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09989297"/>
                  </a:ext>
                </a:extLst>
              </a:tr>
              <a:tr h="106712">
                <a:tc>
                  <a:txBody>
                    <a:bodyPr/>
                    <a:lstStyle/>
                    <a:p>
                      <a:pPr algn="l" fontAlgn="b"/>
                      <a:r>
                        <a:rPr kumimoji="0" lang="en-US" sz="800" b="0" i="0" u="none" strike="noStrike" kern="1200" cap="none" spc="0" normalizeH="0" baseline="0" noProof="0" dirty="0">
                          <a:ln>
                            <a:noFill/>
                          </a:ln>
                          <a:solidFill>
                            <a:prstClr val="black"/>
                          </a:solidFill>
                          <a:effectLst/>
                          <a:uLnTx/>
                          <a:uFillTx/>
                          <a:latin typeface="Arial"/>
                          <a:ea typeface="+mn-ea"/>
                          <a:cs typeface="+mn-cs"/>
                        </a:rPr>
                        <a:t>Tech #2</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17672420"/>
                  </a:ext>
                </a:extLst>
              </a:tr>
              <a:tr h="106712">
                <a:tc>
                  <a:txBody>
                    <a:bodyPr/>
                    <a:lstStyle/>
                    <a:p>
                      <a:pPr algn="l" fontAlgn="b"/>
                      <a:r>
                        <a:rPr kumimoji="0" lang="en-US" sz="800" b="0" i="0" u="none" strike="noStrike" kern="1200" cap="none" spc="0" normalizeH="0" baseline="0" noProof="0" dirty="0">
                          <a:ln>
                            <a:noFill/>
                          </a:ln>
                          <a:solidFill>
                            <a:prstClr val="black"/>
                          </a:solidFill>
                          <a:effectLst/>
                          <a:uLnTx/>
                          <a:uFillTx/>
                          <a:latin typeface="Arial"/>
                          <a:ea typeface="+mn-ea"/>
                          <a:cs typeface="+mn-cs"/>
                        </a:rPr>
                        <a:t>Tech #3</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38929813"/>
                  </a:ext>
                </a:extLst>
              </a:tr>
              <a:tr h="106712">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Tech #...</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98671949"/>
                  </a:ext>
                </a:extLst>
              </a:tr>
            </a:tbl>
          </a:graphicData>
        </a:graphic>
      </p:graphicFrame>
      <p:sp>
        <p:nvSpPr>
          <p:cNvPr id="8" name="Geschweifte Klammer rechts 7"/>
          <p:cNvSpPr/>
          <p:nvPr/>
        </p:nvSpPr>
        <p:spPr>
          <a:xfrm rot="16200000">
            <a:off x="3506231" y="4126102"/>
            <a:ext cx="166817" cy="211300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9" name="Textfeld 8"/>
          <p:cNvSpPr txBox="1"/>
          <p:nvPr/>
        </p:nvSpPr>
        <p:spPr>
          <a:xfrm>
            <a:off x="4429557" y="4366944"/>
            <a:ext cx="1259012" cy="646331"/>
          </a:xfrm>
          <a:prstGeom prst="rect">
            <a:avLst/>
          </a:prstGeom>
          <a:noFill/>
        </p:spPr>
        <p:txBody>
          <a:bodyPr wrap="square" rtlCol="0">
            <a:spAutoFit/>
          </a:bodyPr>
          <a:lstStyle/>
          <a:p>
            <a:pPr algn="ctr" fontAlgn="b"/>
            <a:r>
              <a:rPr lang="de-AT" sz="900" b="1" dirty="0" err="1">
                <a:solidFill>
                  <a:srgbClr val="CC0000"/>
                </a:solidFill>
              </a:rPr>
              <a:t>can</a:t>
            </a:r>
            <a:r>
              <a:rPr lang="de-AT" sz="900" b="1" dirty="0">
                <a:solidFill>
                  <a:srgbClr val="CC0000"/>
                </a:solidFill>
              </a:rPr>
              <a:t> </a:t>
            </a:r>
            <a:r>
              <a:rPr lang="de-AT" sz="900" b="1" dirty="0" err="1">
                <a:solidFill>
                  <a:srgbClr val="CC0000"/>
                </a:solidFill>
              </a:rPr>
              <a:t>be</a:t>
            </a:r>
            <a:r>
              <a:rPr lang="de-AT" sz="900" b="1" dirty="0">
                <a:solidFill>
                  <a:srgbClr val="CC0000"/>
                </a:solidFill>
              </a:rPr>
              <a:t> </a:t>
            </a:r>
            <a:r>
              <a:rPr lang="de-AT" sz="900" b="1" dirty="0" err="1">
                <a:solidFill>
                  <a:srgbClr val="CC0000"/>
                </a:solidFill>
              </a:rPr>
              <a:t>directly</a:t>
            </a:r>
            <a:r>
              <a:rPr lang="de-AT" sz="900" b="1" dirty="0">
                <a:solidFill>
                  <a:srgbClr val="CC0000"/>
                </a:solidFill>
              </a:rPr>
              <a:t> </a:t>
            </a:r>
            <a:r>
              <a:rPr lang="de-AT" sz="900" b="1" dirty="0" err="1">
                <a:solidFill>
                  <a:srgbClr val="CC0000"/>
                </a:solidFill>
              </a:rPr>
              <a:t>supplied</a:t>
            </a:r>
            <a:r>
              <a:rPr lang="de-AT" sz="900" b="1" dirty="0">
                <a:solidFill>
                  <a:srgbClr val="CC0000"/>
                </a:solidFill>
              </a:rPr>
              <a:t> </a:t>
            </a:r>
            <a:r>
              <a:rPr lang="de-AT" sz="900" b="1" dirty="0" err="1">
                <a:solidFill>
                  <a:srgbClr val="CC0000"/>
                </a:solidFill>
              </a:rPr>
              <a:t>by</a:t>
            </a:r>
            <a:r>
              <a:rPr lang="de-AT" sz="900" b="1" dirty="0">
                <a:solidFill>
                  <a:srgbClr val="CC0000"/>
                </a:solidFill>
              </a:rPr>
              <a:t> REESS </a:t>
            </a:r>
            <a:r>
              <a:rPr lang="de-AT" sz="900" b="1" dirty="0" err="1">
                <a:solidFill>
                  <a:srgbClr val="CC0000"/>
                </a:solidFill>
              </a:rPr>
              <a:t>if</a:t>
            </a:r>
            <a:r>
              <a:rPr lang="de-AT" sz="900" b="1" dirty="0">
                <a:solidFill>
                  <a:srgbClr val="CC0000"/>
                </a:solidFill>
              </a:rPr>
              <a:t> </a:t>
            </a:r>
            <a:r>
              <a:rPr lang="de-AT" sz="900" b="1" dirty="0" err="1">
                <a:solidFill>
                  <a:srgbClr val="CC0000"/>
                </a:solidFill>
              </a:rPr>
              <a:t>present</a:t>
            </a:r>
            <a:br>
              <a:rPr lang="de-AT" sz="900" b="1" dirty="0">
                <a:solidFill>
                  <a:srgbClr val="CC0000"/>
                </a:solidFill>
              </a:rPr>
            </a:br>
            <a:r>
              <a:rPr lang="de-AT" sz="900" b="1" dirty="0">
                <a:solidFill>
                  <a:srgbClr val="CC0000"/>
                </a:solidFill>
              </a:rPr>
              <a:t>(</a:t>
            </a:r>
            <a:r>
              <a:rPr lang="de-AT" sz="900" b="1" dirty="0" err="1">
                <a:solidFill>
                  <a:srgbClr val="CC0000"/>
                </a:solidFill>
              </a:rPr>
              <a:t>indicated</a:t>
            </a:r>
            <a:r>
              <a:rPr lang="de-AT" sz="900" b="1" dirty="0">
                <a:solidFill>
                  <a:srgbClr val="CC0000"/>
                </a:solidFill>
              </a:rPr>
              <a:t> </a:t>
            </a:r>
            <a:r>
              <a:rPr lang="de-AT" sz="900" b="1" dirty="0" err="1">
                <a:solidFill>
                  <a:srgbClr val="CC0000"/>
                </a:solidFill>
              </a:rPr>
              <a:t>with</a:t>
            </a:r>
            <a:r>
              <a:rPr lang="de-AT" sz="900" b="1" dirty="0">
                <a:solidFill>
                  <a:srgbClr val="CC0000"/>
                </a:solidFill>
              </a:rPr>
              <a:t> 0/1)</a:t>
            </a:r>
          </a:p>
        </p:txBody>
      </p:sp>
      <p:sp>
        <p:nvSpPr>
          <p:cNvPr id="10" name="Textfeld 9"/>
          <p:cNvSpPr txBox="1"/>
          <p:nvPr/>
        </p:nvSpPr>
        <p:spPr>
          <a:xfrm>
            <a:off x="6245647" y="4583511"/>
            <a:ext cx="1970235" cy="400110"/>
          </a:xfrm>
          <a:prstGeom prst="rect">
            <a:avLst/>
          </a:prstGeom>
          <a:noFill/>
        </p:spPr>
        <p:txBody>
          <a:bodyPr wrap="square" rtlCol="0">
            <a:spAutoFit/>
          </a:bodyPr>
          <a:lstStyle/>
          <a:p>
            <a:pPr algn="ctr" fontAlgn="b"/>
            <a:r>
              <a:rPr lang="en-US" sz="1000" b="1" dirty="0">
                <a:solidFill>
                  <a:srgbClr val="CC0000"/>
                </a:solidFill>
              </a:rPr>
              <a:t>cycle specific </a:t>
            </a:r>
            <a:r>
              <a:rPr lang="en-US" sz="1000" b="1" u="sng" dirty="0">
                <a:solidFill>
                  <a:srgbClr val="CC0000"/>
                </a:solidFill>
              </a:rPr>
              <a:t>mechanical</a:t>
            </a:r>
            <a:r>
              <a:rPr lang="en-US" sz="1000" b="1" dirty="0">
                <a:solidFill>
                  <a:srgbClr val="CC0000"/>
                </a:solidFill>
              </a:rPr>
              <a:t> power demand [W]</a:t>
            </a:r>
            <a:endParaRPr lang="de-AT" sz="1000" b="1" dirty="0">
              <a:solidFill>
                <a:srgbClr val="CC0000"/>
              </a:solidFill>
            </a:endParaRPr>
          </a:p>
        </p:txBody>
      </p:sp>
      <p:sp>
        <p:nvSpPr>
          <p:cNvPr id="11" name="Geschweifte Klammer rechts 10"/>
          <p:cNvSpPr/>
          <p:nvPr/>
        </p:nvSpPr>
        <p:spPr>
          <a:xfrm rot="16200000">
            <a:off x="7147357" y="3423825"/>
            <a:ext cx="166817" cy="351755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2" name="Geschweifte Klammer rechts 11"/>
          <p:cNvSpPr/>
          <p:nvPr/>
        </p:nvSpPr>
        <p:spPr>
          <a:xfrm rot="16200000">
            <a:off x="4975656" y="4812934"/>
            <a:ext cx="166817" cy="7393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3" name="Textfeld 12"/>
          <p:cNvSpPr txBox="1"/>
          <p:nvPr/>
        </p:nvSpPr>
        <p:spPr>
          <a:xfrm>
            <a:off x="2426385" y="4621853"/>
            <a:ext cx="2003172" cy="400110"/>
          </a:xfrm>
          <a:prstGeom prst="rect">
            <a:avLst/>
          </a:prstGeom>
          <a:noFill/>
        </p:spPr>
        <p:txBody>
          <a:bodyPr wrap="square" rtlCol="0">
            <a:spAutoFit/>
          </a:bodyPr>
          <a:lstStyle/>
          <a:p>
            <a:pPr algn="ctr" fontAlgn="b"/>
            <a:r>
              <a:rPr lang="de-AT" sz="1000" b="1" dirty="0" err="1">
                <a:solidFill>
                  <a:srgbClr val="CC0000"/>
                </a:solidFill>
              </a:rPr>
              <a:t>applicability</a:t>
            </a:r>
            <a:r>
              <a:rPr lang="de-AT" sz="1000" b="1" dirty="0">
                <a:solidFill>
                  <a:srgbClr val="CC0000"/>
                </a:solidFill>
              </a:rPr>
              <a:t> </a:t>
            </a:r>
            <a:r>
              <a:rPr lang="de-AT" sz="1000" b="1" dirty="0" err="1">
                <a:solidFill>
                  <a:srgbClr val="CC0000"/>
                </a:solidFill>
              </a:rPr>
              <a:t>for</a:t>
            </a:r>
            <a:r>
              <a:rPr lang="de-AT" sz="1000" b="1" dirty="0">
                <a:solidFill>
                  <a:srgbClr val="CC0000"/>
                </a:solidFill>
              </a:rPr>
              <a:t> </a:t>
            </a:r>
            <a:r>
              <a:rPr lang="de-AT" sz="1000" b="1" dirty="0" err="1">
                <a:solidFill>
                  <a:srgbClr val="CC0000"/>
                </a:solidFill>
              </a:rPr>
              <a:t>architecture</a:t>
            </a:r>
            <a:br>
              <a:rPr lang="de-AT" sz="1000" b="1" dirty="0">
                <a:solidFill>
                  <a:srgbClr val="CC0000"/>
                </a:solidFill>
              </a:rPr>
            </a:br>
            <a:r>
              <a:rPr lang="de-AT" sz="1000" b="1" dirty="0">
                <a:solidFill>
                  <a:srgbClr val="CC0000"/>
                </a:solidFill>
              </a:rPr>
              <a:t>(</a:t>
            </a:r>
            <a:r>
              <a:rPr lang="de-AT" sz="1000" b="1" dirty="0" err="1">
                <a:solidFill>
                  <a:srgbClr val="CC0000"/>
                </a:solidFill>
              </a:rPr>
              <a:t>indicated</a:t>
            </a:r>
            <a:r>
              <a:rPr lang="de-AT" sz="1000" b="1" dirty="0">
                <a:solidFill>
                  <a:srgbClr val="CC0000"/>
                </a:solidFill>
              </a:rPr>
              <a:t> </a:t>
            </a:r>
            <a:r>
              <a:rPr lang="de-AT" sz="1000" b="1" dirty="0" err="1">
                <a:solidFill>
                  <a:srgbClr val="CC0000"/>
                </a:solidFill>
              </a:rPr>
              <a:t>with</a:t>
            </a:r>
            <a:r>
              <a:rPr lang="de-AT" sz="1000" b="1" dirty="0">
                <a:solidFill>
                  <a:srgbClr val="CC0000"/>
                </a:solidFill>
              </a:rPr>
              <a:t> 0/1)</a:t>
            </a:r>
          </a:p>
        </p:txBody>
      </p:sp>
    </p:spTree>
    <p:extLst>
      <p:ext uri="{BB962C8B-B14F-4D97-AF65-F5344CB8AC3E}">
        <p14:creationId xmlns:p14="http://schemas.microsoft.com/office/powerpoint/2010/main" val="2386279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Generic parameterisation of auxiliaries </a:t>
            </a:r>
          </a:p>
        </p:txBody>
      </p:sp>
      <p:sp>
        <p:nvSpPr>
          <p:cNvPr id="3" name="Inhaltsplatzhalter 2"/>
          <p:cNvSpPr>
            <a:spLocks noGrp="1"/>
          </p:cNvSpPr>
          <p:nvPr>
            <p:ph idx="1"/>
          </p:nvPr>
        </p:nvSpPr>
        <p:spPr>
          <a:xfrm>
            <a:off x="622355" y="2137413"/>
            <a:ext cx="8394645" cy="2841602"/>
          </a:xfrm>
        </p:spPr>
        <p:txBody>
          <a:bodyPr/>
          <a:lstStyle/>
          <a:p>
            <a:r>
              <a:rPr lang="en-US" sz="1800" dirty="0"/>
              <a:t>Basic principles of generic data used in DECL</a:t>
            </a:r>
          </a:p>
          <a:p>
            <a:pPr lvl="1"/>
            <a:r>
              <a:rPr lang="de-AT" sz="1400" dirty="0"/>
              <a:t>Details </a:t>
            </a:r>
            <a:r>
              <a:rPr lang="de-AT" sz="1400" dirty="0" err="1"/>
              <a:t>of</a:t>
            </a:r>
            <a:r>
              <a:rPr lang="de-AT" sz="1400" dirty="0"/>
              <a:t> </a:t>
            </a:r>
            <a:r>
              <a:rPr lang="de-AT" sz="1400" dirty="0" err="1"/>
              <a:t>application</a:t>
            </a:r>
            <a:r>
              <a:rPr lang="de-AT" sz="1400" dirty="0"/>
              <a:t> in DECL:</a:t>
            </a:r>
          </a:p>
          <a:p>
            <a:pPr lvl="2"/>
            <a:r>
              <a:rPr lang="en-US" sz="1200" b="1" u="sng" dirty="0"/>
              <a:t>For all HEV:</a:t>
            </a:r>
            <a:r>
              <a:rPr lang="en-US" sz="1200" dirty="0"/>
              <a:t> "fully electric" technology is connected to REESS</a:t>
            </a:r>
            <a:br>
              <a:rPr lang="en-US" sz="1200" dirty="0"/>
            </a:br>
            <a:r>
              <a:rPr lang="en-US" sz="1200" dirty="0">
                <a:sym typeface="Wingdings" panose="05000000000000000000" pitchFamily="2" charset="2"/>
              </a:rPr>
              <a:t> mechanical power (i.e. respective alternator drive power) is </a:t>
            </a:r>
            <a:r>
              <a:rPr lang="en-US" sz="1200" dirty="0"/>
              <a:t>converted to electric power with generic alternator efficiency of 0.7 used consistently throughout whole VECTO auxiliary approach</a:t>
            </a:r>
            <a:br>
              <a:rPr lang="en-US" sz="1200" dirty="0"/>
            </a:br>
            <a:r>
              <a:rPr lang="en-US" sz="1200" dirty="0"/>
              <a:t>(i.e. mechanical power from table is multiplied by 0.7 and therefore reduced)</a:t>
            </a:r>
            <a:br>
              <a:rPr lang="en-US" sz="1200" dirty="0"/>
            </a:br>
            <a:endParaRPr lang="en-US" sz="1200" dirty="0"/>
          </a:p>
          <a:p>
            <a:pPr lvl="2"/>
            <a:r>
              <a:rPr lang="en-GB" sz="1200" b="1" u="sng" dirty="0"/>
              <a:t>For all PEV:</a:t>
            </a:r>
            <a:r>
              <a:rPr lang="en-GB" sz="1200" dirty="0"/>
              <a:t> only </a:t>
            </a:r>
            <a:r>
              <a:rPr lang="en-US" sz="1200" dirty="0"/>
              <a:t>"fully electric" technology can be declared (acc. to Annex specifications as well)</a:t>
            </a:r>
            <a:br>
              <a:rPr lang="en-US" sz="1200" dirty="0"/>
            </a:br>
            <a:r>
              <a:rPr lang="en-US" sz="1200" dirty="0">
                <a:sym typeface="Wingdings" panose="05000000000000000000" pitchFamily="2" charset="2"/>
              </a:rPr>
              <a:t> same principle of conversion from mechanical to electrical power (as explained above applies)</a:t>
            </a:r>
            <a:endParaRPr lang="en-GB" sz="1200" dirty="0"/>
          </a:p>
        </p:txBody>
      </p:sp>
      <p:sp>
        <p:nvSpPr>
          <p:cNvPr id="4" name="Foliennummernplatzhalter 3"/>
          <p:cNvSpPr>
            <a:spLocks noGrp="1"/>
          </p:cNvSpPr>
          <p:nvPr>
            <p:ph type="sldNum" sz="quarter" idx="12"/>
          </p:nvPr>
        </p:nvSpPr>
        <p:spPr/>
        <p:txBody>
          <a:bodyPr/>
          <a:lstStyle/>
          <a:p>
            <a:fld id="{4B64EC4D-37E3-EF42-B9AB-6337577588CB}" type="slidenum">
              <a:rPr lang="de-DE" smtClean="0"/>
              <a:t>24</a:t>
            </a:fld>
            <a:endParaRPr lang="de-DE"/>
          </a:p>
        </p:txBody>
      </p:sp>
      <p:graphicFrame>
        <p:nvGraphicFramePr>
          <p:cNvPr id="6" name="Tabelle 5"/>
          <p:cNvGraphicFramePr>
            <a:graphicFrameLocks noGrp="1"/>
          </p:cNvGraphicFramePr>
          <p:nvPr/>
        </p:nvGraphicFramePr>
        <p:xfrm>
          <a:off x="858719" y="5253659"/>
          <a:ext cx="8158280" cy="731520"/>
        </p:xfrm>
        <a:graphic>
          <a:graphicData uri="http://schemas.openxmlformats.org/drawingml/2006/table">
            <a:tbl>
              <a:tblPr>
                <a:tableStyleId>{5C22544A-7EE6-4342-B048-85BDC9FD1C3A}</a:tableStyleId>
              </a:tblPr>
              <a:tblGrid>
                <a:gridCol w="1680518">
                  <a:extLst>
                    <a:ext uri="{9D8B030D-6E8A-4147-A177-3AD203B41FA5}">
                      <a16:colId xmlns:a16="http://schemas.microsoft.com/office/drawing/2014/main" val="2708968632"/>
                    </a:ext>
                  </a:extLst>
                </a:gridCol>
                <a:gridCol w="753762">
                  <a:extLst>
                    <a:ext uri="{9D8B030D-6E8A-4147-A177-3AD203B41FA5}">
                      <a16:colId xmlns:a16="http://schemas.microsoft.com/office/drawing/2014/main" val="2329139440"/>
                    </a:ext>
                  </a:extLst>
                </a:gridCol>
                <a:gridCol w="468000">
                  <a:extLst>
                    <a:ext uri="{9D8B030D-6E8A-4147-A177-3AD203B41FA5}">
                      <a16:colId xmlns:a16="http://schemas.microsoft.com/office/drawing/2014/main" val="1079992728"/>
                    </a:ext>
                  </a:extLst>
                </a:gridCol>
                <a:gridCol w="468000">
                  <a:extLst>
                    <a:ext uri="{9D8B030D-6E8A-4147-A177-3AD203B41FA5}">
                      <a16:colId xmlns:a16="http://schemas.microsoft.com/office/drawing/2014/main" val="2677453291"/>
                    </a:ext>
                  </a:extLst>
                </a:gridCol>
                <a:gridCol w="468000">
                  <a:extLst>
                    <a:ext uri="{9D8B030D-6E8A-4147-A177-3AD203B41FA5}">
                      <a16:colId xmlns:a16="http://schemas.microsoft.com/office/drawing/2014/main" val="3530008801"/>
                    </a:ext>
                  </a:extLst>
                </a:gridCol>
                <a:gridCol w="720000">
                  <a:extLst>
                    <a:ext uri="{9D8B030D-6E8A-4147-A177-3AD203B41FA5}">
                      <a16:colId xmlns:a16="http://schemas.microsoft.com/office/drawing/2014/main" val="2408429903"/>
                    </a:ext>
                  </a:extLst>
                </a:gridCol>
                <a:gridCol w="720000">
                  <a:extLst>
                    <a:ext uri="{9D8B030D-6E8A-4147-A177-3AD203B41FA5}">
                      <a16:colId xmlns:a16="http://schemas.microsoft.com/office/drawing/2014/main" val="3710519613"/>
                    </a:ext>
                  </a:extLst>
                </a:gridCol>
                <a:gridCol w="720000">
                  <a:extLst>
                    <a:ext uri="{9D8B030D-6E8A-4147-A177-3AD203B41FA5}">
                      <a16:colId xmlns:a16="http://schemas.microsoft.com/office/drawing/2014/main" val="3392582189"/>
                    </a:ext>
                  </a:extLst>
                </a:gridCol>
                <a:gridCol w="720000">
                  <a:extLst>
                    <a:ext uri="{9D8B030D-6E8A-4147-A177-3AD203B41FA5}">
                      <a16:colId xmlns:a16="http://schemas.microsoft.com/office/drawing/2014/main" val="1550305414"/>
                    </a:ext>
                  </a:extLst>
                </a:gridCol>
                <a:gridCol w="720000">
                  <a:extLst>
                    <a:ext uri="{9D8B030D-6E8A-4147-A177-3AD203B41FA5}">
                      <a16:colId xmlns:a16="http://schemas.microsoft.com/office/drawing/2014/main" val="2137604710"/>
                    </a:ext>
                  </a:extLst>
                </a:gridCol>
                <a:gridCol w="720000">
                  <a:extLst>
                    <a:ext uri="{9D8B030D-6E8A-4147-A177-3AD203B41FA5}">
                      <a16:colId xmlns:a16="http://schemas.microsoft.com/office/drawing/2014/main" val="2879809701"/>
                    </a:ext>
                  </a:extLst>
                </a:gridCol>
              </a:tblGrid>
              <a:tr h="106712">
                <a:tc>
                  <a:txBody>
                    <a:bodyPr/>
                    <a:lstStyle/>
                    <a:p>
                      <a:pPr algn="ctr" fontAlgn="b"/>
                      <a:r>
                        <a:rPr lang="de-AT" sz="800" b="1" u="none" strike="noStrike" dirty="0">
                          <a:effectLst/>
                        </a:rPr>
                        <a:t>Technology                             </a:t>
                      </a:r>
                      <a:endParaRPr lang="de-AT" sz="8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dirty="0" err="1">
                          <a:effectLst/>
                        </a:rPr>
                        <a:t>conventional</a:t>
                      </a:r>
                      <a:endParaRPr lang="de-AT" sz="800" b="1"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P-HEV</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S-HEV</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PEV</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fully electric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Long haul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Regional delivery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Urban delivery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a:effectLst/>
                        </a:rPr>
                        <a:t> Municipal utility </a:t>
                      </a:r>
                      <a:endParaRPr lang="de-AT" sz="8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800" b="1" u="none" strike="noStrike" dirty="0">
                          <a:effectLst/>
                        </a:rPr>
                        <a:t> </a:t>
                      </a:r>
                      <a:r>
                        <a:rPr lang="de-AT" sz="800" b="1" u="none" strike="noStrike" dirty="0" err="1">
                          <a:effectLst/>
                        </a:rPr>
                        <a:t>Construction</a:t>
                      </a:r>
                      <a:r>
                        <a:rPr lang="de-AT" sz="800" b="1" u="none" strike="noStrike" dirty="0">
                          <a:effectLst/>
                        </a:rPr>
                        <a:t> </a:t>
                      </a:r>
                      <a:endParaRPr lang="de-AT" sz="8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71874194"/>
                  </a:ext>
                </a:extLst>
              </a:tr>
              <a:tr h="106712">
                <a:tc>
                  <a:txBody>
                    <a:bodyPr/>
                    <a:lstStyle/>
                    <a:p>
                      <a:pPr algn="l" fontAlgn="b"/>
                      <a:r>
                        <a:rPr lang="en-US" sz="800" u="none" strike="noStrike" dirty="0">
                          <a:effectLst/>
                        </a:rPr>
                        <a:t>Tech #1</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09989297"/>
                  </a:ext>
                </a:extLst>
              </a:tr>
              <a:tr h="106712">
                <a:tc>
                  <a:txBody>
                    <a:bodyPr/>
                    <a:lstStyle/>
                    <a:p>
                      <a:pPr algn="l" fontAlgn="b"/>
                      <a:r>
                        <a:rPr kumimoji="0" lang="en-US" sz="800" b="0" i="0" u="none" strike="noStrike" kern="1200" cap="none" spc="0" normalizeH="0" baseline="0" noProof="0" dirty="0">
                          <a:ln>
                            <a:noFill/>
                          </a:ln>
                          <a:solidFill>
                            <a:prstClr val="black"/>
                          </a:solidFill>
                          <a:effectLst/>
                          <a:uLnTx/>
                          <a:uFillTx/>
                          <a:latin typeface="Arial"/>
                          <a:ea typeface="+mn-ea"/>
                          <a:cs typeface="+mn-cs"/>
                        </a:rPr>
                        <a:t>Tech #2</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17672420"/>
                  </a:ext>
                </a:extLst>
              </a:tr>
              <a:tr h="106712">
                <a:tc>
                  <a:txBody>
                    <a:bodyPr/>
                    <a:lstStyle/>
                    <a:p>
                      <a:pPr algn="l" fontAlgn="b"/>
                      <a:r>
                        <a:rPr kumimoji="0" lang="en-US" sz="800" b="0" i="0" u="none" strike="noStrike" kern="1200" cap="none" spc="0" normalizeH="0" baseline="0" noProof="0" dirty="0">
                          <a:ln>
                            <a:noFill/>
                          </a:ln>
                          <a:solidFill>
                            <a:prstClr val="black"/>
                          </a:solidFill>
                          <a:effectLst/>
                          <a:uLnTx/>
                          <a:uFillTx/>
                          <a:latin typeface="Arial"/>
                          <a:ea typeface="+mn-ea"/>
                          <a:cs typeface="+mn-cs"/>
                        </a:rPr>
                        <a:t>Tech #3</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38929813"/>
                  </a:ext>
                </a:extLst>
              </a:tr>
              <a:tr h="106712">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Tech #...</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98671949"/>
                  </a:ext>
                </a:extLst>
              </a:tr>
            </a:tbl>
          </a:graphicData>
        </a:graphic>
      </p:graphicFrame>
      <p:sp>
        <p:nvSpPr>
          <p:cNvPr id="8" name="Geschweifte Klammer rechts 7"/>
          <p:cNvSpPr/>
          <p:nvPr/>
        </p:nvSpPr>
        <p:spPr>
          <a:xfrm rot="16200000">
            <a:off x="3506231" y="4126102"/>
            <a:ext cx="166817" cy="211300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9" name="Textfeld 8"/>
          <p:cNvSpPr txBox="1"/>
          <p:nvPr/>
        </p:nvSpPr>
        <p:spPr>
          <a:xfrm>
            <a:off x="4429557" y="4374884"/>
            <a:ext cx="1259012" cy="646331"/>
          </a:xfrm>
          <a:prstGeom prst="rect">
            <a:avLst/>
          </a:prstGeom>
          <a:noFill/>
        </p:spPr>
        <p:txBody>
          <a:bodyPr wrap="square" rtlCol="0">
            <a:spAutoFit/>
          </a:bodyPr>
          <a:lstStyle/>
          <a:p>
            <a:pPr algn="ctr" fontAlgn="b"/>
            <a:r>
              <a:rPr lang="de-AT" sz="900" b="1" dirty="0" err="1">
                <a:solidFill>
                  <a:srgbClr val="CC0000"/>
                </a:solidFill>
              </a:rPr>
              <a:t>can</a:t>
            </a:r>
            <a:r>
              <a:rPr lang="de-AT" sz="900" b="1" dirty="0">
                <a:solidFill>
                  <a:srgbClr val="CC0000"/>
                </a:solidFill>
              </a:rPr>
              <a:t> </a:t>
            </a:r>
            <a:r>
              <a:rPr lang="de-AT" sz="900" b="1" dirty="0" err="1">
                <a:solidFill>
                  <a:srgbClr val="CC0000"/>
                </a:solidFill>
              </a:rPr>
              <a:t>be</a:t>
            </a:r>
            <a:r>
              <a:rPr lang="de-AT" sz="900" b="1" dirty="0">
                <a:solidFill>
                  <a:srgbClr val="CC0000"/>
                </a:solidFill>
              </a:rPr>
              <a:t> </a:t>
            </a:r>
            <a:r>
              <a:rPr lang="de-AT" sz="900" b="1" dirty="0" err="1">
                <a:solidFill>
                  <a:srgbClr val="CC0000"/>
                </a:solidFill>
              </a:rPr>
              <a:t>directly</a:t>
            </a:r>
            <a:r>
              <a:rPr lang="de-AT" sz="900" b="1" dirty="0">
                <a:solidFill>
                  <a:srgbClr val="CC0000"/>
                </a:solidFill>
              </a:rPr>
              <a:t> </a:t>
            </a:r>
            <a:r>
              <a:rPr lang="de-AT" sz="900" b="1" dirty="0" err="1">
                <a:solidFill>
                  <a:srgbClr val="CC0000"/>
                </a:solidFill>
              </a:rPr>
              <a:t>supplied</a:t>
            </a:r>
            <a:r>
              <a:rPr lang="de-AT" sz="900" b="1" dirty="0">
                <a:solidFill>
                  <a:srgbClr val="CC0000"/>
                </a:solidFill>
              </a:rPr>
              <a:t> </a:t>
            </a:r>
            <a:r>
              <a:rPr lang="de-AT" sz="900" b="1" dirty="0" err="1">
                <a:solidFill>
                  <a:srgbClr val="CC0000"/>
                </a:solidFill>
              </a:rPr>
              <a:t>by</a:t>
            </a:r>
            <a:r>
              <a:rPr lang="de-AT" sz="900" b="1" dirty="0">
                <a:solidFill>
                  <a:srgbClr val="CC0000"/>
                </a:solidFill>
              </a:rPr>
              <a:t> REESS </a:t>
            </a:r>
            <a:r>
              <a:rPr lang="de-AT" sz="900" b="1" dirty="0" err="1">
                <a:solidFill>
                  <a:srgbClr val="CC0000"/>
                </a:solidFill>
              </a:rPr>
              <a:t>if</a:t>
            </a:r>
            <a:r>
              <a:rPr lang="de-AT" sz="900" b="1" dirty="0">
                <a:solidFill>
                  <a:srgbClr val="CC0000"/>
                </a:solidFill>
              </a:rPr>
              <a:t> </a:t>
            </a:r>
            <a:r>
              <a:rPr lang="de-AT" sz="900" b="1" dirty="0" err="1">
                <a:solidFill>
                  <a:srgbClr val="CC0000"/>
                </a:solidFill>
              </a:rPr>
              <a:t>present</a:t>
            </a:r>
            <a:br>
              <a:rPr lang="de-AT" sz="900" b="1" dirty="0">
                <a:solidFill>
                  <a:srgbClr val="CC0000"/>
                </a:solidFill>
              </a:rPr>
            </a:br>
            <a:r>
              <a:rPr lang="de-AT" sz="900" b="1" dirty="0">
                <a:solidFill>
                  <a:srgbClr val="CC0000"/>
                </a:solidFill>
              </a:rPr>
              <a:t>(</a:t>
            </a:r>
            <a:r>
              <a:rPr lang="de-AT" sz="900" b="1" dirty="0" err="1">
                <a:solidFill>
                  <a:srgbClr val="CC0000"/>
                </a:solidFill>
              </a:rPr>
              <a:t>indicated</a:t>
            </a:r>
            <a:r>
              <a:rPr lang="de-AT" sz="900" b="1" dirty="0">
                <a:solidFill>
                  <a:srgbClr val="CC0000"/>
                </a:solidFill>
              </a:rPr>
              <a:t> </a:t>
            </a:r>
            <a:r>
              <a:rPr lang="de-AT" sz="900" b="1" dirty="0" err="1">
                <a:solidFill>
                  <a:srgbClr val="CC0000"/>
                </a:solidFill>
              </a:rPr>
              <a:t>with</a:t>
            </a:r>
            <a:r>
              <a:rPr lang="de-AT" sz="900" b="1" dirty="0">
                <a:solidFill>
                  <a:srgbClr val="CC0000"/>
                </a:solidFill>
              </a:rPr>
              <a:t> 0/1)</a:t>
            </a:r>
          </a:p>
        </p:txBody>
      </p:sp>
      <p:sp>
        <p:nvSpPr>
          <p:cNvPr id="10" name="Textfeld 9"/>
          <p:cNvSpPr txBox="1"/>
          <p:nvPr/>
        </p:nvSpPr>
        <p:spPr>
          <a:xfrm>
            <a:off x="6294043" y="4608667"/>
            <a:ext cx="1970235" cy="400110"/>
          </a:xfrm>
          <a:prstGeom prst="rect">
            <a:avLst/>
          </a:prstGeom>
          <a:noFill/>
        </p:spPr>
        <p:txBody>
          <a:bodyPr wrap="square" rtlCol="0">
            <a:spAutoFit/>
          </a:bodyPr>
          <a:lstStyle/>
          <a:p>
            <a:pPr algn="ctr" fontAlgn="b"/>
            <a:r>
              <a:rPr lang="en-US" sz="1000" b="1" dirty="0">
                <a:solidFill>
                  <a:srgbClr val="CC0000"/>
                </a:solidFill>
              </a:rPr>
              <a:t>cycle specific </a:t>
            </a:r>
            <a:r>
              <a:rPr lang="en-US" sz="1000" b="1" u="sng" dirty="0">
                <a:solidFill>
                  <a:srgbClr val="CC0000"/>
                </a:solidFill>
              </a:rPr>
              <a:t>mechanical</a:t>
            </a:r>
            <a:r>
              <a:rPr lang="en-US" sz="1000" b="1" dirty="0">
                <a:solidFill>
                  <a:srgbClr val="CC0000"/>
                </a:solidFill>
              </a:rPr>
              <a:t> power demand [W]</a:t>
            </a:r>
            <a:endParaRPr lang="de-AT" sz="1000" b="1" dirty="0">
              <a:solidFill>
                <a:srgbClr val="CC0000"/>
              </a:solidFill>
            </a:endParaRPr>
          </a:p>
        </p:txBody>
      </p:sp>
      <p:sp>
        <p:nvSpPr>
          <p:cNvPr id="11" name="Geschweifte Klammer rechts 10"/>
          <p:cNvSpPr/>
          <p:nvPr/>
        </p:nvSpPr>
        <p:spPr>
          <a:xfrm rot="16200000">
            <a:off x="7147357" y="3423825"/>
            <a:ext cx="166817" cy="351755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2" name="Geschweifte Klammer rechts 11"/>
          <p:cNvSpPr/>
          <p:nvPr/>
        </p:nvSpPr>
        <p:spPr>
          <a:xfrm rot="16200000">
            <a:off x="4975656" y="4812934"/>
            <a:ext cx="166817" cy="7393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3" name="Textfeld 12"/>
          <p:cNvSpPr txBox="1"/>
          <p:nvPr/>
        </p:nvSpPr>
        <p:spPr>
          <a:xfrm>
            <a:off x="2383483" y="4583781"/>
            <a:ext cx="2003172" cy="400110"/>
          </a:xfrm>
          <a:prstGeom prst="rect">
            <a:avLst/>
          </a:prstGeom>
          <a:noFill/>
        </p:spPr>
        <p:txBody>
          <a:bodyPr wrap="square" rtlCol="0">
            <a:spAutoFit/>
          </a:bodyPr>
          <a:lstStyle/>
          <a:p>
            <a:pPr algn="ctr" fontAlgn="b"/>
            <a:r>
              <a:rPr lang="de-AT" sz="1000" b="1" dirty="0" err="1">
                <a:solidFill>
                  <a:srgbClr val="CC0000"/>
                </a:solidFill>
              </a:rPr>
              <a:t>applicability</a:t>
            </a:r>
            <a:r>
              <a:rPr lang="de-AT" sz="1000" b="1" dirty="0">
                <a:solidFill>
                  <a:srgbClr val="CC0000"/>
                </a:solidFill>
              </a:rPr>
              <a:t> </a:t>
            </a:r>
            <a:r>
              <a:rPr lang="de-AT" sz="1000" b="1" dirty="0" err="1">
                <a:solidFill>
                  <a:srgbClr val="CC0000"/>
                </a:solidFill>
              </a:rPr>
              <a:t>for</a:t>
            </a:r>
            <a:r>
              <a:rPr lang="de-AT" sz="1000" b="1" dirty="0">
                <a:solidFill>
                  <a:srgbClr val="CC0000"/>
                </a:solidFill>
              </a:rPr>
              <a:t> </a:t>
            </a:r>
            <a:r>
              <a:rPr lang="de-AT" sz="1000" b="1" dirty="0" err="1">
                <a:solidFill>
                  <a:srgbClr val="CC0000"/>
                </a:solidFill>
              </a:rPr>
              <a:t>architecture</a:t>
            </a:r>
            <a:br>
              <a:rPr lang="de-AT" sz="1000" b="1" dirty="0">
                <a:solidFill>
                  <a:srgbClr val="CC0000"/>
                </a:solidFill>
              </a:rPr>
            </a:br>
            <a:r>
              <a:rPr lang="de-AT" sz="1000" b="1" dirty="0">
                <a:solidFill>
                  <a:srgbClr val="CC0000"/>
                </a:solidFill>
              </a:rPr>
              <a:t>(</a:t>
            </a:r>
            <a:r>
              <a:rPr lang="de-AT" sz="1000" b="1" dirty="0" err="1">
                <a:solidFill>
                  <a:srgbClr val="CC0000"/>
                </a:solidFill>
              </a:rPr>
              <a:t>indicated</a:t>
            </a:r>
            <a:r>
              <a:rPr lang="de-AT" sz="1000" b="1" dirty="0">
                <a:solidFill>
                  <a:srgbClr val="CC0000"/>
                </a:solidFill>
              </a:rPr>
              <a:t> </a:t>
            </a:r>
            <a:r>
              <a:rPr lang="de-AT" sz="1000" b="1" dirty="0" err="1">
                <a:solidFill>
                  <a:srgbClr val="CC0000"/>
                </a:solidFill>
              </a:rPr>
              <a:t>with</a:t>
            </a:r>
            <a:r>
              <a:rPr lang="de-AT" sz="1000" b="1" dirty="0">
                <a:solidFill>
                  <a:srgbClr val="CC0000"/>
                </a:solidFill>
              </a:rPr>
              <a:t> 0/1)</a:t>
            </a:r>
          </a:p>
        </p:txBody>
      </p:sp>
    </p:spTree>
    <p:extLst>
      <p:ext uri="{BB962C8B-B14F-4D97-AF65-F5344CB8AC3E}">
        <p14:creationId xmlns:p14="http://schemas.microsoft.com/office/powerpoint/2010/main" val="3673184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feld 14"/>
          <p:cNvSpPr txBox="1"/>
          <p:nvPr/>
        </p:nvSpPr>
        <p:spPr>
          <a:xfrm>
            <a:off x="-49763" y="4671931"/>
            <a:ext cx="771448" cy="461665"/>
          </a:xfrm>
          <a:prstGeom prst="rect">
            <a:avLst/>
          </a:prstGeom>
          <a:noFill/>
        </p:spPr>
        <p:txBody>
          <a:bodyPr wrap="square" rtlCol="0">
            <a:spAutoFit/>
          </a:bodyPr>
          <a:lstStyle/>
          <a:p>
            <a:pPr algn="ctr" fontAlgn="b"/>
            <a:r>
              <a:rPr lang="de-AT" sz="800" dirty="0">
                <a:solidFill>
                  <a:srgbClr val="CC0000"/>
                </a:solidFill>
              </a:rPr>
              <a:t>Block </a:t>
            </a:r>
            <a:r>
              <a:rPr lang="de-AT" sz="800" dirty="0" err="1">
                <a:solidFill>
                  <a:srgbClr val="CC0000"/>
                </a:solidFill>
              </a:rPr>
              <a:t>of</a:t>
            </a:r>
            <a:r>
              <a:rPr lang="de-AT" sz="800" dirty="0">
                <a:solidFill>
                  <a:srgbClr val="CC0000"/>
                </a:solidFill>
              </a:rPr>
              <a:t> </a:t>
            </a:r>
            <a:r>
              <a:rPr lang="de-AT" sz="800" b="1" dirty="0" err="1">
                <a:solidFill>
                  <a:srgbClr val="CC0000"/>
                </a:solidFill>
              </a:rPr>
              <a:t>mechanical</a:t>
            </a:r>
            <a:r>
              <a:rPr lang="de-AT" sz="800" dirty="0">
                <a:solidFill>
                  <a:srgbClr val="CC0000"/>
                </a:solidFill>
              </a:rPr>
              <a:t> </a:t>
            </a:r>
            <a:r>
              <a:rPr lang="de-AT" sz="800" dirty="0" err="1">
                <a:solidFill>
                  <a:srgbClr val="CC0000"/>
                </a:solidFill>
              </a:rPr>
              <a:t>technologies</a:t>
            </a:r>
            <a:endParaRPr lang="de-AT" sz="800" dirty="0">
              <a:solidFill>
                <a:srgbClr val="CC0000"/>
              </a:solidFill>
            </a:endParaRPr>
          </a:p>
        </p:txBody>
      </p:sp>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Generic parameterisation of auxiliaries </a:t>
            </a:r>
          </a:p>
        </p:txBody>
      </p:sp>
      <p:sp>
        <p:nvSpPr>
          <p:cNvPr id="3" name="Inhaltsplatzhalter 2"/>
          <p:cNvSpPr>
            <a:spLocks noGrp="1"/>
          </p:cNvSpPr>
          <p:nvPr>
            <p:ph idx="1"/>
          </p:nvPr>
        </p:nvSpPr>
        <p:spPr>
          <a:xfrm>
            <a:off x="622355" y="2137414"/>
            <a:ext cx="8394645" cy="1724183"/>
          </a:xfrm>
        </p:spPr>
        <p:txBody>
          <a:bodyPr/>
          <a:lstStyle/>
          <a:p>
            <a:r>
              <a:rPr lang="en-US" sz="1800" dirty="0"/>
              <a:t>Basic principles of pneumatic system in DECL</a:t>
            </a:r>
          </a:p>
          <a:p>
            <a:pPr lvl="1"/>
            <a:r>
              <a:rPr lang="de-AT" sz="1400" dirty="0" err="1"/>
              <a:t>Structure</a:t>
            </a:r>
            <a:r>
              <a:rPr lang="de-AT" sz="1400" dirty="0"/>
              <a:t> </a:t>
            </a:r>
            <a:r>
              <a:rPr lang="de-AT" sz="1400" dirty="0" err="1"/>
              <a:t>of</a:t>
            </a:r>
            <a:r>
              <a:rPr lang="de-AT" sz="1400" dirty="0"/>
              <a:t> </a:t>
            </a:r>
            <a:r>
              <a:rPr lang="de-AT" sz="1400" dirty="0" err="1"/>
              <a:t>table</a:t>
            </a:r>
            <a:r>
              <a:rPr lang="de-AT" sz="1400" dirty="0"/>
              <a:t> </a:t>
            </a:r>
            <a:r>
              <a:rPr lang="de-AT" sz="1400" dirty="0" err="1"/>
              <a:t>is</a:t>
            </a:r>
            <a:r>
              <a:rPr lang="de-AT" sz="1400" dirty="0"/>
              <a:t> </a:t>
            </a:r>
            <a:r>
              <a:rPr lang="de-AT" sz="1400" dirty="0" err="1"/>
              <a:t>slightly</a:t>
            </a:r>
            <a:r>
              <a:rPr lang="de-AT" sz="1400" dirty="0"/>
              <a:t> different, </a:t>
            </a:r>
            <a:r>
              <a:rPr lang="de-AT" sz="1400" dirty="0" err="1"/>
              <a:t>stating</a:t>
            </a:r>
            <a:r>
              <a:rPr lang="de-AT" sz="1400" dirty="0"/>
              <a:t> </a:t>
            </a:r>
            <a:r>
              <a:rPr lang="de-AT" sz="1400" dirty="0" err="1"/>
              <a:t>mechanical</a:t>
            </a:r>
            <a:r>
              <a:rPr lang="de-AT" sz="1400" dirty="0"/>
              <a:t> </a:t>
            </a:r>
            <a:r>
              <a:rPr lang="de-AT" sz="1400" dirty="0" err="1"/>
              <a:t>and</a:t>
            </a:r>
            <a:r>
              <a:rPr lang="de-AT" sz="1400" dirty="0"/>
              <a:t> </a:t>
            </a:r>
            <a:r>
              <a:rPr lang="de-AT" sz="1400" dirty="0" err="1"/>
              <a:t>electrical</a:t>
            </a:r>
            <a:r>
              <a:rPr lang="de-AT" sz="1400" dirty="0"/>
              <a:t> power </a:t>
            </a:r>
            <a:r>
              <a:rPr lang="de-AT" sz="1400" dirty="0" err="1"/>
              <a:t>demand</a:t>
            </a:r>
            <a:br>
              <a:rPr lang="de-AT" sz="1400" dirty="0"/>
            </a:br>
            <a:r>
              <a:rPr lang="de-AT" sz="1400" dirty="0"/>
              <a:t>at </a:t>
            </a:r>
            <a:r>
              <a:rPr lang="de-AT" sz="1400" dirty="0" err="1"/>
              <a:t>the</a:t>
            </a:r>
            <a:r>
              <a:rPr lang="de-AT" sz="1400" dirty="0"/>
              <a:t> same time</a:t>
            </a:r>
          </a:p>
          <a:p>
            <a:pPr lvl="1"/>
            <a:r>
              <a:rPr lang="de-AT" sz="1400" dirty="0" err="1"/>
              <a:t>Reason</a:t>
            </a:r>
            <a:r>
              <a:rPr lang="de-AT" sz="1400" dirty="0"/>
              <a:t> </a:t>
            </a:r>
            <a:r>
              <a:rPr lang="de-AT" sz="1400" dirty="0" err="1"/>
              <a:t>is</a:t>
            </a:r>
            <a:r>
              <a:rPr lang="de-AT" sz="1400" dirty="0"/>
              <a:t> </a:t>
            </a:r>
            <a:r>
              <a:rPr lang="de-AT" sz="1400" dirty="0" err="1"/>
              <a:t>that</a:t>
            </a:r>
            <a:r>
              <a:rPr lang="de-AT" sz="1400" dirty="0"/>
              <a:t> </a:t>
            </a:r>
            <a:r>
              <a:rPr lang="de-AT" sz="1400" dirty="0" err="1"/>
              <a:t>generic</a:t>
            </a:r>
            <a:r>
              <a:rPr lang="de-AT" sz="1400" dirty="0"/>
              <a:t> </a:t>
            </a:r>
            <a:r>
              <a:rPr lang="de-AT" sz="1400" dirty="0" err="1"/>
              <a:t>saving</a:t>
            </a:r>
            <a:r>
              <a:rPr lang="de-AT" sz="1400" dirty="0"/>
              <a:t> </a:t>
            </a:r>
            <a:r>
              <a:rPr lang="de-AT" sz="1400" dirty="0" err="1"/>
              <a:t>of</a:t>
            </a:r>
            <a:r>
              <a:rPr lang="de-AT" sz="1400" dirty="0"/>
              <a:t> AMS </a:t>
            </a:r>
            <a:r>
              <a:rPr lang="de-AT" sz="1400" dirty="0" err="1"/>
              <a:t>techonolgies</a:t>
            </a:r>
            <a:r>
              <a:rPr lang="de-AT" sz="1400" dirty="0"/>
              <a:t> </a:t>
            </a:r>
            <a:r>
              <a:rPr lang="de-AT" sz="1400" dirty="0" err="1"/>
              <a:t>is</a:t>
            </a:r>
            <a:r>
              <a:rPr lang="de-AT" sz="1400" dirty="0"/>
              <a:t> </a:t>
            </a:r>
            <a:r>
              <a:rPr lang="de-AT" sz="1400" dirty="0" err="1"/>
              <a:t>reduced</a:t>
            </a:r>
            <a:r>
              <a:rPr lang="de-AT" sz="1400" dirty="0"/>
              <a:t> </a:t>
            </a:r>
            <a:r>
              <a:rPr lang="de-AT" sz="1400" dirty="0" err="1"/>
              <a:t>for</a:t>
            </a:r>
            <a:r>
              <a:rPr lang="de-AT" sz="1400" dirty="0"/>
              <a:t> </a:t>
            </a:r>
            <a:r>
              <a:rPr lang="de-AT" sz="1400" dirty="0" err="1"/>
              <a:t>xEV</a:t>
            </a:r>
            <a:r>
              <a:rPr lang="de-AT" sz="1400" dirty="0"/>
              <a:t> </a:t>
            </a:r>
            <a:r>
              <a:rPr lang="de-AT" sz="1400" dirty="0" err="1"/>
              <a:t>vehicles</a:t>
            </a:r>
            <a:r>
              <a:rPr lang="de-AT" sz="1400" dirty="0"/>
              <a:t> (</a:t>
            </a:r>
            <a:r>
              <a:rPr lang="de-AT" sz="1400" dirty="0" err="1"/>
              <a:t>only</a:t>
            </a:r>
            <a:r>
              <a:rPr lang="de-AT" sz="1400" dirty="0"/>
              <a:t> minus 10%) due </a:t>
            </a:r>
            <a:r>
              <a:rPr lang="de-AT" sz="1400" dirty="0" err="1"/>
              <a:t>to</a:t>
            </a:r>
            <a:r>
              <a:rPr lang="de-AT" sz="1400" dirty="0"/>
              <a:t> </a:t>
            </a:r>
            <a:r>
              <a:rPr lang="de-AT" sz="1400" dirty="0" err="1"/>
              <a:t>reduced</a:t>
            </a:r>
            <a:r>
              <a:rPr lang="de-AT" sz="1400" dirty="0"/>
              <a:t> </a:t>
            </a:r>
            <a:r>
              <a:rPr lang="de-AT" sz="1400" dirty="0" err="1"/>
              <a:t>recuperative</a:t>
            </a:r>
            <a:r>
              <a:rPr lang="de-AT" sz="1400" dirty="0"/>
              <a:t> potential </a:t>
            </a:r>
            <a:r>
              <a:rPr lang="de-AT" sz="1400" dirty="0" err="1"/>
              <a:t>compared</a:t>
            </a:r>
            <a:r>
              <a:rPr lang="de-AT" sz="1400" dirty="0"/>
              <a:t> </a:t>
            </a:r>
            <a:r>
              <a:rPr lang="de-AT" sz="1400" dirty="0" err="1"/>
              <a:t>to</a:t>
            </a:r>
            <a:r>
              <a:rPr lang="de-AT" sz="1400" dirty="0"/>
              <a:t> </a:t>
            </a:r>
            <a:r>
              <a:rPr lang="de-AT" sz="1400" dirty="0" err="1"/>
              <a:t>conventional</a:t>
            </a:r>
            <a:r>
              <a:rPr lang="de-AT" sz="1400" dirty="0"/>
              <a:t> </a:t>
            </a:r>
            <a:r>
              <a:rPr lang="de-AT" sz="1400" dirty="0" err="1"/>
              <a:t>ones</a:t>
            </a:r>
            <a:r>
              <a:rPr lang="de-AT" sz="1400" dirty="0"/>
              <a:t> </a:t>
            </a:r>
            <a:endParaRPr lang="en-GB" sz="1200" dirty="0"/>
          </a:p>
        </p:txBody>
      </p:sp>
      <p:sp>
        <p:nvSpPr>
          <p:cNvPr id="4" name="Foliennummernplatzhalter 3"/>
          <p:cNvSpPr>
            <a:spLocks noGrp="1"/>
          </p:cNvSpPr>
          <p:nvPr>
            <p:ph type="sldNum" sz="quarter" idx="12"/>
          </p:nvPr>
        </p:nvSpPr>
        <p:spPr/>
        <p:txBody>
          <a:bodyPr/>
          <a:lstStyle/>
          <a:p>
            <a:fld id="{4B64EC4D-37E3-EF42-B9AB-6337577588CB}" type="slidenum">
              <a:rPr lang="de-DE" smtClean="0"/>
              <a:t>25</a:t>
            </a:fld>
            <a:endParaRPr lang="de-DE"/>
          </a:p>
        </p:txBody>
      </p:sp>
      <p:graphicFrame>
        <p:nvGraphicFramePr>
          <p:cNvPr id="6" name="Tabelle 5"/>
          <p:cNvGraphicFramePr>
            <a:graphicFrameLocks noGrp="1"/>
          </p:cNvGraphicFramePr>
          <p:nvPr/>
        </p:nvGraphicFramePr>
        <p:xfrm>
          <a:off x="858719" y="4326904"/>
          <a:ext cx="8158280" cy="1656000"/>
        </p:xfrm>
        <a:graphic>
          <a:graphicData uri="http://schemas.openxmlformats.org/drawingml/2006/table">
            <a:tbl>
              <a:tblPr>
                <a:tableStyleId>{5C22544A-7EE6-4342-B048-85BDC9FD1C3A}</a:tableStyleId>
              </a:tblPr>
              <a:tblGrid>
                <a:gridCol w="1680518">
                  <a:extLst>
                    <a:ext uri="{9D8B030D-6E8A-4147-A177-3AD203B41FA5}">
                      <a16:colId xmlns:a16="http://schemas.microsoft.com/office/drawing/2014/main" val="2708968632"/>
                    </a:ext>
                  </a:extLst>
                </a:gridCol>
                <a:gridCol w="753762">
                  <a:extLst>
                    <a:ext uri="{9D8B030D-6E8A-4147-A177-3AD203B41FA5}">
                      <a16:colId xmlns:a16="http://schemas.microsoft.com/office/drawing/2014/main" val="2329139440"/>
                    </a:ext>
                  </a:extLst>
                </a:gridCol>
                <a:gridCol w="468000">
                  <a:extLst>
                    <a:ext uri="{9D8B030D-6E8A-4147-A177-3AD203B41FA5}">
                      <a16:colId xmlns:a16="http://schemas.microsoft.com/office/drawing/2014/main" val="1079992728"/>
                    </a:ext>
                  </a:extLst>
                </a:gridCol>
                <a:gridCol w="468000">
                  <a:extLst>
                    <a:ext uri="{9D8B030D-6E8A-4147-A177-3AD203B41FA5}">
                      <a16:colId xmlns:a16="http://schemas.microsoft.com/office/drawing/2014/main" val="2677453291"/>
                    </a:ext>
                  </a:extLst>
                </a:gridCol>
                <a:gridCol w="468000">
                  <a:extLst>
                    <a:ext uri="{9D8B030D-6E8A-4147-A177-3AD203B41FA5}">
                      <a16:colId xmlns:a16="http://schemas.microsoft.com/office/drawing/2014/main" val="3530008801"/>
                    </a:ext>
                  </a:extLst>
                </a:gridCol>
                <a:gridCol w="720000">
                  <a:extLst>
                    <a:ext uri="{9D8B030D-6E8A-4147-A177-3AD203B41FA5}">
                      <a16:colId xmlns:a16="http://schemas.microsoft.com/office/drawing/2014/main" val="2408429903"/>
                    </a:ext>
                  </a:extLst>
                </a:gridCol>
                <a:gridCol w="1800000">
                  <a:extLst>
                    <a:ext uri="{9D8B030D-6E8A-4147-A177-3AD203B41FA5}">
                      <a16:colId xmlns:a16="http://schemas.microsoft.com/office/drawing/2014/main" val="3710519613"/>
                    </a:ext>
                  </a:extLst>
                </a:gridCol>
                <a:gridCol w="1800000">
                  <a:extLst>
                    <a:ext uri="{9D8B030D-6E8A-4147-A177-3AD203B41FA5}">
                      <a16:colId xmlns:a16="http://schemas.microsoft.com/office/drawing/2014/main" val="3392582189"/>
                    </a:ext>
                  </a:extLst>
                </a:gridCol>
              </a:tblGrid>
              <a:tr h="216000">
                <a:tc>
                  <a:txBody>
                    <a:bodyPr/>
                    <a:lstStyle/>
                    <a:p>
                      <a:pPr algn="ctr" fontAlgn="b"/>
                      <a:r>
                        <a:rPr lang="de-AT" sz="800" b="1" u="none" strike="noStrike" dirty="0">
                          <a:effectLst/>
                        </a:rPr>
                        <a:t>Technology                             </a:t>
                      </a:r>
                      <a:endParaRPr lang="de-AT" sz="8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r>
                        <a:rPr lang="de-AT" sz="800" b="1" u="none" strike="noStrike" dirty="0" err="1">
                          <a:effectLst/>
                        </a:rPr>
                        <a:t>conventional</a:t>
                      </a:r>
                      <a:endParaRPr lang="de-AT" sz="8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r>
                        <a:rPr lang="de-AT" sz="800" b="1" u="none" strike="noStrike">
                          <a:effectLst/>
                        </a:rPr>
                        <a:t>P-HEV</a:t>
                      </a:r>
                      <a:endParaRPr lang="de-AT" sz="8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de-AT" sz="800" b="1" u="none" strike="noStrike">
                          <a:effectLst/>
                        </a:rPr>
                        <a:t>S-HEV</a:t>
                      </a:r>
                      <a:endParaRPr lang="de-AT" sz="8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de-AT" sz="800" b="1" u="none" strike="noStrike">
                          <a:effectLst/>
                        </a:rPr>
                        <a:t>PEV</a:t>
                      </a:r>
                      <a:endParaRPr lang="de-AT" sz="8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de-AT" sz="800" b="1" u="none" strike="noStrike">
                          <a:effectLst/>
                        </a:rPr>
                        <a:t> fully electric </a:t>
                      </a:r>
                      <a:endParaRPr lang="de-AT" sz="8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de-AT" sz="800" b="1" u="none" strike="noStrike" dirty="0">
                          <a:effectLst/>
                        </a:rPr>
                        <a:t> </a:t>
                      </a:r>
                      <a:r>
                        <a:rPr lang="de-AT" sz="800" b="1" u="none" strike="noStrike" dirty="0" err="1">
                          <a:effectLst/>
                        </a:rPr>
                        <a:t>mechanical</a:t>
                      </a:r>
                      <a:r>
                        <a:rPr lang="de-AT" sz="800" b="1" u="none" strike="noStrike" dirty="0">
                          <a:effectLst/>
                        </a:rPr>
                        <a:t> power </a:t>
                      </a:r>
                      <a:r>
                        <a:rPr lang="de-AT" sz="800" b="1" u="none" strike="noStrike" dirty="0" err="1">
                          <a:effectLst/>
                        </a:rPr>
                        <a:t>demand</a:t>
                      </a:r>
                      <a:r>
                        <a:rPr lang="de-AT" sz="800" b="1" u="none" strike="noStrike" dirty="0">
                          <a:effectLst/>
                        </a:rPr>
                        <a:t> [W]</a:t>
                      </a:r>
                      <a:endParaRPr lang="de-AT" sz="8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b"/>
                      <a:r>
                        <a:rPr lang="de-AT" sz="800" b="1" u="none" strike="noStrike" dirty="0">
                          <a:effectLst/>
                        </a:rPr>
                        <a:t> </a:t>
                      </a:r>
                      <a:r>
                        <a:rPr lang="de-AT" sz="800" b="1" u="none" strike="noStrike" dirty="0" err="1">
                          <a:effectLst/>
                        </a:rPr>
                        <a:t>electrical</a:t>
                      </a:r>
                      <a:r>
                        <a:rPr lang="de-AT" sz="800" b="1" u="none" strike="noStrike" dirty="0">
                          <a:effectLst/>
                        </a:rPr>
                        <a:t> power </a:t>
                      </a:r>
                      <a:r>
                        <a:rPr lang="de-AT" sz="800" b="1" u="none" strike="noStrike" dirty="0" err="1">
                          <a:effectLst/>
                        </a:rPr>
                        <a:t>demand</a:t>
                      </a:r>
                      <a:r>
                        <a:rPr lang="de-AT" sz="800" b="1" u="none" strike="noStrike" dirty="0">
                          <a:effectLst/>
                        </a:rPr>
                        <a:t> [W]</a:t>
                      </a:r>
                      <a:endParaRPr lang="de-AT" sz="8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471874194"/>
                  </a:ext>
                </a:extLst>
              </a:tr>
              <a:tr h="180000">
                <a:tc>
                  <a:txBody>
                    <a:bodyPr/>
                    <a:lstStyle/>
                    <a:p>
                      <a:pPr algn="l" fontAlgn="b"/>
                      <a:r>
                        <a:rPr lang="en-US" sz="800" u="none" strike="noStrike" dirty="0">
                          <a:effectLst/>
                        </a:rPr>
                        <a:t>Tech mechanical #1</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09989297"/>
                  </a:ext>
                </a:extLst>
              </a:tr>
              <a:tr h="180000">
                <a:tc>
                  <a:txBody>
                    <a:bodyPr/>
                    <a:lstStyle/>
                    <a:p>
                      <a:pPr algn="l" fontAlgn="b"/>
                      <a:r>
                        <a:rPr kumimoji="0" lang="en-US" sz="800" b="0" i="0" u="none" strike="noStrike" kern="1200" cap="none" spc="0" normalizeH="0" baseline="0" noProof="0" dirty="0">
                          <a:ln>
                            <a:noFill/>
                          </a:ln>
                          <a:solidFill>
                            <a:prstClr val="black"/>
                          </a:solidFill>
                          <a:effectLst/>
                          <a:uLnTx/>
                          <a:uFillTx/>
                          <a:latin typeface="Arial"/>
                          <a:ea typeface="+mn-ea"/>
                          <a:cs typeface="+mn-cs"/>
                        </a:rPr>
                        <a:t>Tech </a:t>
                      </a:r>
                      <a:r>
                        <a:rPr lang="en-US" sz="800" u="none" strike="noStrike" dirty="0">
                          <a:effectLst/>
                        </a:rPr>
                        <a:t>mechanical </a:t>
                      </a:r>
                      <a:r>
                        <a:rPr kumimoji="0" lang="en-US" sz="800" b="0" i="0" u="none" strike="noStrike" kern="1200" cap="none" spc="0" normalizeH="0" baseline="0" noProof="0" dirty="0">
                          <a:ln>
                            <a:noFill/>
                          </a:ln>
                          <a:solidFill>
                            <a:prstClr val="black"/>
                          </a:solidFill>
                          <a:effectLst/>
                          <a:uLnTx/>
                          <a:uFillTx/>
                          <a:latin typeface="Arial"/>
                          <a:ea typeface="+mn-ea"/>
                          <a:cs typeface="+mn-cs"/>
                        </a:rPr>
                        <a:t>#2</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17672420"/>
                  </a:ext>
                </a:extLst>
              </a:tr>
              <a:tr h="180000">
                <a:tc>
                  <a:txBody>
                    <a:bodyPr/>
                    <a:lstStyle/>
                    <a:p>
                      <a:pPr algn="l" fontAlgn="b"/>
                      <a:r>
                        <a:rPr kumimoji="0" lang="en-US" sz="800" b="0" i="0" u="none" strike="noStrike" kern="1200" cap="none" spc="0" normalizeH="0" baseline="0" noProof="0" dirty="0">
                          <a:ln>
                            <a:noFill/>
                          </a:ln>
                          <a:solidFill>
                            <a:prstClr val="black"/>
                          </a:solidFill>
                          <a:effectLst/>
                          <a:uLnTx/>
                          <a:uFillTx/>
                          <a:latin typeface="Arial"/>
                          <a:ea typeface="+mn-ea"/>
                          <a:cs typeface="+mn-cs"/>
                        </a:rPr>
                        <a:t>Tech </a:t>
                      </a:r>
                      <a:r>
                        <a:rPr lang="en-US" sz="800" u="none" strike="noStrike" dirty="0">
                          <a:effectLst/>
                        </a:rPr>
                        <a:t>mechanical </a:t>
                      </a:r>
                      <a:r>
                        <a:rPr kumimoji="0" lang="en-US" sz="800" b="0" i="0" u="none" strike="noStrike" kern="1200" cap="none" spc="0" normalizeH="0" baseline="0" noProof="0" dirty="0">
                          <a:ln>
                            <a:noFill/>
                          </a:ln>
                          <a:solidFill>
                            <a:prstClr val="black"/>
                          </a:solidFill>
                          <a:effectLst/>
                          <a:uLnTx/>
                          <a:uFillTx/>
                          <a:latin typeface="Arial"/>
                          <a:ea typeface="+mn-ea"/>
                          <a:cs typeface="+mn-cs"/>
                        </a:rPr>
                        <a:t>#3</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838929813"/>
                  </a:ext>
                </a:extLst>
              </a:tr>
              <a:tr h="180000">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Tech </a:t>
                      </a:r>
                      <a:r>
                        <a:rPr lang="en-US" sz="800" u="none" strike="noStrike" dirty="0">
                          <a:effectLst/>
                        </a:rPr>
                        <a:t>mechanical </a:t>
                      </a:r>
                      <a:r>
                        <a:rPr kumimoji="0" lang="en-US" sz="800" b="0" i="0" u="none" strike="noStrike" kern="1200" cap="none" spc="0" normalizeH="0" baseline="0" noProof="0" dirty="0">
                          <a:ln>
                            <a:noFill/>
                          </a:ln>
                          <a:solidFill>
                            <a:prstClr val="black"/>
                          </a:solidFill>
                          <a:effectLst/>
                          <a:uLnTx/>
                          <a:uFillTx/>
                          <a:latin typeface="+mn-lt"/>
                          <a:ea typeface="+mn-ea"/>
                          <a:cs typeface="+mn-cs"/>
                        </a:rPr>
                        <a:t>#...</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98671949"/>
                  </a:ext>
                </a:extLst>
              </a:tr>
              <a:tr h="180000">
                <a:tc>
                  <a:txBody>
                    <a:bodyPr/>
                    <a:lstStyle/>
                    <a:p>
                      <a:pPr algn="l" fontAlgn="b"/>
                      <a:r>
                        <a:rPr lang="en-US" sz="800" u="none" strike="noStrike" dirty="0">
                          <a:effectLst/>
                        </a:rPr>
                        <a:t>Tech electrical #1</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14268548"/>
                  </a:ext>
                </a:extLst>
              </a:tr>
              <a:tr h="180000">
                <a:tc>
                  <a:txBody>
                    <a:bodyPr/>
                    <a:lstStyle/>
                    <a:p>
                      <a:pPr algn="l" fontAlgn="b"/>
                      <a:r>
                        <a:rPr kumimoji="0" lang="en-US" sz="800" b="0" i="0" u="none" strike="noStrike" kern="1200" cap="none" spc="0" normalizeH="0" baseline="0" noProof="0" dirty="0">
                          <a:ln>
                            <a:noFill/>
                          </a:ln>
                          <a:solidFill>
                            <a:prstClr val="black"/>
                          </a:solidFill>
                          <a:effectLst/>
                          <a:uLnTx/>
                          <a:uFillTx/>
                          <a:latin typeface="Arial"/>
                          <a:ea typeface="+mn-ea"/>
                          <a:cs typeface="+mn-cs"/>
                        </a:rPr>
                        <a:t>Tech </a:t>
                      </a:r>
                      <a:r>
                        <a:rPr lang="en-US" sz="800" u="none" strike="noStrike" dirty="0">
                          <a:effectLst/>
                        </a:rPr>
                        <a:t>electrical </a:t>
                      </a:r>
                      <a:r>
                        <a:rPr kumimoji="0" lang="en-US" sz="800" b="0" i="0" u="none" strike="noStrike" kern="1200" cap="none" spc="0" normalizeH="0" baseline="0" noProof="0" dirty="0">
                          <a:ln>
                            <a:noFill/>
                          </a:ln>
                          <a:solidFill>
                            <a:prstClr val="black"/>
                          </a:solidFill>
                          <a:effectLst/>
                          <a:uLnTx/>
                          <a:uFillTx/>
                          <a:latin typeface="Arial"/>
                          <a:ea typeface="+mn-ea"/>
                          <a:cs typeface="+mn-cs"/>
                        </a:rPr>
                        <a:t>#2</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30027890"/>
                  </a:ext>
                </a:extLst>
              </a:tr>
              <a:tr h="180000">
                <a:tc>
                  <a:txBody>
                    <a:bodyPr/>
                    <a:lstStyle/>
                    <a:p>
                      <a:pPr algn="l" fontAlgn="b"/>
                      <a:r>
                        <a:rPr kumimoji="0" lang="en-US" sz="800" b="0" i="0" u="none" strike="noStrike" kern="1200" cap="none" spc="0" normalizeH="0" baseline="0" noProof="0" dirty="0">
                          <a:ln>
                            <a:noFill/>
                          </a:ln>
                          <a:solidFill>
                            <a:prstClr val="black"/>
                          </a:solidFill>
                          <a:effectLst/>
                          <a:uLnTx/>
                          <a:uFillTx/>
                          <a:latin typeface="Arial"/>
                          <a:ea typeface="+mn-ea"/>
                          <a:cs typeface="+mn-cs"/>
                        </a:rPr>
                        <a:t>Tech </a:t>
                      </a:r>
                      <a:r>
                        <a:rPr lang="en-US" sz="800" u="none" strike="noStrike" dirty="0">
                          <a:effectLst/>
                        </a:rPr>
                        <a:t>electrical </a:t>
                      </a:r>
                      <a:r>
                        <a:rPr kumimoji="0" lang="en-US" sz="800" b="0" i="0" u="none" strike="noStrike" kern="1200" cap="none" spc="0" normalizeH="0" baseline="0" noProof="0" dirty="0">
                          <a:ln>
                            <a:noFill/>
                          </a:ln>
                          <a:solidFill>
                            <a:prstClr val="black"/>
                          </a:solidFill>
                          <a:effectLst/>
                          <a:uLnTx/>
                          <a:uFillTx/>
                          <a:latin typeface="Arial"/>
                          <a:ea typeface="+mn-ea"/>
                          <a:cs typeface="+mn-cs"/>
                        </a:rPr>
                        <a:t>#3</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787719517"/>
                  </a:ext>
                </a:extLst>
              </a:tr>
              <a:tr h="180000">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Tech </a:t>
                      </a:r>
                      <a:r>
                        <a:rPr lang="en-US" sz="800" u="none" strike="noStrike" dirty="0">
                          <a:effectLst/>
                        </a:rPr>
                        <a:t>electrical </a:t>
                      </a:r>
                      <a:r>
                        <a:rPr kumimoji="0" lang="en-US" sz="800" b="0" i="0" u="none" strike="noStrike" kern="1200" cap="none" spc="0" normalizeH="0" baseline="0" noProof="0" dirty="0">
                          <a:ln>
                            <a:noFill/>
                          </a:ln>
                          <a:solidFill>
                            <a:prstClr val="black"/>
                          </a:solidFill>
                          <a:effectLst/>
                          <a:uLnTx/>
                          <a:uFillTx/>
                          <a:latin typeface="+mn-lt"/>
                          <a:ea typeface="+mn-ea"/>
                          <a:cs typeface="+mn-cs"/>
                        </a:rPr>
                        <a:t>#...</a:t>
                      </a:r>
                      <a:endParaRPr lang="en-US"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endParaRPr lang="de-AT" sz="8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34790804"/>
                  </a:ext>
                </a:extLst>
              </a:tr>
            </a:tbl>
          </a:graphicData>
        </a:graphic>
      </p:graphicFrame>
      <p:sp>
        <p:nvSpPr>
          <p:cNvPr id="8" name="Geschweifte Klammer rechts 7"/>
          <p:cNvSpPr/>
          <p:nvPr/>
        </p:nvSpPr>
        <p:spPr>
          <a:xfrm rot="16200000">
            <a:off x="3506231" y="3180813"/>
            <a:ext cx="166817" cy="211300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9" name="Textfeld 8"/>
          <p:cNvSpPr txBox="1"/>
          <p:nvPr/>
        </p:nvSpPr>
        <p:spPr>
          <a:xfrm>
            <a:off x="4429558" y="3401859"/>
            <a:ext cx="1259012" cy="646331"/>
          </a:xfrm>
          <a:prstGeom prst="rect">
            <a:avLst/>
          </a:prstGeom>
          <a:noFill/>
        </p:spPr>
        <p:txBody>
          <a:bodyPr wrap="square" rtlCol="0">
            <a:spAutoFit/>
          </a:bodyPr>
          <a:lstStyle/>
          <a:p>
            <a:pPr algn="ctr" fontAlgn="b"/>
            <a:r>
              <a:rPr lang="de-AT" sz="900" dirty="0" err="1">
                <a:solidFill>
                  <a:srgbClr val="CC0000"/>
                </a:solidFill>
              </a:rPr>
              <a:t>can</a:t>
            </a:r>
            <a:r>
              <a:rPr lang="de-AT" sz="900" dirty="0">
                <a:solidFill>
                  <a:srgbClr val="CC0000"/>
                </a:solidFill>
              </a:rPr>
              <a:t> </a:t>
            </a:r>
            <a:r>
              <a:rPr lang="de-AT" sz="900" dirty="0" err="1">
                <a:solidFill>
                  <a:srgbClr val="CC0000"/>
                </a:solidFill>
              </a:rPr>
              <a:t>be</a:t>
            </a:r>
            <a:r>
              <a:rPr lang="de-AT" sz="900" dirty="0">
                <a:solidFill>
                  <a:srgbClr val="CC0000"/>
                </a:solidFill>
              </a:rPr>
              <a:t> </a:t>
            </a:r>
            <a:r>
              <a:rPr lang="de-AT" sz="900" dirty="0" err="1">
                <a:solidFill>
                  <a:srgbClr val="CC0000"/>
                </a:solidFill>
              </a:rPr>
              <a:t>directly</a:t>
            </a:r>
            <a:r>
              <a:rPr lang="de-AT" sz="900" dirty="0">
                <a:solidFill>
                  <a:srgbClr val="CC0000"/>
                </a:solidFill>
              </a:rPr>
              <a:t> </a:t>
            </a:r>
            <a:r>
              <a:rPr lang="de-AT" sz="900" dirty="0" err="1">
                <a:solidFill>
                  <a:srgbClr val="CC0000"/>
                </a:solidFill>
              </a:rPr>
              <a:t>supplied</a:t>
            </a:r>
            <a:r>
              <a:rPr lang="de-AT" sz="900" dirty="0">
                <a:solidFill>
                  <a:srgbClr val="CC0000"/>
                </a:solidFill>
              </a:rPr>
              <a:t> </a:t>
            </a:r>
            <a:r>
              <a:rPr lang="de-AT" sz="900" dirty="0" err="1">
                <a:solidFill>
                  <a:srgbClr val="CC0000"/>
                </a:solidFill>
              </a:rPr>
              <a:t>by</a:t>
            </a:r>
            <a:r>
              <a:rPr lang="de-AT" sz="900" dirty="0">
                <a:solidFill>
                  <a:srgbClr val="CC0000"/>
                </a:solidFill>
              </a:rPr>
              <a:t> REESS </a:t>
            </a:r>
            <a:r>
              <a:rPr lang="de-AT" sz="900" dirty="0" err="1">
                <a:solidFill>
                  <a:srgbClr val="CC0000"/>
                </a:solidFill>
              </a:rPr>
              <a:t>if</a:t>
            </a:r>
            <a:r>
              <a:rPr lang="de-AT" sz="900" dirty="0">
                <a:solidFill>
                  <a:srgbClr val="CC0000"/>
                </a:solidFill>
              </a:rPr>
              <a:t> </a:t>
            </a:r>
            <a:r>
              <a:rPr lang="de-AT" sz="900" dirty="0" err="1">
                <a:solidFill>
                  <a:srgbClr val="CC0000"/>
                </a:solidFill>
              </a:rPr>
              <a:t>present</a:t>
            </a:r>
            <a:br>
              <a:rPr lang="de-AT" sz="900" dirty="0">
                <a:solidFill>
                  <a:srgbClr val="CC0000"/>
                </a:solidFill>
              </a:rPr>
            </a:br>
            <a:r>
              <a:rPr lang="de-AT" sz="900" dirty="0">
                <a:solidFill>
                  <a:srgbClr val="CC0000"/>
                </a:solidFill>
              </a:rPr>
              <a:t>(</a:t>
            </a:r>
            <a:r>
              <a:rPr lang="de-AT" sz="900" dirty="0" err="1">
                <a:solidFill>
                  <a:srgbClr val="CC0000"/>
                </a:solidFill>
              </a:rPr>
              <a:t>indicated</a:t>
            </a:r>
            <a:r>
              <a:rPr lang="de-AT" sz="900" dirty="0">
                <a:solidFill>
                  <a:srgbClr val="CC0000"/>
                </a:solidFill>
              </a:rPr>
              <a:t> </a:t>
            </a:r>
            <a:r>
              <a:rPr lang="de-AT" sz="900" dirty="0" err="1">
                <a:solidFill>
                  <a:srgbClr val="CC0000"/>
                </a:solidFill>
              </a:rPr>
              <a:t>with</a:t>
            </a:r>
            <a:r>
              <a:rPr lang="de-AT" sz="900" dirty="0">
                <a:solidFill>
                  <a:srgbClr val="CC0000"/>
                </a:solidFill>
              </a:rPr>
              <a:t> 0/1)</a:t>
            </a:r>
          </a:p>
        </p:txBody>
      </p:sp>
      <p:sp>
        <p:nvSpPr>
          <p:cNvPr id="12" name="Geschweifte Klammer rechts 11"/>
          <p:cNvSpPr/>
          <p:nvPr/>
        </p:nvSpPr>
        <p:spPr>
          <a:xfrm rot="16200000">
            <a:off x="4975656" y="3867645"/>
            <a:ext cx="166817" cy="73934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3" name="Textfeld 12"/>
          <p:cNvSpPr txBox="1"/>
          <p:nvPr/>
        </p:nvSpPr>
        <p:spPr>
          <a:xfrm>
            <a:off x="2377262" y="3664632"/>
            <a:ext cx="2003172" cy="400110"/>
          </a:xfrm>
          <a:prstGeom prst="rect">
            <a:avLst/>
          </a:prstGeom>
          <a:noFill/>
        </p:spPr>
        <p:txBody>
          <a:bodyPr wrap="square" rtlCol="0">
            <a:spAutoFit/>
          </a:bodyPr>
          <a:lstStyle/>
          <a:p>
            <a:pPr algn="ctr" fontAlgn="b"/>
            <a:r>
              <a:rPr lang="de-AT" sz="1000" dirty="0" err="1">
                <a:solidFill>
                  <a:srgbClr val="CC0000"/>
                </a:solidFill>
              </a:rPr>
              <a:t>applicability</a:t>
            </a:r>
            <a:r>
              <a:rPr lang="de-AT" sz="1000" dirty="0">
                <a:solidFill>
                  <a:srgbClr val="CC0000"/>
                </a:solidFill>
              </a:rPr>
              <a:t> </a:t>
            </a:r>
            <a:r>
              <a:rPr lang="de-AT" sz="1000" dirty="0" err="1">
                <a:solidFill>
                  <a:srgbClr val="CC0000"/>
                </a:solidFill>
              </a:rPr>
              <a:t>for</a:t>
            </a:r>
            <a:r>
              <a:rPr lang="de-AT" sz="1000" dirty="0">
                <a:solidFill>
                  <a:srgbClr val="CC0000"/>
                </a:solidFill>
              </a:rPr>
              <a:t> </a:t>
            </a:r>
            <a:r>
              <a:rPr lang="de-AT" sz="1000" dirty="0" err="1">
                <a:solidFill>
                  <a:srgbClr val="CC0000"/>
                </a:solidFill>
              </a:rPr>
              <a:t>architecture</a:t>
            </a:r>
            <a:br>
              <a:rPr lang="de-AT" sz="1000" dirty="0">
                <a:solidFill>
                  <a:srgbClr val="CC0000"/>
                </a:solidFill>
              </a:rPr>
            </a:br>
            <a:r>
              <a:rPr lang="de-AT" sz="1000" dirty="0">
                <a:solidFill>
                  <a:srgbClr val="CC0000"/>
                </a:solidFill>
              </a:rPr>
              <a:t>(</a:t>
            </a:r>
            <a:r>
              <a:rPr lang="de-AT" sz="1000" dirty="0" err="1">
                <a:solidFill>
                  <a:srgbClr val="CC0000"/>
                </a:solidFill>
              </a:rPr>
              <a:t>indicated</a:t>
            </a:r>
            <a:r>
              <a:rPr lang="de-AT" sz="1000" dirty="0">
                <a:solidFill>
                  <a:srgbClr val="CC0000"/>
                </a:solidFill>
              </a:rPr>
              <a:t> </a:t>
            </a:r>
            <a:r>
              <a:rPr lang="de-AT" sz="1000" dirty="0" err="1">
                <a:solidFill>
                  <a:srgbClr val="CC0000"/>
                </a:solidFill>
              </a:rPr>
              <a:t>with</a:t>
            </a:r>
            <a:r>
              <a:rPr lang="de-AT" sz="1000" dirty="0">
                <a:solidFill>
                  <a:srgbClr val="CC0000"/>
                </a:solidFill>
              </a:rPr>
              <a:t> 0/1)</a:t>
            </a:r>
          </a:p>
        </p:txBody>
      </p:sp>
      <p:sp>
        <p:nvSpPr>
          <p:cNvPr id="14" name="Geschweifte Klammer rechts 13"/>
          <p:cNvSpPr/>
          <p:nvPr/>
        </p:nvSpPr>
        <p:spPr>
          <a:xfrm rot="10800000">
            <a:off x="740228" y="4558102"/>
            <a:ext cx="99949" cy="689576"/>
          </a:xfrm>
          <a:prstGeom prst="rightBrace">
            <a:avLst>
              <a:gd name="adj1" fmla="val 8333"/>
              <a:gd name="adj2" fmla="val 4908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6" name="Textfeld 15"/>
          <p:cNvSpPr txBox="1"/>
          <p:nvPr/>
        </p:nvSpPr>
        <p:spPr>
          <a:xfrm>
            <a:off x="-66297" y="5411622"/>
            <a:ext cx="856247" cy="461665"/>
          </a:xfrm>
          <a:prstGeom prst="rect">
            <a:avLst/>
          </a:prstGeom>
          <a:noFill/>
        </p:spPr>
        <p:txBody>
          <a:bodyPr wrap="square" rtlCol="0">
            <a:spAutoFit/>
          </a:bodyPr>
          <a:lstStyle/>
          <a:p>
            <a:pPr algn="ctr" fontAlgn="b"/>
            <a:r>
              <a:rPr lang="de-AT" sz="800" dirty="0">
                <a:solidFill>
                  <a:srgbClr val="CC0000"/>
                </a:solidFill>
              </a:rPr>
              <a:t>Block </a:t>
            </a:r>
            <a:r>
              <a:rPr lang="de-AT" sz="800" dirty="0" err="1">
                <a:solidFill>
                  <a:srgbClr val="CC0000"/>
                </a:solidFill>
              </a:rPr>
              <a:t>of</a:t>
            </a:r>
            <a:r>
              <a:rPr lang="de-AT" sz="800" dirty="0">
                <a:solidFill>
                  <a:srgbClr val="CC0000"/>
                </a:solidFill>
              </a:rPr>
              <a:t> </a:t>
            </a:r>
            <a:r>
              <a:rPr lang="de-AT" sz="800" b="1" dirty="0" err="1">
                <a:solidFill>
                  <a:srgbClr val="CC0000"/>
                </a:solidFill>
              </a:rPr>
              <a:t>electrical</a:t>
            </a:r>
            <a:r>
              <a:rPr lang="de-AT" sz="800" dirty="0">
                <a:solidFill>
                  <a:srgbClr val="CC0000"/>
                </a:solidFill>
              </a:rPr>
              <a:t> </a:t>
            </a:r>
            <a:r>
              <a:rPr lang="de-AT" sz="800" dirty="0" err="1">
                <a:solidFill>
                  <a:srgbClr val="CC0000"/>
                </a:solidFill>
              </a:rPr>
              <a:t>technologies</a:t>
            </a:r>
            <a:endParaRPr lang="de-AT" sz="800" dirty="0">
              <a:solidFill>
                <a:srgbClr val="CC0000"/>
              </a:solidFill>
            </a:endParaRPr>
          </a:p>
        </p:txBody>
      </p:sp>
      <p:sp>
        <p:nvSpPr>
          <p:cNvPr id="18" name="Geschweifte Klammer rechts 17"/>
          <p:cNvSpPr/>
          <p:nvPr/>
        </p:nvSpPr>
        <p:spPr>
          <a:xfrm rot="10800000">
            <a:off x="721684" y="5293326"/>
            <a:ext cx="118493" cy="68957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9" name="Textfeld 18"/>
          <p:cNvSpPr txBox="1"/>
          <p:nvPr/>
        </p:nvSpPr>
        <p:spPr>
          <a:xfrm>
            <a:off x="6345022" y="3622716"/>
            <a:ext cx="1970235" cy="400110"/>
          </a:xfrm>
          <a:prstGeom prst="rect">
            <a:avLst/>
          </a:prstGeom>
          <a:noFill/>
        </p:spPr>
        <p:txBody>
          <a:bodyPr wrap="square" rtlCol="0">
            <a:spAutoFit/>
          </a:bodyPr>
          <a:lstStyle/>
          <a:p>
            <a:pPr algn="ctr" fontAlgn="b"/>
            <a:r>
              <a:rPr lang="en-US" sz="1000" b="1" dirty="0">
                <a:solidFill>
                  <a:srgbClr val="CC0000"/>
                </a:solidFill>
              </a:rPr>
              <a:t>cycle specific indication of power demand [W]</a:t>
            </a:r>
            <a:endParaRPr lang="de-AT" sz="1000" b="1" dirty="0">
              <a:solidFill>
                <a:srgbClr val="CC0000"/>
              </a:solidFill>
            </a:endParaRPr>
          </a:p>
        </p:txBody>
      </p:sp>
      <p:sp>
        <p:nvSpPr>
          <p:cNvPr id="20" name="Geschweifte Klammer rechts 19"/>
          <p:cNvSpPr/>
          <p:nvPr/>
        </p:nvSpPr>
        <p:spPr>
          <a:xfrm rot="16200000">
            <a:off x="7147357" y="2478537"/>
            <a:ext cx="166817" cy="351755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7" name="Textfeld 6"/>
          <p:cNvSpPr txBox="1"/>
          <p:nvPr/>
        </p:nvSpPr>
        <p:spPr>
          <a:xfrm rot="16200000">
            <a:off x="-620870" y="3551436"/>
            <a:ext cx="1759311" cy="307777"/>
          </a:xfrm>
          <a:prstGeom prst="rect">
            <a:avLst/>
          </a:prstGeom>
          <a:solidFill>
            <a:srgbClr val="F70146"/>
          </a:solidFill>
        </p:spPr>
        <p:txBody>
          <a:bodyPr wrap="square" rtlCol="0">
            <a:spAutoFit/>
          </a:bodyPr>
          <a:lstStyle/>
          <a:p>
            <a:pPr algn="ctr"/>
            <a:r>
              <a:rPr lang="de-AT" sz="1400" b="1" dirty="0">
                <a:solidFill>
                  <a:schemeClr val="bg1"/>
                </a:solidFill>
              </a:rPr>
              <a:t>PS-Table.csv</a:t>
            </a:r>
          </a:p>
        </p:txBody>
      </p:sp>
    </p:spTree>
    <p:extLst>
      <p:ext uri="{BB962C8B-B14F-4D97-AF65-F5344CB8AC3E}">
        <p14:creationId xmlns:p14="http://schemas.microsoft.com/office/powerpoint/2010/main" val="2932388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Generic parameterisation of auxiliaries </a:t>
            </a:r>
          </a:p>
        </p:txBody>
      </p:sp>
      <p:sp>
        <p:nvSpPr>
          <p:cNvPr id="3" name="Inhaltsplatzhalter 2"/>
          <p:cNvSpPr>
            <a:spLocks noGrp="1"/>
          </p:cNvSpPr>
          <p:nvPr>
            <p:ph idx="1"/>
          </p:nvPr>
        </p:nvSpPr>
        <p:spPr>
          <a:xfrm>
            <a:off x="622355" y="2137414"/>
            <a:ext cx="8394645" cy="2865529"/>
          </a:xfrm>
        </p:spPr>
        <p:txBody>
          <a:bodyPr/>
          <a:lstStyle/>
          <a:p>
            <a:r>
              <a:rPr lang="en-US" sz="1800" dirty="0"/>
              <a:t>Basic principles of ICE fan and electric components conditioning power in DECL</a:t>
            </a:r>
          </a:p>
          <a:p>
            <a:pPr lvl="1"/>
            <a:r>
              <a:rPr lang="en-US" sz="1400" dirty="0"/>
              <a:t>ICE fan power is always fully applied when ICE = on in simulation</a:t>
            </a:r>
            <a:br>
              <a:rPr lang="en-US" sz="1400" dirty="0"/>
            </a:br>
            <a:endParaRPr lang="en-US" sz="600" dirty="0"/>
          </a:p>
          <a:p>
            <a:pPr lvl="1"/>
            <a:r>
              <a:rPr lang="en-US" sz="1400" b="1" u="sng" dirty="0"/>
              <a:t>For PEV and S-HEV:</a:t>
            </a:r>
            <a:r>
              <a:rPr lang="en-US" sz="1400" dirty="0"/>
              <a:t> values from table below are fully applied when at least one EM = on in simulation (i.e. electric powertrain is propelling/braking) or when E_PTO = on</a:t>
            </a:r>
            <a:br>
              <a:rPr lang="en-US" sz="1400" dirty="0"/>
            </a:br>
            <a:endParaRPr lang="en-US" sz="600" dirty="0"/>
          </a:p>
          <a:p>
            <a:pPr lvl="1"/>
            <a:r>
              <a:rPr lang="en-US" sz="1400" b="1" u="sng" dirty="0"/>
              <a:t>For P-HEV:</a:t>
            </a:r>
            <a:r>
              <a:rPr lang="en-US" sz="1400" dirty="0"/>
              <a:t> values from table below are applied according to equations further below</a:t>
            </a:r>
            <a:br>
              <a:rPr lang="en-US" sz="1400" dirty="0"/>
            </a:br>
            <a:r>
              <a:rPr lang="en-US" sz="1400" dirty="0"/>
              <a:t>with scaling factor “x” reflecting actual split of propulsion power for each </a:t>
            </a:r>
            <a:r>
              <a:rPr lang="en-US" sz="1400" dirty="0" err="1"/>
              <a:t>timestep</a:t>
            </a:r>
            <a:endParaRPr lang="en-US" sz="1400" dirty="0"/>
          </a:p>
          <a:p>
            <a:pPr lvl="2"/>
            <a:r>
              <a:rPr lang="en-GB" sz="1200" dirty="0"/>
              <a:t>x = ABS(P</a:t>
            </a:r>
            <a:r>
              <a:rPr lang="en-GB" sz="1200" baseline="-25000" dirty="0"/>
              <a:t>EM</a:t>
            </a:r>
            <a:r>
              <a:rPr lang="en-GB" sz="1200" dirty="0"/>
              <a:t>) / [ABS(P</a:t>
            </a:r>
            <a:r>
              <a:rPr lang="en-GB" sz="1200" baseline="-25000" dirty="0"/>
              <a:t>EM</a:t>
            </a:r>
            <a:r>
              <a:rPr lang="en-GB" sz="1200" dirty="0"/>
              <a:t>) + ABS(P</a:t>
            </a:r>
            <a:r>
              <a:rPr lang="en-GB" sz="1200" baseline="-25000" dirty="0"/>
              <a:t>ICE</a:t>
            </a:r>
            <a:r>
              <a:rPr lang="en-GB" sz="1200" dirty="0"/>
              <a:t>)] </a:t>
            </a:r>
            <a:br>
              <a:rPr lang="en-GB" sz="1200" dirty="0"/>
            </a:br>
            <a:br>
              <a:rPr lang="en-GB" sz="800" dirty="0"/>
            </a:br>
            <a:r>
              <a:rPr lang="en-GB" sz="1200" dirty="0"/>
              <a:t>with and P</a:t>
            </a:r>
            <a:r>
              <a:rPr lang="en-GB" sz="1200" baseline="-25000" dirty="0"/>
              <a:t>EM</a:t>
            </a:r>
            <a:r>
              <a:rPr lang="en-GB" sz="1200" dirty="0"/>
              <a:t> and P</a:t>
            </a:r>
            <a:r>
              <a:rPr lang="en-GB" sz="1200" baseline="-25000" dirty="0"/>
              <a:t>ICE</a:t>
            </a:r>
            <a:r>
              <a:rPr lang="en-GB" sz="1200" dirty="0"/>
              <a:t> being the mechanical power of EM and ICE</a:t>
            </a:r>
            <a:br>
              <a:rPr lang="en-GB" sz="1200" dirty="0"/>
            </a:br>
            <a:endParaRPr lang="en-GB" sz="700" dirty="0"/>
          </a:p>
          <a:p>
            <a:pPr lvl="2"/>
            <a:r>
              <a:rPr lang="en-GB" sz="1200" dirty="0"/>
              <a:t>Applied electric components conditioning power equals: “table value” multiplied by x</a:t>
            </a:r>
            <a:br>
              <a:rPr lang="en-GB" sz="1200" dirty="0"/>
            </a:br>
            <a:endParaRPr lang="en-GB" sz="600" dirty="0"/>
          </a:p>
          <a:p>
            <a:pPr lvl="2"/>
            <a:r>
              <a:rPr lang="en-GB" sz="1200" dirty="0"/>
              <a:t>For further details please refer to </a:t>
            </a:r>
            <a:r>
              <a:rPr lang="en-GB" sz="1200" b="1" i="1" dirty="0"/>
              <a:t>VECTO-DEV WS#12 18.05.2022 (slide 15ff)</a:t>
            </a:r>
          </a:p>
        </p:txBody>
      </p:sp>
      <p:sp>
        <p:nvSpPr>
          <p:cNvPr id="4" name="Foliennummernplatzhalter 3"/>
          <p:cNvSpPr>
            <a:spLocks noGrp="1"/>
          </p:cNvSpPr>
          <p:nvPr>
            <p:ph type="sldNum" sz="quarter" idx="12"/>
          </p:nvPr>
        </p:nvSpPr>
        <p:spPr/>
        <p:txBody>
          <a:bodyPr/>
          <a:lstStyle/>
          <a:p>
            <a:fld id="{4B64EC4D-37E3-EF42-B9AB-6337577588CB}" type="slidenum">
              <a:rPr lang="de-DE" smtClean="0"/>
              <a:t>26</a:t>
            </a:fld>
            <a:endParaRPr lang="de-DE"/>
          </a:p>
        </p:txBody>
      </p:sp>
      <p:graphicFrame>
        <p:nvGraphicFramePr>
          <p:cNvPr id="7" name="Tabelle 6"/>
          <p:cNvGraphicFramePr>
            <a:graphicFrameLocks noGrp="1"/>
          </p:cNvGraphicFramePr>
          <p:nvPr/>
        </p:nvGraphicFramePr>
        <p:xfrm>
          <a:off x="1292311" y="5077897"/>
          <a:ext cx="7277100" cy="838200"/>
        </p:xfrm>
        <a:graphic>
          <a:graphicData uri="http://schemas.openxmlformats.org/drawingml/2006/table">
            <a:tbl>
              <a:tblPr>
                <a:tableStyleId>{5C22544A-7EE6-4342-B048-85BDC9FD1C3A}</a:tableStyleId>
              </a:tblPr>
              <a:tblGrid>
                <a:gridCol w="1745360">
                  <a:extLst>
                    <a:ext uri="{9D8B030D-6E8A-4147-A177-3AD203B41FA5}">
                      <a16:colId xmlns:a16="http://schemas.microsoft.com/office/drawing/2014/main" val="3885140559"/>
                    </a:ext>
                  </a:extLst>
                </a:gridCol>
                <a:gridCol w="1382935">
                  <a:extLst>
                    <a:ext uri="{9D8B030D-6E8A-4147-A177-3AD203B41FA5}">
                      <a16:colId xmlns:a16="http://schemas.microsoft.com/office/drawing/2014/main" val="1606952657"/>
                    </a:ext>
                  </a:extLst>
                </a:gridCol>
                <a:gridCol w="1382935">
                  <a:extLst>
                    <a:ext uri="{9D8B030D-6E8A-4147-A177-3AD203B41FA5}">
                      <a16:colId xmlns:a16="http://schemas.microsoft.com/office/drawing/2014/main" val="2100958580"/>
                    </a:ext>
                  </a:extLst>
                </a:gridCol>
                <a:gridCol w="1382935">
                  <a:extLst>
                    <a:ext uri="{9D8B030D-6E8A-4147-A177-3AD203B41FA5}">
                      <a16:colId xmlns:a16="http://schemas.microsoft.com/office/drawing/2014/main" val="1215150834"/>
                    </a:ext>
                  </a:extLst>
                </a:gridCol>
                <a:gridCol w="1382935">
                  <a:extLst>
                    <a:ext uri="{9D8B030D-6E8A-4147-A177-3AD203B41FA5}">
                      <a16:colId xmlns:a16="http://schemas.microsoft.com/office/drawing/2014/main" val="4130064881"/>
                    </a:ext>
                  </a:extLst>
                </a:gridCol>
              </a:tblGrid>
              <a:tr h="447675">
                <a:tc gridSpan="5">
                  <a:txBody>
                    <a:bodyPr/>
                    <a:lstStyle/>
                    <a:p>
                      <a:pPr algn="ctr" fontAlgn="b"/>
                      <a:r>
                        <a:rPr lang="en-US" sz="1000" b="1" u="none" strike="noStrike" dirty="0">
                          <a:effectLst/>
                        </a:rPr>
                        <a:t>Electric conditioning power demand</a:t>
                      </a:r>
                      <a:br>
                        <a:rPr lang="en-US" sz="1000" b="1" u="none" strike="noStrike" dirty="0">
                          <a:effectLst/>
                        </a:rPr>
                      </a:br>
                      <a:r>
                        <a:rPr lang="en-US" sz="1000" b="1" u="none" strike="noStrike" dirty="0">
                          <a:effectLst/>
                        </a:rPr>
                        <a:t>applied to electric system [W]</a:t>
                      </a:r>
                      <a:endParaRPr lang="en-US" sz="1000" b="1" i="0" u="none" strike="noStrike" dirty="0">
                        <a:solidFill>
                          <a:srgbClr val="FF0000"/>
                        </a:solidFill>
                        <a:effectLst/>
                        <a:latin typeface="Calibri" panose="020F0502020204030204" pitchFamily="34" charset="0"/>
                      </a:endParaRPr>
                    </a:p>
                  </a:txBody>
                  <a:tcPr marL="0" marR="0" marT="0" marB="0" anchor="ctr"/>
                </a:tc>
                <a:tc hMerge="1">
                  <a:txBody>
                    <a:bodyPr/>
                    <a:lstStyle/>
                    <a:p>
                      <a:endParaRPr lang="de-AT"/>
                    </a:p>
                  </a:txBody>
                  <a:tcPr/>
                </a:tc>
                <a:tc hMerge="1">
                  <a:txBody>
                    <a:bodyPr/>
                    <a:lstStyle/>
                    <a:p>
                      <a:endParaRPr lang="de-AT"/>
                    </a:p>
                  </a:txBody>
                  <a:tcPr/>
                </a:tc>
                <a:tc hMerge="1">
                  <a:txBody>
                    <a:bodyPr/>
                    <a:lstStyle/>
                    <a:p>
                      <a:endParaRPr lang="de-AT"/>
                    </a:p>
                  </a:txBody>
                  <a:tcPr/>
                </a:tc>
                <a:tc hMerge="1">
                  <a:txBody>
                    <a:bodyPr/>
                    <a:lstStyle/>
                    <a:p>
                      <a:endParaRPr lang="de-AT"/>
                    </a:p>
                  </a:txBody>
                  <a:tcPr/>
                </a:tc>
                <a:extLst>
                  <a:ext uri="{0D108BD9-81ED-4DB2-BD59-A6C34878D82A}">
                    <a16:rowId xmlns:a16="http://schemas.microsoft.com/office/drawing/2014/main" val="1532090981"/>
                  </a:ext>
                </a:extLst>
              </a:tr>
              <a:tr h="190500">
                <a:tc>
                  <a:txBody>
                    <a:bodyPr/>
                    <a:lstStyle/>
                    <a:p>
                      <a:pPr algn="ctr" fontAlgn="b"/>
                      <a:r>
                        <a:rPr lang="de-AT" sz="1000" b="1" u="none" strike="noStrike">
                          <a:effectLst/>
                        </a:rPr>
                        <a:t> Long Haul </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b="1" u="none" strike="noStrike">
                          <a:effectLst/>
                        </a:rPr>
                        <a:t> Regional Delivery </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b="1" u="none" strike="noStrike">
                          <a:effectLst/>
                        </a:rPr>
                        <a:t> Urban  Delivery </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b="1" u="none" strike="noStrike">
                          <a:effectLst/>
                        </a:rPr>
                        <a:t> Municipal utility </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b="1" u="none" strike="noStrike" dirty="0">
                          <a:effectLst/>
                        </a:rPr>
                        <a:t> </a:t>
                      </a:r>
                      <a:r>
                        <a:rPr lang="de-AT" sz="1000" b="1" u="none" strike="noStrike" dirty="0" err="1">
                          <a:effectLst/>
                        </a:rPr>
                        <a:t>Construction</a:t>
                      </a:r>
                      <a:endParaRPr lang="de-AT" sz="10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50272128"/>
                  </a:ext>
                </a:extLst>
              </a:tr>
              <a:tr h="200025">
                <a:tc>
                  <a:txBody>
                    <a:bodyPr/>
                    <a:lstStyle/>
                    <a:p>
                      <a:pPr algn="ctr" fontAlgn="b"/>
                      <a:r>
                        <a:rPr lang="de-AT" sz="1000" b="1" u="none" strike="noStrike">
                          <a:effectLst/>
                        </a:rPr>
                        <a:t>600</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b="1" u="none" strike="noStrike">
                          <a:effectLst/>
                        </a:rPr>
                        <a:t>600</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b="1" u="none" strike="noStrike">
                          <a:effectLst/>
                        </a:rPr>
                        <a:t>550</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b="1" u="none" strike="noStrike">
                          <a:effectLst/>
                        </a:rPr>
                        <a:t>550</a:t>
                      </a:r>
                      <a:endParaRPr lang="de-AT" sz="10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de-AT" sz="1000" b="1" u="none" strike="noStrike" dirty="0">
                          <a:effectLst/>
                        </a:rPr>
                        <a:t>600</a:t>
                      </a:r>
                      <a:endParaRPr lang="de-AT" sz="10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92547276"/>
                  </a:ext>
                </a:extLst>
              </a:tr>
            </a:tbl>
          </a:graphicData>
        </a:graphic>
      </p:graphicFrame>
      <p:sp>
        <p:nvSpPr>
          <p:cNvPr id="21" name="Textfeld 20"/>
          <p:cNvSpPr txBox="1"/>
          <p:nvPr/>
        </p:nvSpPr>
        <p:spPr>
          <a:xfrm rot="16200000">
            <a:off x="-577622" y="3443714"/>
            <a:ext cx="1759311" cy="523220"/>
          </a:xfrm>
          <a:prstGeom prst="rect">
            <a:avLst/>
          </a:prstGeom>
          <a:solidFill>
            <a:srgbClr val="F70146"/>
          </a:solidFill>
        </p:spPr>
        <p:txBody>
          <a:bodyPr wrap="square" rtlCol="0">
            <a:spAutoFit/>
          </a:bodyPr>
          <a:lstStyle/>
          <a:p>
            <a:pPr algn="ctr"/>
            <a:r>
              <a:rPr lang="de-AT" sz="1400" b="1" dirty="0">
                <a:solidFill>
                  <a:schemeClr val="bg1"/>
                </a:solidFill>
              </a:rPr>
              <a:t>Fan-Tech.csv + Cond-Table.csv</a:t>
            </a:r>
          </a:p>
        </p:txBody>
      </p:sp>
    </p:spTree>
    <p:extLst>
      <p:ext uri="{BB962C8B-B14F-4D97-AF65-F5344CB8AC3E}">
        <p14:creationId xmlns:p14="http://schemas.microsoft.com/office/powerpoint/2010/main" val="1915643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Generic parameterisation of auxiliaries </a:t>
            </a:r>
          </a:p>
        </p:txBody>
      </p:sp>
      <p:sp>
        <p:nvSpPr>
          <p:cNvPr id="3" name="Inhaltsplatzhalter 2"/>
          <p:cNvSpPr>
            <a:spLocks noGrp="1"/>
          </p:cNvSpPr>
          <p:nvPr>
            <p:ph idx="1"/>
          </p:nvPr>
        </p:nvSpPr>
        <p:spPr>
          <a:xfrm>
            <a:off x="622355" y="2137414"/>
            <a:ext cx="8394645" cy="2828459"/>
          </a:xfrm>
        </p:spPr>
        <p:txBody>
          <a:bodyPr>
            <a:normAutofit fontScale="92500" lnSpcReduction="20000"/>
          </a:bodyPr>
          <a:lstStyle/>
          <a:p>
            <a:r>
              <a:rPr lang="en-US" sz="1800" dirty="0"/>
              <a:t>Basic principles of steering system in DECL</a:t>
            </a:r>
          </a:p>
          <a:p>
            <a:pPr lvl="1"/>
            <a:r>
              <a:rPr lang="de-AT" sz="1400" dirty="0" err="1"/>
              <a:t>Foundation</a:t>
            </a:r>
            <a:r>
              <a:rPr lang="de-AT" sz="1400" dirty="0"/>
              <a:t> </a:t>
            </a:r>
            <a:r>
              <a:rPr lang="de-AT" sz="1400" dirty="0" err="1"/>
              <a:t>of</a:t>
            </a:r>
            <a:r>
              <a:rPr lang="de-AT" sz="1400" dirty="0"/>
              <a:t> </a:t>
            </a:r>
            <a:r>
              <a:rPr lang="de-AT" sz="1400" dirty="0" err="1"/>
              <a:t>approach</a:t>
            </a:r>
            <a:r>
              <a:rPr lang="de-AT" sz="1400" dirty="0"/>
              <a:t> </a:t>
            </a:r>
            <a:r>
              <a:rPr lang="de-AT" sz="1400" dirty="0" err="1"/>
              <a:t>is</a:t>
            </a:r>
            <a:r>
              <a:rPr lang="de-AT" sz="1400" dirty="0"/>
              <a:t> </a:t>
            </a:r>
            <a:r>
              <a:rPr lang="de-AT" sz="1400" dirty="0" err="1"/>
              <a:t>that</a:t>
            </a:r>
            <a:r>
              <a:rPr lang="de-AT" sz="1400" dirty="0"/>
              <a:t> </a:t>
            </a:r>
            <a:r>
              <a:rPr lang="de-AT" sz="1400" dirty="0" err="1"/>
              <a:t>basic</a:t>
            </a:r>
            <a:r>
              <a:rPr lang="de-AT" sz="1400" dirty="0"/>
              <a:t> power </a:t>
            </a:r>
            <a:r>
              <a:rPr lang="de-AT" sz="1400" dirty="0" err="1"/>
              <a:t>demand</a:t>
            </a:r>
            <a:r>
              <a:rPr lang="de-AT" sz="1400" dirty="0"/>
              <a:t> </a:t>
            </a:r>
            <a:r>
              <a:rPr lang="de-AT" sz="1400" dirty="0" err="1"/>
              <a:t>defined</a:t>
            </a:r>
            <a:r>
              <a:rPr lang="de-AT" sz="1400" dirty="0"/>
              <a:t> per </a:t>
            </a:r>
            <a:r>
              <a:rPr lang="de-AT" sz="1400" dirty="0" err="1"/>
              <a:t>cycle</a:t>
            </a:r>
            <a:r>
              <a:rPr lang="de-AT" sz="1400" dirty="0"/>
              <a:t> </a:t>
            </a:r>
            <a:r>
              <a:rPr lang="de-AT" sz="1400" dirty="0" err="1"/>
              <a:t>is</a:t>
            </a:r>
            <a:br>
              <a:rPr lang="de-AT" sz="1400" dirty="0"/>
            </a:br>
            <a:r>
              <a:rPr lang="de-AT" sz="1400" dirty="0" err="1"/>
              <a:t>multiplied</a:t>
            </a:r>
            <a:r>
              <a:rPr lang="de-AT" sz="1400" dirty="0"/>
              <a:t> </a:t>
            </a:r>
            <a:r>
              <a:rPr lang="de-AT" sz="1400" dirty="0" err="1"/>
              <a:t>by</a:t>
            </a:r>
            <a:r>
              <a:rPr lang="de-AT" sz="1400" dirty="0"/>
              <a:t> </a:t>
            </a:r>
            <a:r>
              <a:rPr lang="de-AT" sz="1400" dirty="0" err="1"/>
              <a:t>technology</a:t>
            </a:r>
            <a:r>
              <a:rPr lang="de-AT" sz="1400" dirty="0"/>
              <a:t> </a:t>
            </a:r>
            <a:r>
              <a:rPr lang="de-AT" sz="1400" dirty="0" err="1"/>
              <a:t>dependent</a:t>
            </a:r>
            <a:r>
              <a:rPr lang="de-AT" sz="1400" dirty="0"/>
              <a:t> </a:t>
            </a:r>
            <a:r>
              <a:rPr lang="de-AT" sz="1400" dirty="0" err="1"/>
              <a:t>scaling</a:t>
            </a:r>
            <a:r>
              <a:rPr lang="de-AT" sz="1400" dirty="0"/>
              <a:t> </a:t>
            </a:r>
            <a:r>
              <a:rPr lang="de-AT" sz="1400" dirty="0" err="1"/>
              <a:t>factors</a:t>
            </a:r>
            <a:r>
              <a:rPr lang="de-AT" sz="1400" dirty="0"/>
              <a:t> (CFs)</a:t>
            </a:r>
            <a:br>
              <a:rPr lang="de-AT" sz="1400" dirty="0"/>
            </a:br>
            <a:endParaRPr lang="de-AT" sz="600" dirty="0"/>
          </a:p>
          <a:p>
            <a:pPr lvl="1"/>
            <a:r>
              <a:rPr lang="de-AT" sz="1400" dirty="0"/>
              <a:t>3 sub-groups </a:t>
            </a:r>
            <a:r>
              <a:rPr lang="de-AT" sz="1400" dirty="0" err="1"/>
              <a:t>of</a:t>
            </a:r>
            <a:r>
              <a:rPr lang="de-AT" sz="1400" dirty="0"/>
              <a:t> power </a:t>
            </a:r>
            <a:r>
              <a:rPr lang="de-AT" sz="1400" dirty="0" err="1"/>
              <a:t>demands</a:t>
            </a:r>
            <a:r>
              <a:rPr lang="de-AT" sz="1400" dirty="0"/>
              <a:t> </a:t>
            </a:r>
            <a:r>
              <a:rPr lang="de-AT" sz="1400" dirty="0" err="1"/>
              <a:t>defined</a:t>
            </a:r>
            <a:r>
              <a:rPr lang="de-AT" sz="1400" dirty="0"/>
              <a:t>:</a:t>
            </a:r>
          </a:p>
          <a:p>
            <a:pPr lvl="2"/>
            <a:r>
              <a:rPr lang="de-AT" sz="1200" dirty="0"/>
              <a:t>U&amp;F: </a:t>
            </a:r>
            <a:r>
              <a:rPr lang="de-AT" sz="1200" dirty="0" err="1"/>
              <a:t>unloaded</a:t>
            </a:r>
            <a:r>
              <a:rPr lang="de-AT" sz="1200" dirty="0"/>
              <a:t> </a:t>
            </a:r>
            <a:r>
              <a:rPr lang="de-AT" sz="1200" dirty="0" err="1"/>
              <a:t>and</a:t>
            </a:r>
            <a:r>
              <a:rPr lang="de-AT" sz="1200" dirty="0"/>
              <a:t> </a:t>
            </a:r>
            <a:r>
              <a:rPr lang="de-AT" sz="1200" dirty="0" err="1"/>
              <a:t>friction</a:t>
            </a:r>
            <a:endParaRPr lang="de-AT" sz="1200" dirty="0"/>
          </a:p>
          <a:p>
            <a:pPr lvl="2"/>
            <a:r>
              <a:rPr lang="de-AT" sz="1200" dirty="0"/>
              <a:t>B: </a:t>
            </a:r>
            <a:r>
              <a:rPr lang="de-AT" sz="1200" dirty="0" err="1"/>
              <a:t>banking</a:t>
            </a:r>
            <a:endParaRPr lang="de-AT" sz="1200" dirty="0"/>
          </a:p>
          <a:p>
            <a:pPr lvl="2"/>
            <a:r>
              <a:rPr lang="de-AT" sz="1200" dirty="0"/>
              <a:t>S: </a:t>
            </a:r>
            <a:r>
              <a:rPr lang="de-AT" sz="1200" dirty="0" err="1"/>
              <a:t>steering</a:t>
            </a:r>
            <a:br>
              <a:rPr lang="de-AT" sz="1200" dirty="0"/>
            </a:br>
            <a:endParaRPr lang="de-AT" sz="600" dirty="0"/>
          </a:p>
          <a:p>
            <a:pPr lvl="1"/>
            <a:r>
              <a:rPr lang="de-AT" sz="1400" dirty="0"/>
              <a:t>Total </a:t>
            </a:r>
            <a:r>
              <a:rPr lang="de-AT" sz="1400" dirty="0" err="1"/>
              <a:t>steering</a:t>
            </a:r>
            <a:r>
              <a:rPr lang="de-AT" sz="1400" dirty="0"/>
              <a:t> power </a:t>
            </a:r>
            <a:r>
              <a:rPr lang="de-AT" sz="1400" dirty="0" err="1"/>
              <a:t>acc</a:t>
            </a:r>
            <a:r>
              <a:rPr lang="de-AT" sz="1400" dirty="0"/>
              <a:t>. </a:t>
            </a:r>
            <a:r>
              <a:rPr lang="de-AT" sz="1400" dirty="0" err="1"/>
              <a:t>to</a:t>
            </a:r>
            <a:r>
              <a:rPr lang="de-AT" sz="1400" dirty="0"/>
              <a:t> </a:t>
            </a:r>
            <a:r>
              <a:rPr lang="de-AT" sz="1400" dirty="0" err="1"/>
              <a:t>equation</a:t>
            </a:r>
            <a:r>
              <a:rPr lang="de-AT" sz="1400" dirty="0"/>
              <a:t> </a:t>
            </a:r>
            <a:r>
              <a:rPr lang="de-AT" sz="1400" dirty="0" err="1"/>
              <a:t>below</a:t>
            </a:r>
            <a:r>
              <a:rPr lang="de-AT" sz="1400" dirty="0"/>
              <a:t> </a:t>
            </a:r>
            <a:r>
              <a:rPr lang="de-AT" sz="1400" dirty="0" err="1"/>
              <a:t>is</a:t>
            </a:r>
            <a:r>
              <a:rPr lang="de-AT" sz="1400" dirty="0"/>
              <a:t> </a:t>
            </a:r>
            <a:r>
              <a:rPr lang="de-AT" sz="1400" dirty="0" err="1"/>
              <a:t>calculated</a:t>
            </a:r>
            <a:r>
              <a:rPr lang="de-AT" sz="1400" dirty="0"/>
              <a:t> </a:t>
            </a:r>
            <a:r>
              <a:rPr lang="de-AT" sz="1400" dirty="0" err="1"/>
              <a:t>separately</a:t>
            </a:r>
            <a:r>
              <a:rPr lang="de-AT" sz="1400" dirty="0"/>
              <a:t> </a:t>
            </a:r>
            <a:r>
              <a:rPr lang="de-AT" sz="1400" dirty="0" err="1"/>
              <a:t>for</a:t>
            </a:r>
            <a:br>
              <a:rPr lang="de-AT" sz="1400" dirty="0"/>
            </a:br>
            <a:r>
              <a:rPr lang="de-AT" sz="1400" dirty="0" err="1"/>
              <a:t>mechanical</a:t>
            </a:r>
            <a:r>
              <a:rPr lang="de-AT" sz="1400" dirty="0"/>
              <a:t> </a:t>
            </a:r>
            <a:r>
              <a:rPr lang="de-AT" sz="1400" dirty="0" err="1"/>
              <a:t>and</a:t>
            </a:r>
            <a:r>
              <a:rPr lang="de-AT" sz="1400" dirty="0"/>
              <a:t> </a:t>
            </a:r>
            <a:r>
              <a:rPr lang="de-AT" sz="1400" dirty="0" err="1"/>
              <a:t>electrical</a:t>
            </a:r>
            <a:r>
              <a:rPr lang="de-AT" sz="1400" dirty="0"/>
              <a:t> </a:t>
            </a:r>
            <a:r>
              <a:rPr lang="de-AT" sz="1400" dirty="0" err="1"/>
              <a:t>stering</a:t>
            </a:r>
            <a:r>
              <a:rPr lang="de-AT" sz="1400" dirty="0"/>
              <a:t> power </a:t>
            </a:r>
            <a:r>
              <a:rPr lang="de-AT" sz="1400" dirty="0" err="1"/>
              <a:t>demand</a:t>
            </a:r>
            <a:r>
              <a:rPr lang="de-AT" sz="1400" dirty="0"/>
              <a:t>:</a:t>
            </a:r>
          </a:p>
          <a:p>
            <a:pPr lvl="2"/>
            <a:r>
              <a:rPr lang="de-AT" sz="1050" dirty="0"/>
              <a:t>All CFs </a:t>
            </a:r>
            <a:r>
              <a:rPr lang="de-AT" sz="1050" dirty="0" err="1"/>
              <a:t>are</a:t>
            </a:r>
            <a:r>
              <a:rPr lang="de-AT" sz="1050" dirty="0"/>
              <a:t> </a:t>
            </a:r>
            <a:r>
              <a:rPr lang="de-AT" sz="1050" dirty="0" err="1"/>
              <a:t>averaged</a:t>
            </a:r>
            <a:r>
              <a:rPr lang="de-AT" sz="1050" dirty="0"/>
              <a:t> </a:t>
            </a:r>
            <a:r>
              <a:rPr lang="de-AT" sz="1050" dirty="0" err="1"/>
              <a:t>over</a:t>
            </a:r>
            <a:r>
              <a:rPr lang="de-AT" sz="1050" dirty="0"/>
              <a:t> all </a:t>
            </a:r>
            <a:r>
              <a:rPr lang="de-AT" sz="1050" dirty="0" err="1"/>
              <a:t>steered</a:t>
            </a:r>
            <a:r>
              <a:rPr lang="de-AT" sz="1050" dirty="0"/>
              <a:t> </a:t>
            </a:r>
            <a:r>
              <a:rPr lang="de-AT" sz="1050" dirty="0" err="1"/>
              <a:t>axles</a:t>
            </a:r>
            <a:r>
              <a:rPr lang="de-AT" sz="1050" dirty="0"/>
              <a:t> </a:t>
            </a:r>
            <a:r>
              <a:rPr lang="de-AT" sz="1050" dirty="0" err="1"/>
              <a:t>with</a:t>
            </a:r>
            <a:r>
              <a:rPr lang="de-AT" sz="1050" dirty="0"/>
              <a:t> </a:t>
            </a:r>
            <a:r>
              <a:rPr lang="de-AT" sz="1050" dirty="0" err="1"/>
              <a:t>electric</a:t>
            </a:r>
            <a:r>
              <a:rPr lang="de-AT" sz="1050" dirty="0"/>
              <a:t> </a:t>
            </a:r>
            <a:r>
              <a:rPr lang="de-AT" sz="1050" dirty="0" err="1"/>
              <a:t>technology</a:t>
            </a:r>
            <a:endParaRPr lang="de-AT" sz="1050" dirty="0"/>
          </a:p>
          <a:p>
            <a:pPr lvl="2"/>
            <a:r>
              <a:rPr lang="de-AT" sz="1050" dirty="0"/>
              <a:t>All CFs </a:t>
            </a:r>
            <a:r>
              <a:rPr lang="de-AT" sz="1050" dirty="0" err="1"/>
              <a:t>are</a:t>
            </a:r>
            <a:r>
              <a:rPr lang="de-AT" sz="1050" dirty="0"/>
              <a:t> </a:t>
            </a:r>
            <a:r>
              <a:rPr lang="de-AT" sz="1050" dirty="0" err="1"/>
              <a:t>averaged</a:t>
            </a:r>
            <a:r>
              <a:rPr lang="de-AT" sz="1050" dirty="0"/>
              <a:t> </a:t>
            </a:r>
            <a:r>
              <a:rPr lang="de-AT" sz="1050" dirty="0" err="1"/>
              <a:t>over</a:t>
            </a:r>
            <a:r>
              <a:rPr lang="de-AT" sz="1050" dirty="0"/>
              <a:t> all </a:t>
            </a:r>
            <a:r>
              <a:rPr lang="de-AT" sz="1050" dirty="0" err="1"/>
              <a:t>steered</a:t>
            </a:r>
            <a:r>
              <a:rPr lang="de-AT" sz="1050" dirty="0"/>
              <a:t> </a:t>
            </a:r>
            <a:r>
              <a:rPr lang="de-AT" sz="1050" dirty="0" err="1"/>
              <a:t>axles</a:t>
            </a:r>
            <a:r>
              <a:rPr lang="de-AT" sz="1050" dirty="0"/>
              <a:t> </a:t>
            </a:r>
            <a:r>
              <a:rPr lang="de-AT" sz="1050" dirty="0" err="1"/>
              <a:t>with</a:t>
            </a:r>
            <a:r>
              <a:rPr lang="de-AT" sz="1050" dirty="0"/>
              <a:t> </a:t>
            </a:r>
            <a:r>
              <a:rPr lang="de-AT" sz="1050" dirty="0" err="1"/>
              <a:t>mechanical</a:t>
            </a:r>
            <a:r>
              <a:rPr lang="de-AT" sz="1050" dirty="0"/>
              <a:t> </a:t>
            </a:r>
            <a:r>
              <a:rPr lang="de-AT" sz="1050" dirty="0" err="1"/>
              <a:t>technology</a:t>
            </a:r>
            <a:br>
              <a:rPr lang="en-GB" sz="1050"/>
            </a:br>
            <a:br>
              <a:rPr lang="en-GB" sz="1050"/>
            </a:br>
            <a:br>
              <a:rPr lang="en-GB" sz="1050"/>
            </a:br>
            <a:endParaRPr lang="en-GB" sz="1050"/>
          </a:p>
          <a:p>
            <a:pPr lvl="1"/>
            <a:r>
              <a:rPr lang="en-US" sz="1400"/>
              <a:t>If all axles are electric technologies, total steering power is applied as electrical power to REESS</a:t>
            </a:r>
          </a:p>
          <a:p>
            <a:pPr lvl="1"/>
            <a:r>
              <a:rPr lang="en-US" sz="1400" dirty="0"/>
              <a:t>With at least one mechanical </a:t>
            </a:r>
            <a:r>
              <a:rPr lang="en-US" sz="1400" dirty="0" err="1"/>
              <a:t>techn</a:t>
            </a:r>
            <a:r>
              <a:rPr lang="en-US" sz="1400" dirty="0"/>
              <a:t>. present, total steering power is applied as mechanical load</a:t>
            </a:r>
            <a:endParaRPr lang="de-AT" sz="1400"/>
          </a:p>
        </p:txBody>
      </p:sp>
      <p:sp>
        <p:nvSpPr>
          <p:cNvPr id="4" name="Foliennummernplatzhalter 3"/>
          <p:cNvSpPr>
            <a:spLocks noGrp="1"/>
          </p:cNvSpPr>
          <p:nvPr>
            <p:ph type="sldNum" sz="quarter" idx="12"/>
          </p:nvPr>
        </p:nvSpPr>
        <p:spPr/>
        <p:txBody>
          <a:bodyPr/>
          <a:lstStyle/>
          <a:p>
            <a:fld id="{4B64EC4D-37E3-EF42-B9AB-6337577588CB}" type="slidenum">
              <a:rPr lang="de-DE" smtClean="0"/>
              <a:t>27</a:t>
            </a:fld>
            <a:endParaRPr lang="de-DE"/>
          </a:p>
        </p:txBody>
      </p:sp>
      <p:pic>
        <p:nvPicPr>
          <p:cNvPr id="5" name="Grafik 4"/>
          <p:cNvPicPr>
            <a:picLocks noChangeAspect="1"/>
          </p:cNvPicPr>
          <p:nvPr/>
        </p:nvPicPr>
        <p:blipFill>
          <a:blip r:embed="rId2"/>
          <a:stretch>
            <a:fillRect/>
          </a:stretch>
        </p:blipFill>
        <p:spPr>
          <a:xfrm>
            <a:off x="1754659" y="4905198"/>
            <a:ext cx="4020977" cy="224548"/>
          </a:xfrm>
          <a:prstGeom prst="rect">
            <a:avLst/>
          </a:prstGeom>
        </p:spPr>
      </p:pic>
      <p:sp>
        <p:nvSpPr>
          <p:cNvPr id="17" name="Textfeld 16"/>
          <p:cNvSpPr txBox="1"/>
          <p:nvPr/>
        </p:nvSpPr>
        <p:spPr>
          <a:xfrm rot="16200000">
            <a:off x="-478772" y="3335992"/>
            <a:ext cx="1759311" cy="738664"/>
          </a:xfrm>
          <a:prstGeom prst="rect">
            <a:avLst/>
          </a:prstGeom>
          <a:solidFill>
            <a:srgbClr val="F70146"/>
          </a:solidFill>
        </p:spPr>
        <p:txBody>
          <a:bodyPr wrap="square" rtlCol="0">
            <a:spAutoFit/>
          </a:bodyPr>
          <a:lstStyle/>
          <a:p>
            <a:pPr algn="ctr"/>
            <a:r>
              <a:rPr lang="de-AT" sz="1400" b="1" dirty="0">
                <a:solidFill>
                  <a:schemeClr val="bg1"/>
                </a:solidFill>
              </a:rPr>
              <a:t>SP-Tech.csv +</a:t>
            </a:r>
            <a:br>
              <a:rPr lang="de-AT" sz="1400" b="1" dirty="0">
                <a:solidFill>
                  <a:schemeClr val="bg1"/>
                </a:solidFill>
              </a:rPr>
            </a:br>
            <a:r>
              <a:rPr lang="de-AT" sz="1400" b="1" dirty="0">
                <a:solidFill>
                  <a:schemeClr val="bg1"/>
                </a:solidFill>
              </a:rPr>
              <a:t>SP-Table.csv +</a:t>
            </a:r>
            <a:br>
              <a:rPr lang="de-AT" sz="1400" b="1" dirty="0">
                <a:solidFill>
                  <a:schemeClr val="bg1"/>
                </a:solidFill>
              </a:rPr>
            </a:br>
            <a:r>
              <a:rPr lang="de-AT" sz="1400" b="1" dirty="0">
                <a:solidFill>
                  <a:schemeClr val="bg1"/>
                </a:solidFill>
              </a:rPr>
              <a:t>SP-Axles.csv</a:t>
            </a:r>
          </a:p>
        </p:txBody>
      </p:sp>
    </p:spTree>
    <p:extLst>
      <p:ext uri="{BB962C8B-B14F-4D97-AF65-F5344CB8AC3E}">
        <p14:creationId xmlns:p14="http://schemas.microsoft.com/office/powerpoint/2010/main" val="183906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Generic parameterisation of auxiliaries </a:t>
            </a:r>
          </a:p>
        </p:txBody>
      </p:sp>
      <p:sp>
        <p:nvSpPr>
          <p:cNvPr id="3" name="Inhaltsplatzhalter 2"/>
          <p:cNvSpPr>
            <a:spLocks noGrp="1"/>
          </p:cNvSpPr>
          <p:nvPr>
            <p:ph idx="1"/>
          </p:nvPr>
        </p:nvSpPr>
        <p:spPr>
          <a:xfrm>
            <a:off x="622355" y="2137414"/>
            <a:ext cx="8394645" cy="2828459"/>
          </a:xfrm>
        </p:spPr>
        <p:txBody>
          <a:bodyPr/>
          <a:lstStyle/>
          <a:p>
            <a:r>
              <a:rPr lang="en-US" sz="1800" dirty="0"/>
              <a:t>Basic principles </a:t>
            </a:r>
            <a:r>
              <a:rPr lang="en-US" sz="1800"/>
              <a:t>of HVAC </a:t>
            </a:r>
            <a:r>
              <a:rPr lang="en-US" sz="1800" dirty="0"/>
              <a:t>system in DECL</a:t>
            </a:r>
          </a:p>
          <a:p>
            <a:pPr lvl="1"/>
            <a:r>
              <a:rPr lang="de-AT" sz="1400" b="1" u="sng"/>
              <a:t>Conventional </a:t>
            </a:r>
            <a:r>
              <a:rPr lang="de-AT" sz="1400" b="1" u="sng" err="1"/>
              <a:t>and</a:t>
            </a:r>
            <a:r>
              <a:rPr lang="de-AT" sz="1400" b="1" u="sng"/>
              <a:t> P-HEV:</a:t>
            </a:r>
            <a:endParaRPr lang="de-AT" sz="1400" dirty="0"/>
          </a:p>
          <a:p>
            <a:pPr lvl="2"/>
            <a:r>
              <a:rPr lang="de-AT" sz="1400" dirty="0"/>
              <a:t>HVAC </a:t>
            </a:r>
            <a:r>
              <a:rPr lang="de-AT" sz="1400" dirty="0" err="1"/>
              <a:t>load</a:t>
            </a:r>
            <a:r>
              <a:rPr lang="de-AT" sz="1400" dirty="0"/>
              <a:t> </a:t>
            </a:r>
            <a:r>
              <a:rPr lang="de-AT" sz="1400" dirty="0" err="1"/>
              <a:t>is</a:t>
            </a:r>
            <a:r>
              <a:rPr lang="de-AT" sz="1400" dirty="0"/>
              <a:t> </a:t>
            </a:r>
            <a:r>
              <a:rPr lang="de-AT" sz="1400" dirty="0" err="1"/>
              <a:t>applied</a:t>
            </a:r>
            <a:r>
              <a:rPr lang="de-AT" sz="1400" dirty="0"/>
              <a:t> </a:t>
            </a:r>
            <a:r>
              <a:rPr lang="de-AT" sz="1400" dirty="0" err="1"/>
              <a:t>as</a:t>
            </a:r>
            <a:r>
              <a:rPr lang="de-AT" sz="1400" dirty="0"/>
              <a:t> </a:t>
            </a:r>
            <a:r>
              <a:rPr lang="de-AT" sz="1400" dirty="0" err="1"/>
              <a:t>mechanical</a:t>
            </a:r>
            <a:r>
              <a:rPr lang="de-AT" sz="1400" dirty="0"/>
              <a:t> </a:t>
            </a:r>
            <a:r>
              <a:rPr lang="de-AT" sz="1400" dirty="0" err="1"/>
              <a:t>auxiliary</a:t>
            </a:r>
            <a:br>
              <a:rPr lang="de-AT" sz="1400" dirty="0"/>
            </a:br>
            <a:endParaRPr lang="de-AT" sz="1400" dirty="0"/>
          </a:p>
          <a:p>
            <a:pPr lvl="1"/>
            <a:r>
              <a:rPr lang="de-AT" sz="1400" b="1" u="sng" dirty="0"/>
              <a:t>S-HEV </a:t>
            </a:r>
            <a:r>
              <a:rPr lang="de-AT" sz="1400" b="1" u="sng" dirty="0" err="1"/>
              <a:t>and</a:t>
            </a:r>
            <a:r>
              <a:rPr lang="de-AT" sz="1400" b="1" u="sng" dirty="0"/>
              <a:t> PEV:</a:t>
            </a:r>
            <a:endParaRPr lang="de-AT" sz="1400" dirty="0"/>
          </a:p>
          <a:p>
            <a:pPr lvl="2"/>
            <a:r>
              <a:rPr lang="de-AT" sz="1400" dirty="0"/>
              <a:t>HVAC </a:t>
            </a:r>
            <a:r>
              <a:rPr lang="de-AT" sz="1400" dirty="0" err="1"/>
              <a:t>load</a:t>
            </a:r>
            <a:r>
              <a:rPr lang="de-AT" sz="1400" dirty="0"/>
              <a:t> </a:t>
            </a:r>
            <a:r>
              <a:rPr lang="de-AT" sz="1400" dirty="0" err="1"/>
              <a:t>is</a:t>
            </a:r>
            <a:r>
              <a:rPr lang="de-AT" sz="1400" dirty="0"/>
              <a:t> </a:t>
            </a:r>
            <a:r>
              <a:rPr lang="de-AT" sz="1400" dirty="0" err="1"/>
              <a:t>applied</a:t>
            </a:r>
            <a:r>
              <a:rPr lang="de-AT" sz="1400" dirty="0"/>
              <a:t> </a:t>
            </a:r>
            <a:r>
              <a:rPr lang="de-AT" sz="1400" dirty="0" err="1"/>
              <a:t>as</a:t>
            </a:r>
            <a:r>
              <a:rPr lang="de-AT" sz="1400" dirty="0"/>
              <a:t> </a:t>
            </a:r>
            <a:r>
              <a:rPr lang="de-AT" sz="1400" dirty="0" err="1"/>
              <a:t>electrical</a:t>
            </a:r>
            <a:r>
              <a:rPr lang="de-AT" sz="1400" dirty="0"/>
              <a:t> </a:t>
            </a:r>
            <a:r>
              <a:rPr lang="de-AT" sz="1400" dirty="0" err="1"/>
              <a:t>auxiliary</a:t>
            </a:r>
            <a:endParaRPr lang="de-AT" sz="1400" dirty="0"/>
          </a:p>
          <a:p>
            <a:pPr lvl="2"/>
            <a:r>
              <a:rPr lang="de-AT" sz="1400" dirty="0" err="1"/>
              <a:t>Conversion</a:t>
            </a:r>
            <a:r>
              <a:rPr lang="de-AT" sz="1400" dirty="0"/>
              <a:t> </a:t>
            </a:r>
            <a:r>
              <a:rPr lang="de-AT" sz="1400" dirty="0" err="1"/>
              <a:t>from</a:t>
            </a:r>
            <a:r>
              <a:rPr lang="de-AT" sz="1400" dirty="0"/>
              <a:t> </a:t>
            </a:r>
            <a:r>
              <a:rPr lang="de-AT" sz="1400" dirty="0" err="1"/>
              <a:t>mechanical</a:t>
            </a:r>
            <a:r>
              <a:rPr lang="de-AT" sz="1400" dirty="0"/>
              <a:t> </a:t>
            </a:r>
            <a:r>
              <a:rPr lang="de-AT" sz="1400" dirty="0" err="1"/>
              <a:t>to</a:t>
            </a:r>
            <a:r>
              <a:rPr lang="de-AT" sz="1400" dirty="0"/>
              <a:t> </a:t>
            </a:r>
            <a:r>
              <a:rPr lang="de-AT" sz="1400" dirty="0" err="1"/>
              <a:t>electrical</a:t>
            </a:r>
            <a:r>
              <a:rPr lang="de-AT" sz="1400" dirty="0"/>
              <a:t> </a:t>
            </a:r>
            <a:r>
              <a:rPr lang="de-AT" sz="1400" dirty="0" err="1"/>
              <a:t>is</a:t>
            </a:r>
            <a:r>
              <a:rPr lang="de-AT" sz="1400" dirty="0"/>
              <a:t> </a:t>
            </a:r>
            <a:r>
              <a:rPr lang="de-AT" sz="1400" dirty="0" err="1"/>
              <a:t>done</a:t>
            </a:r>
            <a:r>
              <a:rPr lang="de-AT" sz="1400" dirty="0"/>
              <a:t> </a:t>
            </a:r>
            <a:r>
              <a:rPr lang="de-AT" sz="1400" dirty="0" err="1"/>
              <a:t>by</a:t>
            </a:r>
            <a:r>
              <a:rPr lang="de-AT" sz="1400" dirty="0"/>
              <a:t> </a:t>
            </a:r>
            <a:r>
              <a:rPr lang="de-AT" sz="1400" dirty="0" err="1"/>
              <a:t>dividing</a:t>
            </a:r>
            <a:r>
              <a:rPr lang="de-AT" sz="1400" dirty="0"/>
              <a:t> </a:t>
            </a:r>
            <a:r>
              <a:rPr lang="de-AT" sz="1400" dirty="0" err="1"/>
              <a:t>mechanical</a:t>
            </a:r>
            <a:r>
              <a:rPr lang="de-AT" sz="1400" dirty="0"/>
              <a:t> </a:t>
            </a:r>
            <a:r>
              <a:rPr lang="de-AT" sz="1400" dirty="0" err="1"/>
              <a:t>base</a:t>
            </a:r>
            <a:r>
              <a:rPr lang="de-AT" sz="1400" dirty="0"/>
              <a:t> power </a:t>
            </a:r>
            <a:r>
              <a:rPr lang="de-AT" sz="1400" dirty="0" err="1"/>
              <a:t>by</a:t>
            </a:r>
            <a:r>
              <a:rPr lang="de-AT" sz="1400" dirty="0"/>
              <a:t> </a:t>
            </a:r>
            <a:r>
              <a:rPr lang="de-AT" sz="1400" dirty="0" err="1"/>
              <a:t>generic</a:t>
            </a:r>
            <a:r>
              <a:rPr lang="de-AT" sz="1400" dirty="0"/>
              <a:t> </a:t>
            </a:r>
            <a:r>
              <a:rPr lang="de-AT" sz="1400" dirty="0" err="1"/>
              <a:t>efficiency</a:t>
            </a:r>
            <a:r>
              <a:rPr lang="de-AT" sz="1400" dirty="0"/>
              <a:t> </a:t>
            </a:r>
            <a:r>
              <a:rPr lang="de-AT" sz="1400" dirty="0" err="1"/>
              <a:t>of</a:t>
            </a:r>
            <a:r>
              <a:rPr lang="de-AT" sz="1400" dirty="0"/>
              <a:t> 0.8</a:t>
            </a:r>
          </a:p>
        </p:txBody>
      </p:sp>
      <p:sp>
        <p:nvSpPr>
          <p:cNvPr id="4" name="Foliennummernplatzhalter 3"/>
          <p:cNvSpPr>
            <a:spLocks noGrp="1"/>
          </p:cNvSpPr>
          <p:nvPr>
            <p:ph type="sldNum" sz="quarter" idx="12"/>
          </p:nvPr>
        </p:nvSpPr>
        <p:spPr/>
        <p:txBody>
          <a:bodyPr/>
          <a:lstStyle/>
          <a:p>
            <a:fld id="{4B64EC4D-37E3-EF42-B9AB-6337577588CB}" type="slidenum">
              <a:rPr lang="de-DE" smtClean="0"/>
              <a:t>28</a:t>
            </a:fld>
            <a:endParaRPr lang="de-DE"/>
          </a:p>
        </p:txBody>
      </p:sp>
      <p:sp>
        <p:nvSpPr>
          <p:cNvPr id="17" name="Textfeld 16"/>
          <p:cNvSpPr txBox="1"/>
          <p:nvPr/>
        </p:nvSpPr>
        <p:spPr>
          <a:xfrm rot="16200000">
            <a:off x="-620870" y="3551436"/>
            <a:ext cx="1759311" cy="307777"/>
          </a:xfrm>
          <a:prstGeom prst="rect">
            <a:avLst/>
          </a:prstGeom>
          <a:solidFill>
            <a:srgbClr val="F70146"/>
          </a:solidFill>
        </p:spPr>
        <p:txBody>
          <a:bodyPr wrap="square" rtlCol="0">
            <a:spAutoFit/>
          </a:bodyPr>
          <a:lstStyle/>
          <a:p>
            <a:pPr algn="ctr"/>
            <a:r>
              <a:rPr lang="de-AT" sz="1400" b="1" dirty="0">
                <a:solidFill>
                  <a:schemeClr val="bg1"/>
                </a:solidFill>
              </a:rPr>
              <a:t>HVAC-Table.csv</a:t>
            </a:r>
          </a:p>
        </p:txBody>
      </p:sp>
    </p:spTree>
    <p:extLst>
      <p:ext uri="{BB962C8B-B14F-4D97-AF65-F5344CB8AC3E}">
        <p14:creationId xmlns:p14="http://schemas.microsoft.com/office/powerpoint/2010/main" val="1018428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Generic parameterisation of auxiliaries </a:t>
            </a:r>
          </a:p>
        </p:txBody>
      </p:sp>
      <p:sp>
        <p:nvSpPr>
          <p:cNvPr id="3" name="Inhaltsplatzhalter 2"/>
          <p:cNvSpPr>
            <a:spLocks noGrp="1"/>
          </p:cNvSpPr>
          <p:nvPr>
            <p:ph idx="1"/>
          </p:nvPr>
        </p:nvSpPr>
        <p:spPr/>
        <p:txBody>
          <a:bodyPr/>
          <a:lstStyle/>
          <a:p>
            <a:r>
              <a:rPr lang="en-US" sz="1800" dirty="0"/>
              <a:t>General remark about post-processing of “missing” auxiliary power demand for mechanically driven auxiliaries in </a:t>
            </a:r>
            <a:r>
              <a:rPr lang="en-US" sz="1800" dirty="0" err="1"/>
              <a:t>timesteps</a:t>
            </a:r>
            <a:r>
              <a:rPr lang="en-US" sz="1800" dirty="0"/>
              <a:t> where the ICE is off:</a:t>
            </a:r>
          </a:p>
          <a:p>
            <a:pPr lvl="1"/>
            <a:r>
              <a:rPr lang="en-US" sz="1600" dirty="0"/>
              <a:t>These topic is related to “Utility Factor (UF) for Engine-Stop-Start (ESS)”</a:t>
            </a:r>
            <a:br>
              <a:rPr lang="en-US" sz="1600" dirty="0"/>
            </a:br>
            <a:endParaRPr lang="en-US" sz="800" dirty="0"/>
          </a:p>
          <a:p>
            <a:pPr lvl="1"/>
            <a:r>
              <a:rPr lang="en-US" sz="1600" dirty="0"/>
              <a:t>For lorries only the very simple case is relevant (application case 1)</a:t>
            </a:r>
            <a:br>
              <a:rPr lang="en-US" sz="1600" dirty="0"/>
            </a:br>
            <a:endParaRPr lang="en-US" sz="800" dirty="0"/>
          </a:p>
          <a:p>
            <a:pPr lvl="1"/>
            <a:r>
              <a:rPr lang="en-US" sz="1600" dirty="0"/>
              <a:t>Basic rule: for auxiliaries operated</a:t>
            </a:r>
            <a:br>
              <a:rPr lang="en-US" sz="1600" dirty="0"/>
            </a:br>
            <a:r>
              <a:rPr lang="en-US" sz="1600" dirty="0"/>
              <a:t>independently of ICE status energy demand</a:t>
            </a:r>
            <a:br>
              <a:rPr lang="en-US" sz="1600" dirty="0"/>
            </a:br>
            <a:r>
              <a:rPr lang="en-US" sz="1600" dirty="0"/>
              <a:t>over cycle is the same with missing portion </a:t>
            </a:r>
            <a:br>
              <a:rPr lang="en-US" sz="1600" dirty="0"/>
            </a:br>
            <a:r>
              <a:rPr lang="en-US" sz="1600" dirty="0"/>
              <a:t>being accounted for in post-processing</a:t>
            </a:r>
            <a:br>
              <a:rPr lang="en-US" sz="1600" dirty="0"/>
            </a:br>
            <a:endParaRPr lang="en-US" sz="800" dirty="0"/>
          </a:p>
          <a:p>
            <a:pPr lvl="1"/>
            <a:r>
              <a:rPr lang="en-GB" sz="1600" dirty="0"/>
              <a:t>For further details please refer to:</a:t>
            </a:r>
            <a:br>
              <a:rPr lang="en-GB" sz="1600" dirty="0"/>
            </a:br>
            <a:r>
              <a:rPr lang="en-GB" sz="1600" b="1" i="1" dirty="0"/>
              <a:t>VECTO-DEV WS#6 12.07.2021 (slide 7ff)</a:t>
            </a:r>
          </a:p>
        </p:txBody>
      </p:sp>
      <p:sp>
        <p:nvSpPr>
          <p:cNvPr id="4" name="Foliennummernplatzhalter 3"/>
          <p:cNvSpPr>
            <a:spLocks noGrp="1"/>
          </p:cNvSpPr>
          <p:nvPr>
            <p:ph type="sldNum" sz="quarter" idx="12"/>
          </p:nvPr>
        </p:nvSpPr>
        <p:spPr/>
        <p:txBody>
          <a:bodyPr/>
          <a:lstStyle/>
          <a:p>
            <a:fld id="{4B64EC4D-37E3-EF42-B9AB-6337577588CB}" type="slidenum">
              <a:rPr lang="de-DE" smtClean="0"/>
              <a:t>29</a:t>
            </a:fld>
            <a:endParaRPr lang="de-DE"/>
          </a:p>
        </p:txBody>
      </p:sp>
      <p:pic>
        <p:nvPicPr>
          <p:cNvPr id="7" name="Grafik 6"/>
          <p:cNvPicPr>
            <a:picLocks noChangeAspect="1"/>
          </p:cNvPicPr>
          <p:nvPr/>
        </p:nvPicPr>
        <p:blipFill>
          <a:blip r:embed="rId2"/>
          <a:stretch>
            <a:fillRect/>
          </a:stretch>
        </p:blipFill>
        <p:spPr>
          <a:xfrm>
            <a:off x="5438698" y="3884656"/>
            <a:ext cx="3683331" cy="2085491"/>
          </a:xfrm>
          <a:prstGeom prst="rect">
            <a:avLst/>
          </a:prstGeom>
        </p:spPr>
      </p:pic>
    </p:spTree>
    <p:extLst>
      <p:ext uri="{BB962C8B-B14F-4D97-AF65-F5344CB8AC3E}">
        <p14:creationId xmlns:p14="http://schemas.microsoft.com/office/powerpoint/2010/main" val="2328586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Generic </a:t>
            </a:r>
            <a:r>
              <a:rPr lang="en-US" sz="2400" spc="-1" dirty="0" err="1">
                <a:solidFill>
                  <a:srgbClr val="990000"/>
                </a:solidFill>
                <a:latin typeface="Arial"/>
              </a:rPr>
              <a:t>parametrisation</a:t>
            </a:r>
            <a:r>
              <a:rPr lang="en-US" sz="2400" spc="-1" dirty="0">
                <a:solidFill>
                  <a:srgbClr val="990000"/>
                </a:solidFill>
                <a:latin typeface="Arial"/>
              </a:rPr>
              <a:t> P-HEV strategy </a:t>
            </a:r>
            <a:endParaRPr lang="en-GB" sz="2400" spc="-1" dirty="0">
              <a:solidFill>
                <a:srgbClr val="990000"/>
              </a:solidFill>
              <a:latin typeface="Arial"/>
            </a:endParaRPr>
          </a:p>
        </p:txBody>
      </p:sp>
      <p:sp>
        <p:nvSpPr>
          <p:cNvPr id="3" name="Inhaltsplatzhalter 2"/>
          <p:cNvSpPr>
            <a:spLocks noGrp="1"/>
          </p:cNvSpPr>
          <p:nvPr>
            <p:ph idx="1"/>
          </p:nvPr>
        </p:nvSpPr>
        <p:spPr>
          <a:xfrm>
            <a:off x="585333" y="1788607"/>
            <a:ext cx="8229240" cy="4334844"/>
          </a:xfrm>
        </p:spPr>
        <p:txBody>
          <a:bodyPr/>
          <a:lstStyle/>
          <a:p>
            <a:r>
              <a:rPr lang="en-US" sz="1800" dirty="0"/>
              <a:t>Operation in Charge sustaining (CS) mode</a:t>
            </a:r>
          </a:p>
          <a:p>
            <a:pPr lvl="1"/>
            <a:r>
              <a:rPr lang="en-US" sz="1400" dirty="0"/>
              <a:t>Fixed number of 3 simulations to determine optimal strategy parameters done automatically</a:t>
            </a:r>
            <a:br>
              <a:rPr lang="en-US" sz="1400" dirty="0"/>
            </a:br>
            <a:endParaRPr lang="en-US" sz="600" dirty="0"/>
          </a:p>
          <a:p>
            <a:pPr lvl="1"/>
            <a:r>
              <a:rPr lang="en-US" sz="1400" b="1" u="sng" dirty="0"/>
              <a:t>1</a:t>
            </a:r>
            <a:r>
              <a:rPr lang="en-US" sz="1400" b="1" u="sng" baseline="30000" dirty="0"/>
              <a:t>st</a:t>
            </a:r>
            <a:r>
              <a:rPr lang="en-US" sz="1400" b="1" u="sng" dirty="0"/>
              <a:t> run:</a:t>
            </a:r>
            <a:r>
              <a:rPr lang="en-US" sz="1400" dirty="0"/>
              <a:t> generic start value for equivalence factor (EF) depending on vehicle group, mission, payload and usable SOC range applied</a:t>
            </a:r>
          </a:p>
          <a:p>
            <a:pPr lvl="2"/>
            <a:r>
              <a:rPr lang="en-US" sz="1200" dirty="0"/>
              <a:t>refer to \Declaration\</a:t>
            </a:r>
            <a:r>
              <a:rPr lang="en-US" sz="1200" dirty="0" err="1"/>
              <a:t>HEVParameters</a:t>
            </a:r>
            <a:r>
              <a:rPr lang="en-US" sz="1200" dirty="0"/>
              <a:t>\Lorry\HEV_Strategy_Parameters_fequiv_</a:t>
            </a:r>
            <a:r>
              <a:rPr lang="en-US" sz="1200" b="1" dirty="0">
                <a:solidFill>
                  <a:srgbClr val="FF0000"/>
                </a:solidFill>
              </a:rPr>
              <a:t>XX</a:t>
            </a:r>
            <a:r>
              <a:rPr lang="en-US" sz="1200" dirty="0"/>
              <a:t>soc.csv</a:t>
            </a:r>
          </a:p>
          <a:p>
            <a:pPr lvl="2"/>
            <a:r>
              <a:rPr lang="en-US" sz="1200" b="1" dirty="0">
                <a:solidFill>
                  <a:srgbClr val="FF0000"/>
                </a:solidFill>
              </a:rPr>
              <a:t>XX</a:t>
            </a:r>
            <a:r>
              <a:rPr lang="en-US" sz="1200" dirty="0"/>
              <a:t> = 10, 20 or 40 depending on usable SOC range in percent (interpolation, no extrapolation)</a:t>
            </a:r>
            <a:br>
              <a:rPr lang="en-US" sz="1200" dirty="0"/>
            </a:br>
            <a:endParaRPr lang="en-US" sz="600" dirty="0"/>
          </a:p>
          <a:p>
            <a:pPr lvl="1"/>
            <a:r>
              <a:rPr lang="en-US" sz="1400" b="1" u="sng" dirty="0"/>
              <a:t>2</a:t>
            </a:r>
            <a:r>
              <a:rPr lang="en-US" sz="1400" b="1" u="sng" baseline="30000" dirty="0"/>
              <a:t>nd</a:t>
            </a:r>
            <a:r>
              <a:rPr lang="en-US" sz="1400" b="1" u="sng" dirty="0"/>
              <a:t> run:</a:t>
            </a:r>
            <a:r>
              <a:rPr lang="en-US" sz="1400" dirty="0"/>
              <a:t> from resulting </a:t>
            </a:r>
            <a:r>
              <a:rPr lang="en-US" sz="1400" dirty="0">
                <a:cs typeface="Calibri" panose="020F0502020204030204" pitchFamily="34" charset="0"/>
              </a:rPr>
              <a:t>∆SOC</a:t>
            </a:r>
            <a:r>
              <a:rPr lang="en-US" sz="1400" baseline="-25000" dirty="0">
                <a:cs typeface="Calibri" panose="020F0502020204030204" pitchFamily="34" charset="0"/>
              </a:rPr>
              <a:t>1</a:t>
            </a:r>
            <a:r>
              <a:rPr lang="en-US" sz="1400" dirty="0">
                <a:cs typeface="Calibri" panose="020F0502020204030204" pitchFamily="34" charset="0"/>
              </a:rPr>
              <a:t> of 1</a:t>
            </a:r>
            <a:r>
              <a:rPr lang="en-US" sz="1400" baseline="30000" dirty="0">
                <a:cs typeface="Calibri" panose="020F0502020204030204" pitchFamily="34" charset="0"/>
              </a:rPr>
              <a:t>st</a:t>
            </a:r>
            <a:r>
              <a:rPr lang="en-US" sz="1400" dirty="0">
                <a:cs typeface="Calibri" panose="020F0502020204030204" pitchFamily="34" charset="0"/>
              </a:rPr>
              <a:t> run (∆SOC = </a:t>
            </a:r>
            <a:r>
              <a:rPr lang="en-US" sz="1400" dirty="0" err="1">
                <a:cs typeface="Calibri" panose="020F0502020204030204" pitchFamily="34" charset="0"/>
              </a:rPr>
              <a:t>SOC</a:t>
            </a:r>
            <a:r>
              <a:rPr lang="en-US" sz="1400" baseline="-25000" dirty="0" err="1">
                <a:cs typeface="Calibri" panose="020F0502020204030204" pitchFamily="34" charset="0"/>
              </a:rPr>
              <a:t>End</a:t>
            </a:r>
            <a:r>
              <a:rPr lang="en-US" sz="1400" dirty="0">
                <a:cs typeface="Calibri" panose="020F0502020204030204" pitchFamily="34" charset="0"/>
              </a:rPr>
              <a:t> – </a:t>
            </a:r>
            <a:r>
              <a:rPr lang="en-US" sz="1400" dirty="0" err="1">
                <a:cs typeface="Calibri" panose="020F0502020204030204" pitchFamily="34" charset="0"/>
              </a:rPr>
              <a:t>SOC</a:t>
            </a:r>
            <a:r>
              <a:rPr lang="en-US" sz="1400" baseline="-25000" dirty="0" err="1">
                <a:cs typeface="Calibri" panose="020F0502020204030204" pitchFamily="34" charset="0"/>
              </a:rPr>
              <a:t>Start</a:t>
            </a:r>
            <a:r>
              <a:rPr lang="en-US" sz="1400" dirty="0">
                <a:cs typeface="Calibri" panose="020F0502020204030204" pitchFamily="34" charset="0"/>
              </a:rPr>
              <a:t>) new </a:t>
            </a:r>
            <a:r>
              <a:rPr lang="en-US" sz="1400" dirty="0"/>
              <a:t>EF is calculated according to following equations:</a:t>
            </a:r>
          </a:p>
          <a:p>
            <a:pPr marL="898525" lvl="2" indent="0">
              <a:buNone/>
            </a:pPr>
            <a:br>
              <a:rPr lang="en-US" sz="1200" dirty="0">
                <a:cs typeface="Calibri" panose="020F0502020204030204" pitchFamily="34" charset="0"/>
              </a:rPr>
            </a:br>
            <a:br>
              <a:rPr lang="en-US" sz="1200" dirty="0">
                <a:cs typeface="Calibri" panose="020F0502020204030204" pitchFamily="34" charset="0"/>
              </a:rPr>
            </a:br>
            <a:br>
              <a:rPr lang="en-US" sz="1200" dirty="0">
                <a:cs typeface="Calibri" panose="020F0502020204030204" pitchFamily="34" charset="0"/>
              </a:rPr>
            </a:br>
            <a:endParaRPr lang="en-US" sz="1000" dirty="0">
              <a:cs typeface="Calibri" panose="020F0502020204030204" pitchFamily="34" charset="0"/>
            </a:endParaRPr>
          </a:p>
          <a:p>
            <a:pPr lvl="1"/>
            <a:r>
              <a:rPr lang="en-US" sz="1400" b="1" u="sng" dirty="0"/>
              <a:t>3</a:t>
            </a:r>
            <a:r>
              <a:rPr lang="en-US" sz="1400" b="1" u="sng" baseline="30000" dirty="0"/>
              <a:t>rd</a:t>
            </a:r>
            <a:r>
              <a:rPr lang="en-US" sz="1400" b="1" u="sng" dirty="0"/>
              <a:t> run:</a:t>
            </a:r>
            <a:r>
              <a:rPr lang="en-US" sz="1400" dirty="0"/>
              <a:t> from resulting </a:t>
            </a:r>
            <a:r>
              <a:rPr lang="en-US" sz="1400" dirty="0">
                <a:cs typeface="Calibri" panose="020F0502020204030204" pitchFamily="34" charset="0"/>
              </a:rPr>
              <a:t>∆SOC</a:t>
            </a:r>
            <a:r>
              <a:rPr lang="en-US" sz="1400" baseline="-25000" dirty="0">
                <a:cs typeface="Calibri" panose="020F0502020204030204" pitchFamily="34" charset="0"/>
              </a:rPr>
              <a:t>2</a:t>
            </a:r>
            <a:r>
              <a:rPr lang="en-US" sz="1400" dirty="0">
                <a:cs typeface="Calibri" panose="020F0502020204030204" pitchFamily="34" charset="0"/>
              </a:rPr>
              <a:t> of 2</a:t>
            </a:r>
            <a:r>
              <a:rPr lang="en-US" sz="1400" baseline="30000" dirty="0">
                <a:cs typeface="Calibri" panose="020F0502020204030204" pitchFamily="34" charset="0"/>
              </a:rPr>
              <a:t>nd</a:t>
            </a:r>
            <a:r>
              <a:rPr lang="en-US" sz="1400" dirty="0">
                <a:cs typeface="Calibri" panose="020F0502020204030204" pitchFamily="34" charset="0"/>
              </a:rPr>
              <a:t> run new </a:t>
            </a:r>
            <a:r>
              <a:rPr lang="en-US" sz="1400" dirty="0"/>
              <a:t>equivalence factor is calculated according to following equation:</a:t>
            </a:r>
            <a:br>
              <a:rPr lang="en-US" sz="1400" dirty="0"/>
            </a:br>
            <a:endParaRPr lang="en-US" sz="1400" dirty="0"/>
          </a:p>
          <a:p>
            <a:pPr lvl="1"/>
            <a:endParaRPr lang="en-GB" sz="1400" dirty="0"/>
          </a:p>
          <a:p>
            <a:pPr lvl="1"/>
            <a:r>
              <a:rPr lang="en-GB" sz="1400" dirty="0"/>
              <a:t>For further details please refer to: </a:t>
            </a:r>
            <a:r>
              <a:rPr lang="en-GB" sz="1400" b="1" i="1" dirty="0"/>
              <a:t>VECTO-DEV WS#8 16.11.2021 (slide 7ff)</a:t>
            </a:r>
            <a:endParaRPr lang="en-US" sz="1400" dirty="0"/>
          </a:p>
          <a:p>
            <a:pPr lvl="1"/>
            <a:endParaRPr lang="en-GB" sz="1600" dirty="0"/>
          </a:p>
          <a:p>
            <a:pPr lvl="2"/>
            <a:endParaRPr lang="en-GB" sz="1400" dirty="0"/>
          </a:p>
          <a:p>
            <a:pPr lvl="2"/>
            <a:endParaRPr lang="en-GB"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30</a:t>
            </a:fld>
            <a:endParaRPr lang="de-DE"/>
          </a:p>
        </p:txBody>
      </p:sp>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FA0F42E0-6069-490B-8657-ED39F2A42A3A}"/>
                  </a:ext>
                </a:extLst>
              </p:cNvPr>
              <p:cNvSpPr txBox="1"/>
              <p:nvPr/>
            </p:nvSpPr>
            <p:spPr>
              <a:xfrm>
                <a:off x="1345337" y="3756031"/>
                <a:ext cx="1664686" cy="3179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de-AT" sz="1100" i="1">
                              <a:latin typeface="Cambria Math" panose="02040503050406030204" pitchFamily="18" charset="0"/>
                              <a:ea typeface="Cambria Math" panose="02040503050406030204" pitchFamily="18" charset="0"/>
                            </a:rPr>
                          </m:ctrlPr>
                        </m:sSubPr>
                        <m:e>
                          <m:r>
                            <a:rPr lang="de-AT" sz="1100" i="1">
                              <a:latin typeface="Cambria Math" panose="02040503050406030204" pitchFamily="18" charset="0"/>
                              <a:ea typeface="Cambria Math" panose="02040503050406030204" pitchFamily="18" charset="0"/>
                            </a:rPr>
                            <m:t>𝑓</m:t>
                          </m:r>
                        </m:e>
                        <m:sub>
                          <m:r>
                            <a:rPr lang="de-AT" sz="1100" i="1">
                              <a:latin typeface="Cambria Math" panose="02040503050406030204" pitchFamily="18" charset="0"/>
                              <a:ea typeface="Cambria Math" panose="02040503050406030204" pitchFamily="18" charset="0"/>
                            </a:rPr>
                            <m:t>𝑒𝑞𝑢𝑖𝑣</m:t>
                          </m:r>
                          <m:r>
                            <a:rPr lang="de-AT" sz="1100" i="1">
                              <a:latin typeface="Cambria Math" panose="02040503050406030204" pitchFamily="18" charset="0"/>
                              <a:ea typeface="Cambria Math" panose="02040503050406030204" pitchFamily="18" charset="0"/>
                            </a:rPr>
                            <m:t>_2</m:t>
                          </m:r>
                        </m:sub>
                      </m:sSub>
                      <m:r>
                        <a:rPr lang="de-AT" sz="1100" i="1">
                          <a:latin typeface="Cambria Math" panose="02040503050406030204" pitchFamily="18" charset="0"/>
                          <a:ea typeface="Cambria Math" panose="02040503050406030204" pitchFamily="18" charset="0"/>
                        </a:rPr>
                        <m:t>=</m:t>
                      </m:r>
                      <m:sSub>
                        <m:sSubPr>
                          <m:ctrlPr>
                            <a:rPr lang="de-AT" sz="1100" i="1">
                              <a:latin typeface="Cambria Math" panose="02040503050406030204" pitchFamily="18" charset="0"/>
                              <a:ea typeface="Cambria Math" panose="02040503050406030204" pitchFamily="18" charset="0"/>
                            </a:rPr>
                          </m:ctrlPr>
                        </m:sSubPr>
                        <m:e>
                          <m:r>
                            <a:rPr lang="de-AT" sz="1100" i="1">
                              <a:latin typeface="Cambria Math" panose="02040503050406030204" pitchFamily="18" charset="0"/>
                              <a:ea typeface="Cambria Math" panose="02040503050406030204" pitchFamily="18" charset="0"/>
                            </a:rPr>
                            <m:t>𝑓</m:t>
                          </m:r>
                        </m:e>
                        <m:sub>
                          <m:r>
                            <a:rPr lang="de-AT" sz="1100" i="1">
                              <a:latin typeface="Cambria Math" panose="02040503050406030204" pitchFamily="18" charset="0"/>
                              <a:ea typeface="Cambria Math" panose="02040503050406030204" pitchFamily="18" charset="0"/>
                            </a:rPr>
                            <m:t>𝑒𝑞𝑢𝑖𝑣</m:t>
                          </m:r>
                          <m:r>
                            <a:rPr lang="de-AT" sz="1100" i="1">
                              <a:latin typeface="Cambria Math" panose="02040503050406030204" pitchFamily="18" charset="0"/>
                              <a:ea typeface="Cambria Math" panose="02040503050406030204" pitchFamily="18" charset="0"/>
                            </a:rPr>
                            <m:t>_1</m:t>
                          </m:r>
                        </m:sub>
                      </m:sSub>
                      <m:r>
                        <a:rPr lang="de-AT" sz="1100" i="1">
                          <a:latin typeface="Cambria Math" panose="02040503050406030204" pitchFamily="18" charset="0"/>
                          <a:ea typeface="Cambria Math" panose="02040503050406030204" pitchFamily="18" charset="0"/>
                        </a:rPr>
                        <m:t>−</m:t>
                      </m:r>
                      <m:f>
                        <m:fPr>
                          <m:ctrlPr>
                            <a:rPr lang="de-AT" sz="1100" i="1">
                              <a:latin typeface="Cambria Math" panose="02040503050406030204" pitchFamily="18" charset="0"/>
                              <a:ea typeface="Cambria Math" panose="02040503050406030204" pitchFamily="18" charset="0"/>
                            </a:rPr>
                          </m:ctrlPr>
                        </m:fPr>
                        <m:num>
                          <m:sSub>
                            <m:sSubPr>
                              <m:ctrlPr>
                                <a:rPr lang="de-AT" sz="1100" i="1">
                                  <a:latin typeface="Cambria Math" panose="02040503050406030204" pitchFamily="18" charset="0"/>
                                  <a:ea typeface="Cambria Math" panose="02040503050406030204" pitchFamily="18" charset="0"/>
                                </a:rPr>
                              </m:ctrlPr>
                            </m:sSubPr>
                            <m:e>
                              <m:r>
                                <a:rPr lang="de-AT" sz="1100" i="1">
                                  <a:latin typeface="Cambria Math" panose="02040503050406030204" pitchFamily="18" charset="0"/>
                                  <a:ea typeface="Cambria Math" panose="02040503050406030204" pitchFamily="18" charset="0"/>
                                </a:rPr>
                                <m:t>∆</m:t>
                              </m:r>
                              <m:r>
                                <a:rPr lang="de-AT" sz="1100" i="1">
                                  <a:latin typeface="Cambria Math" panose="02040503050406030204" pitchFamily="18" charset="0"/>
                                  <a:ea typeface="Cambria Math" panose="02040503050406030204" pitchFamily="18" charset="0"/>
                                </a:rPr>
                                <m:t>𝑆𝑂𝐶</m:t>
                              </m:r>
                            </m:e>
                            <m:sub>
                              <m:r>
                                <a:rPr lang="de-AT" sz="1100" i="1">
                                  <a:latin typeface="Cambria Math" panose="02040503050406030204" pitchFamily="18" charset="0"/>
                                  <a:ea typeface="Cambria Math" panose="02040503050406030204" pitchFamily="18" charset="0"/>
                                </a:rPr>
                                <m:t>1</m:t>
                              </m:r>
                            </m:sub>
                          </m:sSub>
                        </m:num>
                        <m:den>
                          <m:r>
                            <a:rPr lang="de-AT" sz="1100" i="1">
                              <a:latin typeface="Cambria Math" panose="02040503050406030204" pitchFamily="18" charset="0"/>
                              <a:ea typeface="Cambria Math" panose="02040503050406030204" pitchFamily="18" charset="0"/>
                            </a:rPr>
                            <m:t>𝑘</m:t>
                          </m:r>
                        </m:den>
                      </m:f>
                    </m:oMath>
                  </m:oMathPara>
                </a14:m>
                <a:endParaRPr lang="de-AT" sz="1100" dirty="0"/>
              </a:p>
            </p:txBody>
          </p:sp>
        </mc:Choice>
        <mc:Fallback xmlns="">
          <p:sp>
            <p:nvSpPr>
              <p:cNvPr id="6" name="Textfeld 5">
                <a:extLst>
                  <a:ext uri="{FF2B5EF4-FFF2-40B4-BE49-F238E27FC236}">
                    <a16:creationId xmlns:a16="http://schemas.microsoft.com/office/drawing/2014/main" id="{FA0F42E0-6069-490B-8657-ED39F2A42A3A}"/>
                  </a:ext>
                </a:extLst>
              </p:cNvPr>
              <p:cNvSpPr txBox="1">
                <a:spLocks noRot="1" noChangeAspect="1" noMove="1" noResize="1" noEditPoints="1" noAdjustHandles="1" noChangeArrowheads="1" noChangeShapeType="1" noTextEdit="1"/>
              </p:cNvSpPr>
              <p:nvPr/>
            </p:nvSpPr>
            <p:spPr>
              <a:xfrm>
                <a:off x="1345337" y="3756031"/>
                <a:ext cx="1664686" cy="317972"/>
              </a:xfrm>
              <a:prstGeom prst="rect">
                <a:avLst/>
              </a:prstGeom>
              <a:blipFill>
                <a:blip r:embed="rId2"/>
                <a:stretch>
                  <a:fillRect l="-2564" r="-733" b="-1538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04A996E3-A1CE-4376-8F84-5151C3480BB7}"/>
                  </a:ext>
                </a:extLst>
              </p:cNvPr>
              <p:cNvSpPr txBox="1"/>
              <p:nvPr/>
            </p:nvSpPr>
            <p:spPr>
              <a:xfrm>
                <a:off x="4963683" y="3830380"/>
                <a:ext cx="2078838"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de-AT" sz="1100" i="1">
                              <a:latin typeface="Cambria Math" panose="02040503050406030204" pitchFamily="18" charset="0"/>
                            </a:rPr>
                          </m:ctrlPr>
                        </m:sSubPr>
                        <m:e>
                          <m:r>
                            <a:rPr lang="de-AT" sz="1100" i="1">
                              <a:latin typeface="Cambria Math" panose="02040503050406030204" pitchFamily="18" charset="0"/>
                            </a:rPr>
                            <m:t>𝑘</m:t>
                          </m:r>
                          <m:r>
                            <a:rPr lang="de-AT" sz="1100" i="1">
                              <a:latin typeface="Cambria Math" panose="02040503050406030204" pitchFamily="18" charset="0"/>
                            </a:rPr>
                            <m:t>=</m:t>
                          </m:r>
                          <m:r>
                            <a:rPr lang="de-AT" sz="1100" i="1">
                              <a:latin typeface="Cambria Math" panose="02040503050406030204" pitchFamily="18" charset="0"/>
                            </a:rPr>
                            <m:t>𝑘</m:t>
                          </m:r>
                        </m:e>
                        <m:sub>
                          <m:r>
                            <a:rPr lang="de-AT" sz="1100" i="1">
                              <a:latin typeface="Cambria Math" panose="02040503050406030204" pitchFamily="18" charset="0"/>
                            </a:rPr>
                            <m:t>0.4</m:t>
                          </m:r>
                        </m:sub>
                      </m:sSub>
                      <m:r>
                        <a:rPr lang="de-AT" sz="1100" i="1">
                          <a:latin typeface="Cambria Math" panose="02040503050406030204" pitchFamily="18" charset="0"/>
                        </a:rPr>
                        <m:t>+0.2∗(</m:t>
                      </m:r>
                      <m:sSub>
                        <m:sSubPr>
                          <m:ctrlPr>
                            <a:rPr lang="de-AT" sz="1100" i="1">
                              <a:latin typeface="Cambria Math" panose="02040503050406030204" pitchFamily="18" charset="0"/>
                            </a:rPr>
                          </m:ctrlPr>
                        </m:sSubPr>
                        <m:e>
                          <m:r>
                            <a:rPr lang="de-AT" sz="1100" i="1">
                              <a:latin typeface="Cambria Math" panose="02040503050406030204" pitchFamily="18" charset="0"/>
                              <a:ea typeface="Cambria Math" panose="02040503050406030204" pitchFamily="18" charset="0"/>
                            </a:rPr>
                            <m:t>𝑆𝑂𝐶</m:t>
                          </m:r>
                        </m:e>
                        <m:sub>
                          <m:r>
                            <a:rPr lang="de-AT" sz="1100" i="1">
                              <a:latin typeface="Cambria Math" panose="02040503050406030204" pitchFamily="18" charset="0"/>
                              <a:ea typeface="Cambria Math" panose="02040503050406030204" pitchFamily="18" charset="0"/>
                            </a:rPr>
                            <m:t>𝑢𝑠𝑎𝑏𝑙𝑒</m:t>
                          </m:r>
                        </m:sub>
                      </m:sSub>
                      <m:r>
                        <a:rPr lang="de-AT" sz="1100" i="1">
                          <a:latin typeface="Cambria Math" panose="02040503050406030204" pitchFamily="18" charset="0"/>
                        </a:rPr>
                        <m:t>−0.4)</m:t>
                      </m:r>
                    </m:oMath>
                  </m:oMathPara>
                </a14:m>
                <a:endParaRPr lang="de-AT" sz="1100" dirty="0"/>
              </a:p>
            </p:txBody>
          </p:sp>
        </mc:Choice>
        <mc:Fallback xmlns="">
          <p:sp>
            <p:nvSpPr>
              <p:cNvPr id="7" name="Textfeld 6">
                <a:extLst>
                  <a:ext uri="{FF2B5EF4-FFF2-40B4-BE49-F238E27FC236}">
                    <a16:creationId xmlns:a16="http://schemas.microsoft.com/office/drawing/2014/main" id="{04A996E3-A1CE-4376-8F84-5151C3480BB7}"/>
                  </a:ext>
                </a:extLst>
              </p:cNvPr>
              <p:cNvSpPr txBox="1">
                <a:spLocks noRot="1" noChangeAspect="1" noMove="1" noResize="1" noEditPoints="1" noAdjustHandles="1" noChangeArrowheads="1" noChangeShapeType="1" noTextEdit="1"/>
              </p:cNvSpPr>
              <p:nvPr/>
            </p:nvSpPr>
            <p:spPr>
              <a:xfrm>
                <a:off x="4963683" y="3830380"/>
                <a:ext cx="2078838" cy="169277"/>
              </a:xfrm>
              <a:prstGeom prst="rect">
                <a:avLst/>
              </a:prstGeom>
              <a:blipFill>
                <a:blip r:embed="rId3"/>
                <a:stretch>
                  <a:fillRect l="-880" r="-2053" b="-35714"/>
                </a:stretch>
              </a:blipFill>
            </p:spPr>
            <p:txBody>
              <a:bodyPr/>
              <a:lstStyle/>
              <a:p>
                <a:r>
                  <a:rPr lang="de-AT">
                    <a:noFill/>
                  </a:rPr>
                  <a:t> </a:t>
                </a:r>
              </a:p>
            </p:txBody>
          </p:sp>
        </mc:Fallback>
      </mc:AlternateContent>
      <p:sp>
        <p:nvSpPr>
          <p:cNvPr id="8" name="Textfeld 7"/>
          <p:cNvSpPr txBox="1"/>
          <p:nvPr/>
        </p:nvSpPr>
        <p:spPr>
          <a:xfrm>
            <a:off x="4327309" y="3776518"/>
            <a:ext cx="636374" cy="276999"/>
          </a:xfrm>
          <a:prstGeom prst="rect">
            <a:avLst/>
          </a:prstGeom>
          <a:noFill/>
        </p:spPr>
        <p:txBody>
          <a:bodyPr wrap="square" rtlCol="0">
            <a:spAutoFit/>
          </a:bodyPr>
          <a:lstStyle/>
          <a:p>
            <a:r>
              <a:rPr lang="de-AT" sz="1200" dirty="0" err="1"/>
              <a:t>with</a:t>
            </a:r>
            <a:endParaRPr lang="de-AT" sz="1200" dirty="0"/>
          </a:p>
        </p:txBody>
      </p:sp>
      <p:cxnSp>
        <p:nvCxnSpPr>
          <p:cNvPr id="9" name="Gerade Verbindung mit Pfeil 8">
            <a:extLst>
              <a:ext uri="{FF2B5EF4-FFF2-40B4-BE49-F238E27FC236}">
                <a16:creationId xmlns:a16="http://schemas.microsoft.com/office/drawing/2014/main" id="{791F2253-79F9-4B5E-BA61-AA9D010790C7}"/>
              </a:ext>
            </a:extLst>
          </p:cNvPr>
          <p:cNvCxnSpPr>
            <a:cxnSpLocks/>
          </p:cNvCxnSpPr>
          <p:nvPr/>
        </p:nvCxnSpPr>
        <p:spPr>
          <a:xfrm>
            <a:off x="2182186" y="4030604"/>
            <a:ext cx="0" cy="144000"/>
          </a:xfrm>
          <a:prstGeom prst="straightConnector1">
            <a:avLst/>
          </a:prstGeom>
          <a:ln>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feld 9">
            <a:extLst>
              <a:ext uri="{FF2B5EF4-FFF2-40B4-BE49-F238E27FC236}">
                <a16:creationId xmlns:a16="http://schemas.microsoft.com/office/drawing/2014/main" id="{4D01715D-A80C-4D20-81AE-772E3F5503C7}"/>
              </a:ext>
            </a:extLst>
          </p:cNvPr>
          <p:cNvSpPr txBox="1"/>
          <p:nvPr/>
        </p:nvSpPr>
        <p:spPr>
          <a:xfrm>
            <a:off x="1077636" y="4102604"/>
            <a:ext cx="2735044" cy="246221"/>
          </a:xfrm>
          <a:prstGeom prst="rect">
            <a:avLst/>
          </a:prstGeom>
          <a:noFill/>
        </p:spPr>
        <p:txBody>
          <a:bodyPr wrap="none" rtlCol="0">
            <a:spAutoFit/>
          </a:bodyPr>
          <a:lstStyle/>
          <a:p>
            <a:r>
              <a:rPr lang="en-US" sz="1000" dirty="0">
                <a:solidFill>
                  <a:srgbClr val="C00000"/>
                </a:solidFill>
              </a:rPr>
              <a:t>equivalence factor used in 1</a:t>
            </a:r>
            <a:r>
              <a:rPr lang="en-US" sz="1000" baseline="30000" dirty="0">
                <a:solidFill>
                  <a:srgbClr val="C00000"/>
                </a:solidFill>
              </a:rPr>
              <a:t>st</a:t>
            </a:r>
            <a:r>
              <a:rPr lang="en-US" sz="1000" dirty="0">
                <a:solidFill>
                  <a:srgbClr val="C00000"/>
                </a:solidFill>
              </a:rPr>
              <a:t> simulation run</a:t>
            </a:r>
          </a:p>
        </p:txBody>
      </p:sp>
      <p:cxnSp>
        <p:nvCxnSpPr>
          <p:cNvPr id="11" name="Gerade Verbindung mit Pfeil 10">
            <a:extLst>
              <a:ext uri="{FF2B5EF4-FFF2-40B4-BE49-F238E27FC236}">
                <a16:creationId xmlns:a16="http://schemas.microsoft.com/office/drawing/2014/main" id="{791F2253-79F9-4B5E-BA61-AA9D010790C7}"/>
              </a:ext>
            </a:extLst>
          </p:cNvPr>
          <p:cNvCxnSpPr>
            <a:cxnSpLocks/>
          </p:cNvCxnSpPr>
          <p:nvPr/>
        </p:nvCxnSpPr>
        <p:spPr>
          <a:xfrm>
            <a:off x="5376040" y="4025115"/>
            <a:ext cx="0" cy="144000"/>
          </a:xfrm>
          <a:prstGeom prst="straightConnector1">
            <a:avLst/>
          </a:prstGeom>
          <a:ln>
            <a:solidFill>
              <a:srgbClr val="C0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feld 11">
            <a:extLst>
              <a:ext uri="{FF2B5EF4-FFF2-40B4-BE49-F238E27FC236}">
                <a16:creationId xmlns:a16="http://schemas.microsoft.com/office/drawing/2014/main" id="{4D01715D-A80C-4D20-81AE-772E3F5503C7}"/>
              </a:ext>
            </a:extLst>
          </p:cNvPr>
          <p:cNvSpPr txBox="1"/>
          <p:nvPr/>
        </p:nvSpPr>
        <p:spPr>
          <a:xfrm>
            <a:off x="4327309" y="4098251"/>
            <a:ext cx="3554178" cy="246221"/>
          </a:xfrm>
          <a:prstGeom prst="rect">
            <a:avLst/>
          </a:prstGeom>
          <a:noFill/>
        </p:spPr>
        <p:txBody>
          <a:bodyPr wrap="none" rtlCol="0">
            <a:spAutoFit/>
          </a:bodyPr>
          <a:lstStyle/>
          <a:p>
            <a:r>
              <a:rPr lang="en-US" sz="1000" dirty="0">
                <a:solidFill>
                  <a:srgbClr val="C00000"/>
                </a:solidFill>
              </a:rPr>
              <a:t>refer to \Declaration\</a:t>
            </a:r>
            <a:r>
              <a:rPr lang="en-US" sz="1000" dirty="0" err="1">
                <a:solidFill>
                  <a:srgbClr val="C00000"/>
                </a:solidFill>
              </a:rPr>
              <a:t>HEVParameters</a:t>
            </a:r>
            <a:r>
              <a:rPr lang="en-US" sz="1000" dirty="0">
                <a:solidFill>
                  <a:srgbClr val="C00000"/>
                </a:solidFill>
              </a:rPr>
              <a:t>\Lorry\Gradient_40.csv</a:t>
            </a:r>
          </a:p>
        </p:txBody>
      </p:sp>
      <p:pic>
        <p:nvPicPr>
          <p:cNvPr id="13" name="Grafik 12"/>
          <p:cNvPicPr>
            <a:picLocks noChangeAspect="1"/>
          </p:cNvPicPr>
          <p:nvPr/>
        </p:nvPicPr>
        <p:blipFill>
          <a:blip r:embed="rId4"/>
          <a:stretch>
            <a:fillRect/>
          </a:stretch>
        </p:blipFill>
        <p:spPr>
          <a:xfrm>
            <a:off x="2843629" y="4798959"/>
            <a:ext cx="3260769" cy="324000"/>
          </a:xfrm>
          <a:prstGeom prst="rect">
            <a:avLst/>
          </a:prstGeom>
        </p:spPr>
      </p:pic>
    </p:spTree>
    <p:extLst>
      <p:ext uri="{BB962C8B-B14F-4D97-AF65-F5344CB8AC3E}">
        <p14:creationId xmlns:p14="http://schemas.microsoft.com/office/powerpoint/2010/main" val="3895052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43196" y="40603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Generic </a:t>
            </a:r>
            <a:r>
              <a:rPr lang="en-US" sz="2400" spc="-1" dirty="0" err="1">
                <a:solidFill>
                  <a:srgbClr val="990000"/>
                </a:solidFill>
                <a:latin typeface="Arial"/>
              </a:rPr>
              <a:t>parametrisation</a:t>
            </a:r>
            <a:r>
              <a:rPr lang="en-US" sz="2400" spc="-1" dirty="0">
                <a:solidFill>
                  <a:srgbClr val="990000"/>
                </a:solidFill>
                <a:latin typeface="Arial"/>
              </a:rPr>
              <a:t> P-HEV strategy </a:t>
            </a:r>
            <a:endParaRPr lang="en-GB" sz="2400" spc="-1" dirty="0">
              <a:solidFill>
                <a:srgbClr val="990000"/>
              </a:solidFill>
              <a:latin typeface="Arial"/>
            </a:endParaRPr>
          </a:p>
        </p:txBody>
      </p:sp>
      <p:sp>
        <p:nvSpPr>
          <p:cNvPr id="3" name="Inhaltsplatzhalter 2"/>
          <p:cNvSpPr>
            <a:spLocks noGrp="1"/>
          </p:cNvSpPr>
          <p:nvPr>
            <p:ph idx="1"/>
          </p:nvPr>
        </p:nvSpPr>
        <p:spPr/>
        <p:txBody>
          <a:bodyPr/>
          <a:lstStyle/>
          <a:p>
            <a:r>
              <a:rPr lang="en-US" sz="1800" dirty="0"/>
              <a:t>Operation in Charge sustaining (CS) mode</a:t>
            </a:r>
          </a:p>
          <a:p>
            <a:pPr lvl="1"/>
            <a:r>
              <a:rPr lang="en-US" sz="1600" dirty="0"/>
              <a:t>Dedicated GUI feature available in order to overrule 3 iterations and perform calculation with single individual EF only (for engineering exercise)</a:t>
            </a:r>
            <a:br>
              <a:rPr lang="en-US" sz="1600" dirty="0"/>
            </a:br>
            <a:endParaRPr lang="en-US" sz="600" dirty="0"/>
          </a:p>
          <a:p>
            <a:pPr lvl="1"/>
            <a:r>
              <a:rPr lang="en-US" sz="1600" dirty="0"/>
              <a:t>Instructions:</a:t>
            </a:r>
          </a:p>
          <a:p>
            <a:pPr lvl="2"/>
            <a:r>
              <a:rPr lang="en-US" sz="1400" dirty="0"/>
              <a:t>Copy files from </a:t>
            </a:r>
            <a:r>
              <a:rPr lang="en-US" sz="1200" dirty="0"/>
              <a:t>“\Declaration\</a:t>
            </a:r>
            <a:r>
              <a:rPr lang="en-US" sz="1200" dirty="0" err="1"/>
              <a:t>HEVParameters</a:t>
            </a:r>
            <a:r>
              <a:rPr lang="en-US" sz="1200" dirty="0"/>
              <a:t>\Lorry\HEV_Strategy_Parameters_fequiv_</a:t>
            </a:r>
            <a:r>
              <a:rPr lang="en-US" sz="1200" b="1" dirty="0">
                <a:solidFill>
                  <a:srgbClr val="FF0000"/>
                </a:solidFill>
              </a:rPr>
              <a:t>XX</a:t>
            </a:r>
            <a:r>
              <a:rPr lang="en-US" sz="1200" dirty="0"/>
              <a:t>soc.csv”</a:t>
            </a:r>
            <a:r>
              <a:rPr lang="en-US" sz="1400" dirty="0"/>
              <a:t> </a:t>
            </a:r>
            <a:br>
              <a:rPr lang="en-US" sz="1400" dirty="0"/>
            </a:br>
            <a:r>
              <a:rPr lang="en-US" sz="1400" dirty="0"/>
              <a:t>to </a:t>
            </a:r>
            <a:r>
              <a:rPr lang="en-US" sz="1200" dirty="0"/>
              <a:t>“\Declaration\Override\”</a:t>
            </a:r>
            <a:r>
              <a:rPr lang="en-US" sz="1400" dirty="0"/>
              <a:t> without adding any sub-directories</a:t>
            </a:r>
            <a:br>
              <a:rPr lang="en-US" sz="1400" dirty="0"/>
            </a:br>
            <a:endParaRPr lang="en-US" sz="600" dirty="0"/>
          </a:p>
          <a:p>
            <a:pPr lvl="2"/>
            <a:r>
              <a:rPr lang="en-US" sz="1400" dirty="0"/>
              <a:t>Adapt respective values for individual EF in files (per vehicle group, mission profile and payload)</a:t>
            </a:r>
            <a:br>
              <a:rPr lang="en-US" sz="1400" dirty="0"/>
            </a:br>
            <a:br>
              <a:rPr lang="en-US" sz="1400" dirty="0"/>
            </a:br>
            <a:br>
              <a:rPr lang="en-US" sz="1400" dirty="0"/>
            </a:br>
            <a:br>
              <a:rPr lang="en-US" sz="1400" dirty="0"/>
            </a:br>
            <a:br>
              <a:rPr lang="en-US" sz="1400" dirty="0"/>
            </a:br>
            <a:br>
              <a:rPr lang="en-US" sz="1400" dirty="0"/>
            </a:br>
            <a:br>
              <a:rPr lang="en-US" sz="1100" dirty="0"/>
            </a:br>
            <a:br>
              <a:rPr lang="en-US" sz="1100" dirty="0"/>
            </a:br>
            <a:r>
              <a:rPr lang="en-US" sz="1100" dirty="0"/>
              <a:t>		   </a:t>
            </a:r>
            <a:r>
              <a:rPr lang="en-US" sz="1200" i="1" dirty="0">
                <a:sym typeface="Wingdings" panose="05000000000000000000" pitchFamily="2" charset="2"/>
              </a:rPr>
              <a:t> 1</a:t>
            </a:r>
            <a:r>
              <a:rPr lang="en-US" sz="1200" i="1" baseline="30000" dirty="0">
                <a:sym typeface="Wingdings" panose="05000000000000000000" pitchFamily="2" charset="2"/>
              </a:rPr>
              <a:t>st</a:t>
            </a:r>
            <a:r>
              <a:rPr lang="en-US" sz="1200" i="1" dirty="0">
                <a:sym typeface="Wingdings" panose="05000000000000000000" pitchFamily="2" charset="2"/>
              </a:rPr>
              <a:t> value for low loading, 2</a:t>
            </a:r>
            <a:r>
              <a:rPr lang="en-US" sz="1200" i="1" baseline="30000" dirty="0">
                <a:sym typeface="Wingdings" panose="05000000000000000000" pitchFamily="2" charset="2"/>
              </a:rPr>
              <a:t>nd</a:t>
            </a:r>
            <a:r>
              <a:rPr lang="en-US" sz="1200" i="1" dirty="0">
                <a:sym typeface="Wingdings" panose="05000000000000000000" pitchFamily="2" charset="2"/>
              </a:rPr>
              <a:t> for reference loading</a:t>
            </a:r>
            <a:br>
              <a:rPr lang="en-US" sz="1200" i="1" dirty="0"/>
            </a:br>
            <a:endParaRPr lang="en-US" sz="800" dirty="0"/>
          </a:p>
        </p:txBody>
      </p:sp>
      <p:sp>
        <p:nvSpPr>
          <p:cNvPr id="4" name="Foliennummernplatzhalter 3"/>
          <p:cNvSpPr>
            <a:spLocks noGrp="1"/>
          </p:cNvSpPr>
          <p:nvPr>
            <p:ph type="sldNum" sz="quarter" idx="12"/>
          </p:nvPr>
        </p:nvSpPr>
        <p:spPr/>
        <p:txBody>
          <a:bodyPr/>
          <a:lstStyle/>
          <a:p>
            <a:fld id="{4B64EC4D-37E3-EF42-B9AB-6337577588CB}" type="slidenum">
              <a:rPr lang="de-DE" smtClean="0"/>
              <a:t>31</a:t>
            </a:fld>
            <a:endParaRPr lang="de-DE"/>
          </a:p>
        </p:txBody>
      </p:sp>
      <p:graphicFrame>
        <p:nvGraphicFramePr>
          <p:cNvPr id="5" name="Tabelle 4"/>
          <p:cNvGraphicFramePr>
            <a:graphicFrameLocks noGrp="1"/>
          </p:cNvGraphicFramePr>
          <p:nvPr/>
        </p:nvGraphicFramePr>
        <p:xfrm>
          <a:off x="2594919" y="4223729"/>
          <a:ext cx="5968058" cy="1510665"/>
        </p:xfrm>
        <a:graphic>
          <a:graphicData uri="http://schemas.openxmlformats.org/drawingml/2006/table">
            <a:tbl>
              <a:tblPr>
                <a:tableStyleId>{69CF1AB2-1976-4502-BF36-3FF5EA218861}</a:tableStyleId>
              </a:tblPr>
              <a:tblGrid>
                <a:gridCol w="951988">
                  <a:extLst>
                    <a:ext uri="{9D8B030D-6E8A-4147-A177-3AD203B41FA5}">
                      <a16:colId xmlns:a16="http://schemas.microsoft.com/office/drawing/2014/main" val="852312706"/>
                    </a:ext>
                  </a:extLst>
                </a:gridCol>
                <a:gridCol w="972387">
                  <a:extLst>
                    <a:ext uri="{9D8B030D-6E8A-4147-A177-3AD203B41FA5}">
                      <a16:colId xmlns:a16="http://schemas.microsoft.com/office/drawing/2014/main" val="1837859280"/>
                    </a:ext>
                  </a:extLst>
                </a:gridCol>
                <a:gridCol w="1060787">
                  <a:extLst>
                    <a:ext uri="{9D8B030D-6E8A-4147-A177-3AD203B41FA5}">
                      <a16:colId xmlns:a16="http://schemas.microsoft.com/office/drawing/2014/main" val="1001090232"/>
                    </a:ext>
                  </a:extLst>
                </a:gridCol>
                <a:gridCol w="1024521">
                  <a:extLst>
                    <a:ext uri="{9D8B030D-6E8A-4147-A177-3AD203B41FA5}">
                      <a16:colId xmlns:a16="http://schemas.microsoft.com/office/drawing/2014/main" val="1395416183"/>
                    </a:ext>
                  </a:extLst>
                </a:gridCol>
                <a:gridCol w="988254">
                  <a:extLst>
                    <a:ext uri="{9D8B030D-6E8A-4147-A177-3AD203B41FA5}">
                      <a16:colId xmlns:a16="http://schemas.microsoft.com/office/drawing/2014/main" val="3676319759"/>
                    </a:ext>
                  </a:extLst>
                </a:gridCol>
                <a:gridCol w="970121">
                  <a:extLst>
                    <a:ext uri="{9D8B030D-6E8A-4147-A177-3AD203B41FA5}">
                      <a16:colId xmlns:a16="http://schemas.microsoft.com/office/drawing/2014/main" val="465384926"/>
                    </a:ext>
                  </a:extLst>
                </a:gridCol>
              </a:tblGrid>
              <a:tr h="190500">
                <a:tc>
                  <a:txBody>
                    <a:bodyPr/>
                    <a:lstStyle/>
                    <a:p>
                      <a:pPr algn="ctr" fontAlgn="b"/>
                      <a:r>
                        <a:rPr lang="de-AT" sz="900" b="1" u="none" strike="noStrike">
                          <a:effectLst/>
                        </a:rPr>
                        <a:t>vehiclegroup                 </a:t>
                      </a:r>
                      <a:endParaRPr lang="de-AT" sz="9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de-AT" sz="900" b="1" u="none" strike="noStrike" dirty="0">
                          <a:effectLst/>
                        </a:rPr>
                        <a:t> </a:t>
                      </a:r>
                      <a:r>
                        <a:rPr lang="de-AT" sz="900" b="1" u="none" strike="noStrike" dirty="0" err="1">
                          <a:effectLst/>
                        </a:rPr>
                        <a:t>longhaul</a:t>
                      </a:r>
                      <a:r>
                        <a:rPr lang="de-AT" sz="900" b="1" u="none" strike="noStrike" dirty="0">
                          <a:effectLst/>
                        </a:rPr>
                        <a:t>                     </a:t>
                      </a:r>
                      <a:endParaRPr lang="de-AT" sz="9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de-AT" sz="900" b="1" u="none" strike="noStrike">
                          <a:effectLst/>
                        </a:rPr>
                        <a:t> regionaldelivery              </a:t>
                      </a:r>
                      <a:endParaRPr lang="de-AT" sz="9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de-AT" sz="900" b="1" u="none" strike="noStrike">
                          <a:effectLst/>
                        </a:rPr>
                        <a:t> urbandelivery                 </a:t>
                      </a:r>
                      <a:endParaRPr lang="de-AT" sz="9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de-AT" sz="900" b="1" u="none" strike="noStrike">
                          <a:effectLst/>
                        </a:rPr>
                        <a:t> municipalutility            </a:t>
                      </a:r>
                      <a:endParaRPr lang="de-AT" sz="9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de-AT" sz="900" b="1" u="none" strike="noStrike" dirty="0">
                          <a:effectLst/>
                        </a:rPr>
                        <a:t> </a:t>
                      </a:r>
                      <a:r>
                        <a:rPr lang="de-AT" sz="900" b="1" u="none" strike="noStrike" dirty="0" err="1">
                          <a:effectLst/>
                        </a:rPr>
                        <a:t>construction</a:t>
                      </a:r>
                      <a:r>
                        <a:rPr lang="de-AT" sz="900" b="1" u="none" strike="noStrike" dirty="0">
                          <a:effectLst/>
                        </a:rPr>
                        <a:t>                  </a:t>
                      </a:r>
                      <a:endParaRPr lang="de-AT" sz="9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1099527"/>
                  </a:ext>
                </a:extLst>
              </a:tr>
              <a:tr h="144000">
                <a:tc>
                  <a:txBody>
                    <a:bodyPr/>
                    <a:lstStyle/>
                    <a:p>
                      <a:pPr algn="ctr" fontAlgn="b"/>
                      <a:r>
                        <a:rPr lang="de-AT" sz="900" b="0" i="0" u="none" strike="noStrike" dirty="0">
                          <a:solidFill>
                            <a:schemeClr val="dk1"/>
                          </a:solidFill>
                          <a:effectLst/>
                          <a:latin typeface="+mn-lt"/>
                        </a:rPr>
                        <a:t>53</a:t>
                      </a:r>
                      <a:endParaRPr lang="de-AT" sz="9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de-AT" sz="900" u="none" strike="noStrike" dirty="0">
                          <a:effectLst/>
                        </a:rPr>
                        <a:t>                                </a:t>
                      </a:r>
                      <a:endParaRPr lang="de-AT" sz="9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de-AT" sz="900" u="none" strike="noStrike">
                          <a:effectLst/>
                        </a:rPr>
                        <a:t> 2.6/2.3                              </a:t>
                      </a:r>
                      <a:endParaRPr lang="de-AT" sz="9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de-AT" sz="900" u="none" strike="noStrike">
                          <a:effectLst/>
                        </a:rPr>
                        <a:t> 2.7/2.3                              </a:t>
                      </a:r>
                      <a:endParaRPr lang="de-AT" sz="9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de-AT" sz="900" u="none" strike="noStrike">
                          <a:effectLst/>
                        </a:rPr>
                        <a:t>                                </a:t>
                      </a:r>
                      <a:endParaRPr lang="de-AT" sz="9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de-AT" sz="900" u="none" strike="noStrike" dirty="0">
                          <a:effectLst/>
                        </a:rPr>
                        <a:t>  </a:t>
                      </a:r>
                      <a:endParaRPr lang="de-AT" sz="9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13796165"/>
                  </a:ext>
                </a:extLst>
              </a:tr>
              <a:tr h="144000">
                <a:tc>
                  <a:txBody>
                    <a:bodyPr/>
                    <a:lstStyle/>
                    <a:p>
                      <a:pPr algn="ctr" fontAlgn="b"/>
                      <a:r>
                        <a:rPr lang="de-AT" sz="900" b="0" i="0" u="none" strike="noStrike" dirty="0">
                          <a:solidFill>
                            <a:srgbClr val="000000"/>
                          </a:solidFill>
                          <a:effectLst/>
                          <a:latin typeface="Calibri" panose="020F0502020204030204" pitchFamily="34" charset="0"/>
                        </a:rPr>
                        <a:t>54</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2.6/2.3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2.7/2.3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2700250231"/>
                  </a:ext>
                </a:extLst>
              </a:tr>
              <a:tr h="144000">
                <a:tc>
                  <a:txBody>
                    <a:bodyPr/>
                    <a:lstStyle/>
                    <a:p>
                      <a:pPr algn="ctr" fontAlgn="b"/>
                      <a:r>
                        <a:rPr lang="de-AT" sz="900" b="0" i="0" u="none" strike="noStrike">
                          <a:solidFill>
                            <a:srgbClr val="000000"/>
                          </a:solidFill>
                          <a:effectLst/>
                          <a:latin typeface="Calibri" panose="020F0502020204030204" pitchFamily="34" charset="0"/>
                        </a:rPr>
                        <a:t>1s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2.6/2.3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2.7/2.3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3524488572"/>
                  </a:ext>
                </a:extLst>
              </a:tr>
              <a:tr h="144000">
                <a:tc>
                  <a:txBody>
                    <a:bodyPr/>
                    <a:lstStyle/>
                    <a:p>
                      <a:pPr algn="ctr" fontAlgn="b"/>
                      <a:r>
                        <a:rPr lang="de-AT" sz="900" b="0" i="0" u="none" strike="noStrike">
                          <a:solidFill>
                            <a:srgbClr val="000000"/>
                          </a:solidFill>
                          <a:effectLst/>
                          <a:latin typeface="Calibri" panose="020F0502020204030204" pitchFamily="34" charset="0"/>
                        </a:rPr>
                        <a:t>1</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2.6/2.3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2.7/2.3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1661254603"/>
                  </a:ext>
                </a:extLst>
              </a:tr>
              <a:tr h="144000">
                <a:tc>
                  <a:txBody>
                    <a:bodyPr/>
                    <a:lstStyle/>
                    <a:p>
                      <a:pPr algn="ctr" fontAlgn="b"/>
                      <a:r>
                        <a:rPr lang="de-AT" sz="900" b="0" i="0" u="none" strike="noStrike">
                          <a:solidFill>
                            <a:srgbClr val="000000"/>
                          </a:solidFill>
                          <a:effectLst/>
                          <a:latin typeface="Calibri" panose="020F0502020204030204" pitchFamily="34" charset="0"/>
                        </a:rPr>
                        <a:t>2</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0.1/0.1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2.6/2.3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2.7/2.3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3641180873"/>
                  </a:ext>
                </a:extLst>
              </a:tr>
              <a:tr h="144000">
                <a:tc>
                  <a:txBody>
                    <a:bodyPr/>
                    <a:lstStyle/>
                    <a:p>
                      <a:pPr algn="ctr" fontAlgn="b"/>
                      <a:r>
                        <a:rPr lang="de-AT" sz="900" b="0" i="0" u="none" strike="noStrike">
                          <a:solidFill>
                            <a:srgbClr val="000000"/>
                          </a:solidFill>
                          <a:effectLst/>
                          <a:latin typeface="Calibri" panose="020F0502020204030204" pitchFamily="34" charset="0"/>
                        </a:rPr>
                        <a:t>3</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2.6/2.3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2.7/2.3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2591096129"/>
                  </a:ext>
                </a:extLst>
              </a:tr>
              <a:tr h="144000">
                <a:tc>
                  <a:txBody>
                    <a:bodyPr/>
                    <a:lstStyle/>
                    <a:p>
                      <a:pPr algn="ctr" fontAlgn="b"/>
                      <a:r>
                        <a:rPr lang="de-AT" sz="900" b="0" i="0" u="none" strike="noStrike">
                          <a:solidFill>
                            <a:srgbClr val="000000"/>
                          </a:solidFill>
                          <a:effectLst/>
                          <a:latin typeface="Calibri" panose="020F0502020204030204" pitchFamily="34" charset="0"/>
                        </a:rPr>
                        <a:t>4</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1.4/1.3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2.2/2.6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1.9/2.3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2.1/2.1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2.1/2.1</a:t>
                      </a:r>
                    </a:p>
                  </a:txBody>
                  <a:tcPr marL="9525" marR="9525" marT="9525" marB="0" anchor="b"/>
                </a:tc>
                <a:extLst>
                  <a:ext uri="{0D108BD9-81ED-4DB2-BD59-A6C34878D82A}">
                    <a16:rowId xmlns:a16="http://schemas.microsoft.com/office/drawing/2014/main" val="3302663884"/>
                  </a:ext>
                </a:extLst>
              </a:tr>
              <a:tr h="144000">
                <a:tc>
                  <a:txBody>
                    <a:bodyPr/>
                    <a:lstStyle/>
                    <a:p>
                      <a:pPr algn="ctr" fontAlgn="b"/>
                      <a:r>
                        <a:rPr lang="de-AT" sz="900" b="0" i="0" u="none" strike="noStrike">
                          <a:solidFill>
                            <a:srgbClr val="000000"/>
                          </a:solidFill>
                          <a:effectLst/>
                          <a:latin typeface="Calibri" panose="020F0502020204030204" pitchFamily="34" charset="0"/>
                        </a:rPr>
                        <a:t>5</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1.4/1.3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2.2/2.6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1.9/2.3                              </a:t>
                      </a:r>
                    </a:p>
                  </a:txBody>
                  <a:tcPr marL="9525" marR="9525" marT="9525" marB="0" anchor="b"/>
                </a:tc>
                <a:tc>
                  <a:txBody>
                    <a:bodyPr/>
                    <a:lstStyle/>
                    <a:p>
                      <a:pPr algn="ctr" fontAlgn="b"/>
                      <a:r>
                        <a:rPr lang="de-AT" sz="900" b="0" i="0" u="none" strike="noStrike">
                          <a:solidFill>
                            <a:srgbClr val="000000"/>
                          </a:solidFill>
                          <a:effectLst/>
                          <a:latin typeface="Calibri" panose="020F0502020204030204" pitchFamily="34" charset="0"/>
                        </a:rPr>
                        <a:t>                                </a:t>
                      </a:r>
                    </a:p>
                  </a:txBody>
                  <a:tcPr marL="9525" marR="9525" marT="9525" marB="0" anchor="b"/>
                </a:tc>
                <a:tc>
                  <a:txBody>
                    <a:bodyPr/>
                    <a:lstStyle/>
                    <a:p>
                      <a:pPr algn="ctr" fontAlgn="b"/>
                      <a:r>
                        <a:rPr lang="de-AT" sz="900" b="0" i="0" u="none" strike="noStrike" dirty="0">
                          <a:solidFill>
                            <a:srgbClr val="000000"/>
                          </a:solidFill>
                          <a:effectLst/>
                          <a:latin typeface="Calibri" panose="020F0502020204030204" pitchFamily="34" charset="0"/>
                        </a:rPr>
                        <a:t> 2.1/2.1</a:t>
                      </a:r>
                    </a:p>
                  </a:txBody>
                  <a:tcPr marL="9525" marR="9525" marT="9525" marB="0" anchor="b"/>
                </a:tc>
                <a:extLst>
                  <a:ext uri="{0D108BD9-81ED-4DB2-BD59-A6C34878D82A}">
                    <a16:rowId xmlns:a16="http://schemas.microsoft.com/office/drawing/2014/main" val="3607436354"/>
                  </a:ext>
                </a:extLst>
              </a:tr>
              <a:tr h="144000">
                <a:tc>
                  <a:txBody>
                    <a:bodyPr/>
                    <a:lstStyle/>
                    <a:p>
                      <a:pPr algn="ctr" fontAlgn="b"/>
                      <a:r>
                        <a:rPr lang="de-AT" sz="9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b"/>
                      <a:r>
                        <a:rPr kumimoji="0" lang="de-AT" sz="9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a:t>
                      </a:r>
                      <a:endParaRPr lang="de-AT" sz="9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kumimoji="0" lang="de-AT"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endParaRPr lang="de-AT" sz="9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kumimoji="0" lang="de-AT" sz="9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a:t>
                      </a:r>
                      <a:endParaRPr lang="de-AT" sz="9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kumimoji="0" lang="de-AT" sz="9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a:t>
                      </a:r>
                      <a:endParaRPr lang="de-AT" sz="9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kumimoji="0" lang="de-AT"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endParaRPr lang="de-AT" sz="9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59716045"/>
                  </a:ext>
                </a:extLst>
              </a:tr>
            </a:tbl>
          </a:graphicData>
        </a:graphic>
      </p:graphicFrame>
    </p:spTree>
    <p:extLst>
      <p:ext uri="{BB962C8B-B14F-4D97-AF65-F5344CB8AC3E}">
        <p14:creationId xmlns:p14="http://schemas.microsoft.com/office/powerpoint/2010/main" val="4014364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Generic </a:t>
            </a:r>
            <a:r>
              <a:rPr lang="en-US" sz="2400" spc="-1" dirty="0" err="1">
                <a:solidFill>
                  <a:srgbClr val="990000"/>
                </a:solidFill>
                <a:latin typeface="Arial"/>
              </a:rPr>
              <a:t>parametrisation</a:t>
            </a:r>
            <a:r>
              <a:rPr lang="en-US" sz="2400" spc="-1" dirty="0">
                <a:solidFill>
                  <a:srgbClr val="990000"/>
                </a:solidFill>
                <a:latin typeface="Arial"/>
              </a:rPr>
              <a:t> P-HEV strategy </a:t>
            </a:r>
            <a:endParaRPr lang="en-GB" sz="2400" spc="-1" dirty="0">
              <a:solidFill>
                <a:srgbClr val="990000"/>
              </a:solidFill>
              <a:latin typeface="Arial"/>
            </a:endParaRPr>
          </a:p>
        </p:txBody>
      </p:sp>
      <p:sp>
        <p:nvSpPr>
          <p:cNvPr id="3" name="Inhaltsplatzhalter 2"/>
          <p:cNvSpPr>
            <a:spLocks noGrp="1"/>
          </p:cNvSpPr>
          <p:nvPr>
            <p:ph idx="1"/>
          </p:nvPr>
        </p:nvSpPr>
        <p:spPr/>
        <p:txBody>
          <a:bodyPr/>
          <a:lstStyle/>
          <a:p>
            <a:r>
              <a:rPr lang="en-US" sz="1800" dirty="0"/>
              <a:t>Operation in Charge sustaining (CS) mode</a:t>
            </a:r>
          </a:p>
          <a:p>
            <a:pPr lvl="1"/>
            <a:r>
              <a:rPr lang="en-US" sz="1600" dirty="0"/>
              <a:t>Dedicated GUI feature available in order to overrule 3 iterations and perform calculation with single individual EF only (for engineering exercise)</a:t>
            </a:r>
            <a:br>
              <a:rPr lang="en-US" sz="1600" dirty="0"/>
            </a:br>
            <a:endParaRPr lang="en-US" sz="600" dirty="0"/>
          </a:p>
          <a:p>
            <a:pPr lvl="1"/>
            <a:r>
              <a:rPr lang="en-US" sz="1600" dirty="0"/>
              <a:t>Instructions:</a:t>
            </a:r>
          </a:p>
          <a:p>
            <a:pPr lvl="2"/>
            <a:r>
              <a:rPr lang="en-US" sz="1400" dirty="0"/>
              <a:t>Step 3:</a:t>
            </a:r>
            <a:br>
              <a:rPr lang="en-US" sz="1400" dirty="0"/>
            </a:br>
            <a:r>
              <a:rPr lang="en-US" sz="1400" dirty="0"/>
              <a:t>Activate GUI feature under “Options” tab</a:t>
            </a:r>
            <a:br>
              <a:rPr lang="en-US" sz="1400" dirty="0"/>
            </a:br>
            <a:r>
              <a:rPr lang="en-US" sz="1400" dirty="0"/>
              <a:t>to apply single run with individually set EF</a:t>
            </a:r>
            <a:br>
              <a:rPr lang="en-US" sz="1400" dirty="0"/>
            </a:br>
            <a:r>
              <a:rPr lang="en-US" sz="1400" dirty="0"/>
              <a:t>loaded from “\Declaration\Override\” folder</a:t>
            </a:r>
            <a:br>
              <a:rPr lang="en-US" sz="1400" dirty="0"/>
            </a:br>
            <a:endParaRPr lang="en-US" sz="1400" dirty="0"/>
          </a:p>
          <a:p>
            <a:pPr lvl="2"/>
            <a:r>
              <a:rPr lang="en-US" sz="1400" b="1" u="sng" dirty="0"/>
              <a:t>ATTENTION:</a:t>
            </a:r>
            <a:r>
              <a:rPr lang="en-US" sz="1400" dirty="0"/>
              <a:t> Only loaded when VECTO is</a:t>
            </a:r>
            <a:br>
              <a:rPr lang="en-US" sz="1400" dirty="0"/>
            </a:br>
            <a:r>
              <a:rPr lang="en-US" sz="1400" dirty="0"/>
              <a:t>launched initially (updates during active</a:t>
            </a:r>
            <a:br>
              <a:rPr lang="en-US" sz="1400" dirty="0"/>
            </a:br>
            <a:r>
              <a:rPr lang="en-US" sz="1400" dirty="0"/>
              <a:t>VECTO session have no effect)!</a:t>
            </a:r>
            <a:br>
              <a:rPr lang="en-US" sz="1400" dirty="0"/>
            </a:br>
            <a:endParaRPr lang="en-US" sz="1400" dirty="0"/>
          </a:p>
          <a:p>
            <a:r>
              <a:rPr lang="en-US" sz="1800" dirty="0"/>
              <a:t>To be checked: Handling of vehicles with very small batteries in LH</a:t>
            </a:r>
            <a:br>
              <a:rPr lang="en-US" sz="1800" dirty="0"/>
            </a:br>
            <a:r>
              <a:rPr lang="en-US" sz="1400" i="1" dirty="0"/>
              <a:t>(due to high amount of energy being captured at the very end of the cycle)</a:t>
            </a:r>
            <a:endParaRPr lang="en-GB" sz="1400" i="1" dirty="0"/>
          </a:p>
        </p:txBody>
      </p:sp>
      <p:sp>
        <p:nvSpPr>
          <p:cNvPr id="4" name="Foliennummernplatzhalter 3"/>
          <p:cNvSpPr>
            <a:spLocks noGrp="1"/>
          </p:cNvSpPr>
          <p:nvPr>
            <p:ph type="sldNum" sz="quarter" idx="12"/>
          </p:nvPr>
        </p:nvSpPr>
        <p:spPr/>
        <p:txBody>
          <a:bodyPr/>
          <a:lstStyle/>
          <a:p>
            <a:fld id="{4B64EC4D-37E3-EF42-B9AB-6337577588CB}" type="slidenum">
              <a:rPr lang="de-DE" smtClean="0"/>
              <a:t>32</a:t>
            </a:fld>
            <a:endParaRPr lang="de-DE"/>
          </a:p>
        </p:txBody>
      </p:sp>
      <p:grpSp>
        <p:nvGrpSpPr>
          <p:cNvPr id="9" name="Gruppieren 8"/>
          <p:cNvGrpSpPr/>
          <p:nvPr/>
        </p:nvGrpSpPr>
        <p:grpSpPr>
          <a:xfrm>
            <a:off x="5844641" y="2428289"/>
            <a:ext cx="2841799" cy="2201002"/>
            <a:chOff x="4293973" y="2436734"/>
            <a:chExt cx="2706902" cy="2096522"/>
          </a:xfrm>
        </p:grpSpPr>
        <p:pic>
          <p:nvPicPr>
            <p:cNvPr id="6" name="Grafik 5"/>
            <p:cNvPicPr>
              <a:picLocks noChangeAspect="1"/>
            </p:cNvPicPr>
            <p:nvPr/>
          </p:nvPicPr>
          <p:blipFill>
            <a:blip r:embed="rId2"/>
            <a:stretch>
              <a:fillRect/>
            </a:stretch>
          </p:blipFill>
          <p:spPr>
            <a:xfrm>
              <a:off x="4293973" y="2436734"/>
              <a:ext cx="2706902" cy="2096522"/>
            </a:xfrm>
            <a:prstGeom prst="rect">
              <a:avLst/>
            </a:prstGeom>
          </p:spPr>
        </p:pic>
        <p:sp>
          <p:nvSpPr>
            <p:cNvPr id="7" name="Ellipse 6"/>
            <p:cNvSpPr/>
            <p:nvPr/>
          </p:nvSpPr>
          <p:spPr>
            <a:xfrm>
              <a:off x="4683212" y="2679345"/>
              <a:ext cx="525162" cy="169748"/>
            </a:xfrm>
            <a:prstGeom prst="ellipse">
              <a:avLst/>
            </a:prstGeom>
            <a:solidFill>
              <a:srgbClr val="F70146">
                <a:alpha val="13000"/>
              </a:srgbClr>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8" name="Ellipse 7"/>
            <p:cNvSpPr/>
            <p:nvPr/>
          </p:nvSpPr>
          <p:spPr>
            <a:xfrm>
              <a:off x="5172578" y="3781959"/>
              <a:ext cx="1800000" cy="180000"/>
            </a:xfrm>
            <a:prstGeom prst="ellipse">
              <a:avLst/>
            </a:prstGeom>
            <a:solidFill>
              <a:srgbClr val="F70146">
                <a:alpha val="13000"/>
              </a:srgbClr>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grpSp>
    </p:spTree>
    <p:extLst>
      <p:ext uri="{BB962C8B-B14F-4D97-AF65-F5344CB8AC3E}">
        <p14:creationId xmlns:p14="http://schemas.microsoft.com/office/powerpoint/2010/main" val="14446641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US" sz="2400" spc="-1" dirty="0">
                <a:solidFill>
                  <a:srgbClr val="990000"/>
                </a:solidFill>
                <a:latin typeface="Arial"/>
              </a:rPr>
              <a:t>Updated P-HEV gear shift model (DECL + ENG) </a:t>
            </a:r>
            <a:endParaRPr lang="en-GB" sz="2400" spc="-1" dirty="0">
              <a:solidFill>
                <a:srgbClr val="990000"/>
              </a:solidFill>
              <a:latin typeface="Arial"/>
            </a:endParaRPr>
          </a:p>
        </p:txBody>
      </p:sp>
      <p:sp>
        <p:nvSpPr>
          <p:cNvPr id="3" name="Inhaltsplatzhalter 2"/>
          <p:cNvSpPr>
            <a:spLocks noGrp="1"/>
          </p:cNvSpPr>
          <p:nvPr>
            <p:ph idx="1"/>
          </p:nvPr>
        </p:nvSpPr>
        <p:spPr/>
        <p:txBody>
          <a:bodyPr/>
          <a:lstStyle/>
          <a:p>
            <a:r>
              <a:rPr lang="en-US" sz="1800" dirty="0"/>
              <a:t>Gear shift model for P-HEV used slightly wrong ICE operation point for evaluation of fuel costs</a:t>
            </a:r>
            <a:br>
              <a:rPr lang="en-US" sz="1800" dirty="0"/>
            </a:br>
            <a:r>
              <a:rPr lang="en-US" sz="1800" dirty="0">
                <a:sym typeface="Wingdings" panose="05000000000000000000" pitchFamily="2" charset="2"/>
              </a:rPr>
              <a:t> mainly relevant for overdrive drivetrain configurations</a:t>
            </a:r>
            <a:br>
              <a:rPr lang="en-US" sz="1800" dirty="0">
                <a:sym typeface="Wingdings" panose="05000000000000000000" pitchFamily="2" charset="2"/>
              </a:rPr>
            </a:br>
            <a:r>
              <a:rPr lang="en-US" sz="1800" dirty="0">
                <a:sym typeface="Wingdings" panose="05000000000000000000" pitchFamily="2" charset="2"/>
              </a:rPr>
              <a:t> effect </a:t>
            </a:r>
            <a:r>
              <a:rPr lang="en-US" sz="1800">
                <a:sym typeface="Wingdings" panose="05000000000000000000" pitchFamily="2" charset="2"/>
              </a:rPr>
              <a:t>for non-overdrive </a:t>
            </a:r>
            <a:r>
              <a:rPr lang="en-US" sz="1800" dirty="0">
                <a:sym typeface="Wingdings" panose="05000000000000000000" pitchFamily="2" charset="2"/>
              </a:rPr>
              <a:t>drivetrains:</a:t>
            </a:r>
          </a:p>
          <a:p>
            <a:pPr lvl="1"/>
            <a:r>
              <a:rPr lang="en-US" sz="1400" dirty="0">
                <a:sym typeface="Wingdings" panose="05000000000000000000" pitchFamily="2" charset="2"/>
              </a:rPr>
              <a:t>Typical LH application: from slight decrease &lt;1% up to slight increase &lt;1% of HEV FC</a:t>
            </a:r>
          </a:p>
          <a:p>
            <a:pPr lvl="1"/>
            <a:r>
              <a:rPr lang="en-US" sz="1400" dirty="0">
                <a:sym typeface="Wingdings" panose="05000000000000000000" pitchFamily="2" charset="2"/>
              </a:rPr>
              <a:t>Typical dynamic (urban) application:</a:t>
            </a:r>
          </a:p>
          <a:p>
            <a:pPr lvl="2"/>
            <a:r>
              <a:rPr lang="en-US" sz="1200" dirty="0">
                <a:sym typeface="Wingdings" panose="05000000000000000000" pitchFamily="2" charset="2"/>
              </a:rPr>
              <a:t>More realistic (higher) acceleration behavior and better following of speed trace like ICE-only counterpart</a:t>
            </a:r>
          </a:p>
          <a:p>
            <a:pPr lvl="2"/>
            <a:r>
              <a:rPr lang="en-US" sz="1200" dirty="0">
                <a:sym typeface="Wingdings" panose="05000000000000000000" pitchFamily="2" charset="2"/>
              </a:rPr>
              <a:t>Still some percent decrease of FC of HEV compared to previous version</a:t>
            </a:r>
            <a:br>
              <a:rPr lang="en-US" sz="1200" dirty="0">
                <a:sym typeface="Wingdings" panose="05000000000000000000" pitchFamily="2" charset="2"/>
              </a:rPr>
            </a:br>
            <a:endParaRPr lang="en-US" sz="1200" dirty="0"/>
          </a:p>
          <a:p>
            <a:r>
              <a:rPr lang="en-US" sz="1800"/>
              <a:t>In </a:t>
            </a:r>
            <a:r>
              <a:rPr lang="en-US" sz="1800" dirty="0"/>
              <a:t>actual simulation nothing was changed, the change only affects methods used for cost evaluation</a:t>
            </a:r>
          </a:p>
          <a:p>
            <a:endParaRPr lang="en-US" sz="1800" dirty="0"/>
          </a:p>
          <a:p>
            <a:pPr lvl="1"/>
            <a:endParaRPr lang="en-GB" sz="1600" dirty="0"/>
          </a:p>
          <a:p>
            <a:pPr lvl="2"/>
            <a:endParaRPr lang="en-GB" sz="1400" dirty="0"/>
          </a:p>
          <a:p>
            <a:pPr lvl="2"/>
            <a:endParaRPr lang="en-GB"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33</a:t>
            </a:fld>
            <a:endParaRPr lang="de-DE"/>
          </a:p>
        </p:txBody>
      </p:sp>
    </p:spTree>
    <p:extLst>
      <p:ext uri="{BB962C8B-B14F-4D97-AF65-F5344CB8AC3E}">
        <p14:creationId xmlns:p14="http://schemas.microsoft.com/office/powerpoint/2010/main" val="29064717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US" sz="2400" spc="-1" dirty="0">
                <a:solidFill>
                  <a:srgbClr val="990000"/>
                </a:solidFill>
                <a:latin typeface="Arial"/>
              </a:rPr>
              <a:t>Updated P-HEV gear shift model (DECL + ENG) </a:t>
            </a:r>
            <a:endParaRPr lang="en-GB" sz="2400" spc="-1" dirty="0">
              <a:solidFill>
                <a:srgbClr val="990000"/>
              </a:solidFill>
              <a:latin typeface="Arial"/>
            </a:endParaRPr>
          </a:p>
        </p:txBody>
      </p:sp>
      <p:sp>
        <p:nvSpPr>
          <p:cNvPr id="3" name="Inhaltsplatzhalter 2"/>
          <p:cNvSpPr>
            <a:spLocks noGrp="1"/>
          </p:cNvSpPr>
          <p:nvPr>
            <p:ph idx="1"/>
          </p:nvPr>
        </p:nvSpPr>
        <p:spPr>
          <a:xfrm>
            <a:off x="585333" y="1418400"/>
            <a:ext cx="8229240" cy="4705051"/>
          </a:xfrm>
        </p:spPr>
        <p:txBody>
          <a:bodyPr>
            <a:normAutofit lnSpcReduction="10000"/>
          </a:bodyPr>
          <a:lstStyle/>
          <a:p>
            <a:pPr fontAlgn="base"/>
            <a:r>
              <a:rPr lang="en-IE" dirty="0"/>
              <a:t>Class 4 vehicle on RD reference load;</a:t>
            </a:r>
            <a:r>
              <a:rPr lang="en-US" dirty="0"/>
              <a:t>​</a:t>
            </a:r>
          </a:p>
          <a:p>
            <a:pPr fontAlgn="base"/>
            <a:r>
              <a:rPr lang="en-IE" dirty="0"/>
              <a:t>Gearbox with direct gear (3% higher </a:t>
            </a:r>
            <a:r>
              <a:rPr lang="el-GR" dirty="0"/>
              <a:t>η</a:t>
            </a:r>
            <a:r>
              <a:rPr lang="en-IE" dirty="0"/>
              <a:t>) and overdrive;</a:t>
            </a:r>
            <a:br>
              <a:rPr lang="en-IE" dirty="0"/>
            </a:br>
            <a:br>
              <a:rPr lang="en-IE" dirty="0"/>
            </a:br>
            <a:br>
              <a:rPr lang="en-IE" dirty="0"/>
            </a:br>
            <a:br>
              <a:rPr lang="en-IE" dirty="0"/>
            </a:br>
            <a:br>
              <a:rPr lang="en-IE" dirty="0"/>
            </a:br>
            <a:br>
              <a:rPr lang="en-IE" dirty="0"/>
            </a:br>
            <a:br>
              <a:rPr lang="en-IE" dirty="0"/>
            </a:br>
            <a:endParaRPr lang="en-IE" dirty="0"/>
          </a:p>
          <a:p>
            <a:pPr fontAlgn="base"/>
            <a:r>
              <a:rPr lang="en-IE" dirty="0"/>
              <a:t>Much better results after the update compared to the previous implementation;</a:t>
            </a:r>
            <a:r>
              <a:rPr lang="en-US" dirty="0"/>
              <a:t>​</a:t>
            </a:r>
            <a:endParaRPr lang="en-US" sz="1800" dirty="0"/>
          </a:p>
          <a:p>
            <a:pPr lvl="1"/>
            <a:endParaRPr lang="en-GB" sz="1600" dirty="0"/>
          </a:p>
          <a:p>
            <a:pPr lvl="2"/>
            <a:endParaRPr lang="en-GB" sz="1400" dirty="0"/>
          </a:p>
          <a:p>
            <a:pPr lvl="2"/>
            <a:endParaRPr lang="en-GB"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34</a:t>
            </a:fld>
            <a:endParaRPr lang="de-DE"/>
          </a:p>
        </p:txBody>
      </p:sp>
      <p:graphicFrame>
        <p:nvGraphicFramePr>
          <p:cNvPr id="5" name="Table 4"/>
          <p:cNvGraphicFramePr>
            <a:graphicFrameLocks noGrp="1"/>
          </p:cNvGraphicFramePr>
          <p:nvPr>
            <p:extLst>
              <p:ext uri="{D42A27DB-BD31-4B8C-83A1-F6EECF244321}">
                <p14:modId xmlns:p14="http://schemas.microsoft.com/office/powerpoint/2010/main" val="1481703761"/>
              </p:ext>
            </p:extLst>
          </p:nvPr>
        </p:nvGraphicFramePr>
        <p:xfrm>
          <a:off x="684558" y="2528760"/>
          <a:ext cx="6463538" cy="1920240"/>
        </p:xfrm>
        <a:graphic>
          <a:graphicData uri="http://schemas.openxmlformats.org/drawingml/2006/table">
            <a:tbl>
              <a:tblPr/>
              <a:tblGrid>
                <a:gridCol w="1015078">
                  <a:extLst>
                    <a:ext uri="{9D8B030D-6E8A-4147-A177-3AD203B41FA5}">
                      <a16:colId xmlns:a16="http://schemas.microsoft.com/office/drawing/2014/main" val="3257838502"/>
                    </a:ext>
                  </a:extLst>
                </a:gridCol>
                <a:gridCol w="1651870">
                  <a:extLst>
                    <a:ext uri="{9D8B030D-6E8A-4147-A177-3AD203B41FA5}">
                      <a16:colId xmlns:a16="http://schemas.microsoft.com/office/drawing/2014/main" val="3012404689"/>
                    </a:ext>
                  </a:extLst>
                </a:gridCol>
                <a:gridCol w="1755648">
                  <a:extLst>
                    <a:ext uri="{9D8B030D-6E8A-4147-A177-3AD203B41FA5}">
                      <a16:colId xmlns:a16="http://schemas.microsoft.com/office/drawing/2014/main" val="1743639116"/>
                    </a:ext>
                  </a:extLst>
                </a:gridCol>
                <a:gridCol w="2040942">
                  <a:extLst>
                    <a:ext uri="{9D8B030D-6E8A-4147-A177-3AD203B41FA5}">
                      <a16:colId xmlns:a16="http://schemas.microsoft.com/office/drawing/2014/main" val="2865279632"/>
                    </a:ext>
                  </a:extLst>
                </a:gridCol>
              </a:tblGrid>
              <a:tr h="241300">
                <a:tc>
                  <a:txBody>
                    <a:bodyPr/>
                    <a:lstStyle/>
                    <a:p>
                      <a:pPr algn="l" fontAlgn="base"/>
                      <a:r>
                        <a:rPr lang="en-IE" sz="1200" b="1" i="0" dirty="0">
                          <a:solidFill>
                            <a:srgbClr val="FFFFFF"/>
                          </a:solidFill>
                          <a:effectLst/>
                          <a:latin typeface="Arial" panose="020B0604020202020204" pitchFamily="34" charset="0"/>
                        </a:rPr>
                        <a:t>Test​</a:t>
                      </a:r>
                      <a:endParaRPr lang="en-IE" sz="1200" b="1" i="0" dirty="0">
                        <a:solidFill>
                          <a:srgbClr val="FFFFFF"/>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6ACBF3"/>
                    </a:solidFill>
                  </a:tcPr>
                </a:tc>
                <a:tc>
                  <a:txBody>
                    <a:bodyPr/>
                    <a:lstStyle/>
                    <a:p>
                      <a:pPr algn="l" fontAlgn="base"/>
                      <a:r>
                        <a:rPr lang="en-IE" sz="1200" b="1" i="0" dirty="0">
                          <a:solidFill>
                            <a:srgbClr val="FFFFFF"/>
                          </a:solidFill>
                          <a:effectLst/>
                          <a:latin typeface="Arial" panose="020B0604020202020204" pitchFamily="34" charset="0"/>
                        </a:rPr>
                        <a:t>Consumption [-]​</a:t>
                      </a:r>
                      <a:endParaRPr lang="en-IE" sz="1200" b="1" i="0" dirty="0">
                        <a:solidFill>
                          <a:srgbClr val="FFFFFF"/>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6ACBF3"/>
                    </a:solidFill>
                  </a:tcPr>
                </a:tc>
                <a:tc>
                  <a:txBody>
                    <a:bodyPr/>
                    <a:lstStyle/>
                    <a:p>
                      <a:pPr algn="l" fontAlgn="base"/>
                      <a:r>
                        <a:rPr lang="en-IE" sz="1200" b="1" i="0">
                          <a:solidFill>
                            <a:srgbClr val="FFFFFF"/>
                          </a:solidFill>
                          <a:effectLst/>
                          <a:latin typeface="Arial" panose="020B0604020202020204" pitchFamily="34" charset="0"/>
                        </a:rPr>
                        <a:t>Direct gear usage [% time]​</a:t>
                      </a:r>
                      <a:endParaRPr lang="en-IE" sz="1200" b="1" i="0">
                        <a:solidFill>
                          <a:srgbClr val="FFFFFF"/>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6ACBF3"/>
                    </a:solidFill>
                  </a:tcPr>
                </a:tc>
                <a:tc>
                  <a:txBody>
                    <a:bodyPr/>
                    <a:lstStyle/>
                    <a:p>
                      <a:pPr algn="l" fontAlgn="base"/>
                      <a:r>
                        <a:rPr lang="en-IE" sz="1200" b="1" i="0">
                          <a:solidFill>
                            <a:srgbClr val="FFFFFF"/>
                          </a:solidFill>
                          <a:effectLst/>
                          <a:latin typeface="Arial" panose="020B0604020202020204" pitchFamily="34" charset="0"/>
                        </a:rPr>
                        <a:t>Overdrive gear usage [% time]​</a:t>
                      </a:r>
                      <a:endParaRPr lang="en-IE" sz="1200" b="1" i="0">
                        <a:solidFill>
                          <a:srgbClr val="FFFFFF"/>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6ACBF3"/>
                    </a:solidFill>
                  </a:tcPr>
                </a:tc>
                <a:extLst>
                  <a:ext uri="{0D108BD9-81ED-4DB2-BD59-A6C34878D82A}">
                    <a16:rowId xmlns:a16="http://schemas.microsoft.com/office/drawing/2014/main" val="4090357267"/>
                  </a:ext>
                </a:extLst>
              </a:tr>
              <a:tr h="241300">
                <a:tc>
                  <a:txBody>
                    <a:bodyPr/>
                    <a:lstStyle/>
                    <a:p>
                      <a:pPr algn="l" fontAlgn="base"/>
                      <a:r>
                        <a:rPr lang="en-IE" sz="1200" b="0" i="0" dirty="0">
                          <a:solidFill>
                            <a:srgbClr val="4D4D4D"/>
                          </a:solidFill>
                          <a:effectLst/>
                          <a:latin typeface="Arial" panose="020B0604020202020204" pitchFamily="34" charset="0"/>
                        </a:rPr>
                        <a:t>ICE ​</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l-GR" sz="1200" b="0" i="0" dirty="0">
                          <a:solidFill>
                            <a:srgbClr val="4D4D4D"/>
                          </a:solidFill>
                          <a:effectLst/>
                          <a:latin typeface="Arial" panose="020B0604020202020204" pitchFamily="34" charset="0"/>
                        </a:rPr>
                        <a:t>1​</a:t>
                      </a:r>
                      <a:endParaRPr lang="el-GR"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n-IE" sz="1200" b="0" i="0">
                          <a:solidFill>
                            <a:srgbClr val="4D4D4D"/>
                          </a:solidFill>
                          <a:effectLst/>
                          <a:latin typeface="Arial" panose="020B0604020202020204" pitchFamily="34" charset="0"/>
                        </a:rPr>
                        <a:t>42%​</a:t>
                      </a:r>
                      <a:endParaRPr lang="en-IE" sz="1200" b="0" i="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n-IE" sz="1200" b="0" i="0">
                          <a:solidFill>
                            <a:srgbClr val="4D4D4D"/>
                          </a:solidFill>
                          <a:effectLst/>
                          <a:latin typeface="Arial" panose="020B0604020202020204" pitchFamily="34" charset="0"/>
                        </a:rPr>
                        <a:t>26%​</a:t>
                      </a:r>
                      <a:endParaRPr lang="en-IE" sz="1200" b="0" i="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extLst>
                  <a:ext uri="{0D108BD9-81ED-4DB2-BD59-A6C34878D82A}">
                    <a16:rowId xmlns:a16="http://schemas.microsoft.com/office/drawing/2014/main" val="5070144"/>
                  </a:ext>
                </a:extLst>
              </a:tr>
              <a:tr h="241300">
                <a:tc>
                  <a:txBody>
                    <a:bodyPr/>
                    <a:lstStyle/>
                    <a:p>
                      <a:pPr algn="l" fontAlgn="base"/>
                      <a:r>
                        <a:rPr lang="en-IE" sz="1200" b="0" i="0" dirty="0">
                          <a:solidFill>
                            <a:srgbClr val="4D4D4D"/>
                          </a:solidFill>
                          <a:effectLst/>
                          <a:latin typeface="Arial" panose="020B0604020202020204" pitchFamily="34" charset="0"/>
                        </a:rPr>
                        <a:t>Direct + overdrive​</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n-IE" sz="1200" b="0" i="0" dirty="0">
                          <a:solidFill>
                            <a:srgbClr val="4D4D4D"/>
                          </a:solidFill>
                          <a:effectLst/>
                          <a:latin typeface="Arial" panose="020B0604020202020204" pitchFamily="34" charset="0"/>
                        </a:rPr>
                        <a:t>0.965​</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n-IE" sz="1200" b="0" i="0">
                          <a:solidFill>
                            <a:srgbClr val="4D4D4D"/>
                          </a:solidFill>
                          <a:effectLst/>
                          <a:latin typeface="Arial" panose="020B0604020202020204" pitchFamily="34" charset="0"/>
                        </a:rPr>
                        <a:t>7%​</a:t>
                      </a:r>
                      <a:endParaRPr lang="en-IE" sz="1200" b="0" i="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n-IE" sz="1200" b="0" i="0">
                          <a:solidFill>
                            <a:srgbClr val="4D4D4D"/>
                          </a:solidFill>
                          <a:effectLst/>
                          <a:latin typeface="Arial" panose="020B0604020202020204" pitchFamily="34" charset="0"/>
                        </a:rPr>
                        <a:t>68%​</a:t>
                      </a:r>
                      <a:endParaRPr lang="en-IE" sz="1200" b="0" i="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extLst>
                  <a:ext uri="{0D108BD9-81ED-4DB2-BD59-A6C34878D82A}">
                    <a16:rowId xmlns:a16="http://schemas.microsoft.com/office/drawing/2014/main" val="2145507768"/>
                  </a:ext>
                </a:extLst>
              </a:tr>
              <a:tr h="241300">
                <a:tc>
                  <a:txBody>
                    <a:bodyPr/>
                    <a:lstStyle/>
                    <a:p>
                      <a:pPr algn="l" fontAlgn="base"/>
                      <a:r>
                        <a:rPr lang="en-IE" sz="1200" b="0" i="0" dirty="0">
                          <a:solidFill>
                            <a:srgbClr val="4D4D4D"/>
                          </a:solidFill>
                          <a:effectLst/>
                          <a:latin typeface="Arial" panose="020B0604020202020204" pitchFamily="34" charset="0"/>
                        </a:rPr>
                        <a:t>Direct only​</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n-IE" sz="1200" b="0" i="0" dirty="0">
                          <a:solidFill>
                            <a:srgbClr val="4D4D4D"/>
                          </a:solidFill>
                          <a:effectLst/>
                          <a:latin typeface="Arial" panose="020B0604020202020204" pitchFamily="34" charset="0"/>
                        </a:rPr>
                        <a:t>0.895​</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n-IE" sz="1200" b="0" i="0" dirty="0">
                          <a:solidFill>
                            <a:srgbClr val="4D4D4D"/>
                          </a:solidFill>
                          <a:effectLst/>
                          <a:latin typeface="Arial" panose="020B0604020202020204" pitchFamily="34" charset="0"/>
                        </a:rPr>
                        <a:t>78%​</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tc>
                  <a:txBody>
                    <a:bodyPr/>
                    <a:lstStyle/>
                    <a:p>
                      <a:pPr algn="ctr" fontAlgn="base"/>
                      <a:r>
                        <a:rPr lang="en-IE" sz="1200" b="0" i="0">
                          <a:solidFill>
                            <a:srgbClr val="4D4D4D"/>
                          </a:solidFill>
                          <a:effectLst/>
                          <a:latin typeface="Arial" panose="020B0604020202020204" pitchFamily="34" charset="0"/>
                        </a:rPr>
                        <a:t>-​</a:t>
                      </a:r>
                      <a:endParaRPr lang="en-IE" sz="1200" b="0" i="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C3EAFA"/>
                    </a:solidFill>
                  </a:tcPr>
                </a:tc>
                <a:extLst>
                  <a:ext uri="{0D108BD9-81ED-4DB2-BD59-A6C34878D82A}">
                    <a16:rowId xmlns:a16="http://schemas.microsoft.com/office/drawing/2014/main" val="3046950323"/>
                  </a:ext>
                </a:extLst>
              </a:tr>
              <a:tr h="241300">
                <a:tc>
                  <a:txBody>
                    <a:bodyPr/>
                    <a:lstStyle/>
                    <a:p>
                      <a:pPr algn="l" fontAlgn="base"/>
                      <a:r>
                        <a:rPr lang="en-IE" sz="1200" b="0" i="0">
                          <a:solidFill>
                            <a:srgbClr val="4D4D4D"/>
                          </a:solidFill>
                          <a:effectLst/>
                          <a:latin typeface="Arial" panose="020B0604020202020204" pitchFamily="34" charset="0"/>
                        </a:rPr>
                        <a:t>Direct + overdrive​</a:t>
                      </a:r>
                      <a:endParaRPr lang="en-IE" sz="1200" b="0" i="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9BEFD3"/>
                    </a:solidFill>
                  </a:tcPr>
                </a:tc>
                <a:tc>
                  <a:txBody>
                    <a:bodyPr/>
                    <a:lstStyle/>
                    <a:p>
                      <a:pPr algn="ctr" fontAlgn="base"/>
                      <a:r>
                        <a:rPr lang="en-IE" sz="1200" b="0" i="0" dirty="0">
                          <a:solidFill>
                            <a:srgbClr val="4D4D4D"/>
                          </a:solidFill>
                          <a:effectLst/>
                          <a:latin typeface="Arial" panose="020B0604020202020204" pitchFamily="34" charset="0"/>
                        </a:rPr>
                        <a:t>0.870​</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9BEFD3"/>
                    </a:solidFill>
                  </a:tcPr>
                </a:tc>
                <a:tc>
                  <a:txBody>
                    <a:bodyPr/>
                    <a:lstStyle/>
                    <a:p>
                      <a:pPr algn="ctr" fontAlgn="base"/>
                      <a:r>
                        <a:rPr lang="en-IE" sz="1200" b="0" i="0" dirty="0">
                          <a:solidFill>
                            <a:srgbClr val="4D4D4D"/>
                          </a:solidFill>
                          <a:effectLst/>
                          <a:latin typeface="Arial" panose="020B0604020202020204" pitchFamily="34" charset="0"/>
                        </a:rPr>
                        <a:t>57%​</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9BEFD3"/>
                    </a:solidFill>
                  </a:tcPr>
                </a:tc>
                <a:tc>
                  <a:txBody>
                    <a:bodyPr/>
                    <a:lstStyle/>
                    <a:p>
                      <a:pPr algn="ctr" fontAlgn="base"/>
                      <a:r>
                        <a:rPr lang="en-IE" sz="1200" b="0" i="0" dirty="0">
                          <a:solidFill>
                            <a:srgbClr val="4D4D4D"/>
                          </a:solidFill>
                          <a:effectLst/>
                          <a:latin typeface="Arial" panose="020B0604020202020204" pitchFamily="34" charset="0"/>
                        </a:rPr>
                        <a:t>12%​</a:t>
                      </a:r>
                      <a:endParaRPr lang="en-IE" sz="1200" b="0" i="0" dirty="0">
                        <a:solidFill>
                          <a:srgbClr val="4D4D4D"/>
                        </a:solidFill>
                        <a:effectLst/>
                      </a:endParaRPr>
                    </a:p>
                  </a:txBody>
                  <a:tcPr>
                    <a:lnL w="9100" cap="flat" cmpd="sng" algn="ctr">
                      <a:solidFill>
                        <a:srgbClr val="FFFFFF"/>
                      </a:solidFill>
                      <a:prstDash val="solid"/>
                      <a:round/>
                      <a:headEnd type="none" w="med" len="med"/>
                      <a:tailEnd type="none" w="med" len="med"/>
                    </a:lnL>
                    <a:lnR w="9100" cap="flat" cmpd="sng" algn="ctr">
                      <a:solidFill>
                        <a:srgbClr val="FFFFFF"/>
                      </a:solidFill>
                      <a:prstDash val="solid"/>
                      <a:round/>
                      <a:headEnd type="none" w="med" len="med"/>
                      <a:tailEnd type="none" w="med" len="med"/>
                    </a:lnR>
                    <a:lnT w="9100" cap="flat" cmpd="sng" algn="ctr">
                      <a:solidFill>
                        <a:srgbClr val="FFFFFF"/>
                      </a:solidFill>
                      <a:prstDash val="solid"/>
                      <a:round/>
                      <a:headEnd type="none" w="med" len="med"/>
                      <a:tailEnd type="none" w="med" len="med"/>
                    </a:lnT>
                    <a:lnB w="9100" cap="flat" cmpd="sng" algn="ctr">
                      <a:solidFill>
                        <a:srgbClr val="FFFFFF"/>
                      </a:solidFill>
                      <a:prstDash val="solid"/>
                      <a:round/>
                      <a:headEnd type="none" w="med" len="med"/>
                      <a:tailEnd type="none" w="med" len="med"/>
                    </a:lnB>
                    <a:solidFill>
                      <a:srgbClr val="9BEFD3"/>
                    </a:solidFill>
                  </a:tcPr>
                </a:tc>
                <a:extLst>
                  <a:ext uri="{0D108BD9-81ED-4DB2-BD59-A6C34878D82A}">
                    <a16:rowId xmlns:a16="http://schemas.microsoft.com/office/drawing/2014/main" val="3539567919"/>
                  </a:ext>
                </a:extLst>
              </a:tr>
            </a:tbl>
          </a:graphicData>
        </a:graphic>
      </p:graphicFrame>
      <p:sp>
        <p:nvSpPr>
          <p:cNvPr id="6" name="Rectangle 1"/>
          <p:cNvSpPr>
            <a:spLocks noChangeArrowheads="1"/>
          </p:cNvSpPr>
          <p:nvPr/>
        </p:nvSpPr>
        <p:spPr bwMode="auto">
          <a:xfrm>
            <a:off x="622300" y="2366061"/>
            <a:ext cx="914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latin typeface="Times New Roman" panose="02020603050405020304" pitchFamily="18" charset="0"/>
                <a:cs typeface="Times New Roman" panose="02020603050405020304" pitchFamily="18" charset="0"/>
              </a:rPr>
              <a:t> </a:t>
            </a:r>
            <a:endParaRPr lang="en-US" altLang="en-US" dirty="0"/>
          </a:p>
          <a:p>
            <a:endParaRPr lang="en-US" altLang="en-US" dirty="0"/>
          </a:p>
        </p:txBody>
      </p:sp>
    </p:spTree>
    <p:extLst>
      <p:ext uri="{BB962C8B-B14F-4D97-AF65-F5344CB8AC3E}">
        <p14:creationId xmlns:p14="http://schemas.microsoft.com/office/powerpoint/2010/main" val="2904419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IE" sz="2400" spc="-1" dirty="0">
                <a:solidFill>
                  <a:srgbClr val="990000"/>
                </a:solidFill>
                <a:latin typeface="Arial"/>
              </a:rPr>
              <a:t>Updated time-based with gear mode for AT (ENG only)​</a:t>
            </a:r>
            <a:endParaRPr lang="en-GB" sz="2400" spc="-1" dirty="0">
              <a:solidFill>
                <a:srgbClr val="990000"/>
              </a:solidFill>
              <a:latin typeface="Arial"/>
            </a:endParaRPr>
          </a:p>
        </p:txBody>
      </p:sp>
      <p:sp>
        <p:nvSpPr>
          <p:cNvPr id="3" name="Inhaltsplatzhalter 2"/>
          <p:cNvSpPr>
            <a:spLocks noGrp="1"/>
          </p:cNvSpPr>
          <p:nvPr>
            <p:ph idx="1"/>
          </p:nvPr>
        </p:nvSpPr>
        <p:spPr/>
        <p:txBody>
          <a:bodyPr/>
          <a:lstStyle/>
          <a:p>
            <a:pPr fontAlgn="base"/>
            <a:r>
              <a:rPr lang="en-IE" dirty="0"/>
              <a:t>Several manufacturers reported that the TC can be briefly active in higher gears – mainly during gearshifts;​</a:t>
            </a:r>
          </a:p>
          <a:p>
            <a:pPr fontAlgn="base"/>
            <a:r>
              <a:rPr lang="en-IE" dirty="0"/>
              <a:t>Allow input of "TC active" signal in </a:t>
            </a:r>
            <a:r>
              <a:rPr lang="en-IE" dirty="0" err="1"/>
              <a:t>vdri</a:t>
            </a:r>
            <a:r>
              <a:rPr lang="en-IE" dirty="0"/>
              <a:t> in this mode;​</a:t>
            </a:r>
          </a:p>
          <a:p>
            <a:pPr fontAlgn="base"/>
            <a:r>
              <a:rPr lang="en-IE" dirty="0"/>
              <a:t>Changes apply only in engineering mode. </a:t>
            </a:r>
            <a:r>
              <a:rPr lang="en-IE"/>
              <a:t>Included in the upcoming DEV release;​</a:t>
            </a:r>
            <a:endParaRPr lang="en-GB" sz="1600" dirty="0"/>
          </a:p>
          <a:p>
            <a:pPr lvl="2"/>
            <a:endParaRPr lang="en-GB" sz="1400" dirty="0"/>
          </a:p>
          <a:p>
            <a:pPr lvl="2"/>
            <a:endParaRPr lang="en-GB"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35</a:t>
            </a:fld>
            <a:endParaRPr lang="de-DE"/>
          </a:p>
        </p:txBody>
      </p:sp>
      <p:sp>
        <p:nvSpPr>
          <p:cNvPr id="6" name="Rectangle 1"/>
          <p:cNvSpPr>
            <a:spLocks noChangeArrowheads="1"/>
          </p:cNvSpPr>
          <p:nvPr/>
        </p:nvSpPr>
        <p:spPr bwMode="auto">
          <a:xfrm>
            <a:off x="622300" y="2366061"/>
            <a:ext cx="914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0000"/>
                </a:solidFill>
                <a:latin typeface="Times New Roman" panose="02020603050405020304" pitchFamily="18" charset="0"/>
                <a:cs typeface="Times New Roman" panose="02020603050405020304" pitchFamily="18" charset="0"/>
              </a:rPr>
              <a:t> </a:t>
            </a:r>
            <a:endParaRPr lang="en-US" altLang="en-US" dirty="0"/>
          </a:p>
          <a:p>
            <a:endParaRPr lang="en-US" altLang="en-US" dirty="0"/>
          </a:p>
        </p:txBody>
      </p:sp>
    </p:spTree>
    <p:extLst>
      <p:ext uri="{BB962C8B-B14F-4D97-AF65-F5344CB8AC3E}">
        <p14:creationId xmlns:p14="http://schemas.microsoft.com/office/powerpoint/2010/main" val="42695162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Generic </a:t>
            </a:r>
            <a:r>
              <a:rPr lang="en-US" sz="2400" spc="-1" dirty="0" err="1">
                <a:solidFill>
                  <a:srgbClr val="990000"/>
                </a:solidFill>
                <a:latin typeface="Arial"/>
              </a:rPr>
              <a:t>parametrisation</a:t>
            </a:r>
            <a:r>
              <a:rPr lang="en-US" sz="2400" spc="-1" dirty="0">
                <a:solidFill>
                  <a:srgbClr val="990000"/>
                </a:solidFill>
                <a:latin typeface="Arial"/>
              </a:rPr>
              <a:t> usable SOC range</a:t>
            </a:r>
            <a:endParaRPr lang="en-GB" sz="2400" spc="-1" dirty="0">
              <a:solidFill>
                <a:srgbClr val="990000"/>
              </a:solidFill>
              <a:latin typeface="Arial"/>
            </a:endParaRPr>
          </a:p>
        </p:txBody>
      </p:sp>
      <p:sp>
        <p:nvSpPr>
          <p:cNvPr id="3" name="Inhaltsplatzhalter 2"/>
          <p:cNvSpPr>
            <a:spLocks noGrp="1"/>
          </p:cNvSpPr>
          <p:nvPr>
            <p:ph idx="1"/>
          </p:nvPr>
        </p:nvSpPr>
        <p:spPr/>
        <p:txBody>
          <a:bodyPr/>
          <a:lstStyle/>
          <a:p>
            <a:r>
              <a:rPr lang="en-US" sz="1800" dirty="0"/>
              <a:t>Actual SOC range used for simulation is determined according to 3 elements:</a:t>
            </a:r>
          </a:p>
          <a:p>
            <a:pPr lvl="1"/>
            <a:r>
              <a:rPr lang="en-US" sz="1600" dirty="0"/>
              <a:t>Generic SOC range for new vehicle</a:t>
            </a:r>
          </a:p>
          <a:p>
            <a:pPr lvl="2"/>
            <a:r>
              <a:rPr lang="en-US" sz="1400" dirty="0"/>
              <a:t>Defined separately for PEV, OVC-HEV, Non-OVC-HEV (NOVC-HEV)</a:t>
            </a:r>
          </a:p>
          <a:p>
            <a:pPr lvl="1"/>
            <a:r>
              <a:rPr lang="en-US" sz="1600" dirty="0"/>
              <a:t>Declared SOC range for new vehicle acc. to Annex III (</a:t>
            </a:r>
            <a:r>
              <a:rPr lang="en-US" sz="1600" i="1" dirty="0"/>
              <a:t>P413 + P414</a:t>
            </a:r>
            <a:r>
              <a:rPr lang="en-US" sz="1600" dirty="0"/>
              <a:t>)</a:t>
            </a:r>
          </a:p>
          <a:p>
            <a:pPr lvl="1"/>
            <a:r>
              <a:rPr lang="en-US" sz="1600" dirty="0"/>
              <a:t>Deterioration factor applied for half of lifetime</a:t>
            </a:r>
          </a:p>
          <a:p>
            <a:pPr lvl="2"/>
            <a:r>
              <a:rPr lang="en-US" sz="1400" dirty="0"/>
              <a:t>Preliminary assumption: 5% decrease of usable SOC range</a:t>
            </a:r>
            <a:br>
              <a:rPr lang="en-US" sz="1400" dirty="0"/>
            </a:br>
            <a:r>
              <a:rPr lang="en-US" sz="1400" dirty="0"/>
              <a:t>(i.e. 0.95 x SOC-range of new vehicle)</a:t>
            </a:r>
          </a:p>
          <a:p>
            <a:pPr lvl="1"/>
            <a:r>
              <a:rPr lang="en-US" sz="1600" dirty="0"/>
              <a:t>Preliminary figures in table below:</a:t>
            </a:r>
            <a:br>
              <a:rPr lang="en-US" sz="1600" dirty="0"/>
            </a:br>
            <a:br>
              <a:rPr lang="en-US" sz="1600" dirty="0"/>
            </a:br>
            <a:br>
              <a:rPr lang="en-US" sz="1800" dirty="0"/>
            </a:br>
            <a:br>
              <a:rPr lang="en-US" sz="1800" dirty="0"/>
            </a:br>
            <a:endParaRPr lang="en-US" sz="1800" dirty="0"/>
          </a:p>
          <a:p>
            <a:r>
              <a:rPr lang="en-US" sz="1800" dirty="0"/>
              <a:t>Further discussions regarding final values ongoing</a:t>
            </a:r>
            <a:br>
              <a:rPr lang="en-US" sz="1800" dirty="0"/>
            </a:br>
            <a:r>
              <a:rPr lang="en-US" sz="1800" dirty="0">
                <a:sym typeface="Wingdings" panose="05000000000000000000" pitchFamily="2" charset="2"/>
              </a:rPr>
              <a:t> see separate agenda point</a:t>
            </a:r>
            <a:endParaRPr lang="en-GB" sz="1400" dirty="0">
              <a:solidFill>
                <a:srgbClr val="FF0000"/>
              </a:solidFil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36</a:t>
            </a:fld>
            <a:endParaRPr lang="de-DE"/>
          </a:p>
        </p:txBody>
      </p:sp>
      <p:pic>
        <p:nvPicPr>
          <p:cNvPr id="6" name="Grafik 5"/>
          <p:cNvPicPr>
            <a:picLocks noChangeAspect="1"/>
          </p:cNvPicPr>
          <p:nvPr/>
        </p:nvPicPr>
        <p:blipFill>
          <a:blip r:embed="rId2"/>
          <a:stretch>
            <a:fillRect/>
          </a:stretch>
        </p:blipFill>
        <p:spPr>
          <a:xfrm>
            <a:off x="71820" y="4379754"/>
            <a:ext cx="9000000" cy="830557"/>
          </a:xfrm>
          <a:prstGeom prst="rect">
            <a:avLst/>
          </a:prstGeom>
        </p:spPr>
      </p:pic>
    </p:spTree>
    <p:extLst>
      <p:ext uri="{BB962C8B-B14F-4D97-AF65-F5344CB8AC3E}">
        <p14:creationId xmlns:p14="http://schemas.microsoft.com/office/powerpoint/2010/main" val="20676607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fr-FR" sz="2400" spc="-1" dirty="0" err="1">
                <a:solidFill>
                  <a:srgbClr val="990000"/>
                </a:solidFill>
                <a:latin typeface="Arial"/>
              </a:rPr>
              <a:t>Separate</a:t>
            </a:r>
            <a:r>
              <a:rPr lang="fr-FR" sz="2400" spc="-1" dirty="0">
                <a:solidFill>
                  <a:srgbClr val="990000"/>
                </a:solidFill>
                <a:latin typeface="Arial"/>
              </a:rPr>
              <a:t> </a:t>
            </a:r>
            <a:r>
              <a:rPr lang="fr-FR" sz="2400" spc="-1" dirty="0" err="1">
                <a:solidFill>
                  <a:srgbClr val="990000"/>
                </a:solidFill>
                <a:latin typeface="Arial"/>
              </a:rPr>
              <a:t>approach</a:t>
            </a:r>
            <a:r>
              <a:rPr lang="fr-FR" sz="2400" spc="-1" dirty="0">
                <a:solidFill>
                  <a:srgbClr val="990000"/>
                </a:solidFill>
                <a:latin typeface="Arial"/>
              </a:rPr>
              <a:t> „CD mode“ simulation</a:t>
            </a:r>
          </a:p>
        </p:txBody>
      </p:sp>
      <p:sp>
        <p:nvSpPr>
          <p:cNvPr id="3" name="Inhaltsplatzhalter 2"/>
          <p:cNvSpPr>
            <a:spLocks noGrp="1"/>
          </p:cNvSpPr>
          <p:nvPr>
            <p:ph idx="1"/>
          </p:nvPr>
        </p:nvSpPr>
        <p:spPr/>
        <p:txBody>
          <a:bodyPr/>
          <a:lstStyle/>
          <a:p>
            <a:r>
              <a:rPr lang="en-US" sz="1800" dirty="0"/>
              <a:t>„Frozen“ SOC (infinity battery) at „</a:t>
            </a:r>
            <a:r>
              <a:rPr lang="en-US" sz="1800" dirty="0" err="1"/>
              <a:t>SOC</a:t>
            </a:r>
            <a:r>
              <a:rPr lang="en-US" sz="1800" baseline="-25000" dirty="0" err="1"/>
              <a:t>center</a:t>
            </a:r>
            <a:r>
              <a:rPr lang="en-US" sz="1800" dirty="0"/>
              <a:t>“ applied</a:t>
            </a:r>
            <a:br>
              <a:rPr lang="en-US" sz="1800" dirty="0"/>
            </a:br>
            <a:r>
              <a:rPr lang="en-US" sz="1800" dirty="0"/>
              <a:t>(i.e. average of actual </a:t>
            </a:r>
            <a:r>
              <a:rPr lang="en-US" sz="1800" dirty="0" err="1"/>
              <a:t>SOC</a:t>
            </a:r>
            <a:r>
              <a:rPr lang="en-US" sz="1800" baseline="-25000" dirty="0" err="1"/>
              <a:t>max</a:t>
            </a:r>
            <a:r>
              <a:rPr lang="en-US" sz="1800" dirty="0"/>
              <a:t> and </a:t>
            </a:r>
            <a:r>
              <a:rPr lang="en-US" sz="1800" dirty="0" err="1"/>
              <a:t>SOC</a:t>
            </a:r>
            <a:r>
              <a:rPr lang="en-US" sz="1800" baseline="-25000" dirty="0" err="1"/>
              <a:t>min</a:t>
            </a:r>
            <a:r>
              <a:rPr lang="en-US" sz="1800" dirty="0"/>
              <a:t>)</a:t>
            </a:r>
            <a:br>
              <a:rPr lang="en-US" sz="1800" dirty="0"/>
            </a:br>
            <a:r>
              <a:rPr lang="en-US" sz="1800" i="1" dirty="0">
                <a:sym typeface="Wingdings" panose="05000000000000000000" pitchFamily="2" charset="2"/>
              </a:rPr>
              <a:t> see previous slide</a:t>
            </a:r>
            <a:br>
              <a:rPr lang="en-US" sz="1800" dirty="0"/>
            </a:br>
            <a:endParaRPr lang="en-US" sz="800" dirty="0"/>
          </a:p>
          <a:p>
            <a:r>
              <a:rPr lang="en-US" sz="1800" dirty="0"/>
              <a:t>GUI feature to set frozen SOC to other</a:t>
            </a:r>
            <a:br>
              <a:rPr lang="en-US" sz="1800" dirty="0"/>
            </a:br>
            <a:r>
              <a:rPr lang="en-US" sz="1800" dirty="0"/>
              <a:t>values than „center SOC“ (</a:t>
            </a:r>
            <a:r>
              <a:rPr lang="en-US" sz="1800" i="1" dirty="0"/>
              <a:t>see figure</a:t>
            </a:r>
            <a:r>
              <a:rPr lang="en-US" sz="1800" dirty="0"/>
              <a:t>)</a:t>
            </a:r>
          </a:p>
          <a:p>
            <a:pPr lvl="1"/>
            <a:r>
              <a:rPr lang="en-US" sz="1400" dirty="0"/>
              <a:t>Value needs to be between actual </a:t>
            </a:r>
            <a:r>
              <a:rPr lang="en-US" sz="1400" dirty="0" err="1"/>
              <a:t>SOC</a:t>
            </a:r>
            <a:r>
              <a:rPr lang="en-US" sz="1400" baseline="-25000" dirty="0" err="1"/>
              <a:t>max</a:t>
            </a:r>
            <a:r>
              <a:rPr lang="en-US" sz="1400" dirty="0"/>
              <a:t> and </a:t>
            </a:r>
            <a:r>
              <a:rPr lang="en-US" sz="1400" dirty="0" err="1"/>
              <a:t>SOC</a:t>
            </a:r>
            <a:r>
              <a:rPr lang="en-US" sz="1400" baseline="-25000" dirty="0" err="1"/>
              <a:t>min</a:t>
            </a:r>
            <a:br>
              <a:rPr lang="en-US" sz="1400" baseline="-25000" dirty="0"/>
            </a:br>
            <a:r>
              <a:rPr lang="en-US" sz="1400" dirty="0"/>
              <a:t>for each individual battery installed</a:t>
            </a:r>
            <a:br>
              <a:rPr lang="en-US" sz="1400" dirty="0"/>
            </a:br>
            <a:endParaRPr lang="en-US" sz="800" dirty="0"/>
          </a:p>
          <a:p>
            <a:r>
              <a:rPr lang="en-US" sz="1800" dirty="0"/>
              <a:t>Influence factors on result:</a:t>
            </a:r>
          </a:p>
          <a:p>
            <a:pPr lvl="1"/>
            <a:r>
              <a:rPr lang="en-US" sz="1400" dirty="0"/>
              <a:t>Limitation of maximum battery power = f(SOC)</a:t>
            </a:r>
          </a:p>
          <a:p>
            <a:pPr lvl="1"/>
            <a:r>
              <a:rPr lang="en-US" sz="1400" dirty="0"/>
              <a:t>Internal resistance = f(SOC) (i.e. battery losses)</a:t>
            </a:r>
            <a:br>
              <a:rPr lang="en-US" sz="1400" dirty="0"/>
            </a:br>
            <a:endParaRPr lang="en-US" sz="1400" dirty="0"/>
          </a:p>
          <a:p>
            <a:r>
              <a:rPr lang="en-US" sz="1800" dirty="0"/>
              <a:t>Discussions ongoing which SOC level(s) shall be considered for final method</a:t>
            </a:r>
            <a:br>
              <a:rPr lang="en-US" sz="1800" dirty="0"/>
            </a:br>
            <a:r>
              <a:rPr lang="en-US" sz="1800" dirty="0">
                <a:sym typeface="Wingdings" panose="05000000000000000000" pitchFamily="2" charset="2"/>
              </a:rPr>
              <a:t> see separate agenda point</a:t>
            </a:r>
            <a:endParaRPr lang="en-US"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37</a:t>
            </a:fld>
            <a:endParaRPr lang="de-DE"/>
          </a:p>
        </p:txBody>
      </p:sp>
      <p:grpSp>
        <p:nvGrpSpPr>
          <p:cNvPr id="11" name="Gruppieren 10"/>
          <p:cNvGrpSpPr/>
          <p:nvPr/>
        </p:nvGrpSpPr>
        <p:grpSpPr>
          <a:xfrm>
            <a:off x="6030098" y="2424132"/>
            <a:ext cx="2841799" cy="2201002"/>
            <a:chOff x="5591432" y="2230402"/>
            <a:chExt cx="2841799" cy="2201002"/>
          </a:xfrm>
        </p:grpSpPr>
        <p:pic>
          <p:nvPicPr>
            <p:cNvPr id="7" name="Grafik 6"/>
            <p:cNvPicPr>
              <a:picLocks noChangeAspect="1"/>
            </p:cNvPicPr>
            <p:nvPr/>
          </p:nvPicPr>
          <p:blipFill>
            <a:blip r:embed="rId2"/>
            <a:stretch>
              <a:fillRect/>
            </a:stretch>
          </p:blipFill>
          <p:spPr>
            <a:xfrm>
              <a:off x="5591432" y="2230402"/>
              <a:ext cx="2841799" cy="2201002"/>
            </a:xfrm>
            <a:prstGeom prst="rect">
              <a:avLst/>
            </a:prstGeom>
          </p:spPr>
        </p:pic>
        <p:sp>
          <p:nvSpPr>
            <p:cNvPr id="8" name="Ellipse 7"/>
            <p:cNvSpPr/>
            <p:nvPr/>
          </p:nvSpPr>
          <p:spPr>
            <a:xfrm>
              <a:off x="6000069" y="2485103"/>
              <a:ext cx="551333" cy="178207"/>
            </a:xfrm>
            <a:prstGeom prst="ellipse">
              <a:avLst/>
            </a:prstGeom>
            <a:solidFill>
              <a:srgbClr val="F70146">
                <a:alpha val="13000"/>
              </a:srgbClr>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9" name="Ellipse 8"/>
            <p:cNvSpPr/>
            <p:nvPr/>
          </p:nvSpPr>
          <p:spPr>
            <a:xfrm>
              <a:off x="6513822" y="3797122"/>
              <a:ext cx="1889702" cy="188970"/>
            </a:xfrm>
            <a:prstGeom prst="ellipse">
              <a:avLst/>
            </a:prstGeom>
            <a:solidFill>
              <a:srgbClr val="F70146">
                <a:alpha val="13000"/>
              </a:srgbClr>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0" name="Ellipse 9"/>
            <p:cNvSpPr/>
            <p:nvPr/>
          </p:nvSpPr>
          <p:spPr>
            <a:xfrm>
              <a:off x="7798907" y="4043837"/>
              <a:ext cx="551333" cy="237780"/>
            </a:xfrm>
            <a:prstGeom prst="ellipse">
              <a:avLst/>
            </a:prstGeom>
            <a:solidFill>
              <a:srgbClr val="F70146">
                <a:alpha val="13000"/>
              </a:srgbClr>
            </a:solid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grpSp>
    </p:spTree>
    <p:extLst>
      <p:ext uri="{BB962C8B-B14F-4D97-AF65-F5344CB8AC3E}">
        <p14:creationId xmlns:p14="http://schemas.microsoft.com/office/powerpoint/2010/main" val="2752078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Calculation EC at “battery terminals”</a:t>
            </a:r>
            <a:endParaRPr lang="fr-FR" sz="2400" spc="-1" dirty="0">
              <a:solidFill>
                <a:srgbClr val="990000"/>
              </a:solidFill>
              <a:latin typeface="Arial"/>
            </a:endParaRPr>
          </a:p>
        </p:txBody>
      </p:sp>
      <p:sp>
        <p:nvSpPr>
          <p:cNvPr id="3" name="Inhaltsplatzhalter 2"/>
          <p:cNvSpPr>
            <a:spLocks noGrp="1"/>
          </p:cNvSpPr>
          <p:nvPr>
            <p:ph idx="1"/>
          </p:nvPr>
        </p:nvSpPr>
        <p:spPr/>
        <p:txBody>
          <a:bodyPr/>
          <a:lstStyle/>
          <a:p>
            <a:r>
              <a:rPr lang="de-AT" sz="1800" dirty="0"/>
              <a:t>Case PEV:</a:t>
            </a:r>
          </a:p>
          <a:p>
            <a:pPr lvl="1"/>
            <a:r>
              <a:rPr lang="de-AT" sz="1600" dirty="0" err="1"/>
              <a:t>Only</a:t>
            </a:r>
            <a:r>
              <a:rPr lang="de-AT" sz="1600" dirty="0"/>
              <a:t> </a:t>
            </a:r>
            <a:r>
              <a:rPr lang="de-AT" sz="1600" dirty="0" err="1"/>
              <a:t>re-charging</a:t>
            </a:r>
            <a:r>
              <a:rPr lang="de-AT" sz="1600" dirty="0"/>
              <a:t> in </a:t>
            </a:r>
            <a:r>
              <a:rPr lang="de-AT" sz="1600" dirty="0" err="1"/>
              <a:t>depot</a:t>
            </a:r>
            <a:r>
              <a:rPr lang="de-AT" sz="1600" dirty="0"/>
              <a:t> relevant </a:t>
            </a:r>
            <a:r>
              <a:rPr lang="de-AT" sz="1600" dirty="0" err="1"/>
              <a:t>for</a:t>
            </a:r>
            <a:r>
              <a:rPr lang="de-AT" sz="1600" dirty="0"/>
              <a:t> </a:t>
            </a:r>
            <a:r>
              <a:rPr lang="de-AT" sz="1600" dirty="0" err="1"/>
              <a:t>charging</a:t>
            </a:r>
            <a:r>
              <a:rPr lang="de-AT" sz="1600" dirty="0"/>
              <a:t> </a:t>
            </a:r>
            <a:r>
              <a:rPr lang="de-AT" sz="1600" dirty="0" err="1"/>
              <a:t>losses</a:t>
            </a:r>
            <a:br>
              <a:rPr lang="de-AT" sz="1600" dirty="0"/>
            </a:br>
            <a:r>
              <a:rPr lang="de-AT" sz="1600" dirty="0"/>
              <a:t>(</a:t>
            </a:r>
            <a:r>
              <a:rPr lang="de-AT" sz="1600" dirty="0" err="1"/>
              <a:t>since</a:t>
            </a:r>
            <a:r>
              <a:rPr lang="de-AT" sz="1600" dirty="0"/>
              <a:t> </a:t>
            </a:r>
            <a:r>
              <a:rPr lang="de-AT" sz="1600" dirty="0" err="1"/>
              <a:t>no</a:t>
            </a:r>
            <a:r>
              <a:rPr lang="de-AT" sz="1600" dirty="0"/>
              <a:t> </a:t>
            </a:r>
            <a:r>
              <a:rPr lang="de-AT" sz="1600" dirty="0" err="1"/>
              <a:t>detailled</a:t>
            </a:r>
            <a:r>
              <a:rPr lang="de-AT" sz="1600" dirty="0"/>
              <a:t> </a:t>
            </a:r>
            <a:r>
              <a:rPr lang="de-AT" sz="1600" dirty="0" err="1"/>
              <a:t>information</a:t>
            </a:r>
            <a:r>
              <a:rPr lang="de-AT" sz="1600" dirty="0"/>
              <a:t> in </a:t>
            </a:r>
            <a:r>
              <a:rPr lang="de-AT" sz="1600" dirty="0" err="1"/>
              <a:t>charging</a:t>
            </a:r>
            <a:r>
              <a:rPr lang="de-AT" sz="1600" dirty="0"/>
              <a:t> </a:t>
            </a:r>
            <a:r>
              <a:rPr lang="de-AT" sz="1600" dirty="0" err="1"/>
              <a:t>behaviour</a:t>
            </a:r>
            <a:r>
              <a:rPr lang="de-AT" sz="1600" dirty="0"/>
              <a:t> </a:t>
            </a:r>
            <a:r>
              <a:rPr lang="de-AT" sz="1600" dirty="0" err="1"/>
              <a:t>is</a:t>
            </a:r>
            <a:r>
              <a:rPr lang="de-AT" sz="1600" dirty="0"/>
              <a:t> </a:t>
            </a:r>
            <a:r>
              <a:rPr lang="de-AT" sz="1600" dirty="0" err="1"/>
              <a:t>available</a:t>
            </a:r>
            <a:r>
              <a:rPr lang="de-AT" sz="1600" dirty="0"/>
              <a:t>)</a:t>
            </a:r>
            <a:br>
              <a:rPr lang="de-AT" sz="1600" dirty="0"/>
            </a:br>
            <a:endParaRPr lang="de-AT" sz="1600" dirty="0"/>
          </a:p>
          <a:p>
            <a:pPr lvl="1"/>
            <a:r>
              <a:rPr lang="de-AT" sz="1600" dirty="0"/>
              <a:t>Power </a:t>
            </a:r>
            <a:r>
              <a:rPr lang="de-AT" sz="1600" dirty="0" err="1"/>
              <a:t>level</a:t>
            </a:r>
            <a:r>
              <a:rPr lang="de-AT" sz="1600" dirty="0"/>
              <a:t> </a:t>
            </a:r>
            <a:r>
              <a:rPr lang="de-AT" sz="1600" dirty="0" err="1"/>
              <a:t>for</a:t>
            </a:r>
            <a:r>
              <a:rPr lang="de-AT" sz="1600" dirty="0"/>
              <a:t> </a:t>
            </a:r>
            <a:r>
              <a:rPr lang="de-AT" sz="1600" dirty="0" err="1"/>
              <a:t>determining</a:t>
            </a:r>
            <a:r>
              <a:rPr lang="de-AT" sz="1600" dirty="0"/>
              <a:t> </a:t>
            </a:r>
            <a:r>
              <a:rPr lang="de-AT" sz="1600" dirty="0" err="1"/>
              <a:t>charging</a:t>
            </a:r>
            <a:r>
              <a:rPr lang="de-AT" sz="1600" dirty="0"/>
              <a:t> </a:t>
            </a:r>
            <a:r>
              <a:rPr lang="de-AT" sz="1600" dirty="0" err="1"/>
              <a:t>losses</a:t>
            </a:r>
            <a:r>
              <a:rPr lang="de-AT" sz="1600" dirty="0"/>
              <a:t> in </a:t>
            </a:r>
            <a:r>
              <a:rPr lang="de-AT" sz="1600" dirty="0" err="1"/>
              <a:t>battery</a:t>
            </a:r>
            <a:r>
              <a:rPr lang="de-AT" sz="1600" dirty="0"/>
              <a:t> </a:t>
            </a:r>
            <a:r>
              <a:rPr lang="de-AT" sz="1600" dirty="0" err="1"/>
              <a:t>defined</a:t>
            </a:r>
            <a:r>
              <a:rPr lang="de-AT" sz="1600" dirty="0"/>
              <a:t> </a:t>
            </a:r>
            <a:r>
              <a:rPr lang="de-AT" sz="1600" dirty="0" err="1"/>
              <a:t>by</a:t>
            </a:r>
            <a:r>
              <a:rPr lang="de-AT" sz="1600" dirty="0"/>
              <a:t> </a:t>
            </a:r>
            <a:r>
              <a:rPr lang="de-AT" sz="1600" dirty="0" err="1"/>
              <a:t>following</a:t>
            </a:r>
            <a:r>
              <a:rPr lang="de-AT" sz="1600" dirty="0"/>
              <a:t> </a:t>
            </a:r>
            <a:r>
              <a:rPr lang="de-AT" sz="1600" dirty="0" err="1"/>
              <a:t>equation</a:t>
            </a:r>
            <a:r>
              <a:rPr lang="de-AT" sz="1600" dirty="0"/>
              <a:t>: </a:t>
            </a:r>
            <a:br>
              <a:rPr lang="de-AT" sz="1600" dirty="0"/>
            </a:br>
            <a:r>
              <a:rPr lang="de-AT" sz="1600" dirty="0"/>
              <a:t>nominal </a:t>
            </a:r>
            <a:r>
              <a:rPr lang="de-AT" sz="1600" dirty="0" err="1"/>
              <a:t>charging</a:t>
            </a:r>
            <a:r>
              <a:rPr lang="de-AT" sz="1600" dirty="0"/>
              <a:t> power in kW = </a:t>
            </a:r>
            <a:r>
              <a:rPr lang="de-AT" sz="1600" b="1" i="1" dirty="0"/>
              <a:t>m</a:t>
            </a:r>
            <a:r>
              <a:rPr lang="en-US" sz="1600" b="1" i="1" dirty="0"/>
              <a:t>ax(10, (usable SOC in kWh) / 6h)</a:t>
            </a:r>
          </a:p>
          <a:p>
            <a:pPr lvl="2"/>
            <a:r>
              <a:rPr lang="en-US" sz="1400" dirty="0"/>
              <a:t>Usable SOC is determined by integration of OCV-data from actual </a:t>
            </a:r>
            <a:r>
              <a:rPr lang="en-US" sz="1400" dirty="0" err="1"/>
              <a:t>SOC</a:t>
            </a:r>
            <a:r>
              <a:rPr lang="en-US" sz="1400" baseline="-25000" dirty="0" err="1"/>
              <a:t>min</a:t>
            </a:r>
            <a:r>
              <a:rPr lang="en-US" sz="1400" dirty="0"/>
              <a:t> to </a:t>
            </a:r>
            <a:r>
              <a:rPr lang="en-US" sz="1400" dirty="0" err="1"/>
              <a:t>SOC</a:t>
            </a:r>
            <a:r>
              <a:rPr lang="en-US" sz="1400" baseline="-25000" dirty="0" err="1"/>
              <a:t>max</a:t>
            </a:r>
            <a:br>
              <a:rPr lang="en-US" sz="1400" baseline="-25000"/>
            </a:br>
            <a:endParaRPr lang="en-US" sz="1400" baseline="-25000" dirty="0"/>
          </a:p>
          <a:p>
            <a:pPr lvl="1"/>
            <a:r>
              <a:rPr lang="en-US" sz="1600" dirty="0"/>
              <a:t>Charging efficiency is determined as follows:</a:t>
            </a:r>
          </a:p>
          <a:p>
            <a:pPr lvl="2"/>
            <a:r>
              <a:rPr lang="en-US" sz="1400" dirty="0"/>
              <a:t>Nominal charging current:</a:t>
            </a:r>
            <a:br>
              <a:rPr lang="en-US" sz="1400" dirty="0"/>
            </a:br>
            <a:r>
              <a:rPr lang="en-US" sz="1400" dirty="0"/>
              <a:t>Charging power above is divided by OCV at </a:t>
            </a:r>
            <a:r>
              <a:rPr lang="en-US" sz="1400" dirty="0" err="1"/>
              <a:t>SOC</a:t>
            </a:r>
            <a:r>
              <a:rPr lang="en-US" sz="1400" baseline="-25000" dirty="0" err="1"/>
              <a:t>center</a:t>
            </a:r>
            <a:r>
              <a:rPr lang="en-US" sz="1400" dirty="0"/>
              <a:t> </a:t>
            </a:r>
            <a:r>
              <a:rPr lang="en-US" sz="1100" dirty="0"/>
              <a:t>(i.e. average of actual </a:t>
            </a:r>
            <a:r>
              <a:rPr lang="en-US" sz="1100" dirty="0" err="1"/>
              <a:t>SOC</a:t>
            </a:r>
            <a:r>
              <a:rPr lang="en-US" sz="1100" baseline="-25000" dirty="0" err="1"/>
              <a:t>max</a:t>
            </a:r>
            <a:r>
              <a:rPr lang="en-US" sz="1100" dirty="0"/>
              <a:t> and </a:t>
            </a:r>
            <a:r>
              <a:rPr lang="en-US" sz="1100" dirty="0" err="1"/>
              <a:t>SOC</a:t>
            </a:r>
            <a:r>
              <a:rPr lang="en-US" sz="1100" baseline="-25000" dirty="0" err="1"/>
              <a:t>min</a:t>
            </a:r>
            <a:r>
              <a:rPr lang="en-US" sz="1100" dirty="0"/>
              <a:t>)</a:t>
            </a:r>
            <a:endParaRPr lang="en-US" sz="1400" baseline="-25000" dirty="0"/>
          </a:p>
          <a:p>
            <a:pPr lvl="2"/>
            <a:r>
              <a:rPr lang="en-US" sz="1400" dirty="0"/>
              <a:t>Charging losses: nominal charging current and internal resistance at </a:t>
            </a:r>
            <a:r>
              <a:rPr lang="en-US" sz="1400" dirty="0" err="1"/>
              <a:t>SOC</a:t>
            </a:r>
            <a:r>
              <a:rPr lang="en-US" sz="1400" baseline="-25000" dirty="0" err="1"/>
              <a:t>center</a:t>
            </a:r>
            <a:r>
              <a:rPr lang="en-US" sz="1400" dirty="0"/>
              <a:t> </a:t>
            </a:r>
          </a:p>
          <a:p>
            <a:pPr lvl="2"/>
            <a:r>
              <a:rPr lang="de-AT" sz="1400"/>
              <a:t>Charging efficiency: 1 – (charging losses / charging power)</a:t>
            </a:r>
            <a:endParaRPr lang="de-AT"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38</a:t>
            </a:fld>
            <a:endParaRPr lang="de-DE"/>
          </a:p>
        </p:txBody>
      </p:sp>
    </p:spTree>
    <p:extLst>
      <p:ext uri="{BB962C8B-B14F-4D97-AF65-F5344CB8AC3E}">
        <p14:creationId xmlns:p14="http://schemas.microsoft.com/office/powerpoint/2010/main" val="25149338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Calculation EC at “battery terminals”</a:t>
            </a:r>
            <a:endParaRPr lang="fr-FR" sz="2400" spc="-1" dirty="0">
              <a:solidFill>
                <a:srgbClr val="990000"/>
              </a:solidFill>
              <a:latin typeface="Arial"/>
            </a:endParaRPr>
          </a:p>
        </p:txBody>
      </p:sp>
      <p:sp>
        <p:nvSpPr>
          <p:cNvPr id="3" name="Inhaltsplatzhalter 2"/>
          <p:cNvSpPr>
            <a:spLocks noGrp="1"/>
          </p:cNvSpPr>
          <p:nvPr>
            <p:ph idx="1"/>
          </p:nvPr>
        </p:nvSpPr>
        <p:spPr/>
        <p:txBody>
          <a:bodyPr/>
          <a:lstStyle/>
          <a:p>
            <a:r>
              <a:rPr lang="de-AT" sz="1800" dirty="0"/>
              <a:t>Case OVC-HEV :</a:t>
            </a:r>
          </a:p>
          <a:p>
            <a:pPr lvl="1"/>
            <a:r>
              <a:rPr lang="de-AT" sz="1600" dirty="0" err="1"/>
              <a:t>Charging</a:t>
            </a:r>
            <a:r>
              <a:rPr lang="de-AT" sz="1600" dirty="0"/>
              <a:t> in </a:t>
            </a:r>
            <a:r>
              <a:rPr lang="de-AT" sz="1600" b="1" u="sng" dirty="0" err="1"/>
              <a:t>depot</a:t>
            </a:r>
            <a:r>
              <a:rPr lang="de-AT" sz="1600" dirty="0"/>
              <a:t> </a:t>
            </a:r>
            <a:r>
              <a:rPr lang="de-AT" sz="1600" dirty="0" err="1"/>
              <a:t>as</a:t>
            </a:r>
            <a:r>
              <a:rPr lang="de-AT" sz="1600" dirty="0"/>
              <a:t> </a:t>
            </a:r>
            <a:r>
              <a:rPr lang="de-AT" sz="1600" dirty="0" err="1"/>
              <a:t>well</a:t>
            </a:r>
            <a:r>
              <a:rPr lang="de-AT" sz="1600" dirty="0"/>
              <a:t> </a:t>
            </a:r>
            <a:r>
              <a:rPr lang="de-AT" sz="1600" dirty="0" err="1"/>
              <a:t>as</a:t>
            </a:r>
            <a:r>
              <a:rPr lang="de-AT" sz="1600" dirty="0"/>
              <a:t> </a:t>
            </a:r>
            <a:r>
              <a:rPr lang="de-AT" sz="1600" b="1" u="sng" dirty="0" err="1"/>
              <a:t>stationary</a:t>
            </a:r>
            <a:r>
              <a:rPr lang="de-AT" sz="1600" b="1" u="sng" dirty="0"/>
              <a:t> </a:t>
            </a:r>
            <a:r>
              <a:rPr lang="de-AT" sz="1600" b="1" u="sng" dirty="0" err="1"/>
              <a:t>during</a:t>
            </a:r>
            <a:r>
              <a:rPr lang="de-AT" sz="1600" b="1" u="sng" dirty="0"/>
              <a:t> </a:t>
            </a:r>
            <a:r>
              <a:rPr lang="de-AT" sz="1600" b="1" u="sng" dirty="0" err="1"/>
              <a:t>mission</a:t>
            </a:r>
            <a:r>
              <a:rPr lang="de-AT" sz="1600" dirty="0"/>
              <a:t> (</a:t>
            </a:r>
            <a:r>
              <a:rPr lang="de-AT" sz="1600" dirty="0" err="1"/>
              <a:t>acc</a:t>
            </a:r>
            <a:r>
              <a:rPr lang="de-AT" sz="1600" dirty="0"/>
              <a:t>. </a:t>
            </a:r>
            <a:r>
              <a:rPr lang="de-AT" sz="1600" dirty="0" err="1"/>
              <a:t>to</a:t>
            </a:r>
            <a:r>
              <a:rPr lang="de-AT" sz="1600" dirty="0"/>
              <a:t> </a:t>
            </a:r>
            <a:r>
              <a:rPr lang="de-AT" sz="1600" dirty="0" err="1"/>
              <a:t>generic</a:t>
            </a:r>
            <a:r>
              <a:rPr lang="de-AT" sz="1600" dirty="0"/>
              <a:t> </a:t>
            </a:r>
            <a:r>
              <a:rPr lang="de-AT" sz="1600" dirty="0" err="1"/>
              <a:t>usage</a:t>
            </a:r>
            <a:r>
              <a:rPr lang="de-AT" sz="1600" dirty="0"/>
              <a:t> </a:t>
            </a:r>
            <a:r>
              <a:rPr lang="de-AT" sz="1600" dirty="0" err="1"/>
              <a:t>data</a:t>
            </a:r>
            <a:r>
              <a:rPr lang="de-AT" sz="1600" dirty="0"/>
              <a:t>) relevant </a:t>
            </a:r>
            <a:r>
              <a:rPr lang="de-AT" sz="1600" dirty="0" err="1"/>
              <a:t>for</a:t>
            </a:r>
            <a:r>
              <a:rPr lang="de-AT" sz="1600" dirty="0"/>
              <a:t> </a:t>
            </a:r>
            <a:r>
              <a:rPr lang="de-AT" sz="1600" dirty="0" err="1"/>
              <a:t>charging</a:t>
            </a:r>
            <a:r>
              <a:rPr lang="de-AT" sz="1600" dirty="0"/>
              <a:t> </a:t>
            </a:r>
            <a:r>
              <a:rPr lang="de-AT" sz="1600" dirty="0" err="1"/>
              <a:t>losses</a:t>
            </a:r>
            <a:br>
              <a:rPr lang="de-AT" sz="1600" dirty="0"/>
            </a:br>
            <a:endParaRPr lang="de-AT" sz="600" dirty="0"/>
          </a:p>
          <a:p>
            <a:pPr lvl="1"/>
            <a:r>
              <a:rPr lang="de-AT" sz="1600" dirty="0"/>
              <a:t>Power </a:t>
            </a:r>
            <a:r>
              <a:rPr lang="de-AT" sz="1600" dirty="0" err="1"/>
              <a:t>level</a:t>
            </a:r>
            <a:r>
              <a:rPr lang="de-AT" sz="1600" dirty="0"/>
              <a:t> </a:t>
            </a:r>
            <a:r>
              <a:rPr lang="de-AT" sz="1600" dirty="0" err="1"/>
              <a:t>for</a:t>
            </a:r>
            <a:r>
              <a:rPr lang="de-AT" sz="1600" dirty="0"/>
              <a:t> </a:t>
            </a:r>
            <a:r>
              <a:rPr lang="de-AT" sz="1600" dirty="0" err="1"/>
              <a:t>determining</a:t>
            </a:r>
            <a:r>
              <a:rPr lang="de-AT" sz="1600" dirty="0"/>
              <a:t> </a:t>
            </a:r>
            <a:r>
              <a:rPr lang="de-AT" sz="1600" dirty="0" err="1"/>
              <a:t>charging</a:t>
            </a:r>
            <a:r>
              <a:rPr lang="de-AT" sz="1600" dirty="0"/>
              <a:t> </a:t>
            </a:r>
            <a:r>
              <a:rPr lang="de-AT" sz="1600" dirty="0" err="1"/>
              <a:t>losses</a:t>
            </a:r>
            <a:r>
              <a:rPr lang="de-AT" sz="1600" dirty="0"/>
              <a:t> in </a:t>
            </a:r>
            <a:r>
              <a:rPr lang="de-AT" sz="1600" dirty="0" err="1"/>
              <a:t>battery</a:t>
            </a:r>
            <a:r>
              <a:rPr lang="de-AT" sz="1600" dirty="0"/>
              <a:t> </a:t>
            </a:r>
            <a:r>
              <a:rPr lang="de-AT" sz="1600" dirty="0" err="1"/>
              <a:t>defined</a:t>
            </a:r>
            <a:r>
              <a:rPr lang="de-AT" sz="1600" dirty="0"/>
              <a:t> </a:t>
            </a:r>
            <a:r>
              <a:rPr lang="de-AT" sz="1600" dirty="0" err="1"/>
              <a:t>as</a:t>
            </a:r>
            <a:r>
              <a:rPr lang="de-AT" sz="1600" dirty="0"/>
              <a:t> </a:t>
            </a:r>
            <a:r>
              <a:rPr lang="de-AT" sz="1600" dirty="0" err="1"/>
              <a:t>follows</a:t>
            </a:r>
            <a:r>
              <a:rPr lang="de-AT" sz="1600" dirty="0"/>
              <a:t>: </a:t>
            </a:r>
          </a:p>
          <a:p>
            <a:pPr lvl="2"/>
            <a:r>
              <a:rPr lang="de-AT" sz="1400" b="1" u="sng" dirty="0"/>
              <a:t>Depot:</a:t>
            </a:r>
            <a:r>
              <a:rPr lang="de-AT" sz="1400" dirty="0"/>
              <a:t> </a:t>
            </a:r>
          </a:p>
          <a:p>
            <a:pPr lvl="3"/>
            <a:r>
              <a:rPr lang="de-AT" sz="1200" dirty="0"/>
              <a:t>same </a:t>
            </a:r>
            <a:r>
              <a:rPr lang="de-AT" sz="1200" dirty="0" err="1"/>
              <a:t>as</a:t>
            </a:r>
            <a:r>
              <a:rPr lang="de-AT" sz="1200" dirty="0"/>
              <a:t> </a:t>
            </a:r>
            <a:r>
              <a:rPr lang="de-AT" sz="1200" dirty="0" err="1"/>
              <a:t>for</a:t>
            </a:r>
            <a:r>
              <a:rPr lang="de-AT" sz="1200" dirty="0"/>
              <a:t> PEV (</a:t>
            </a:r>
            <a:r>
              <a:rPr lang="de-AT" sz="1200" dirty="0" err="1"/>
              <a:t>see</a:t>
            </a:r>
            <a:r>
              <a:rPr lang="de-AT" sz="1200" dirty="0"/>
              <a:t> </a:t>
            </a:r>
            <a:r>
              <a:rPr lang="de-AT" sz="1200" dirty="0" err="1"/>
              <a:t>previous</a:t>
            </a:r>
            <a:r>
              <a:rPr lang="de-AT" sz="1200" dirty="0"/>
              <a:t> </a:t>
            </a:r>
            <a:r>
              <a:rPr lang="de-AT" sz="1200" dirty="0" err="1"/>
              <a:t>slide</a:t>
            </a:r>
            <a:r>
              <a:rPr lang="de-AT" sz="1200" dirty="0"/>
              <a:t>)</a:t>
            </a:r>
          </a:p>
          <a:p>
            <a:pPr lvl="3"/>
            <a:r>
              <a:rPr lang="de-AT" sz="1200" dirty="0"/>
              <a:t>but limited </a:t>
            </a:r>
            <a:r>
              <a:rPr lang="de-AT" sz="1200" dirty="0" err="1"/>
              <a:t>with</a:t>
            </a:r>
            <a:r>
              <a:rPr lang="de-AT" sz="1200" dirty="0"/>
              <a:t> </a:t>
            </a:r>
            <a:r>
              <a:rPr lang="de-AT" sz="1200" dirty="0" err="1"/>
              <a:t>declared</a:t>
            </a:r>
            <a:r>
              <a:rPr lang="de-AT" sz="1200" dirty="0"/>
              <a:t> </a:t>
            </a:r>
            <a:r>
              <a:rPr lang="de-AT" sz="1200" dirty="0" err="1"/>
              <a:t>maximum</a:t>
            </a:r>
            <a:r>
              <a:rPr lang="de-AT" sz="1200" dirty="0"/>
              <a:t> </a:t>
            </a:r>
            <a:r>
              <a:rPr lang="de-AT" sz="1200" dirty="0" err="1"/>
              <a:t>charging</a:t>
            </a:r>
            <a:r>
              <a:rPr lang="de-AT" sz="1200" dirty="0"/>
              <a:t> power </a:t>
            </a:r>
            <a:r>
              <a:rPr lang="en-US" sz="1200" dirty="0"/>
              <a:t>acc. to Annex III (</a:t>
            </a:r>
            <a:r>
              <a:rPr lang="en-US" sz="1200" i="1" dirty="0"/>
              <a:t>P402)</a:t>
            </a:r>
            <a:r>
              <a:rPr lang="de-AT" sz="1200" dirty="0"/>
              <a:t> </a:t>
            </a:r>
            <a:br>
              <a:rPr lang="de-AT" sz="1200" dirty="0"/>
            </a:br>
            <a:endParaRPr lang="de-AT" sz="600" dirty="0"/>
          </a:p>
          <a:p>
            <a:pPr lvl="2"/>
            <a:r>
              <a:rPr lang="de-AT" sz="1400" b="1" u="sng" dirty="0" err="1"/>
              <a:t>Stationary</a:t>
            </a:r>
            <a:r>
              <a:rPr lang="de-AT" sz="1400" b="1" u="sng" dirty="0"/>
              <a:t> </a:t>
            </a:r>
            <a:r>
              <a:rPr lang="de-AT" sz="1400" b="1" u="sng" dirty="0" err="1"/>
              <a:t>during</a:t>
            </a:r>
            <a:r>
              <a:rPr lang="de-AT" sz="1400" b="1" u="sng" dirty="0"/>
              <a:t> </a:t>
            </a:r>
            <a:r>
              <a:rPr lang="de-AT" sz="1400" b="1" u="sng" dirty="0" err="1"/>
              <a:t>mission</a:t>
            </a:r>
            <a:r>
              <a:rPr lang="de-AT" sz="1400" b="1" u="sng" dirty="0"/>
              <a:t>:</a:t>
            </a:r>
            <a:r>
              <a:rPr lang="de-AT" sz="1400" dirty="0"/>
              <a:t> </a:t>
            </a:r>
          </a:p>
          <a:p>
            <a:pPr lvl="3"/>
            <a:r>
              <a:rPr lang="de-AT" sz="1200" dirty="0" err="1"/>
              <a:t>determined</a:t>
            </a:r>
            <a:r>
              <a:rPr lang="de-AT" sz="1200" dirty="0"/>
              <a:t> </a:t>
            </a:r>
            <a:r>
              <a:rPr lang="de-AT" sz="1200" dirty="0" err="1"/>
              <a:t>from</a:t>
            </a:r>
            <a:r>
              <a:rPr lang="de-AT" sz="1200" dirty="0"/>
              <a:t> </a:t>
            </a:r>
            <a:r>
              <a:rPr lang="en-US" sz="1200" dirty="0"/>
              <a:t>matrix of generic usage data as already defined for OVC-UF calculation (function of vehicle group and mission profile)</a:t>
            </a:r>
          </a:p>
          <a:p>
            <a:pPr lvl="3"/>
            <a:r>
              <a:rPr lang="de-AT" sz="1200" dirty="0"/>
              <a:t>limited </a:t>
            </a:r>
            <a:r>
              <a:rPr lang="de-AT" sz="1200" dirty="0" err="1"/>
              <a:t>with</a:t>
            </a:r>
            <a:r>
              <a:rPr lang="de-AT" sz="1200" dirty="0"/>
              <a:t> </a:t>
            </a:r>
            <a:r>
              <a:rPr lang="de-AT" sz="1200" dirty="0" err="1"/>
              <a:t>declared</a:t>
            </a:r>
            <a:r>
              <a:rPr lang="de-AT" sz="1200" dirty="0"/>
              <a:t> </a:t>
            </a:r>
            <a:r>
              <a:rPr lang="de-AT" sz="1200" dirty="0" err="1"/>
              <a:t>maximum</a:t>
            </a:r>
            <a:r>
              <a:rPr lang="de-AT" sz="1200" dirty="0"/>
              <a:t> </a:t>
            </a:r>
            <a:r>
              <a:rPr lang="de-AT" sz="1200" dirty="0" err="1"/>
              <a:t>charging</a:t>
            </a:r>
            <a:r>
              <a:rPr lang="de-AT" sz="1200" dirty="0"/>
              <a:t> power </a:t>
            </a:r>
            <a:r>
              <a:rPr lang="en-US" sz="1200" dirty="0"/>
              <a:t>acc. to Annex III (</a:t>
            </a:r>
            <a:r>
              <a:rPr lang="en-US" sz="1200" i="1" dirty="0"/>
              <a:t>P402)</a:t>
            </a:r>
            <a:br>
              <a:rPr lang="en-US" sz="1200" i="1" dirty="0"/>
            </a:br>
            <a:r>
              <a:rPr lang="en-US" sz="400" b="1" u="sng" dirty="0"/>
              <a:t> </a:t>
            </a:r>
            <a:endParaRPr lang="de-AT" sz="600" b="1" u="sng" dirty="0"/>
          </a:p>
          <a:p>
            <a:pPr lvl="1"/>
            <a:r>
              <a:rPr lang="en-US" sz="1600" dirty="0"/>
              <a:t>2 separate values of charging efficiency determined as described on previous slide</a:t>
            </a:r>
          </a:p>
          <a:p>
            <a:pPr lvl="2"/>
            <a:r>
              <a:rPr lang="de-AT" sz="1400" dirty="0">
                <a:sym typeface="Wingdings" panose="05000000000000000000" pitchFamily="2" charset="2"/>
              </a:rPr>
              <a:t> </a:t>
            </a:r>
            <a:r>
              <a:rPr lang="de-AT" sz="1400" dirty="0" err="1">
                <a:sym typeface="Wingdings" panose="05000000000000000000" pitchFamily="2" charset="2"/>
              </a:rPr>
              <a:t>weighted</a:t>
            </a:r>
            <a:r>
              <a:rPr lang="de-AT" sz="1400" dirty="0">
                <a:sym typeface="Wingdings" panose="05000000000000000000" pitchFamily="2" charset="2"/>
              </a:rPr>
              <a:t> </a:t>
            </a:r>
            <a:r>
              <a:rPr lang="de-AT" sz="1400" dirty="0" err="1">
                <a:sym typeface="Wingdings" panose="05000000000000000000" pitchFamily="2" charset="2"/>
              </a:rPr>
              <a:t>averaging</a:t>
            </a:r>
            <a:r>
              <a:rPr lang="de-AT" sz="1400" dirty="0">
                <a:sym typeface="Wingdings" panose="05000000000000000000" pitchFamily="2" charset="2"/>
              </a:rPr>
              <a:t> </a:t>
            </a:r>
            <a:r>
              <a:rPr lang="de-AT" sz="1400" dirty="0" err="1">
                <a:sym typeface="Wingdings" panose="05000000000000000000" pitchFamily="2" charset="2"/>
              </a:rPr>
              <a:t>by</a:t>
            </a:r>
            <a:r>
              <a:rPr lang="de-AT" sz="1400" dirty="0">
                <a:sym typeface="Wingdings" panose="05000000000000000000" pitchFamily="2" charset="2"/>
              </a:rPr>
              <a:t> </a:t>
            </a:r>
            <a:r>
              <a:rPr lang="de-AT" sz="1400" dirty="0" err="1">
                <a:sym typeface="Wingdings" panose="05000000000000000000" pitchFamily="2" charset="2"/>
              </a:rPr>
              <a:t>amount</a:t>
            </a:r>
            <a:r>
              <a:rPr lang="de-AT" sz="1400" dirty="0">
                <a:sym typeface="Wingdings" panose="05000000000000000000" pitchFamily="2" charset="2"/>
              </a:rPr>
              <a:t> </a:t>
            </a:r>
            <a:r>
              <a:rPr lang="de-AT" sz="1400" dirty="0" err="1">
                <a:sym typeface="Wingdings" panose="05000000000000000000" pitchFamily="2" charset="2"/>
              </a:rPr>
              <a:t>of</a:t>
            </a:r>
            <a:r>
              <a:rPr lang="de-AT" sz="1400" dirty="0">
                <a:sym typeface="Wingdings" panose="05000000000000000000" pitchFamily="2" charset="2"/>
              </a:rPr>
              <a:t> </a:t>
            </a:r>
            <a:r>
              <a:rPr lang="de-AT" sz="1400" dirty="0" err="1">
                <a:sym typeface="Wingdings" panose="05000000000000000000" pitchFamily="2" charset="2"/>
              </a:rPr>
              <a:t>charged</a:t>
            </a:r>
            <a:r>
              <a:rPr lang="de-AT" sz="1400" dirty="0">
                <a:sym typeface="Wingdings" panose="05000000000000000000" pitchFamily="2" charset="2"/>
              </a:rPr>
              <a:t> </a:t>
            </a:r>
            <a:r>
              <a:rPr lang="de-AT" sz="1400" dirty="0" err="1">
                <a:sym typeface="Wingdings" panose="05000000000000000000" pitchFamily="2" charset="2"/>
              </a:rPr>
              <a:t>energy</a:t>
            </a:r>
            <a:r>
              <a:rPr lang="de-AT" sz="1400" dirty="0">
                <a:sym typeface="Wingdings" panose="05000000000000000000" pitchFamily="2" charset="2"/>
              </a:rPr>
              <a:t> </a:t>
            </a:r>
            <a:r>
              <a:rPr lang="de-AT" sz="1400" dirty="0" err="1">
                <a:sym typeface="Wingdings" panose="05000000000000000000" pitchFamily="2" charset="2"/>
              </a:rPr>
              <a:t>for</a:t>
            </a:r>
            <a:r>
              <a:rPr lang="de-AT" sz="1400" dirty="0">
                <a:sym typeface="Wingdings" panose="05000000000000000000" pitchFamily="2" charset="2"/>
              </a:rPr>
              <a:t> </a:t>
            </a:r>
            <a:r>
              <a:rPr lang="de-AT" sz="1400" dirty="0" err="1">
                <a:sym typeface="Wingdings" panose="05000000000000000000" pitchFamily="2" charset="2"/>
              </a:rPr>
              <a:t>depot</a:t>
            </a:r>
            <a:r>
              <a:rPr lang="de-AT" sz="1400" dirty="0">
                <a:sym typeface="Wingdings" panose="05000000000000000000" pitchFamily="2" charset="2"/>
              </a:rPr>
              <a:t> </a:t>
            </a:r>
            <a:r>
              <a:rPr lang="de-AT" sz="1400" dirty="0" err="1">
                <a:sym typeface="Wingdings" panose="05000000000000000000" pitchFamily="2" charset="2"/>
              </a:rPr>
              <a:t>and</a:t>
            </a:r>
            <a:r>
              <a:rPr lang="de-AT" sz="1400" dirty="0">
                <a:sym typeface="Wingdings" panose="05000000000000000000" pitchFamily="2" charset="2"/>
              </a:rPr>
              <a:t> </a:t>
            </a:r>
            <a:r>
              <a:rPr lang="de-AT" sz="1400" dirty="0" err="1">
                <a:sym typeface="Wingdings" panose="05000000000000000000" pitchFamily="2" charset="2"/>
              </a:rPr>
              <a:t>stationary</a:t>
            </a:r>
            <a:r>
              <a:rPr lang="de-AT" sz="1400" dirty="0">
                <a:sym typeface="Wingdings" panose="05000000000000000000" pitchFamily="2" charset="2"/>
              </a:rPr>
              <a:t> </a:t>
            </a:r>
            <a:r>
              <a:rPr lang="de-AT" sz="1400" dirty="0" err="1">
                <a:sym typeface="Wingdings" panose="05000000000000000000" pitchFamily="2" charset="2"/>
              </a:rPr>
              <a:t>during</a:t>
            </a:r>
            <a:r>
              <a:rPr lang="de-AT" sz="1400" dirty="0">
                <a:sym typeface="Wingdings" panose="05000000000000000000" pitchFamily="2" charset="2"/>
              </a:rPr>
              <a:t> </a:t>
            </a:r>
            <a:r>
              <a:rPr lang="de-AT" sz="1400" dirty="0" err="1">
                <a:sym typeface="Wingdings" panose="05000000000000000000" pitchFamily="2" charset="2"/>
              </a:rPr>
              <a:t>mission</a:t>
            </a:r>
            <a:r>
              <a:rPr lang="de-AT" sz="1400" dirty="0">
                <a:sym typeface="Wingdings" panose="05000000000000000000" pitchFamily="2" charset="2"/>
              </a:rPr>
              <a:t> </a:t>
            </a:r>
            <a:r>
              <a:rPr lang="de-AT" sz="1400" dirty="0" err="1">
                <a:sym typeface="Wingdings" panose="05000000000000000000" pitchFamily="2" charset="2"/>
              </a:rPr>
              <a:t>to</a:t>
            </a:r>
            <a:r>
              <a:rPr lang="de-AT" sz="1400" dirty="0">
                <a:sym typeface="Wingdings" panose="05000000000000000000" pitchFamily="2" charset="2"/>
              </a:rPr>
              <a:t> </a:t>
            </a:r>
            <a:r>
              <a:rPr lang="de-AT" sz="1400" dirty="0" err="1">
                <a:sym typeface="Wingdings" panose="05000000000000000000" pitchFamily="2" charset="2"/>
              </a:rPr>
              <a:t>determine</a:t>
            </a:r>
            <a:r>
              <a:rPr lang="de-AT" sz="1400" dirty="0">
                <a:sym typeface="Wingdings" panose="05000000000000000000" pitchFamily="2" charset="2"/>
              </a:rPr>
              <a:t> final </a:t>
            </a:r>
            <a:r>
              <a:rPr lang="de-AT" sz="1400" dirty="0" err="1">
                <a:sym typeface="Wingdings" panose="05000000000000000000" pitchFamily="2" charset="2"/>
              </a:rPr>
              <a:t>charging</a:t>
            </a:r>
            <a:r>
              <a:rPr lang="de-AT" sz="1400" dirty="0">
                <a:sym typeface="Wingdings" panose="05000000000000000000" pitchFamily="2" charset="2"/>
              </a:rPr>
              <a:t> </a:t>
            </a:r>
            <a:r>
              <a:rPr lang="de-AT" sz="1400" dirty="0" err="1">
                <a:sym typeface="Wingdings" panose="05000000000000000000" pitchFamily="2" charset="2"/>
              </a:rPr>
              <a:t>efficiency</a:t>
            </a:r>
            <a:endParaRPr lang="de-AT" sz="400" dirty="0"/>
          </a:p>
        </p:txBody>
      </p:sp>
      <p:sp>
        <p:nvSpPr>
          <p:cNvPr id="4" name="Foliennummernplatzhalter 3"/>
          <p:cNvSpPr>
            <a:spLocks noGrp="1"/>
          </p:cNvSpPr>
          <p:nvPr>
            <p:ph type="sldNum" sz="quarter" idx="12"/>
          </p:nvPr>
        </p:nvSpPr>
        <p:spPr/>
        <p:txBody>
          <a:bodyPr/>
          <a:lstStyle/>
          <a:p>
            <a:fld id="{4B64EC4D-37E3-EF42-B9AB-6337577588CB}" type="slidenum">
              <a:rPr lang="de-DE" smtClean="0"/>
              <a:t>39</a:t>
            </a:fld>
            <a:endParaRPr lang="de-DE"/>
          </a:p>
        </p:txBody>
      </p:sp>
    </p:spTree>
    <p:extLst>
      <p:ext uri="{BB962C8B-B14F-4D97-AF65-F5344CB8AC3E}">
        <p14:creationId xmlns:p14="http://schemas.microsoft.com/office/powerpoint/2010/main" val="7853368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Calculation EC at “battery terminals”</a:t>
            </a:r>
            <a:endParaRPr lang="fr-FR" sz="2400" spc="-1" dirty="0">
              <a:solidFill>
                <a:srgbClr val="990000"/>
              </a:solidFill>
              <a:latin typeface="Arial"/>
            </a:endParaRPr>
          </a:p>
        </p:txBody>
      </p:sp>
      <p:sp>
        <p:nvSpPr>
          <p:cNvPr id="3" name="Inhaltsplatzhalter 2"/>
          <p:cNvSpPr>
            <a:spLocks noGrp="1"/>
          </p:cNvSpPr>
          <p:nvPr>
            <p:ph idx="1"/>
          </p:nvPr>
        </p:nvSpPr>
        <p:spPr/>
        <p:txBody>
          <a:bodyPr/>
          <a:lstStyle/>
          <a:p>
            <a:r>
              <a:rPr lang="de-AT" sz="1800" dirty="0"/>
              <a:t>Case OVC-HEV </a:t>
            </a:r>
            <a:r>
              <a:rPr lang="de-AT" sz="1800" dirty="0" err="1"/>
              <a:t>calculation</a:t>
            </a:r>
            <a:r>
              <a:rPr lang="de-AT" sz="1800" dirty="0"/>
              <a:t> </a:t>
            </a:r>
            <a:r>
              <a:rPr lang="de-AT" sz="1800" dirty="0" err="1"/>
              <a:t>example</a:t>
            </a:r>
            <a:r>
              <a:rPr lang="de-AT" sz="1800" dirty="0"/>
              <a:t>:</a:t>
            </a:r>
          </a:p>
          <a:p>
            <a:pPr lvl="1"/>
            <a:r>
              <a:rPr lang="de-AT" sz="1400" dirty="0" err="1"/>
              <a:t>Charging</a:t>
            </a:r>
            <a:r>
              <a:rPr lang="de-AT" sz="1400" dirty="0"/>
              <a:t> power </a:t>
            </a:r>
            <a:r>
              <a:rPr lang="de-AT" sz="1400" dirty="0" err="1"/>
              <a:t>levels</a:t>
            </a:r>
            <a:r>
              <a:rPr lang="de-AT" sz="1400" dirty="0"/>
              <a:t>:  </a:t>
            </a:r>
            <a:r>
              <a:rPr lang="de-AT" sz="1200" dirty="0"/>
              <a:t>Depot 10 kW  /  </a:t>
            </a:r>
            <a:r>
              <a:rPr lang="de-AT" sz="1200" dirty="0" err="1"/>
              <a:t>Stationary</a:t>
            </a:r>
            <a:r>
              <a:rPr lang="de-AT" sz="1200" dirty="0"/>
              <a:t> </a:t>
            </a:r>
            <a:r>
              <a:rPr lang="de-AT" sz="1200" dirty="0" err="1"/>
              <a:t>during</a:t>
            </a:r>
            <a:r>
              <a:rPr lang="de-AT" sz="1200" dirty="0"/>
              <a:t> </a:t>
            </a:r>
            <a:r>
              <a:rPr lang="de-AT" sz="1200" dirty="0" err="1"/>
              <a:t>mission</a:t>
            </a:r>
            <a:r>
              <a:rPr lang="de-AT" sz="1200" dirty="0"/>
              <a:t> 250 kW</a:t>
            </a:r>
            <a:br>
              <a:rPr lang="de-AT" sz="1200" dirty="0"/>
            </a:br>
            <a:endParaRPr lang="de-AT" sz="600" dirty="0"/>
          </a:p>
          <a:p>
            <a:pPr lvl="1"/>
            <a:r>
              <a:rPr lang="de-AT" sz="1400" dirty="0" err="1"/>
              <a:t>Battery</a:t>
            </a:r>
            <a:r>
              <a:rPr lang="de-AT" sz="1400" dirty="0"/>
              <a:t> </a:t>
            </a:r>
            <a:r>
              <a:rPr lang="de-AT" sz="1400" dirty="0" err="1"/>
              <a:t>related</a:t>
            </a:r>
            <a:r>
              <a:rPr lang="de-AT" sz="1400" dirty="0"/>
              <a:t> </a:t>
            </a:r>
            <a:r>
              <a:rPr lang="de-AT" sz="1400" dirty="0" err="1"/>
              <a:t>data</a:t>
            </a:r>
            <a:r>
              <a:rPr lang="de-AT" sz="1400" dirty="0"/>
              <a:t> and </a:t>
            </a:r>
            <a:r>
              <a:rPr lang="de-AT" sz="1400" dirty="0" err="1"/>
              <a:t>charging</a:t>
            </a:r>
            <a:r>
              <a:rPr lang="de-AT" sz="1400" dirty="0"/>
              <a:t> </a:t>
            </a:r>
            <a:r>
              <a:rPr lang="de-AT" sz="1400" dirty="0" err="1"/>
              <a:t>currents</a:t>
            </a:r>
            <a:r>
              <a:rPr lang="de-AT" sz="1400" dirty="0"/>
              <a:t>:</a:t>
            </a:r>
            <a:br>
              <a:rPr lang="de-AT" sz="1400" dirty="0"/>
            </a:br>
            <a:br>
              <a:rPr lang="de-AT" sz="1400" dirty="0"/>
            </a:br>
            <a:br>
              <a:rPr lang="de-AT" sz="1400" dirty="0"/>
            </a:br>
            <a:br>
              <a:rPr lang="de-AT" sz="1400" dirty="0"/>
            </a:br>
            <a:endParaRPr lang="de-AT" sz="600" dirty="0"/>
          </a:p>
          <a:p>
            <a:pPr lvl="1"/>
            <a:r>
              <a:rPr lang="de-AT" sz="1400" dirty="0" err="1"/>
              <a:t>Charging</a:t>
            </a:r>
            <a:r>
              <a:rPr lang="de-AT" sz="1400" dirty="0"/>
              <a:t> </a:t>
            </a:r>
            <a:r>
              <a:rPr lang="de-AT" sz="1400" dirty="0" err="1"/>
              <a:t>losses</a:t>
            </a:r>
            <a:r>
              <a:rPr lang="de-AT" sz="1400" dirty="0"/>
              <a:t> and </a:t>
            </a:r>
            <a:r>
              <a:rPr lang="de-AT" sz="1400" dirty="0" err="1"/>
              <a:t>efficiencies</a:t>
            </a:r>
            <a:r>
              <a:rPr lang="de-AT" sz="1400" dirty="0"/>
              <a:t>:</a:t>
            </a:r>
            <a:br>
              <a:rPr lang="de-AT" sz="1400" dirty="0"/>
            </a:br>
            <a:br>
              <a:rPr lang="de-AT" sz="1400" dirty="0"/>
            </a:br>
            <a:br>
              <a:rPr lang="de-AT" sz="1400" dirty="0"/>
            </a:br>
            <a:br>
              <a:rPr lang="de-AT" sz="1400" dirty="0"/>
            </a:br>
            <a:br>
              <a:rPr lang="de-AT" sz="1400" dirty="0"/>
            </a:br>
            <a:br>
              <a:rPr lang="de-AT" sz="1400" dirty="0"/>
            </a:br>
            <a:endParaRPr lang="de-AT" sz="700" dirty="0"/>
          </a:p>
          <a:p>
            <a:pPr lvl="1"/>
            <a:r>
              <a:rPr lang="de-AT" sz="1400" dirty="0" err="1"/>
              <a:t>Weighted</a:t>
            </a:r>
            <a:r>
              <a:rPr lang="de-AT" sz="1400" dirty="0"/>
              <a:t> final </a:t>
            </a:r>
            <a:r>
              <a:rPr lang="de-AT" sz="1400" dirty="0" err="1"/>
              <a:t>charging</a:t>
            </a:r>
            <a:r>
              <a:rPr lang="de-AT" sz="1400" dirty="0"/>
              <a:t> </a:t>
            </a:r>
            <a:r>
              <a:rPr lang="de-AT" sz="1400" dirty="0" err="1"/>
              <a:t>efficiency</a:t>
            </a:r>
            <a:r>
              <a:rPr lang="de-AT" sz="1400" dirty="0"/>
              <a:t>:</a:t>
            </a:r>
            <a:endParaRPr lang="de-AT" sz="400" dirty="0"/>
          </a:p>
        </p:txBody>
      </p:sp>
      <p:sp>
        <p:nvSpPr>
          <p:cNvPr id="4" name="Foliennummernplatzhalter 3"/>
          <p:cNvSpPr>
            <a:spLocks noGrp="1"/>
          </p:cNvSpPr>
          <p:nvPr>
            <p:ph type="sldNum" sz="quarter" idx="12"/>
          </p:nvPr>
        </p:nvSpPr>
        <p:spPr/>
        <p:txBody>
          <a:bodyPr/>
          <a:lstStyle/>
          <a:p>
            <a:fld id="{4B64EC4D-37E3-EF42-B9AB-6337577588CB}" type="slidenum">
              <a:rPr lang="de-DE" smtClean="0"/>
              <a:t>40</a:t>
            </a:fld>
            <a:endParaRPr lang="de-DE"/>
          </a:p>
        </p:txBody>
      </p:sp>
      <p:pic>
        <p:nvPicPr>
          <p:cNvPr id="7" name="Grafik 6"/>
          <p:cNvPicPr>
            <a:picLocks noChangeAspect="1"/>
          </p:cNvPicPr>
          <p:nvPr/>
        </p:nvPicPr>
        <p:blipFill>
          <a:blip r:embed="rId2"/>
          <a:stretch>
            <a:fillRect/>
          </a:stretch>
        </p:blipFill>
        <p:spPr>
          <a:xfrm>
            <a:off x="1279952" y="3413700"/>
            <a:ext cx="4209022" cy="923408"/>
          </a:xfrm>
          <a:prstGeom prst="rect">
            <a:avLst/>
          </a:prstGeom>
        </p:spPr>
      </p:pic>
      <p:pic>
        <p:nvPicPr>
          <p:cNvPr id="10" name="Grafik 9"/>
          <p:cNvPicPr>
            <a:picLocks noChangeAspect="1"/>
          </p:cNvPicPr>
          <p:nvPr/>
        </p:nvPicPr>
        <p:blipFill>
          <a:blip r:embed="rId3"/>
          <a:stretch>
            <a:fillRect/>
          </a:stretch>
        </p:blipFill>
        <p:spPr>
          <a:xfrm>
            <a:off x="2076297" y="2492552"/>
            <a:ext cx="2495523" cy="583785"/>
          </a:xfrm>
          <a:prstGeom prst="rect">
            <a:avLst/>
          </a:prstGeom>
        </p:spPr>
      </p:pic>
      <p:pic>
        <p:nvPicPr>
          <p:cNvPr id="11" name="Grafik 10"/>
          <p:cNvPicPr>
            <a:picLocks noChangeAspect="1"/>
          </p:cNvPicPr>
          <p:nvPr/>
        </p:nvPicPr>
        <p:blipFill>
          <a:blip r:embed="rId4"/>
          <a:stretch>
            <a:fillRect/>
          </a:stretch>
        </p:blipFill>
        <p:spPr>
          <a:xfrm>
            <a:off x="1345341" y="5071637"/>
            <a:ext cx="4078245" cy="829712"/>
          </a:xfrm>
          <a:prstGeom prst="rect">
            <a:avLst/>
          </a:prstGeom>
        </p:spPr>
      </p:pic>
      <p:sp>
        <p:nvSpPr>
          <p:cNvPr id="12" name="Textfeld 11"/>
          <p:cNvSpPr txBox="1"/>
          <p:nvPr/>
        </p:nvSpPr>
        <p:spPr>
          <a:xfrm>
            <a:off x="6759148" y="4694979"/>
            <a:ext cx="2347784" cy="1277273"/>
          </a:xfrm>
          <a:prstGeom prst="rect">
            <a:avLst/>
          </a:prstGeom>
          <a:noFill/>
        </p:spPr>
        <p:txBody>
          <a:bodyPr wrap="square" rtlCol="0">
            <a:spAutoFit/>
          </a:bodyPr>
          <a:lstStyle/>
          <a:p>
            <a:r>
              <a:rPr lang="de-AT" sz="1100" b="1" i="1" dirty="0" err="1"/>
              <a:t>Energy</a:t>
            </a:r>
            <a:r>
              <a:rPr lang="de-AT" sz="1100" b="1" i="1" dirty="0"/>
              <a:t> </a:t>
            </a:r>
            <a:r>
              <a:rPr lang="de-AT" sz="1100" b="1" i="1" dirty="0" err="1"/>
              <a:t>charged</a:t>
            </a:r>
            <a:r>
              <a:rPr lang="de-AT" sz="1100" b="1" i="1" dirty="0"/>
              <a:t> </a:t>
            </a:r>
            <a:r>
              <a:rPr lang="de-AT" sz="1100" b="1" i="1" dirty="0" err="1"/>
              <a:t>during</a:t>
            </a:r>
            <a:r>
              <a:rPr lang="de-AT" sz="1100" b="1" i="1" dirty="0"/>
              <a:t> </a:t>
            </a:r>
            <a:r>
              <a:rPr lang="de-AT" sz="1100" b="1" i="1" dirty="0" err="1"/>
              <a:t>mission</a:t>
            </a:r>
            <a:r>
              <a:rPr lang="de-AT" sz="1100" b="1" i="1" dirty="0"/>
              <a:t> limited </a:t>
            </a:r>
            <a:r>
              <a:rPr lang="de-AT" sz="1100" b="1" i="1" dirty="0" err="1"/>
              <a:t>by</a:t>
            </a:r>
            <a:r>
              <a:rPr lang="de-AT" sz="1100" b="1" i="1" dirty="0"/>
              <a:t>:</a:t>
            </a:r>
          </a:p>
          <a:p>
            <a:pPr marL="285750" indent="-285750">
              <a:buFont typeface="Wingdings" panose="05000000000000000000" pitchFamily="2" charset="2"/>
              <a:buChar char="§"/>
            </a:pPr>
            <a:r>
              <a:rPr lang="de-AT" sz="1100" i="1" dirty="0"/>
              <a:t>Max. </a:t>
            </a:r>
            <a:r>
              <a:rPr lang="de-AT" sz="1100" i="1" dirty="0" err="1"/>
              <a:t>charging</a:t>
            </a:r>
            <a:r>
              <a:rPr lang="de-AT" sz="1100" i="1" dirty="0"/>
              <a:t> power</a:t>
            </a:r>
          </a:p>
          <a:p>
            <a:pPr marL="285750" indent="-285750">
              <a:buFont typeface="Wingdings" panose="05000000000000000000" pitchFamily="2" charset="2"/>
              <a:buChar char="§"/>
            </a:pPr>
            <a:r>
              <a:rPr lang="de-AT" sz="1100" i="1" dirty="0"/>
              <a:t>Duration </a:t>
            </a:r>
            <a:r>
              <a:rPr lang="de-AT" sz="1100" i="1" dirty="0" err="1"/>
              <a:t>of</a:t>
            </a:r>
            <a:r>
              <a:rPr lang="de-AT" sz="1100" i="1" dirty="0"/>
              <a:t> </a:t>
            </a:r>
            <a:r>
              <a:rPr lang="de-AT" sz="1100" i="1" dirty="0" err="1"/>
              <a:t>event</a:t>
            </a:r>
            <a:endParaRPr lang="de-AT" sz="1100" i="1" dirty="0"/>
          </a:p>
          <a:p>
            <a:pPr marL="285750" indent="-285750">
              <a:buFont typeface="Wingdings" panose="05000000000000000000" pitchFamily="2" charset="2"/>
              <a:buChar char="§"/>
            </a:pPr>
            <a:r>
              <a:rPr lang="de-AT" sz="1100" i="1" dirty="0" err="1"/>
              <a:t>Usable</a:t>
            </a:r>
            <a:r>
              <a:rPr lang="de-AT" sz="1100" i="1" dirty="0"/>
              <a:t> </a:t>
            </a:r>
            <a:r>
              <a:rPr lang="de-AT" sz="1100" i="1" dirty="0" err="1"/>
              <a:t>battery</a:t>
            </a:r>
            <a:r>
              <a:rPr lang="de-AT" sz="1100" i="1" dirty="0"/>
              <a:t> </a:t>
            </a:r>
            <a:r>
              <a:rPr lang="de-AT" sz="1100" i="1" dirty="0" err="1"/>
              <a:t>capacity</a:t>
            </a:r>
            <a:endParaRPr lang="de-AT" sz="1100" i="1" dirty="0"/>
          </a:p>
          <a:p>
            <a:pPr marL="285750" indent="-285750">
              <a:buFont typeface="Wingdings" panose="05000000000000000000" pitchFamily="2" charset="2"/>
              <a:buChar char="§"/>
            </a:pPr>
            <a:r>
              <a:rPr lang="de-AT" sz="1100" i="1" dirty="0" err="1"/>
              <a:t>Number</a:t>
            </a:r>
            <a:r>
              <a:rPr lang="de-AT" sz="1100" i="1" dirty="0"/>
              <a:t> </a:t>
            </a:r>
            <a:r>
              <a:rPr lang="de-AT" sz="1100" i="1" dirty="0" err="1"/>
              <a:t>of</a:t>
            </a:r>
            <a:r>
              <a:rPr lang="de-AT" sz="1100" i="1" dirty="0"/>
              <a:t> </a:t>
            </a:r>
            <a:r>
              <a:rPr lang="de-AT" sz="1100" i="1" dirty="0" err="1"/>
              <a:t>charging</a:t>
            </a:r>
            <a:r>
              <a:rPr lang="de-AT" sz="1100" i="1" dirty="0"/>
              <a:t> </a:t>
            </a:r>
            <a:r>
              <a:rPr lang="de-AT" sz="1100" i="1" dirty="0" err="1"/>
              <a:t>events</a:t>
            </a:r>
            <a:endParaRPr lang="de-AT" sz="1100" i="1" dirty="0"/>
          </a:p>
          <a:p>
            <a:pPr marL="285750" indent="-285750">
              <a:buFont typeface="Wingdings" panose="05000000000000000000" pitchFamily="2" charset="2"/>
              <a:buChar char="§"/>
            </a:pPr>
            <a:r>
              <a:rPr lang="de-AT" sz="1100" i="1" dirty="0"/>
              <a:t>Real </a:t>
            </a:r>
            <a:r>
              <a:rPr lang="de-AT" sz="1100" i="1" dirty="0" err="1"/>
              <a:t>world</a:t>
            </a:r>
            <a:r>
              <a:rPr lang="de-AT" sz="1100" i="1" dirty="0"/>
              <a:t> </a:t>
            </a:r>
            <a:r>
              <a:rPr lang="de-AT" sz="1100" i="1" dirty="0" err="1"/>
              <a:t>usage</a:t>
            </a:r>
            <a:r>
              <a:rPr lang="de-AT" sz="1100" i="1" dirty="0"/>
              <a:t> </a:t>
            </a:r>
            <a:r>
              <a:rPr lang="de-AT" sz="1100" i="1" dirty="0" err="1"/>
              <a:t>factor</a:t>
            </a:r>
            <a:r>
              <a:rPr lang="de-AT" sz="1100" i="1" dirty="0"/>
              <a:t> (0.5)</a:t>
            </a:r>
          </a:p>
        </p:txBody>
      </p:sp>
      <p:sp>
        <p:nvSpPr>
          <p:cNvPr id="15" name="Geschweifte Klammer links 14"/>
          <p:cNvSpPr/>
          <p:nvPr/>
        </p:nvSpPr>
        <p:spPr>
          <a:xfrm>
            <a:off x="6575167" y="4793592"/>
            <a:ext cx="188096" cy="1108472"/>
          </a:xfrm>
          <a:prstGeom prst="leftBrace">
            <a:avLst>
              <a:gd name="adj1" fmla="val 8333"/>
              <a:gd name="adj2" fmla="val 4386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6" name="Textfeld 15"/>
          <p:cNvSpPr txBox="1"/>
          <p:nvPr/>
        </p:nvSpPr>
        <p:spPr>
          <a:xfrm>
            <a:off x="6763263" y="3772293"/>
            <a:ext cx="2347784" cy="769441"/>
          </a:xfrm>
          <a:prstGeom prst="rect">
            <a:avLst/>
          </a:prstGeom>
          <a:noFill/>
        </p:spPr>
        <p:txBody>
          <a:bodyPr wrap="square" rtlCol="0">
            <a:spAutoFit/>
          </a:bodyPr>
          <a:lstStyle/>
          <a:p>
            <a:r>
              <a:rPr lang="de-AT" sz="1100" b="1" i="1" dirty="0" err="1"/>
              <a:t>Energy</a:t>
            </a:r>
            <a:r>
              <a:rPr lang="de-AT" sz="1100" b="1" i="1" dirty="0"/>
              <a:t> </a:t>
            </a:r>
            <a:r>
              <a:rPr lang="de-AT" sz="1100" b="1" i="1" dirty="0" err="1"/>
              <a:t>charged</a:t>
            </a:r>
            <a:r>
              <a:rPr lang="de-AT" sz="1100" b="1" i="1" dirty="0"/>
              <a:t> in </a:t>
            </a:r>
            <a:r>
              <a:rPr lang="de-AT" sz="1100" b="1" i="1" dirty="0" err="1"/>
              <a:t>depot</a:t>
            </a:r>
            <a:r>
              <a:rPr lang="de-AT" sz="1100" b="1" i="1" dirty="0"/>
              <a:t> limited </a:t>
            </a:r>
            <a:r>
              <a:rPr lang="de-AT" sz="1100" b="1" i="1" dirty="0" err="1"/>
              <a:t>by</a:t>
            </a:r>
            <a:r>
              <a:rPr lang="de-AT" sz="1100" b="1" i="1" dirty="0"/>
              <a:t>:</a:t>
            </a:r>
          </a:p>
          <a:p>
            <a:pPr marL="285750" indent="-285750">
              <a:buFont typeface="Wingdings" panose="05000000000000000000" pitchFamily="2" charset="2"/>
              <a:buChar char="§"/>
            </a:pPr>
            <a:r>
              <a:rPr lang="de-AT" sz="1100" i="1" dirty="0" err="1"/>
              <a:t>Usable</a:t>
            </a:r>
            <a:r>
              <a:rPr lang="de-AT" sz="1100" i="1" dirty="0"/>
              <a:t> </a:t>
            </a:r>
            <a:r>
              <a:rPr lang="de-AT" sz="1100" i="1" dirty="0" err="1"/>
              <a:t>battery</a:t>
            </a:r>
            <a:r>
              <a:rPr lang="de-AT" sz="1100" i="1" dirty="0"/>
              <a:t> </a:t>
            </a:r>
            <a:r>
              <a:rPr lang="de-AT" sz="1100" i="1" dirty="0" err="1"/>
              <a:t>capacity</a:t>
            </a:r>
            <a:endParaRPr lang="de-AT" sz="1100" i="1" dirty="0"/>
          </a:p>
          <a:p>
            <a:pPr marL="285750" indent="-285750">
              <a:buFont typeface="Wingdings" panose="05000000000000000000" pitchFamily="2" charset="2"/>
              <a:buChar char="§"/>
            </a:pPr>
            <a:r>
              <a:rPr lang="de-AT" sz="1100" i="1" dirty="0"/>
              <a:t>Real </a:t>
            </a:r>
            <a:r>
              <a:rPr lang="de-AT" sz="1100" i="1" dirty="0" err="1"/>
              <a:t>world</a:t>
            </a:r>
            <a:r>
              <a:rPr lang="de-AT" sz="1100" i="1" dirty="0"/>
              <a:t> </a:t>
            </a:r>
            <a:r>
              <a:rPr lang="de-AT" sz="1100" i="1" dirty="0" err="1"/>
              <a:t>usage</a:t>
            </a:r>
            <a:r>
              <a:rPr lang="de-AT" sz="1100" i="1" dirty="0"/>
              <a:t> </a:t>
            </a:r>
            <a:r>
              <a:rPr lang="de-AT" sz="1100" i="1" dirty="0" err="1"/>
              <a:t>factor</a:t>
            </a:r>
            <a:r>
              <a:rPr lang="de-AT" sz="1100" i="1" dirty="0"/>
              <a:t> (0.75)</a:t>
            </a:r>
          </a:p>
        </p:txBody>
      </p:sp>
      <p:sp>
        <p:nvSpPr>
          <p:cNvPr id="17" name="Geschweifte Klammer links 16"/>
          <p:cNvSpPr/>
          <p:nvPr/>
        </p:nvSpPr>
        <p:spPr>
          <a:xfrm>
            <a:off x="6575167" y="3830662"/>
            <a:ext cx="188096" cy="610099"/>
          </a:xfrm>
          <a:prstGeom prst="leftBrace">
            <a:avLst>
              <a:gd name="adj1" fmla="val 8333"/>
              <a:gd name="adj2" fmla="val 4386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cxnSp>
        <p:nvCxnSpPr>
          <p:cNvPr id="19" name="Gewinkelter Verbinder 18"/>
          <p:cNvCxnSpPr/>
          <p:nvPr/>
        </p:nvCxnSpPr>
        <p:spPr>
          <a:xfrm flipV="1">
            <a:off x="5461689" y="4098305"/>
            <a:ext cx="1082589" cy="102820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Gerade Verbindung mit Pfeil 21"/>
          <p:cNvCxnSpPr/>
          <p:nvPr/>
        </p:nvCxnSpPr>
        <p:spPr>
          <a:xfrm>
            <a:off x="5461689" y="5280970"/>
            <a:ext cx="10825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099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Calculation EC at “battery terminals”</a:t>
            </a:r>
            <a:endParaRPr lang="fr-FR" sz="2400" spc="-1" dirty="0">
              <a:solidFill>
                <a:srgbClr val="990000"/>
              </a:solidFill>
              <a:latin typeface="Arial"/>
            </a:endParaRPr>
          </a:p>
        </p:txBody>
      </p:sp>
      <p:sp>
        <p:nvSpPr>
          <p:cNvPr id="3" name="Inhaltsplatzhalter 2"/>
          <p:cNvSpPr>
            <a:spLocks noGrp="1"/>
          </p:cNvSpPr>
          <p:nvPr>
            <p:ph idx="1"/>
          </p:nvPr>
        </p:nvSpPr>
        <p:spPr/>
        <p:txBody>
          <a:bodyPr/>
          <a:lstStyle/>
          <a:p>
            <a:r>
              <a:rPr lang="en-GB" sz="1800" dirty="0"/>
              <a:t>For further details please refer to: </a:t>
            </a:r>
            <a:r>
              <a:rPr lang="en-GB" sz="1800" b="1" i="1" dirty="0"/>
              <a:t>VECTO-DEV WS#9 11.01.2022 (slide 23ff)</a:t>
            </a:r>
          </a:p>
          <a:p>
            <a:endParaRPr lang="en-GB" sz="1800" b="1" i="1" dirty="0"/>
          </a:p>
          <a:p>
            <a:r>
              <a:rPr lang="en-GB" sz="1800" b="1" i="1" dirty="0"/>
              <a:t>Excel will be distributed together with meeting material</a:t>
            </a:r>
            <a:endParaRPr lang="en-GB" sz="1800" dirty="0"/>
          </a:p>
        </p:txBody>
      </p:sp>
      <p:sp>
        <p:nvSpPr>
          <p:cNvPr id="4" name="Foliennummernplatzhalter 3"/>
          <p:cNvSpPr>
            <a:spLocks noGrp="1"/>
          </p:cNvSpPr>
          <p:nvPr>
            <p:ph type="sldNum" sz="quarter" idx="12"/>
          </p:nvPr>
        </p:nvSpPr>
        <p:spPr/>
        <p:txBody>
          <a:bodyPr/>
          <a:lstStyle/>
          <a:p>
            <a:fld id="{4B64EC4D-37E3-EF42-B9AB-6337577588CB}" type="slidenum">
              <a:rPr lang="de-DE" smtClean="0"/>
              <a:t>41</a:t>
            </a:fld>
            <a:endParaRPr lang="de-DE"/>
          </a:p>
        </p:txBody>
      </p:sp>
    </p:spTree>
    <p:extLst>
      <p:ext uri="{BB962C8B-B14F-4D97-AF65-F5344CB8AC3E}">
        <p14:creationId xmlns:p14="http://schemas.microsoft.com/office/powerpoint/2010/main" val="1819076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Automation of OVC-HEV simulation</a:t>
            </a:r>
          </a:p>
        </p:txBody>
      </p:sp>
      <p:sp>
        <p:nvSpPr>
          <p:cNvPr id="4" name="Foliennummernplatzhalter 3"/>
          <p:cNvSpPr>
            <a:spLocks noGrp="1"/>
          </p:cNvSpPr>
          <p:nvPr>
            <p:ph type="sldNum" sz="quarter" idx="12"/>
          </p:nvPr>
        </p:nvSpPr>
        <p:spPr/>
        <p:txBody>
          <a:bodyPr/>
          <a:lstStyle/>
          <a:p>
            <a:fld id="{4B64EC4D-37E3-EF42-B9AB-6337577588CB}" type="slidenum">
              <a:rPr lang="de-DE" smtClean="0"/>
              <a:t>42</a:t>
            </a:fld>
            <a:endParaRPr lang="de-DE"/>
          </a:p>
        </p:txBody>
      </p:sp>
      <p:sp>
        <p:nvSpPr>
          <p:cNvPr id="6" name="Inhaltsplatzhalter 5"/>
          <p:cNvSpPr>
            <a:spLocks noGrp="1"/>
          </p:cNvSpPr>
          <p:nvPr>
            <p:ph idx="1"/>
          </p:nvPr>
        </p:nvSpPr>
        <p:spPr/>
        <p:txBody>
          <a:bodyPr/>
          <a:lstStyle/>
          <a:p>
            <a:pPr>
              <a:spcBef>
                <a:spcPts val="600"/>
              </a:spcBef>
            </a:pPr>
            <a:r>
              <a:rPr lang="en-US" sz="1600" dirty="0"/>
              <a:t>OVC-HEV are HEV with external charging feature (“Plug-in HEV”)</a:t>
            </a:r>
          </a:p>
          <a:p>
            <a:pPr lvl="1">
              <a:spcBef>
                <a:spcPts val="600"/>
              </a:spcBef>
            </a:pPr>
            <a:r>
              <a:rPr lang="en-US" sz="1600" dirty="0"/>
              <a:t>Declared acc. to Annex III (</a:t>
            </a:r>
            <a:r>
              <a:rPr lang="en-US" sz="1600" i="1" dirty="0"/>
              <a:t>P401)</a:t>
            </a:r>
            <a:br>
              <a:rPr lang="en-US" sz="1600" i="1" dirty="0"/>
            </a:br>
            <a:endParaRPr lang="en-US" sz="1600" dirty="0"/>
          </a:p>
          <a:p>
            <a:pPr>
              <a:spcBef>
                <a:spcPts val="600"/>
              </a:spcBef>
            </a:pPr>
            <a:r>
              <a:rPr lang="en-US" sz="1600" dirty="0"/>
              <a:t>2 operation modes for OVC-HEV defined in VECTO:</a:t>
            </a:r>
          </a:p>
          <a:p>
            <a:pPr lvl="1">
              <a:spcBef>
                <a:spcPts val="600"/>
              </a:spcBef>
            </a:pPr>
            <a:r>
              <a:rPr lang="en-US" sz="1400" dirty="0"/>
              <a:t>Charge depleting mode (CD) where the propulsion energy is provided by the electric storage only</a:t>
            </a:r>
            <a:br>
              <a:rPr lang="en-US" sz="1400" dirty="0"/>
            </a:br>
            <a:r>
              <a:rPr lang="en-US" sz="1400" i="1" dirty="0">
                <a:sym typeface="Wingdings" panose="05000000000000000000" pitchFamily="2" charset="2"/>
              </a:rPr>
              <a:t> results: </a:t>
            </a:r>
            <a:r>
              <a:rPr lang="en-US" sz="1400" i="1" dirty="0" err="1"/>
              <a:t>kWh_el</a:t>
            </a:r>
            <a:r>
              <a:rPr lang="en-US" sz="1400" i="1" dirty="0"/>
              <a:t>/km, electric range</a:t>
            </a:r>
            <a:br>
              <a:rPr lang="en-US" sz="1400" i="1" dirty="0"/>
            </a:br>
            <a:endParaRPr lang="en-US" sz="1400" i="1" dirty="0"/>
          </a:p>
          <a:p>
            <a:pPr lvl="1">
              <a:spcBef>
                <a:spcPts val="600"/>
              </a:spcBef>
            </a:pPr>
            <a:r>
              <a:rPr lang="en-US" sz="1400" dirty="0"/>
              <a:t>Charge sustaining mode (CS) where the propulsion energy is provided by the fuel storage</a:t>
            </a:r>
            <a:br>
              <a:rPr lang="en-US" sz="1400" dirty="0"/>
            </a:br>
            <a:r>
              <a:rPr lang="en-US" sz="1400" i="1" dirty="0">
                <a:sym typeface="Wingdings" panose="05000000000000000000" pitchFamily="2" charset="2"/>
              </a:rPr>
              <a:t> SOC is balanced over complete cycle, thus no electric energy consumption</a:t>
            </a:r>
            <a:br>
              <a:rPr lang="en-US" sz="1400" i="1" dirty="0">
                <a:sym typeface="Wingdings" panose="05000000000000000000" pitchFamily="2" charset="2"/>
              </a:rPr>
            </a:br>
            <a:r>
              <a:rPr lang="en-US" sz="1400" i="1" dirty="0">
                <a:sym typeface="Wingdings" panose="05000000000000000000" pitchFamily="2" charset="2"/>
              </a:rPr>
              <a:t>    (</a:t>
            </a:r>
            <a:r>
              <a:rPr lang="en-US" sz="1400" i="1" dirty="0" err="1"/>
              <a:t>kWh_el</a:t>
            </a:r>
            <a:r>
              <a:rPr lang="en-US" sz="1400" i="1" dirty="0"/>
              <a:t>/km = 0 per definition!)</a:t>
            </a:r>
          </a:p>
          <a:p>
            <a:endParaRPr lang="de-AT" dirty="0"/>
          </a:p>
        </p:txBody>
      </p:sp>
    </p:spTree>
    <p:extLst>
      <p:ext uri="{BB962C8B-B14F-4D97-AF65-F5344CB8AC3E}">
        <p14:creationId xmlns:p14="http://schemas.microsoft.com/office/powerpoint/2010/main" val="25861895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Automation of OVC-HEV simulation</a:t>
            </a:r>
          </a:p>
        </p:txBody>
      </p:sp>
      <p:sp>
        <p:nvSpPr>
          <p:cNvPr id="4" name="Foliennummernplatzhalter 3"/>
          <p:cNvSpPr>
            <a:spLocks noGrp="1"/>
          </p:cNvSpPr>
          <p:nvPr>
            <p:ph type="sldNum" sz="quarter" idx="12"/>
          </p:nvPr>
        </p:nvSpPr>
        <p:spPr/>
        <p:txBody>
          <a:bodyPr/>
          <a:lstStyle/>
          <a:p>
            <a:fld id="{4B64EC4D-37E3-EF42-B9AB-6337577588CB}" type="slidenum">
              <a:rPr lang="de-DE" smtClean="0"/>
              <a:t>43</a:t>
            </a:fld>
            <a:endParaRPr lang="de-DE"/>
          </a:p>
        </p:txBody>
      </p:sp>
      <p:sp>
        <p:nvSpPr>
          <p:cNvPr id="6" name="Inhaltsplatzhalter 5"/>
          <p:cNvSpPr>
            <a:spLocks noGrp="1"/>
          </p:cNvSpPr>
          <p:nvPr>
            <p:ph idx="1"/>
          </p:nvPr>
        </p:nvSpPr>
        <p:spPr/>
        <p:txBody>
          <a:bodyPr/>
          <a:lstStyle/>
          <a:p>
            <a:pPr>
              <a:spcBef>
                <a:spcPts val="600"/>
              </a:spcBef>
            </a:pPr>
            <a:r>
              <a:rPr lang="en-US" sz="1600" dirty="0"/>
              <a:t>Separate simulation runs are performed in VECTO for each mode automatically</a:t>
            </a:r>
            <a:br>
              <a:rPr lang="en-US" sz="1600" dirty="0"/>
            </a:br>
            <a:endParaRPr lang="en-US" sz="1600" dirty="0"/>
          </a:p>
          <a:p>
            <a:pPr>
              <a:spcBef>
                <a:spcPts val="600"/>
              </a:spcBef>
            </a:pPr>
            <a:r>
              <a:rPr lang="en-US" sz="1600" dirty="0"/>
              <a:t>Separate results for CD and CS are weighted for final result based on utility factor (UF)</a:t>
            </a:r>
          </a:p>
          <a:p>
            <a:pPr lvl="1">
              <a:spcBef>
                <a:spcPts val="600"/>
              </a:spcBef>
            </a:pPr>
            <a:r>
              <a:rPr lang="en-US" sz="1400" dirty="0"/>
              <a:t>UF is defined as share of electric range in CD mode on total daily mileage of each mission profile</a:t>
            </a:r>
          </a:p>
          <a:p>
            <a:pPr lvl="2">
              <a:spcBef>
                <a:spcPts val="600"/>
              </a:spcBef>
            </a:pPr>
            <a:r>
              <a:rPr lang="en-US" sz="1200" dirty="0"/>
              <a:t>electric range is defined by:</a:t>
            </a:r>
          </a:p>
          <a:p>
            <a:pPr lvl="3">
              <a:spcBef>
                <a:spcPts val="600"/>
              </a:spcBef>
            </a:pPr>
            <a:r>
              <a:rPr lang="en-US" sz="1100" dirty="0"/>
              <a:t>Electric energy consumption in the specific mission in [kWh/km] as result from the simulation</a:t>
            </a:r>
          </a:p>
          <a:p>
            <a:pPr lvl="3">
              <a:spcBef>
                <a:spcPts val="600"/>
              </a:spcBef>
            </a:pPr>
            <a:r>
              <a:rPr lang="en-US" sz="1100" dirty="0"/>
              <a:t>Usable electric energy, which in turn is defined by:</a:t>
            </a:r>
          </a:p>
          <a:p>
            <a:pPr lvl="4">
              <a:spcBef>
                <a:spcPts val="600"/>
              </a:spcBef>
            </a:pPr>
            <a:r>
              <a:rPr lang="en-US" sz="1100" dirty="0"/>
              <a:t>battery capacity due to initial SOC</a:t>
            </a:r>
          </a:p>
          <a:p>
            <a:pPr lvl="4">
              <a:spcBef>
                <a:spcPts val="600"/>
              </a:spcBef>
            </a:pPr>
            <a:r>
              <a:rPr lang="en-US" sz="1100" dirty="0"/>
              <a:t>generic assumptions for re-charging during each mission</a:t>
            </a:r>
            <a:br>
              <a:rPr lang="en-US" sz="1100" dirty="0"/>
            </a:br>
            <a:r>
              <a:rPr lang="en-US" sz="1100" dirty="0"/>
              <a:t>(number and duration of charging events, available charging power from infrastructure)</a:t>
            </a:r>
            <a:br>
              <a:rPr lang="en-US" sz="1100" dirty="0"/>
            </a:br>
            <a:endParaRPr lang="en-US" sz="1000" dirty="0"/>
          </a:p>
          <a:p>
            <a:pPr lvl="1">
              <a:spcBef>
                <a:spcPts val="600"/>
              </a:spcBef>
            </a:pPr>
            <a:r>
              <a:rPr lang="en-US" sz="1400" dirty="0"/>
              <a:t>Weighted results (fuel or energy consumption) are calculated according to the following equation:</a:t>
            </a:r>
          </a:p>
          <a:p>
            <a:pPr lvl="1">
              <a:spcBef>
                <a:spcPts val="600"/>
              </a:spcBef>
            </a:pPr>
            <a:endParaRPr lang="en-US" sz="1400" dirty="0"/>
          </a:p>
        </p:txBody>
      </p:sp>
      <p:pic>
        <p:nvPicPr>
          <p:cNvPr id="5" name="Grafik 4"/>
          <p:cNvPicPr>
            <a:picLocks noChangeAspect="1"/>
          </p:cNvPicPr>
          <p:nvPr/>
        </p:nvPicPr>
        <p:blipFill>
          <a:blip r:embed="rId2"/>
          <a:stretch>
            <a:fillRect/>
          </a:stretch>
        </p:blipFill>
        <p:spPr>
          <a:xfrm>
            <a:off x="1314755" y="5132654"/>
            <a:ext cx="2731488" cy="783295"/>
          </a:xfrm>
          <a:prstGeom prst="rect">
            <a:avLst/>
          </a:prstGeom>
        </p:spPr>
      </p:pic>
    </p:spTree>
    <p:extLst>
      <p:ext uri="{BB962C8B-B14F-4D97-AF65-F5344CB8AC3E}">
        <p14:creationId xmlns:p14="http://schemas.microsoft.com/office/powerpoint/2010/main" val="33252939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Range calculations</a:t>
            </a:r>
          </a:p>
        </p:txBody>
      </p:sp>
      <p:sp>
        <p:nvSpPr>
          <p:cNvPr id="3" name="Inhaltsplatzhalter 2"/>
          <p:cNvSpPr>
            <a:spLocks noGrp="1"/>
          </p:cNvSpPr>
          <p:nvPr>
            <p:ph idx="1"/>
          </p:nvPr>
        </p:nvSpPr>
        <p:spPr/>
        <p:txBody>
          <a:bodyPr/>
          <a:lstStyle/>
          <a:p>
            <a:r>
              <a:rPr lang="en-US" sz="1800" dirty="0"/>
              <a:t>Overview of different ranges in result matrix in VECTO</a:t>
            </a:r>
          </a:p>
          <a:p>
            <a:pPr lvl="2"/>
            <a:endParaRPr lang="en-GB" sz="1400" dirty="0"/>
          </a:p>
          <a:p>
            <a:pPr lvl="2"/>
            <a:endParaRPr lang="en-GB"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44</a:t>
            </a:fld>
            <a:endParaRPr lang="de-DE"/>
          </a:p>
        </p:txBody>
      </p:sp>
      <p:graphicFrame>
        <p:nvGraphicFramePr>
          <p:cNvPr id="7" name="Tabelle 6"/>
          <p:cNvGraphicFramePr>
            <a:graphicFrameLocks noGrp="1"/>
          </p:cNvGraphicFramePr>
          <p:nvPr>
            <p:extLst/>
          </p:nvPr>
        </p:nvGraphicFramePr>
        <p:xfrm>
          <a:off x="917938" y="2549079"/>
          <a:ext cx="6221501" cy="2481635"/>
        </p:xfrm>
        <a:graphic>
          <a:graphicData uri="http://schemas.openxmlformats.org/drawingml/2006/table">
            <a:tbl>
              <a:tblPr firstRow="1" bandRow="1">
                <a:tableStyleId>{5C22544A-7EE6-4342-B048-85BDC9FD1C3A}</a:tableStyleId>
              </a:tblPr>
              <a:tblGrid>
                <a:gridCol w="1840495">
                  <a:extLst>
                    <a:ext uri="{9D8B030D-6E8A-4147-A177-3AD203B41FA5}">
                      <a16:colId xmlns:a16="http://schemas.microsoft.com/office/drawing/2014/main" val="984975428"/>
                    </a:ext>
                  </a:extLst>
                </a:gridCol>
                <a:gridCol w="4381006">
                  <a:extLst>
                    <a:ext uri="{9D8B030D-6E8A-4147-A177-3AD203B41FA5}">
                      <a16:colId xmlns:a16="http://schemas.microsoft.com/office/drawing/2014/main" val="3109349199"/>
                    </a:ext>
                  </a:extLst>
                </a:gridCol>
              </a:tblGrid>
              <a:tr h="302315">
                <a:tc>
                  <a:txBody>
                    <a:bodyPr/>
                    <a:lstStyle/>
                    <a:p>
                      <a:r>
                        <a:rPr lang="en-GB" sz="1200" dirty="0"/>
                        <a:t>Electric range</a:t>
                      </a:r>
                    </a:p>
                  </a:txBody>
                  <a:tcPr/>
                </a:tc>
                <a:tc>
                  <a:txBody>
                    <a:bodyPr/>
                    <a:lstStyle/>
                    <a:p>
                      <a:r>
                        <a:rPr lang="en-GB" sz="1200" dirty="0"/>
                        <a:t>Definition</a:t>
                      </a:r>
                    </a:p>
                  </a:txBody>
                  <a:tcPr/>
                </a:tc>
                <a:extLst>
                  <a:ext uri="{0D108BD9-81ED-4DB2-BD59-A6C34878D82A}">
                    <a16:rowId xmlns:a16="http://schemas.microsoft.com/office/drawing/2014/main" val="652954536"/>
                  </a:ext>
                </a:extLst>
              </a:tr>
              <a:tr h="370840">
                <a:tc>
                  <a:txBody>
                    <a:bodyPr/>
                    <a:lstStyle/>
                    <a:p>
                      <a:pPr>
                        <a:spcBef>
                          <a:spcPts val="600"/>
                        </a:spcBef>
                      </a:pPr>
                      <a:r>
                        <a:rPr lang="en-GB" sz="1000" b="1"/>
                        <a:t>Actual charge depleting range</a:t>
                      </a:r>
                    </a:p>
                    <a:p>
                      <a:pPr>
                        <a:spcBef>
                          <a:spcPts val="600"/>
                        </a:spcBef>
                      </a:pPr>
                      <a:r>
                        <a:rPr lang="en-GB" sz="1000" b="1"/>
                        <a:t>(R</a:t>
                      </a:r>
                      <a:r>
                        <a:rPr lang="en-GB" sz="1000" b="1" baseline="-25000"/>
                        <a:t>CDA</a:t>
                      </a:r>
                      <a:r>
                        <a:rPr lang="en-GB" sz="1000" b="1" baseline="0"/>
                        <a:t>)</a:t>
                      </a:r>
                    </a:p>
                  </a:txBody>
                  <a:tcPr/>
                </a:tc>
                <a:tc>
                  <a:txBody>
                    <a:bodyPr/>
                    <a:lstStyle/>
                    <a:p>
                      <a:r>
                        <a:rPr lang="en-US" sz="1000" dirty="0">
                          <a:latin typeface="Times New Roman" panose="02020603050405020304" pitchFamily="18" charset="0"/>
                          <a:cs typeface="Times New Roman" panose="02020603050405020304" pitchFamily="18" charset="0"/>
                        </a:rPr>
                        <a:t>The range that can be driven in charge depleting mode based on the usable amount of REESS energy, without any interim charging. (Annex IV)</a:t>
                      </a:r>
                      <a:endParaRPr lang="en-GB"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8025345"/>
                  </a:ext>
                </a:extLst>
              </a:tr>
              <a:tr h="370840">
                <a:tc>
                  <a:txBody>
                    <a:bodyPr/>
                    <a:lstStyle/>
                    <a:p>
                      <a:pPr>
                        <a:spcBef>
                          <a:spcPts val="600"/>
                        </a:spcBef>
                      </a:pPr>
                      <a:r>
                        <a:rPr lang="en-GB" sz="1000" b="1" dirty="0"/>
                        <a:t>Equivalent all electric range</a:t>
                      </a:r>
                    </a:p>
                    <a:p>
                      <a:pPr>
                        <a:spcBef>
                          <a:spcPts val="600"/>
                        </a:spcBef>
                      </a:pPr>
                      <a:r>
                        <a:rPr lang="en-GB" sz="1000" b="1" dirty="0"/>
                        <a:t>(EAER)</a:t>
                      </a:r>
                    </a:p>
                  </a:txBody>
                  <a:tcPr/>
                </a:tc>
                <a:tc>
                  <a:txBody>
                    <a:bodyPr/>
                    <a:lstStyle/>
                    <a:p>
                      <a:pPr>
                        <a:spcBef>
                          <a:spcPts val="600"/>
                        </a:spcBef>
                      </a:pPr>
                      <a:r>
                        <a:rPr lang="en-US" sz="1000" dirty="0">
                          <a:latin typeface="Times New Roman" panose="02020603050405020304" pitchFamily="18" charset="0"/>
                          <a:cs typeface="Times New Roman" panose="02020603050405020304" pitchFamily="18" charset="0"/>
                        </a:rPr>
                        <a:t>The part of the actual charge depleting range that can be attributed to the use of electric energy from the REESS, i.e. without any energy provided by the non-electric propulsion energy storage system. (Annex IV)</a:t>
                      </a:r>
                    </a:p>
                    <a:p>
                      <a:pPr>
                        <a:spcBef>
                          <a:spcPts val="600"/>
                        </a:spcBef>
                      </a:pPr>
                      <a:r>
                        <a:rPr lang="en-US" sz="1000" dirty="0">
                          <a:latin typeface="+mn-lt"/>
                          <a:cs typeface="Times New Roman" panose="02020603050405020304" pitchFamily="18" charset="0"/>
                        </a:rPr>
                        <a:t>i.e.</a:t>
                      </a:r>
                      <a:r>
                        <a:rPr lang="en-US" sz="1000" baseline="0" dirty="0">
                          <a:latin typeface="+mn-lt"/>
                          <a:cs typeface="Times New Roman" panose="02020603050405020304" pitchFamily="18" charset="0"/>
                        </a:rPr>
                        <a:t> R</a:t>
                      </a:r>
                      <a:r>
                        <a:rPr lang="en-US" sz="1000" baseline="-25000" dirty="0">
                          <a:latin typeface="+mn-lt"/>
                          <a:cs typeface="Times New Roman" panose="02020603050405020304" pitchFamily="18" charset="0"/>
                        </a:rPr>
                        <a:t>CDA</a:t>
                      </a:r>
                      <a:r>
                        <a:rPr lang="en-US" sz="1000" baseline="0" dirty="0">
                          <a:latin typeface="+mn-lt"/>
                          <a:cs typeface="Times New Roman" panose="02020603050405020304" pitchFamily="18" charset="0"/>
                        </a:rPr>
                        <a:t> mathematically reduced by energy content of fuel used (based on fuel consumption in charge sustaining mode)</a:t>
                      </a:r>
                      <a:endParaRPr lang="en-GB" sz="1000" dirty="0">
                        <a:latin typeface="+mn-lt"/>
                        <a:cs typeface="Times New Roman" panose="02020603050405020304" pitchFamily="18" charset="0"/>
                      </a:endParaRPr>
                    </a:p>
                  </a:txBody>
                  <a:tcPr/>
                </a:tc>
                <a:extLst>
                  <a:ext uri="{0D108BD9-81ED-4DB2-BD59-A6C34878D82A}">
                    <a16:rowId xmlns:a16="http://schemas.microsoft.com/office/drawing/2014/main" val="2413726602"/>
                  </a:ext>
                </a:extLst>
              </a:tr>
              <a:tr h="370840">
                <a:tc>
                  <a:txBody>
                    <a:bodyPr/>
                    <a:lstStyle/>
                    <a:p>
                      <a:pPr>
                        <a:spcBef>
                          <a:spcPts val="600"/>
                        </a:spcBef>
                      </a:pPr>
                      <a:r>
                        <a:rPr lang="en-GB" sz="1000" b="1" dirty="0"/>
                        <a:t>Zero CO</a:t>
                      </a:r>
                      <a:r>
                        <a:rPr lang="en-GB" sz="1000" b="1" baseline="-25000" dirty="0"/>
                        <a:t>2 </a:t>
                      </a:r>
                      <a:r>
                        <a:rPr lang="en-GB" sz="1000" b="1" dirty="0"/>
                        <a:t>emissions range</a:t>
                      </a:r>
                    </a:p>
                    <a:p>
                      <a:pPr>
                        <a:spcBef>
                          <a:spcPts val="600"/>
                        </a:spcBef>
                      </a:pPr>
                      <a:r>
                        <a:rPr lang="en-GB" sz="1000" b="1" dirty="0"/>
                        <a:t>(ZCER)</a:t>
                      </a:r>
                    </a:p>
                  </a:txBody>
                  <a:tcPr/>
                </a:tc>
                <a:tc>
                  <a:txBody>
                    <a:bodyPr/>
                    <a:lstStyle/>
                    <a:p>
                      <a:pPr>
                        <a:spcBef>
                          <a:spcPts val="600"/>
                        </a:spcBef>
                      </a:pPr>
                      <a:r>
                        <a:rPr lang="en-US" sz="1000" dirty="0">
                          <a:latin typeface="Times New Roman" panose="02020603050405020304" pitchFamily="18" charset="0"/>
                          <a:cs typeface="Times New Roman" panose="02020603050405020304" pitchFamily="18" charset="0"/>
                        </a:rPr>
                        <a:t>The range that can be attributed to energy provided by propulsion energy storage systems considered with zero CO</a:t>
                      </a:r>
                      <a:r>
                        <a:rPr lang="en-US" sz="1000" baseline="-25000" dirty="0">
                          <a:latin typeface="Times New Roman" panose="02020603050405020304" pitchFamily="18" charset="0"/>
                          <a:cs typeface="Times New Roman" panose="02020603050405020304" pitchFamily="18" charset="0"/>
                        </a:rPr>
                        <a:t>2</a:t>
                      </a:r>
                      <a:r>
                        <a:rPr lang="en-US" sz="1000" dirty="0">
                          <a:latin typeface="Times New Roman" panose="02020603050405020304" pitchFamily="18" charset="0"/>
                          <a:cs typeface="Times New Roman" panose="02020603050405020304" pitchFamily="18" charset="0"/>
                        </a:rPr>
                        <a:t> impact. (Annex IV)</a:t>
                      </a:r>
                    </a:p>
                    <a:p>
                      <a:pPr>
                        <a:spcBef>
                          <a:spcPts val="600"/>
                        </a:spcBef>
                      </a:pPr>
                      <a:endParaRPr 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91852091"/>
                  </a:ext>
                </a:extLst>
              </a:tr>
            </a:tbl>
          </a:graphicData>
        </a:graphic>
      </p:graphicFrame>
      <p:sp>
        <p:nvSpPr>
          <p:cNvPr id="6" name="Geschweifte Klammer rechts 5"/>
          <p:cNvSpPr/>
          <p:nvPr/>
        </p:nvSpPr>
        <p:spPr>
          <a:xfrm>
            <a:off x="7201609" y="3494863"/>
            <a:ext cx="96552" cy="152681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8" name="Gleich 7"/>
          <p:cNvSpPr/>
          <p:nvPr/>
        </p:nvSpPr>
        <p:spPr>
          <a:xfrm>
            <a:off x="7360332" y="4130997"/>
            <a:ext cx="527318" cy="272616"/>
          </a:xfrm>
          <a:prstGeom prst="mathEqual">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solidFill>
                <a:schemeClr val="tx1"/>
              </a:solidFill>
            </a:endParaRPr>
          </a:p>
        </p:txBody>
      </p:sp>
      <p:sp>
        <p:nvSpPr>
          <p:cNvPr id="9" name="Textfeld 8"/>
          <p:cNvSpPr txBox="1"/>
          <p:nvPr/>
        </p:nvSpPr>
        <p:spPr>
          <a:xfrm>
            <a:off x="7348317" y="3578333"/>
            <a:ext cx="551349" cy="600164"/>
          </a:xfrm>
          <a:prstGeom prst="rect">
            <a:avLst/>
          </a:prstGeom>
          <a:noFill/>
        </p:spPr>
        <p:txBody>
          <a:bodyPr wrap="square" rtlCol="0">
            <a:spAutoFit/>
          </a:bodyPr>
          <a:lstStyle/>
          <a:p>
            <a:pPr algn="ctr"/>
            <a:r>
              <a:rPr lang="de-AT" sz="1100" dirty="0" err="1"/>
              <a:t>for</a:t>
            </a:r>
            <a:r>
              <a:rPr lang="de-AT" sz="1100" dirty="0"/>
              <a:t> OVC-HEV</a:t>
            </a:r>
          </a:p>
        </p:txBody>
      </p:sp>
      <p:sp>
        <p:nvSpPr>
          <p:cNvPr id="10" name="Geschweifte Klammer rechts 9"/>
          <p:cNvSpPr/>
          <p:nvPr/>
        </p:nvSpPr>
        <p:spPr>
          <a:xfrm>
            <a:off x="8138253" y="2825677"/>
            <a:ext cx="96552" cy="2196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1" name="Gleich 10"/>
          <p:cNvSpPr/>
          <p:nvPr/>
        </p:nvSpPr>
        <p:spPr>
          <a:xfrm>
            <a:off x="8250444" y="3789280"/>
            <a:ext cx="527318" cy="272616"/>
          </a:xfrm>
          <a:prstGeom prst="mathEqual">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solidFill>
                <a:schemeClr val="tx1"/>
              </a:solidFill>
            </a:endParaRPr>
          </a:p>
        </p:txBody>
      </p:sp>
      <p:sp>
        <p:nvSpPr>
          <p:cNvPr id="12" name="Textfeld 11"/>
          <p:cNvSpPr txBox="1"/>
          <p:nvPr/>
        </p:nvSpPr>
        <p:spPr>
          <a:xfrm>
            <a:off x="8238429" y="3401329"/>
            <a:ext cx="551349" cy="430887"/>
          </a:xfrm>
          <a:prstGeom prst="rect">
            <a:avLst/>
          </a:prstGeom>
          <a:noFill/>
        </p:spPr>
        <p:txBody>
          <a:bodyPr wrap="square" rtlCol="0">
            <a:spAutoFit/>
          </a:bodyPr>
          <a:lstStyle/>
          <a:p>
            <a:pPr algn="ctr"/>
            <a:r>
              <a:rPr lang="de-AT" sz="1100" dirty="0" err="1"/>
              <a:t>for</a:t>
            </a:r>
            <a:r>
              <a:rPr lang="de-AT" sz="1100" dirty="0"/>
              <a:t> PEV</a:t>
            </a:r>
          </a:p>
        </p:txBody>
      </p:sp>
    </p:spTree>
    <p:extLst>
      <p:ext uri="{BB962C8B-B14F-4D97-AF65-F5344CB8AC3E}">
        <p14:creationId xmlns:p14="http://schemas.microsoft.com/office/powerpoint/2010/main" val="5965503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Automation of OVC-HEV simulation</a:t>
            </a:r>
          </a:p>
        </p:txBody>
      </p:sp>
      <p:sp>
        <p:nvSpPr>
          <p:cNvPr id="4" name="Foliennummernplatzhalter 3"/>
          <p:cNvSpPr>
            <a:spLocks noGrp="1"/>
          </p:cNvSpPr>
          <p:nvPr>
            <p:ph type="sldNum" sz="quarter" idx="12"/>
          </p:nvPr>
        </p:nvSpPr>
        <p:spPr/>
        <p:txBody>
          <a:bodyPr/>
          <a:lstStyle/>
          <a:p>
            <a:fld id="{4B64EC4D-37E3-EF42-B9AB-6337577588CB}" type="slidenum">
              <a:rPr lang="de-DE" smtClean="0"/>
              <a:t>45</a:t>
            </a:fld>
            <a:endParaRPr lang="de-DE"/>
          </a:p>
        </p:txBody>
      </p:sp>
      <p:sp>
        <p:nvSpPr>
          <p:cNvPr id="6" name="Inhaltsplatzhalter 5"/>
          <p:cNvSpPr>
            <a:spLocks noGrp="1"/>
          </p:cNvSpPr>
          <p:nvPr>
            <p:ph idx="1"/>
          </p:nvPr>
        </p:nvSpPr>
        <p:spPr>
          <a:xfrm>
            <a:off x="457200" y="1604519"/>
            <a:ext cx="8229240" cy="4783839"/>
          </a:xfrm>
        </p:spPr>
        <p:txBody>
          <a:bodyPr>
            <a:normAutofit/>
          </a:bodyPr>
          <a:lstStyle/>
          <a:p>
            <a:pPr>
              <a:spcBef>
                <a:spcPts val="600"/>
              </a:spcBef>
            </a:pPr>
            <a:r>
              <a:rPr lang="en-US" sz="1600" dirty="0"/>
              <a:t>Schematic overview of result matrix in VECTO for CD + CS mode</a:t>
            </a: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endParaRPr lang="en-US" sz="1600" dirty="0"/>
          </a:p>
          <a:p>
            <a:pPr>
              <a:spcBef>
                <a:spcPts val="600"/>
              </a:spcBef>
            </a:pPr>
            <a:r>
              <a:rPr lang="en-GB" sz="1600" dirty="0"/>
              <a:t>For further details please refer to: </a:t>
            </a:r>
            <a:r>
              <a:rPr lang="en-GB" sz="1600" b="1" i="1" dirty="0"/>
              <a:t>VECTO-DEV WS#13 04.07.2022 (slide 12ff)</a:t>
            </a:r>
            <a:endParaRPr lang="en-US" sz="1600" dirty="0"/>
          </a:p>
        </p:txBody>
      </p:sp>
      <p:pic>
        <p:nvPicPr>
          <p:cNvPr id="3" name="Grafik 2"/>
          <p:cNvPicPr>
            <a:picLocks noChangeAspect="1"/>
          </p:cNvPicPr>
          <p:nvPr/>
        </p:nvPicPr>
        <p:blipFill>
          <a:blip r:embed="rId2"/>
          <a:stretch>
            <a:fillRect/>
          </a:stretch>
        </p:blipFill>
        <p:spPr>
          <a:xfrm>
            <a:off x="149635" y="2237649"/>
            <a:ext cx="6814756" cy="2797416"/>
          </a:xfrm>
          <a:prstGeom prst="rect">
            <a:avLst/>
          </a:prstGeom>
        </p:spPr>
      </p:pic>
      <p:sp>
        <p:nvSpPr>
          <p:cNvPr id="8" name="Textfeld 7"/>
          <p:cNvSpPr txBox="1"/>
          <p:nvPr/>
        </p:nvSpPr>
        <p:spPr>
          <a:xfrm>
            <a:off x="6964391" y="2423768"/>
            <a:ext cx="2179609" cy="2816156"/>
          </a:xfrm>
          <a:prstGeom prst="rect">
            <a:avLst/>
          </a:prstGeom>
          <a:noFill/>
        </p:spPr>
        <p:txBody>
          <a:bodyPr wrap="square" rtlCol="0">
            <a:spAutoFit/>
          </a:bodyPr>
          <a:lstStyle/>
          <a:p>
            <a:r>
              <a:rPr lang="de-AT" sz="1050" dirty="0"/>
              <a:t>Comments:</a:t>
            </a:r>
          </a:p>
          <a:p>
            <a:pPr marL="285750" indent="-285750">
              <a:spcBef>
                <a:spcPts val="300"/>
              </a:spcBef>
              <a:buFont typeface="Wingdings" panose="05000000000000000000" pitchFamily="2" charset="2"/>
              <a:buChar char="§"/>
            </a:pPr>
            <a:r>
              <a:rPr lang="de-AT" sz="1000" dirty="0"/>
              <a:t>General </a:t>
            </a:r>
            <a:r>
              <a:rPr lang="de-AT" sz="1000" dirty="0" err="1"/>
              <a:t>structure</a:t>
            </a:r>
            <a:r>
              <a:rPr lang="de-AT" sz="1000" dirty="0"/>
              <a:t> </a:t>
            </a:r>
            <a:r>
              <a:rPr lang="de-AT" sz="1000" dirty="0" err="1"/>
              <a:t>given</a:t>
            </a:r>
            <a:r>
              <a:rPr lang="de-AT" sz="1000" dirty="0"/>
              <a:t> </a:t>
            </a:r>
            <a:r>
              <a:rPr lang="de-AT" sz="1000" dirty="0" err="1"/>
              <a:t>by</a:t>
            </a:r>
            <a:r>
              <a:rPr lang="de-AT" sz="1000" dirty="0"/>
              <a:t> XML </a:t>
            </a:r>
            <a:r>
              <a:rPr lang="de-AT" sz="1000" dirty="0" err="1"/>
              <a:t>schema</a:t>
            </a:r>
            <a:r>
              <a:rPr lang="de-AT" sz="1000" dirty="0"/>
              <a:t> </a:t>
            </a:r>
            <a:r>
              <a:rPr lang="de-AT" sz="1000" dirty="0" err="1"/>
              <a:t>structure</a:t>
            </a:r>
            <a:br>
              <a:rPr lang="de-AT" sz="1000" dirty="0"/>
            </a:br>
            <a:endParaRPr lang="de-AT" sz="600" dirty="0"/>
          </a:p>
          <a:p>
            <a:pPr marL="285750" indent="-285750">
              <a:spcBef>
                <a:spcPts val="300"/>
              </a:spcBef>
              <a:buFont typeface="Wingdings" panose="05000000000000000000" pitchFamily="2" charset="2"/>
              <a:buChar char="§"/>
            </a:pPr>
            <a:r>
              <a:rPr lang="en-US" sz="1000" dirty="0"/>
              <a:t>The "final results" for each mission profile and payload case are always output in the XML element "Total"</a:t>
            </a:r>
            <a:br>
              <a:rPr lang="en-US" sz="1000" dirty="0"/>
            </a:br>
            <a:endParaRPr lang="en-US" sz="600" dirty="0"/>
          </a:p>
          <a:p>
            <a:pPr marL="285750" indent="-285750">
              <a:spcBef>
                <a:spcPts val="300"/>
              </a:spcBef>
              <a:buFont typeface="Wingdings" panose="05000000000000000000" pitchFamily="2" charset="2"/>
              <a:buChar char="§"/>
            </a:pPr>
            <a:r>
              <a:rPr lang="de-AT" sz="1000" dirty="0"/>
              <a:t>FC, CO2, EC in </a:t>
            </a:r>
            <a:r>
              <a:rPr lang="en-US" sz="1000" dirty="0"/>
              <a:t>XML element "Total“ are weighted with UF</a:t>
            </a:r>
            <a:br>
              <a:rPr lang="en-US" sz="1000" dirty="0"/>
            </a:br>
            <a:endParaRPr lang="en-US" sz="600" dirty="0"/>
          </a:p>
          <a:p>
            <a:pPr marL="285750" indent="-285750">
              <a:spcBef>
                <a:spcPts val="300"/>
              </a:spcBef>
              <a:buFont typeface="Wingdings" panose="05000000000000000000" pitchFamily="2" charset="2"/>
              <a:buChar char="§"/>
            </a:pPr>
            <a:r>
              <a:rPr lang="en-US" sz="1000" dirty="0"/>
              <a:t>Ranges</a:t>
            </a:r>
            <a:r>
              <a:rPr lang="de-AT" sz="1000" dirty="0"/>
              <a:t> in </a:t>
            </a:r>
            <a:r>
              <a:rPr lang="en-US" sz="1000" dirty="0"/>
              <a:t>XML element "Total“ are identical to results from CD mode for OVC-HEV</a:t>
            </a:r>
            <a:br>
              <a:rPr lang="en-US" sz="1000" dirty="0"/>
            </a:br>
            <a:endParaRPr lang="en-US" sz="600" dirty="0"/>
          </a:p>
          <a:p>
            <a:pPr marL="285750" indent="-285750">
              <a:spcBef>
                <a:spcPts val="300"/>
              </a:spcBef>
              <a:buFont typeface="Wingdings" panose="05000000000000000000" pitchFamily="2" charset="2"/>
              <a:buChar char="§"/>
            </a:pPr>
            <a:r>
              <a:rPr lang="en-US" sz="1000" dirty="0"/>
              <a:t>Zero CO2 emissions range equals EAER for OVC-HEV</a:t>
            </a:r>
            <a:endParaRPr lang="de-AT" sz="1000" dirty="0"/>
          </a:p>
        </p:txBody>
      </p:sp>
    </p:spTree>
    <p:extLst>
      <p:ext uri="{BB962C8B-B14F-4D97-AF65-F5344CB8AC3E}">
        <p14:creationId xmlns:p14="http://schemas.microsoft.com/office/powerpoint/2010/main" val="682634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Automation of OVC-HEV simulation - EX</a:t>
            </a:r>
          </a:p>
        </p:txBody>
      </p:sp>
      <p:sp>
        <p:nvSpPr>
          <p:cNvPr id="4" name="Foliennummernplatzhalter 3"/>
          <p:cNvSpPr>
            <a:spLocks noGrp="1"/>
          </p:cNvSpPr>
          <p:nvPr>
            <p:ph type="sldNum" sz="quarter" idx="12"/>
          </p:nvPr>
        </p:nvSpPr>
        <p:spPr/>
        <p:txBody>
          <a:bodyPr/>
          <a:lstStyle/>
          <a:p>
            <a:fld id="{4B64EC4D-37E3-EF42-B9AB-6337577588CB}" type="slidenum">
              <a:rPr lang="de-DE" smtClean="0"/>
              <a:t>46</a:t>
            </a:fld>
            <a:endParaRPr lang="de-DE"/>
          </a:p>
        </p:txBody>
      </p:sp>
      <p:sp>
        <p:nvSpPr>
          <p:cNvPr id="10" name="Textfeld 9"/>
          <p:cNvSpPr txBox="1"/>
          <p:nvPr/>
        </p:nvSpPr>
        <p:spPr>
          <a:xfrm>
            <a:off x="7145387" y="2718155"/>
            <a:ext cx="2101378" cy="261610"/>
          </a:xfrm>
          <a:prstGeom prst="rect">
            <a:avLst/>
          </a:prstGeom>
          <a:noFill/>
          <a:ln>
            <a:noFill/>
          </a:ln>
        </p:spPr>
        <p:txBody>
          <a:bodyPr wrap="square" rtlCol="0">
            <a:spAutoFit/>
          </a:bodyPr>
          <a:lstStyle/>
          <a:p>
            <a:r>
              <a:rPr lang="de-AT" sz="1100" b="1" i="1" dirty="0">
                <a:solidFill>
                  <a:schemeClr val="accent1"/>
                </a:solidFill>
              </a:rPr>
              <a:t>„</a:t>
            </a:r>
            <a:r>
              <a:rPr lang="de-AT" sz="1100" b="1" i="1" dirty="0" err="1">
                <a:solidFill>
                  <a:schemeClr val="accent1"/>
                </a:solidFill>
              </a:rPr>
              <a:t>Raw</a:t>
            </a:r>
            <a:r>
              <a:rPr lang="de-AT" sz="1100" b="1" i="1" dirty="0">
                <a:solidFill>
                  <a:schemeClr val="accent1"/>
                </a:solidFill>
              </a:rPr>
              <a:t>“ </a:t>
            </a:r>
            <a:r>
              <a:rPr lang="de-AT" sz="1100" b="1" i="1" dirty="0" err="1">
                <a:solidFill>
                  <a:schemeClr val="accent1"/>
                </a:solidFill>
              </a:rPr>
              <a:t>results</a:t>
            </a:r>
            <a:r>
              <a:rPr lang="de-AT" sz="1100" b="1" i="1" dirty="0">
                <a:solidFill>
                  <a:schemeClr val="accent1"/>
                </a:solidFill>
              </a:rPr>
              <a:t> </a:t>
            </a:r>
            <a:r>
              <a:rPr lang="de-AT" sz="1100" b="1" i="1" dirty="0" err="1">
                <a:solidFill>
                  <a:schemeClr val="accent1"/>
                </a:solidFill>
              </a:rPr>
              <a:t>by</a:t>
            </a:r>
            <a:r>
              <a:rPr lang="de-AT" sz="1100" b="1" i="1" dirty="0">
                <a:solidFill>
                  <a:schemeClr val="accent1"/>
                </a:solidFill>
              </a:rPr>
              <a:t> VECTO</a:t>
            </a:r>
          </a:p>
        </p:txBody>
      </p:sp>
      <p:sp>
        <p:nvSpPr>
          <p:cNvPr id="11" name="Geschweifte Klammer links 10"/>
          <p:cNvSpPr/>
          <p:nvPr/>
        </p:nvSpPr>
        <p:spPr>
          <a:xfrm rot="10800000">
            <a:off x="6866010" y="2070798"/>
            <a:ext cx="182841" cy="5698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2" name="Geschweifte Klammer links 11"/>
          <p:cNvSpPr/>
          <p:nvPr/>
        </p:nvSpPr>
        <p:spPr>
          <a:xfrm rot="10800000">
            <a:off x="6866009" y="2674692"/>
            <a:ext cx="182841" cy="35055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13" name="Textfeld 12"/>
          <p:cNvSpPr txBox="1"/>
          <p:nvPr/>
        </p:nvSpPr>
        <p:spPr>
          <a:xfrm>
            <a:off x="7145387" y="2224901"/>
            <a:ext cx="2101378" cy="261610"/>
          </a:xfrm>
          <a:prstGeom prst="rect">
            <a:avLst/>
          </a:prstGeom>
          <a:noFill/>
          <a:ln>
            <a:noFill/>
          </a:ln>
        </p:spPr>
        <p:txBody>
          <a:bodyPr wrap="square" rtlCol="0">
            <a:spAutoFit/>
          </a:bodyPr>
          <a:lstStyle/>
          <a:p>
            <a:r>
              <a:rPr lang="de-AT" sz="1100" b="1" i="1" dirty="0" err="1">
                <a:solidFill>
                  <a:schemeClr val="accent1"/>
                </a:solidFill>
              </a:rPr>
              <a:t>Declared</a:t>
            </a:r>
            <a:r>
              <a:rPr lang="de-AT" sz="1100" b="1" i="1" dirty="0">
                <a:solidFill>
                  <a:schemeClr val="accent1"/>
                </a:solidFill>
              </a:rPr>
              <a:t> / </a:t>
            </a:r>
            <a:r>
              <a:rPr lang="de-AT" sz="1100" b="1" i="1" dirty="0" err="1">
                <a:solidFill>
                  <a:schemeClr val="accent1"/>
                </a:solidFill>
              </a:rPr>
              <a:t>Component</a:t>
            </a:r>
            <a:r>
              <a:rPr lang="de-AT" sz="1100" b="1" i="1" dirty="0">
                <a:solidFill>
                  <a:schemeClr val="accent1"/>
                </a:solidFill>
              </a:rPr>
              <a:t> </a:t>
            </a:r>
            <a:r>
              <a:rPr lang="de-AT" sz="1100" b="1" i="1" dirty="0" err="1">
                <a:solidFill>
                  <a:schemeClr val="accent1"/>
                </a:solidFill>
              </a:rPr>
              <a:t>data</a:t>
            </a:r>
            <a:endParaRPr lang="de-AT" sz="1100" b="1" i="1" dirty="0">
              <a:solidFill>
                <a:schemeClr val="accent1"/>
              </a:solidFill>
            </a:endParaRPr>
          </a:p>
        </p:txBody>
      </p:sp>
      <p:sp>
        <p:nvSpPr>
          <p:cNvPr id="14" name="Pfeil nach unten 13"/>
          <p:cNvSpPr/>
          <p:nvPr/>
        </p:nvSpPr>
        <p:spPr>
          <a:xfrm>
            <a:off x="3190436" y="3451992"/>
            <a:ext cx="959836" cy="613386"/>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5" name="Textfeld 14"/>
          <p:cNvSpPr txBox="1"/>
          <p:nvPr/>
        </p:nvSpPr>
        <p:spPr>
          <a:xfrm>
            <a:off x="4406919" y="3605237"/>
            <a:ext cx="4129374" cy="261610"/>
          </a:xfrm>
          <a:prstGeom prst="rect">
            <a:avLst/>
          </a:prstGeom>
          <a:noFill/>
          <a:ln>
            <a:noFill/>
          </a:ln>
        </p:spPr>
        <p:txBody>
          <a:bodyPr wrap="square" rtlCol="0">
            <a:spAutoFit/>
          </a:bodyPr>
          <a:lstStyle/>
          <a:p>
            <a:r>
              <a:rPr lang="de-AT" sz="1100" b="1" i="1" dirty="0" err="1">
                <a:solidFill>
                  <a:schemeClr val="accent1"/>
                </a:solidFill>
              </a:rPr>
              <a:t>Calculation</a:t>
            </a:r>
            <a:r>
              <a:rPr lang="de-AT" sz="1100" b="1" i="1" dirty="0">
                <a:solidFill>
                  <a:schemeClr val="accent1"/>
                </a:solidFill>
              </a:rPr>
              <a:t> </a:t>
            </a:r>
            <a:r>
              <a:rPr lang="de-AT" sz="1100" b="1" i="1" dirty="0" err="1">
                <a:solidFill>
                  <a:schemeClr val="accent1"/>
                </a:solidFill>
              </a:rPr>
              <a:t>of</a:t>
            </a:r>
            <a:r>
              <a:rPr lang="de-AT" sz="1100" b="1" i="1" dirty="0">
                <a:solidFill>
                  <a:schemeClr val="accent1"/>
                </a:solidFill>
              </a:rPr>
              <a:t> different </a:t>
            </a:r>
            <a:r>
              <a:rPr lang="de-AT" sz="1100" b="1" i="1" dirty="0" err="1">
                <a:solidFill>
                  <a:schemeClr val="accent1"/>
                </a:solidFill>
              </a:rPr>
              <a:t>specific</a:t>
            </a:r>
            <a:r>
              <a:rPr lang="de-AT" sz="1100" b="1" i="1" dirty="0">
                <a:solidFill>
                  <a:schemeClr val="accent1"/>
                </a:solidFill>
              </a:rPr>
              <a:t> </a:t>
            </a:r>
            <a:r>
              <a:rPr lang="de-AT" sz="1100" b="1" i="1" dirty="0" err="1">
                <a:solidFill>
                  <a:schemeClr val="accent1"/>
                </a:solidFill>
              </a:rPr>
              <a:t>ranges</a:t>
            </a:r>
            <a:r>
              <a:rPr lang="de-AT" sz="1100" b="1" i="1" dirty="0">
                <a:solidFill>
                  <a:schemeClr val="accent1"/>
                </a:solidFill>
              </a:rPr>
              <a:t> </a:t>
            </a:r>
            <a:r>
              <a:rPr lang="de-AT" sz="1100" b="1" i="1" dirty="0" err="1">
                <a:solidFill>
                  <a:schemeClr val="accent1"/>
                </a:solidFill>
              </a:rPr>
              <a:t>from</a:t>
            </a:r>
            <a:r>
              <a:rPr lang="de-AT" sz="1100" b="1" i="1" dirty="0">
                <a:solidFill>
                  <a:schemeClr val="accent1"/>
                </a:solidFill>
              </a:rPr>
              <a:t> </a:t>
            </a:r>
            <a:r>
              <a:rPr lang="de-AT" sz="1100" b="1" i="1" dirty="0" err="1">
                <a:solidFill>
                  <a:schemeClr val="accent1"/>
                </a:solidFill>
              </a:rPr>
              <a:t>data</a:t>
            </a:r>
            <a:r>
              <a:rPr lang="de-AT" sz="1100" b="1" i="1" dirty="0">
                <a:solidFill>
                  <a:schemeClr val="accent1"/>
                </a:solidFill>
              </a:rPr>
              <a:t> </a:t>
            </a:r>
            <a:r>
              <a:rPr lang="de-AT" sz="1100" b="1" i="1" dirty="0" err="1">
                <a:solidFill>
                  <a:schemeClr val="accent1"/>
                </a:solidFill>
              </a:rPr>
              <a:t>above</a:t>
            </a:r>
            <a:endParaRPr lang="de-AT" sz="1100" b="1" i="1" dirty="0">
              <a:solidFill>
                <a:schemeClr val="accent1"/>
              </a:solidFill>
            </a:endParaRPr>
          </a:p>
        </p:txBody>
      </p:sp>
      <p:sp>
        <p:nvSpPr>
          <p:cNvPr id="16" name="Nach oben gebogener Pfeil 15"/>
          <p:cNvSpPr/>
          <p:nvPr/>
        </p:nvSpPr>
        <p:spPr>
          <a:xfrm rot="5400000">
            <a:off x="927786" y="4839052"/>
            <a:ext cx="935903" cy="1263690"/>
          </a:xfrm>
          <a:prstGeom prst="bentUpArrow">
            <a:avLst>
              <a:gd name="adj1" fmla="val 11797"/>
              <a:gd name="adj2" fmla="val 25689"/>
              <a:gd name="adj3" fmla="val 2574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17" name="Textfeld 16"/>
          <p:cNvSpPr txBox="1"/>
          <p:nvPr/>
        </p:nvSpPr>
        <p:spPr>
          <a:xfrm>
            <a:off x="2027583" y="5563274"/>
            <a:ext cx="5419567" cy="261610"/>
          </a:xfrm>
          <a:prstGeom prst="rect">
            <a:avLst/>
          </a:prstGeom>
          <a:noFill/>
          <a:ln>
            <a:noFill/>
          </a:ln>
        </p:spPr>
        <p:txBody>
          <a:bodyPr wrap="square" rtlCol="0">
            <a:spAutoFit/>
          </a:bodyPr>
          <a:lstStyle/>
          <a:p>
            <a:r>
              <a:rPr lang="de-AT" sz="1100" b="1" i="1" dirty="0">
                <a:solidFill>
                  <a:schemeClr val="accent1"/>
                </a:solidFill>
              </a:rPr>
              <a:t>Relevant </a:t>
            </a:r>
            <a:r>
              <a:rPr lang="de-AT" sz="1100" b="1" i="1" dirty="0" err="1">
                <a:solidFill>
                  <a:schemeClr val="accent1"/>
                </a:solidFill>
              </a:rPr>
              <a:t>for</a:t>
            </a:r>
            <a:r>
              <a:rPr lang="de-AT" sz="1100" b="1" i="1" dirty="0">
                <a:solidFill>
                  <a:schemeClr val="accent1"/>
                </a:solidFill>
              </a:rPr>
              <a:t> CO2 Standards Regulation, not </a:t>
            </a:r>
            <a:r>
              <a:rPr lang="de-AT" sz="1100" b="1" i="1" dirty="0" err="1">
                <a:solidFill>
                  <a:schemeClr val="accent1"/>
                </a:solidFill>
              </a:rPr>
              <a:t>for</a:t>
            </a:r>
            <a:r>
              <a:rPr lang="de-AT" sz="1100" b="1" i="1" dirty="0">
                <a:solidFill>
                  <a:schemeClr val="accent1"/>
                </a:solidFill>
              </a:rPr>
              <a:t> </a:t>
            </a:r>
            <a:r>
              <a:rPr lang="de-AT" sz="1100" b="1" i="1" dirty="0" err="1">
                <a:solidFill>
                  <a:schemeClr val="accent1"/>
                </a:solidFill>
              </a:rPr>
              <a:t>weighting</a:t>
            </a:r>
            <a:r>
              <a:rPr lang="de-AT" sz="1100" b="1" i="1" dirty="0">
                <a:solidFill>
                  <a:schemeClr val="accent1"/>
                </a:solidFill>
              </a:rPr>
              <a:t> </a:t>
            </a:r>
            <a:r>
              <a:rPr lang="de-AT" sz="1100" b="1" i="1" dirty="0" err="1">
                <a:solidFill>
                  <a:schemeClr val="accent1"/>
                </a:solidFill>
              </a:rPr>
              <a:t>of</a:t>
            </a:r>
            <a:r>
              <a:rPr lang="de-AT" sz="1100" b="1" i="1" dirty="0">
                <a:solidFill>
                  <a:schemeClr val="accent1"/>
                </a:solidFill>
              </a:rPr>
              <a:t> CD+CS </a:t>
            </a:r>
            <a:r>
              <a:rPr lang="de-AT" sz="1100" b="1" i="1" dirty="0" err="1">
                <a:solidFill>
                  <a:schemeClr val="accent1"/>
                </a:solidFill>
              </a:rPr>
              <a:t>results</a:t>
            </a:r>
            <a:endParaRPr lang="de-AT" sz="1100" b="1" i="1" dirty="0">
              <a:solidFill>
                <a:schemeClr val="accent1"/>
              </a:solidFill>
            </a:endParaRPr>
          </a:p>
        </p:txBody>
      </p:sp>
      <p:pic>
        <p:nvPicPr>
          <p:cNvPr id="21" name="Grafik 20"/>
          <p:cNvPicPr>
            <a:picLocks noChangeAspect="1"/>
          </p:cNvPicPr>
          <p:nvPr/>
        </p:nvPicPr>
        <p:blipFill>
          <a:blip r:embed="rId2"/>
          <a:stretch>
            <a:fillRect/>
          </a:stretch>
        </p:blipFill>
        <p:spPr>
          <a:xfrm>
            <a:off x="627174" y="2065267"/>
            <a:ext cx="6096000" cy="981075"/>
          </a:xfrm>
          <a:prstGeom prst="rect">
            <a:avLst/>
          </a:prstGeom>
        </p:spPr>
      </p:pic>
      <p:pic>
        <p:nvPicPr>
          <p:cNvPr id="22" name="Grafik 21"/>
          <p:cNvPicPr>
            <a:picLocks noChangeAspect="1"/>
          </p:cNvPicPr>
          <p:nvPr/>
        </p:nvPicPr>
        <p:blipFill>
          <a:blip r:embed="rId3"/>
          <a:stretch>
            <a:fillRect/>
          </a:stretch>
        </p:blipFill>
        <p:spPr>
          <a:xfrm>
            <a:off x="627174" y="4305187"/>
            <a:ext cx="6096000" cy="638175"/>
          </a:xfrm>
          <a:prstGeom prst="rect">
            <a:avLst/>
          </a:prstGeom>
        </p:spPr>
      </p:pic>
      <p:sp>
        <p:nvSpPr>
          <p:cNvPr id="27" name="Rechteck 26"/>
          <p:cNvSpPr/>
          <p:nvPr/>
        </p:nvSpPr>
        <p:spPr>
          <a:xfrm>
            <a:off x="6723174" y="4552807"/>
            <a:ext cx="72000" cy="1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28" name="Rechteck 27"/>
          <p:cNvSpPr/>
          <p:nvPr/>
        </p:nvSpPr>
        <p:spPr>
          <a:xfrm>
            <a:off x="6723174" y="4742768"/>
            <a:ext cx="72000" cy="1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cxnSp>
        <p:nvCxnSpPr>
          <p:cNvPr id="30" name="Gewinkelter Verbinder 29"/>
          <p:cNvCxnSpPr>
            <a:stCxn id="27" idx="1"/>
            <a:endCxn id="28" idx="1"/>
          </p:cNvCxnSpPr>
          <p:nvPr/>
        </p:nvCxnSpPr>
        <p:spPr>
          <a:xfrm rot="10800000" flipV="1">
            <a:off x="6723174" y="4642807"/>
            <a:ext cx="12700" cy="189961"/>
          </a:xfrm>
          <a:prstGeom prst="bentConnector3">
            <a:avLst>
              <a:gd name="adj1" fmla="val -2091890"/>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2" name="Gleich 31"/>
          <p:cNvSpPr/>
          <p:nvPr/>
        </p:nvSpPr>
        <p:spPr>
          <a:xfrm>
            <a:off x="7048849" y="4606503"/>
            <a:ext cx="364524" cy="272531"/>
          </a:xfrm>
          <a:prstGeom prst="mathEqual">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solidFill>
                <a:schemeClr val="tx1"/>
              </a:solidFill>
            </a:endParaRPr>
          </a:p>
        </p:txBody>
      </p:sp>
    </p:spTree>
    <p:extLst>
      <p:ext uri="{BB962C8B-B14F-4D97-AF65-F5344CB8AC3E}">
        <p14:creationId xmlns:p14="http://schemas.microsoft.com/office/powerpoint/2010/main" val="39670489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p:cNvPicPr>
            <a:picLocks noChangeAspect="1"/>
          </p:cNvPicPr>
          <p:nvPr/>
        </p:nvPicPr>
        <p:blipFill>
          <a:blip r:embed="rId2"/>
          <a:stretch>
            <a:fillRect/>
          </a:stretch>
        </p:blipFill>
        <p:spPr>
          <a:xfrm>
            <a:off x="622354" y="4765989"/>
            <a:ext cx="6096000" cy="1190625"/>
          </a:xfrm>
          <a:prstGeom prst="rect">
            <a:avLst/>
          </a:prstGeom>
        </p:spPr>
      </p:pic>
      <p:pic>
        <p:nvPicPr>
          <p:cNvPr id="3" name="Grafik 2"/>
          <p:cNvPicPr>
            <a:picLocks noChangeAspect="1"/>
          </p:cNvPicPr>
          <p:nvPr/>
        </p:nvPicPr>
        <p:blipFill>
          <a:blip r:embed="rId3"/>
          <a:stretch>
            <a:fillRect/>
          </a:stretch>
        </p:blipFill>
        <p:spPr>
          <a:xfrm>
            <a:off x="622354" y="1949509"/>
            <a:ext cx="6096000" cy="1352550"/>
          </a:xfrm>
          <a:prstGeom prst="rect">
            <a:avLst/>
          </a:prstGeom>
        </p:spPr>
      </p:pic>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Automation of OVC-HEV simulation - EX</a:t>
            </a:r>
          </a:p>
        </p:txBody>
      </p:sp>
      <p:sp>
        <p:nvSpPr>
          <p:cNvPr id="4" name="Foliennummernplatzhalter 3"/>
          <p:cNvSpPr>
            <a:spLocks noGrp="1"/>
          </p:cNvSpPr>
          <p:nvPr>
            <p:ph type="sldNum" sz="quarter" idx="12"/>
          </p:nvPr>
        </p:nvSpPr>
        <p:spPr/>
        <p:txBody>
          <a:bodyPr/>
          <a:lstStyle/>
          <a:p>
            <a:fld id="{4B64EC4D-37E3-EF42-B9AB-6337577588CB}" type="slidenum">
              <a:rPr lang="de-DE" smtClean="0"/>
              <a:t>47</a:t>
            </a:fld>
            <a:endParaRPr lang="de-DE"/>
          </a:p>
        </p:txBody>
      </p:sp>
      <p:pic>
        <p:nvPicPr>
          <p:cNvPr id="35" name="Grafik 34"/>
          <p:cNvPicPr>
            <a:picLocks noChangeAspect="1"/>
          </p:cNvPicPr>
          <p:nvPr/>
        </p:nvPicPr>
        <p:blipFill rotWithShape="1">
          <a:blip r:embed="rId4"/>
          <a:srcRect b="73902"/>
          <a:stretch/>
        </p:blipFill>
        <p:spPr>
          <a:xfrm>
            <a:off x="622354" y="3748215"/>
            <a:ext cx="6096000" cy="618972"/>
          </a:xfrm>
          <a:prstGeom prst="rect">
            <a:avLst/>
          </a:prstGeom>
        </p:spPr>
      </p:pic>
      <p:sp>
        <p:nvSpPr>
          <p:cNvPr id="36" name="Geschweifte Klammer links 35"/>
          <p:cNvSpPr/>
          <p:nvPr/>
        </p:nvSpPr>
        <p:spPr>
          <a:xfrm rot="10800000">
            <a:off x="6840449" y="1948457"/>
            <a:ext cx="182841" cy="136207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37" name="Textfeld 36"/>
          <p:cNvSpPr txBox="1"/>
          <p:nvPr/>
        </p:nvSpPr>
        <p:spPr>
          <a:xfrm>
            <a:off x="7036942" y="2503064"/>
            <a:ext cx="1851480" cy="261610"/>
          </a:xfrm>
          <a:prstGeom prst="rect">
            <a:avLst/>
          </a:prstGeom>
          <a:noFill/>
          <a:ln>
            <a:noFill/>
          </a:ln>
        </p:spPr>
        <p:txBody>
          <a:bodyPr wrap="square" rtlCol="0">
            <a:spAutoFit/>
          </a:bodyPr>
          <a:lstStyle/>
          <a:p>
            <a:r>
              <a:rPr lang="de-AT" sz="1100" b="1" i="1" dirty="0" err="1">
                <a:solidFill>
                  <a:schemeClr val="accent1"/>
                </a:solidFill>
              </a:rPr>
              <a:t>Generic</a:t>
            </a:r>
            <a:r>
              <a:rPr lang="de-AT" sz="1100" b="1" i="1" dirty="0">
                <a:solidFill>
                  <a:schemeClr val="accent1"/>
                </a:solidFill>
              </a:rPr>
              <a:t> </a:t>
            </a:r>
            <a:r>
              <a:rPr lang="de-AT" sz="1100" b="1" i="1" dirty="0" err="1">
                <a:solidFill>
                  <a:schemeClr val="accent1"/>
                </a:solidFill>
              </a:rPr>
              <a:t>data</a:t>
            </a:r>
            <a:endParaRPr lang="de-AT" sz="1100" b="1" i="1" dirty="0">
              <a:solidFill>
                <a:schemeClr val="accent1"/>
              </a:solidFill>
            </a:endParaRPr>
          </a:p>
        </p:txBody>
      </p:sp>
      <p:sp>
        <p:nvSpPr>
          <p:cNvPr id="38" name="Textfeld 37"/>
          <p:cNvSpPr txBox="1"/>
          <p:nvPr/>
        </p:nvSpPr>
        <p:spPr>
          <a:xfrm>
            <a:off x="6943772" y="3962142"/>
            <a:ext cx="1727206" cy="400110"/>
          </a:xfrm>
          <a:prstGeom prst="rect">
            <a:avLst/>
          </a:prstGeom>
          <a:noFill/>
          <a:ln>
            <a:noFill/>
          </a:ln>
        </p:spPr>
        <p:txBody>
          <a:bodyPr wrap="square" rtlCol="0">
            <a:spAutoFit/>
          </a:bodyPr>
          <a:lstStyle/>
          <a:p>
            <a:r>
              <a:rPr lang="de-AT" sz="1000" b="1" i="1" dirty="0">
                <a:solidFill>
                  <a:schemeClr val="accent1"/>
                </a:solidFill>
              </a:rPr>
              <a:t>Due </a:t>
            </a:r>
            <a:r>
              <a:rPr lang="de-AT" sz="1000" b="1" i="1" dirty="0" err="1">
                <a:solidFill>
                  <a:schemeClr val="accent1"/>
                </a:solidFill>
              </a:rPr>
              <a:t>to</a:t>
            </a:r>
            <a:r>
              <a:rPr lang="de-AT" sz="1000" b="1" i="1" dirty="0">
                <a:solidFill>
                  <a:schemeClr val="accent1"/>
                </a:solidFill>
              </a:rPr>
              <a:t> </a:t>
            </a:r>
            <a:r>
              <a:rPr lang="de-AT" sz="1000" b="1" i="1" dirty="0" err="1">
                <a:solidFill>
                  <a:schemeClr val="accent1"/>
                </a:solidFill>
              </a:rPr>
              <a:t>re-charging</a:t>
            </a:r>
            <a:r>
              <a:rPr lang="de-AT" sz="1000" b="1" i="1" dirty="0">
                <a:solidFill>
                  <a:schemeClr val="accent1"/>
                </a:solidFill>
              </a:rPr>
              <a:t> </a:t>
            </a:r>
            <a:r>
              <a:rPr lang="de-AT" sz="1000" b="1" i="1" dirty="0" err="1">
                <a:solidFill>
                  <a:schemeClr val="accent1"/>
                </a:solidFill>
              </a:rPr>
              <a:t>during</a:t>
            </a:r>
            <a:r>
              <a:rPr lang="de-AT" sz="1000" b="1" i="1" dirty="0">
                <a:solidFill>
                  <a:schemeClr val="accent1"/>
                </a:solidFill>
              </a:rPr>
              <a:t> </a:t>
            </a:r>
            <a:r>
              <a:rPr lang="de-AT" sz="1000" b="1" i="1" dirty="0" err="1">
                <a:solidFill>
                  <a:schemeClr val="accent1"/>
                </a:solidFill>
              </a:rPr>
              <a:t>mission</a:t>
            </a:r>
            <a:endParaRPr lang="de-AT" sz="1000" b="1" i="1" dirty="0">
              <a:solidFill>
                <a:schemeClr val="accent1"/>
              </a:solidFill>
            </a:endParaRPr>
          </a:p>
        </p:txBody>
      </p:sp>
      <p:sp>
        <p:nvSpPr>
          <p:cNvPr id="39" name="Geschweifte Klammer links 38"/>
          <p:cNvSpPr/>
          <p:nvPr/>
        </p:nvSpPr>
        <p:spPr>
          <a:xfrm rot="10800000">
            <a:off x="6760931" y="3969186"/>
            <a:ext cx="182841" cy="3600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
        <p:nvSpPr>
          <p:cNvPr id="40" name="Pfeil nach unten 39"/>
          <p:cNvSpPr/>
          <p:nvPr/>
        </p:nvSpPr>
        <p:spPr>
          <a:xfrm>
            <a:off x="927216" y="3367290"/>
            <a:ext cx="959836" cy="324167"/>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41" name="Textfeld 40"/>
          <p:cNvSpPr txBox="1"/>
          <p:nvPr/>
        </p:nvSpPr>
        <p:spPr>
          <a:xfrm>
            <a:off x="2009147" y="3311769"/>
            <a:ext cx="4129374" cy="430887"/>
          </a:xfrm>
          <a:prstGeom prst="rect">
            <a:avLst/>
          </a:prstGeom>
          <a:noFill/>
          <a:ln>
            <a:noFill/>
          </a:ln>
        </p:spPr>
        <p:txBody>
          <a:bodyPr wrap="square" rtlCol="0">
            <a:spAutoFit/>
          </a:bodyPr>
          <a:lstStyle/>
          <a:p>
            <a:r>
              <a:rPr lang="de-AT" sz="1100" b="1" i="1" dirty="0" err="1">
                <a:solidFill>
                  <a:schemeClr val="accent1"/>
                </a:solidFill>
              </a:rPr>
              <a:t>Calculation</a:t>
            </a:r>
            <a:r>
              <a:rPr lang="de-AT" sz="1100" b="1" i="1" dirty="0">
                <a:solidFill>
                  <a:schemeClr val="accent1"/>
                </a:solidFill>
              </a:rPr>
              <a:t> </a:t>
            </a:r>
            <a:r>
              <a:rPr lang="de-AT" sz="1100" b="1" i="1" dirty="0" err="1">
                <a:solidFill>
                  <a:schemeClr val="accent1"/>
                </a:solidFill>
              </a:rPr>
              <a:t>of</a:t>
            </a:r>
            <a:r>
              <a:rPr lang="de-AT" sz="1100" b="1" i="1" dirty="0">
                <a:solidFill>
                  <a:schemeClr val="accent1"/>
                </a:solidFill>
              </a:rPr>
              <a:t> UF </a:t>
            </a:r>
            <a:r>
              <a:rPr lang="de-AT" sz="1100" b="1" i="1" dirty="0" err="1">
                <a:solidFill>
                  <a:schemeClr val="accent1"/>
                </a:solidFill>
              </a:rPr>
              <a:t>specific</a:t>
            </a:r>
            <a:r>
              <a:rPr lang="de-AT" sz="1100" b="1" i="1" dirty="0">
                <a:solidFill>
                  <a:schemeClr val="accent1"/>
                </a:solidFill>
              </a:rPr>
              <a:t> </a:t>
            </a:r>
            <a:r>
              <a:rPr lang="de-AT" sz="1100" b="1" i="1" dirty="0" err="1">
                <a:solidFill>
                  <a:schemeClr val="accent1"/>
                </a:solidFill>
              </a:rPr>
              <a:t>ranges</a:t>
            </a:r>
            <a:r>
              <a:rPr lang="de-AT" sz="1100" b="1" i="1" dirty="0">
                <a:solidFill>
                  <a:schemeClr val="accent1"/>
                </a:solidFill>
              </a:rPr>
              <a:t> </a:t>
            </a:r>
            <a:r>
              <a:rPr lang="de-AT" sz="1100" b="1" i="1" dirty="0" err="1">
                <a:solidFill>
                  <a:schemeClr val="accent1"/>
                </a:solidFill>
              </a:rPr>
              <a:t>from</a:t>
            </a:r>
            <a:r>
              <a:rPr lang="de-AT" sz="1100" b="1" i="1" dirty="0">
                <a:solidFill>
                  <a:schemeClr val="accent1"/>
                </a:solidFill>
              </a:rPr>
              <a:t> </a:t>
            </a:r>
            <a:r>
              <a:rPr lang="de-AT" sz="1100" b="1" i="1" dirty="0" err="1">
                <a:solidFill>
                  <a:schemeClr val="accent1"/>
                </a:solidFill>
              </a:rPr>
              <a:t>consumption</a:t>
            </a:r>
            <a:r>
              <a:rPr lang="de-AT" sz="1100" b="1" i="1" dirty="0">
                <a:solidFill>
                  <a:schemeClr val="accent1"/>
                </a:solidFill>
              </a:rPr>
              <a:t> </a:t>
            </a:r>
            <a:r>
              <a:rPr lang="de-AT" sz="1100" b="1" i="1" dirty="0" err="1">
                <a:solidFill>
                  <a:schemeClr val="accent1"/>
                </a:solidFill>
              </a:rPr>
              <a:t>figures</a:t>
            </a:r>
            <a:r>
              <a:rPr lang="de-AT" sz="1100" b="1" i="1" dirty="0">
                <a:solidFill>
                  <a:schemeClr val="accent1"/>
                </a:solidFill>
              </a:rPr>
              <a:t> (</a:t>
            </a:r>
            <a:r>
              <a:rPr lang="de-AT" sz="1100" b="1" i="1" dirty="0" err="1">
                <a:solidFill>
                  <a:schemeClr val="accent1"/>
                </a:solidFill>
              </a:rPr>
              <a:t>previous</a:t>
            </a:r>
            <a:r>
              <a:rPr lang="de-AT" sz="1100" b="1" i="1" dirty="0">
                <a:solidFill>
                  <a:schemeClr val="accent1"/>
                </a:solidFill>
              </a:rPr>
              <a:t> </a:t>
            </a:r>
            <a:r>
              <a:rPr lang="de-AT" sz="1100" b="1" i="1" dirty="0" err="1">
                <a:solidFill>
                  <a:schemeClr val="accent1"/>
                </a:solidFill>
              </a:rPr>
              <a:t>slide</a:t>
            </a:r>
            <a:r>
              <a:rPr lang="de-AT" sz="1100" b="1" i="1" dirty="0">
                <a:solidFill>
                  <a:schemeClr val="accent1"/>
                </a:solidFill>
              </a:rPr>
              <a:t>) </a:t>
            </a:r>
            <a:r>
              <a:rPr lang="de-AT" sz="1100" b="1" i="1" dirty="0" err="1">
                <a:solidFill>
                  <a:schemeClr val="accent1"/>
                </a:solidFill>
              </a:rPr>
              <a:t>and</a:t>
            </a:r>
            <a:r>
              <a:rPr lang="de-AT" sz="1100" b="1" i="1" dirty="0">
                <a:solidFill>
                  <a:schemeClr val="accent1"/>
                </a:solidFill>
              </a:rPr>
              <a:t> </a:t>
            </a:r>
            <a:r>
              <a:rPr lang="de-AT" sz="1100" b="1" i="1" dirty="0" err="1">
                <a:solidFill>
                  <a:schemeClr val="accent1"/>
                </a:solidFill>
              </a:rPr>
              <a:t>generic</a:t>
            </a:r>
            <a:r>
              <a:rPr lang="de-AT" sz="1100" b="1" i="1" dirty="0">
                <a:solidFill>
                  <a:schemeClr val="accent1"/>
                </a:solidFill>
              </a:rPr>
              <a:t> </a:t>
            </a:r>
            <a:r>
              <a:rPr lang="de-AT" sz="1100" b="1" i="1" dirty="0" err="1">
                <a:solidFill>
                  <a:schemeClr val="accent1"/>
                </a:solidFill>
              </a:rPr>
              <a:t>data</a:t>
            </a:r>
            <a:r>
              <a:rPr lang="de-AT" sz="1100" b="1" i="1" dirty="0">
                <a:solidFill>
                  <a:schemeClr val="accent1"/>
                </a:solidFill>
              </a:rPr>
              <a:t> </a:t>
            </a:r>
            <a:r>
              <a:rPr lang="de-AT" sz="1100" b="1" i="1" dirty="0" err="1">
                <a:solidFill>
                  <a:schemeClr val="accent1"/>
                </a:solidFill>
              </a:rPr>
              <a:t>above</a:t>
            </a:r>
            <a:endParaRPr lang="de-AT" sz="1100" b="1" i="1" dirty="0">
              <a:solidFill>
                <a:schemeClr val="accent1"/>
              </a:solidFill>
            </a:endParaRPr>
          </a:p>
        </p:txBody>
      </p:sp>
      <p:sp>
        <p:nvSpPr>
          <p:cNvPr id="42" name="Textfeld 41"/>
          <p:cNvSpPr txBox="1"/>
          <p:nvPr/>
        </p:nvSpPr>
        <p:spPr>
          <a:xfrm>
            <a:off x="6650196" y="3713257"/>
            <a:ext cx="2366804" cy="246221"/>
          </a:xfrm>
          <a:prstGeom prst="rect">
            <a:avLst/>
          </a:prstGeom>
          <a:noFill/>
          <a:ln>
            <a:noFill/>
          </a:ln>
        </p:spPr>
        <p:txBody>
          <a:bodyPr wrap="square" rtlCol="0">
            <a:spAutoFit/>
          </a:bodyPr>
          <a:lstStyle/>
          <a:p>
            <a:r>
              <a:rPr lang="de-AT" sz="1000" b="1" i="1" dirty="0">
                <a:solidFill>
                  <a:schemeClr val="accent1"/>
                </a:solidFill>
              </a:rPr>
              <a:t>R</a:t>
            </a:r>
            <a:r>
              <a:rPr lang="de-AT" sz="1000" b="1" i="1" baseline="-25000" dirty="0">
                <a:solidFill>
                  <a:schemeClr val="accent1"/>
                </a:solidFill>
              </a:rPr>
              <a:t>CDA</a:t>
            </a:r>
            <a:r>
              <a:rPr lang="de-AT" sz="1000" b="1" i="1" dirty="0">
                <a:solidFill>
                  <a:schemeClr val="accent1"/>
                </a:solidFill>
              </a:rPr>
              <a:t> </a:t>
            </a:r>
            <a:r>
              <a:rPr lang="de-AT" sz="1000" b="1" i="1" dirty="0" err="1">
                <a:solidFill>
                  <a:schemeClr val="accent1"/>
                </a:solidFill>
              </a:rPr>
              <a:t>corrected</a:t>
            </a:r>
            <a:r>
              <a:rPr lang="de-AT" sz="1000" b="1" i="1" dirty="0">
                <a:solidFill>
                  <a:schemeClr val="accent1"/>
                </a:solidFill>
              </a:rPr>
              <a:t> </a:t>
            </a:r>
            <a:r>
              <a:rPr lang="de-AT" sz="1000" b="1" i="1" dirty="0" err="1">
                <a:solidFill>
                  <a:schemeClr val="accent1"/>
                </a:solidFill>
              </a:rPr>
              <a:t>by</a:t>
            </a:r>
            <a:r>
              <a:rPr lang="de-AT" sz="1000" b="1" i="1" dirty="0">
                <a:solidFill>
                  <a:schemeClr val="accent1"/>
                </a:solidFill>
              </a:rPr>
              <a:t> real </a:t>
            </a:r>
            <a:r>
              <a:rPr lang="de-AT" sz="1000" b="1" i="1" dirty="0" err="1">
                <a:solidFill>
                  <a:schemeClr val="accent1"/>
                </a:solidFill>
              </a:rPr>
              <a:t>world</a:t>
            </a:r>
            <a:r>
              <a:rPr lang="de-AT" sz="1000" b="1" i="1" dirty="0">
                <a:solidFill>
                  <a:schemeClr val="accent1"/>
                </a:solidFill>
              </a:rPr>
              <a:t> </a:t>
            </a:r>
            <a:r>
              <a:rPr lang="de-AT" sz="1000" b="1" i="1" dirty="0" err="1">
                <a:solidFill>
                  <a:schemeClr val="accent1"/>
                </a:solidFill>
              </a:rPr>
              <a:t>factor</a:t>
            </a:r>
            <a:endParaRPr lang="de-AT" sz="1000" b="1" i="1" dirty="0">
              <a:solidFill>
                <a:schemeClr val="accent1"/>
              </a:solidFill>
            </a:endParaRPr>
          </a:p>
        </p:txBody>
      </p:sp>
      <p:sp>
        <p:nvSpPr>
          <p:cNvPr id="43" name="Pfeil nach unten 42"/>
          <p:cNvSpPr/>
          <p:nvPr/>
        </p:nvSpPr>
        <p:spPr>
          <a:xfrm>
            <a:off x="927216" y="4386831"/>
            <a:ext cx="959836" cy="324167"/>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AT"/>
          </a:p>
        </p:txBody>
      </p:sp>
      <p:sp>
        <p:nvSpPr>
          <p:cNvPr id="44" name="Textfeld 43"/>
          <p:cNvSpPr txBox="1"/>
          <p:nvPr/>
        </p:nvSpPr>
        <p:spPr>
          <a:xfrm>
            <a:off x="2009147" y="4345213"/>
            <a:ext cx="4129374" cy="430887"/>
          </a:xfrm>
          <a:prstGeom prst="rect">
            <a:avLst/>
          </a:prstGeom>
          <a:noFill/>
          <a:ln>
            <a:noFill/>
          </a:ln>
        </p:spPr>
        <p:txBody>
          <a:bodyPr wrap="square" rtlCol="0">
            <a:spAutoFit/>
          </a:bodyPr>
          <a:lstStyle/>
          <a:p>
            <a:r>
              <a:rPr lang="de-AT" sz="1100" b="1" i="1" dirty="0" err="1">
                <a:solidFill>
                  <a:schemeClr val="accent1"/>
                </a:solidFill>
              </a:rPr>
              <a:t>Calculation</a:t>
            </a:r>
            <a:r>
              <a:rPr lang="de-AT" sz="1100" b="1" i="1" dirty="0">
                <a:solidFill>
                  <a:schemeClr val="accent1"/>
                </a:solidFill>
              </a:rPr>
              <a:t> </a:t>
            </a:r>
            <a:r>
              <a:rPr lang="de-AT" sz="1100" b="1" i="1" dirty="0" err="1">
                <a:solidFill>
                  <a:schemeClr val="accent1"/>
                </a:solidFill>
              </a:rPr>
              <a:t>of</a:t>
            </a:r>
            <a:r>
              <a:rPr lang="de-AT" sz="1100" b="1" i="1" dirty="0">
                <a:solidFill>
                  <a:schemeClr val="accent1"/>
                </a:solidFill>
              </a:rPr>
              <a:t> UF </a:t>
            </a:r>
            <a:r>
              <a:rPr lang="de-AT" sz="1100" b="1" i="1" dirty="0" err="1">
                <a:solidFill>
                  <a:schemeClr val="accent1"/>
                </a:solidFill>
              </a:rPr>
              <a:t>as</a:t>
            </a:r>
            <a:r>
              <a:rPr lang="de-AT" sz="1100" b="1" i="1" dirty="0">
                <a:solidFill>
                  <a:schemeClr val="accent1"/>
                </a:solidFill>
              </a:rPr>
              <a:t> </a:t>
            </a:r>
            <a:r>
              <a:rPr lang="en-US" sz="1100" b="1" i="1" dirty="0">
                <a:solidFill>
                  <a:schemeClr val="accent1"/>
                </a:solidFill>
              </a:rPr>
              <a:t>share of electric range in CD mode on total daily mileage (163.9 + 32.0 = 195.8 / 480)</a:t>
            </a:r>
            <a:endParaRPr lang="de-AT" sz="1100" b="1" i="1" dirty="0">
              <a:solidFill>
                <a:schemeClr val="accent1"/>
              </a:solidFill>
            </a:endParaRPr>
          </a:p>
        </p:txBody>
      </p:sp>
      <p:pic>
        <p:nvPicPr>
          <p:cNvPr id="45" name="Grafik 44"/>
          <p:cNvPicPr>
            <a:picLocks noChangeAspect="1"/>
          </p:cNvPicPr>
          <p:nvPr/>
        </p:nvPicPr>
        <p:blipFill rotWithShape="1">
          <a:blip r:embed="rId5"/>
          <a:srcRect r="5943" b="70299"/>
          <a:stretch/>
        </p:blipFill>
        <p:spPr>
          <a:xfrm>
            <a:off x="7010845" y="5661603"/>
            <a:ext cx="2124000" cy="192332"/>
          </a:xfrm>
          <a:prstGeom prst="rect">
            <a:avLst/>
          </a:prstGeom>
        </p:spPr>
      </p:pic>
      <p:sp>
        <p:nvSpPr>
          <p:cNvPr id="46" name="Geschweifte Klammer links 45"/>
          <p:cNvSpPr/>
          <p:nvPr/>
        </p:nvSpPr>
        <p:spPr>
          <a:xfrm rot="10800000">
            <a:off x="6760932" y="5572929"/>
            <a:ext cx="182841" cy="3600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a:p>
        </p:txBody>
      </p:sp>
    </p:spTree>
    <p:extLst>
      <p:ext uri="{BB962C8B-B14F-4D97-AF65-F5344CB8AC3E}">
        <p14:creationId xmlns:p14="http://schemas.microsoft.com/office/powerpoint/2010/main" val="12458705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Generic e-PTO in MUN cycle</a:t>
            </a:r>
          </a:p>
        </p:txBody>
      </p:sp>
      <p:sp>
        <p:nvSpPr>
          <p:cNvPr id="3" name="Inhaltsplatzhalter 2"/>
          <p:cNvSpPr>
            <a:spLocks noGrp="1"/>
          </p:cNvSpPr>
          <p:nvPr>
            <p:ph idx="1"/>
          </p:nvPr>
        </p:nvSpPr>
        <p:spPr/>
        <p:txBody>
          <a:bodyPr/>
          <a:lstStyle/>
          <a:p>
            <a:pPr>
              <a:spcBef>
                <a:spcPts val="600"/>
              </a:spcBef>
            </a:pPr>
            <a:r>
              <a:rPr lang="en-US" sz="1800" dirty="0"/>
              <a:t>e-PTO applied for PEV and S-HEV in the MUN cycle (generic refuse body)</a:t>
            </a:r>
            <a:br>
              <a:rPr lang="en-US" sz="1800" dirty="0"/>
            </a:br>
            <a:endParaRPr lang="en-US" sz="1800" dirty="0"/>
          </a:p>
          <a:p>
            <a:pPr>
              <a:spcBef>
                <a:spcPts val="600"/>
              </a:spcBef>
            </a:pPr>
            <a:r>
              <a:rPr lang="en-US" sz="1800" dirty="0"/>
              <a:t>e-PTO cycle </a:t>
            </a:r>
            <a:r>
              <a:rPr lang="en-US" sz="1800" dirty="0" err="1"/>
              <a:t>P</a:t>
            </a:r>
            <a:r>
              <a:rPr lang="en-US" sz="1800" baseline="-25000" dirty="0" err="1"/>
              <a:t>el,PTO</a:t>
            </a:r>
            <a:r>
              <a:rPr lang="en-US" sz="1800" dirty="0"/>
              <a:t> = f(t) derived from:</a:t>
            </a:r>
          </a:p>
          <a:p>
            <a:pPr lvl="1">
              <a:spcBef>
                <a:spcPts val="600"/>
              </a:spcBef>
            </a:pPr>
            <a:r>
              <a:rPr lang="en-US" sz="1600" dirty="0"/>
              <a:t>generic hydraulic pump cycle for ICE and the allocated  ICE high idle speed</a:t>
            </a:r>
          </a:p>
          <a:p>
            <a:pPr lvl="1">
              <a:spcBef>
                <a:spcPts val="600"/>
              </a:spcBef>
            </a:pPr>
            <a:r>
              <a:rPr lang="en-US" sz="1600" dirty="0"/>
              <a:t>assuming an average e-PTO efficiency of 80%</a:t>
            </a:r>
            <a:br>
              <a:rPr lang="en-US" sz="1600" dirty="0"/>
            </a:br>
            <a:endParaRPr lang="en-US" sz="1600" dirty="0"/>
          </a:p>
          <a:p>
            <a:pPr>
              <a:spcBef>
                <a:spcPts val="600"/>
              </a:spcBef>
            </a:pPr>
            <a:r>
              <a:rPr lang="en-US" sz="1800" dirty="0"/>
              <a:t>Calculation is included time-resolved in the </a:t>
            </a:r>
            <a:r>
              <a:rPr lang="en-US" sz="1800" dirty="0" err="1"/>
              <a:t>vmod</a:t>
            </a:r>
            <a:r>
              <a:rPr lang="en-US" sz="1800" dirty="0"/>
              <a:t> file  </a:t>
            </a:r>
            <a:br>
              <a:rPr lang="en-US" sz="1800" dirty="0"/>
            </a:br>
            <a:endParaRPr lang="en-US" sz="1800" dirty="0"/>
          </a:p>
          <a:p>
            <a:pPr>
              <a:spcBef>
                <a:spcPts val="600"/>
              </a:spcBef>
            </a:pPr>
            <a:r>
              <a:rPr lang="en-US" sz="1800" dirty="0"/>
              <a:t>Electric energy consumption is considered in electric range for MUN </a:t>
            </a:r>
            <a:r>
              <a:rPr lang="en-US" sz="1800" dirty="0" err="1"/>
              <a:t>cyle</a:t>
            </a:r>
            <a:endParaRPr lang="en-US" sz="1800" dirty="0"/>
          </a:p>
          <a:p>
            <a:pPr lvl="2"/>
            <a:endParaRPr lang="en-GB" sz="1400" dirty="0"/>
          </a:p>
          <a:p>
            <a:pPr lvl="2"/>
            <a:endParaRPr lang="en-GB" sz="1400" dirty="0"/>
          </a:p>
        </p:txBody>
      </p:sp>
      <p:sp>
        <p:nvSpPr>
          <p:cNvPr id="4" name="Foliennummernplatzhalter 3"/>
          <p:cNvSpPr>
            <a:spLocks noGrp="1"/>
          </p:cNvSpPr>
          <p:nvPr>
            <p:ph type="sldNum" sz="quarter" idx="12"/>
          </p:nvPr>
        </p:nvSpPr>
        <p:spPr/>
        <p:txBody>
          <a:bodyPr/>
          <a:lstStyle/>
          <a:p>
            <a:fld id="{4B64EC4D-37E3-EF42-B9AB-6337577588CB}" type="slidenum">
              <a:rPr lang="de-DE" smtClean="0"/>
              <a:t>48</a:t>
            </a:fld>
            <a:endParaRPr lang="de-DE"/>
          </a:p>
        </p:txBody>
      </p:sp>
    </p:spTree>
    <p:extLst>
      <p:ext uri="{BB962C8B-B14F-4D97-AF65-F5344CB8AC3E}">
        <p14:creationId xmlns:p14="http://schemas.microsoft.com/office/powerpoint/2010/main" val="3572426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273600"/>
            <a:ext cx="8229240" cy="1144800"/>
          </a:xfrm>
        </p:spPr>
        <p:txBody>
          <a:bodyPr/>
          <a:lstStyle/>
          <a:p>
            <a:pPr algn="ctr">
              <a:lnSpc>
                <a:spcPct val="100000"/>
              </a:lnSpc>
            </a:pPr>
            <a:r>
              <a:rPr lang="en-GB" sz="2400" spc="-1" dirty="0">
                <a:solidFill>
                  <a:srgbClr val="990000"/>
                </a:solidFill>
                <a:latin typeface="Arial"/>
              </a:rPr>
              <a:t>DECL Lorries – </a:t>
            </a:r>
            <a:r>
              <a:rPr lang="en-US" sz="2400" spc="-1" dirty="0">
                <a:solidFill>
                  <a:srgbClr val="990000"/>
                </a:solidFill>
                <a:latin typeface="Arial"/>
              </a:rPr>
              <a:t>Known issues with current version</a:t>
            </a:r>
          </a:p>
        </p:txBody>
      </p:sp>
      <p:sp>
        <p:nvSpPr>
          <p:cNvPr id="3" name="Inhaltsplatzhalter 2"/>
          <p:cNvSpPr>
            <a:spLocks noGrp="1"/>
          </p:cNvSpPr>
          <p:nvPr>
            <p:ph idx="1"/>
          </p:nvPr>
        </p:nvSpPr>
        <p:spPr/>
        <p:txBody>
          <a:bodyPr/>
          <a:lstStyle/>
          <a:p>
            <a:pPr>
              <a:spcBef>
                <a:spcPts val="1200"/>
              </a:spcBef>
            </a:pPr>
            <a:r>
              <a:rPr lang="en-US" sz="1600" dirty="0"/>
              <a:t>Elements not yet implemented</a:t>
            </a:r>
          </a:p>
          <a:p>
            <a:pPr lvl="1"/>
            <a:r>
              <a:rPr lang="en-US" sz="1600" dirty="0"/>
              <a:t>Battery connectors / junction box not included</a:t>
            </a:r>
            <a:br>
              <a:rPr lang="en-US" sz="1600" dirty="0"/>
            </a:br>
            <a:r>
              <a:rPr lang="en-US" sz="1400" dirty="0">
                <a:sym typeface="Wingdings" panose="05000000000000000000" pitchFamily="2" charset="2"/>
              </a:rPr>
              <a:t> define and implement generic additional resistances (i.e. loss factors) </a:t>
            </a:r>
            <a:endParaRPr lang="en-US" sz="1600" dirty="0">
              <a:sym typeface="Wingdings" panose="05000000000000000000" pitchFamily="2" charset="2"/>
            </a:endParaRPr>
          </a:p>
          <a:p>
            <a:pPr lvl="1"/>
            <a:r>
              <a:rPr lang="en-US" sz="1600" dirty="0">
                <a:sym typeface="Wingdings" panose="05000000000000000000" pitchFamily="2" charset="2"/>
              </a:rPr>
              <a:t>Generic P-HEV strategy:</a:t>
            </a:r>
            <a:br>
              <a:rPr lang="en-US" sz="1600" dirty="0">
                <a:sym typeface="Wingdings" panose="05000000000000000000" pitchFamily="2" charset="2"/>
              </a:rPr>
            </a:br>
            <a:r>
              <a:rPr lang="en-US" sz="1600" dirty="0">
                <a:sym typeface="Wingdings" panose="05000000000000000000" pitchFamily="2" charset="2"/>
              </a:rPr>
              <a:t> </a:t>
            </a:r>
            <a:r>
              <a:rPr lang="en-US" sz="1400" dirty="0">
                <a:sym typeface="Wingdings" panose="05000000000000000000" pitchFamily="2" charset="2"/>
              </a:rPr>
              <a:t>To be tested whether an alternative post-processing method for vehicles with very small batteries is needed as back-up</a:t>
            </a:r>
            <a:endParaRPr lang="en-US" sz="1600" dirty="0">
              <a:sym typeface="Wingdings" panose="05000000000000000000" pitchFamily="2" charset="2"/>
            </a:endParaRPr>
          </a:p>
          <a:p>
            <a:pPr lvl="1"/>
            <a:r>
              <a:rPr lang="en-US" sz="1600" dirty="0"/>
              <a:t>Technical elements as resulting from the revision of the CO</a:t>
            </a:r>
            <a:r>
              <a:rPr lang="en-US" sz="1600" baseline="-25000" dirty="0"/>
              <a:t>2</a:t>
            </a:r>
            <a:r>
              <a:rPr lang="en-US" sz="1600" dirty="0"/>
              <a:t> Standards to be added</a:t>
            </a:r>
          </a:p>
          <a:p>
            <a:pPr lvl="2"/>
            <a:r>
              <a:rPr lang="en-US" sz="1400" dirty="0"/>
              <a:t>Sub-group allocation for the for the newly covered vehicle groups </a:t>
            </a:r>
          </a:p>
          <a:p>
            <a:pPr lvl="2"/>
            <a:r>
              <a:rPr lang="en-US" sz="1400" dirty="0"/>
              <a:t>Generation of weighted results for vocational vehicles</a:t>
            </a:r>
          </a:p>
          <a:p>
            <a:pPr>
              <a:spcBef>
                <a:spcPts val="1200"/>
              </a:spcBef>
            </a:pPr>
            <a:r>
              <a:rPr lang="en-US" sz="1600" dirty="0"/>
              <a:t>Elements still under discussion</a:t>
            </a:r>
          </a:p>
          <a:p>
            <a:pPr lvl="1"/>
            <a:r>
              <a:rPr lang="en-US" sz="1400" dirty="0"/>
              <a:t>Medium lorries mission profile and payload weighting factors (equally weighted, only preliminary)</a:t>
            </a:r>
          </a:p>
          <a:p>
            <a:pPr lvl="1"/>
            <a:r>
              <a:rPr lang="en-US" sz="1400" dirty="0"/>
              <a:t>Generic SOC min/max ranges and deterioration (only preliminary values)</a:t>
            </a:r>
          </a:p>
          <a:p>
            <a:pPr lvl="1"/>
            <a:r>
              <a:rPr lang="en-US" sz="1400" dirty="0"/>
              <a:t>Multiple SOC level(s) for VECTO PEV simulation and respective weighting of results</a:t>
            </a:r>
          </a:p>
          <a:p>
            <a:pPr lvl="2"/>
            <a:endParaRPr lang="en-GB" sz="1200" dirty="0">
              <a:solidFill>
                <a:srgbClr val="FF0000"/>
              </a:solidFill>
            </a:endParaRPr>
          </a:p>
        </p:txBody>
      </p:sp>
      <p:sp>
        <p:nvSpPr>
          <p:cNvPr id="4" name="Foliennummernplatzhalter 3"/>
          <p:cNvSpPr>
            <a:spLocks noGrp="1"/>
          </p:cNvSpPr>
          <p:nvPr>
            <p:ph type="sldNum" sz="quarter" idx="12"/>
          </p:nvPr>
        </p:nvSpPr>
        <p:spPr/>
        <p:txBody>
          <a:bodyPr/>
          <a:lstStyle/>
          <a:p>
            <a:fld id="{4B64EC4D-37E3-EF42-B9AB-6337577588CB}" type="slidenum">
              <a:rPr lang="de-DE" smtClean="0"/>
              <a:t>49</a:t>
            </a:fld>
            <a:endParaRPr lang="de-DE"/>
          </a:p>
        </p:txBody>
      </p:sp>
    </p:spTree>
    <p:extLst>
      <p:ext uri="{BB962C8B-B14F-4D97-AF65-F5344CB8AC3E}">
        <p14:creationId xmlns:p14="http://schemas.microsoft.com/office/powerpoint/2010/main" val="14324828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380" y="410547"/>
            <a:ext cx="8229240" cy="939281"/>
          </a:xfrm>
        </p:spPr>
        <p:txBody>
          <a:bodyPr/>
          <a:lstStyle/>
          <a:p>
            <a:r>
              <a:rPr lang="en-GB" sz="2400" spc="-1" dirty="0">
                <a:solidFill>
                  <a:srgbClr val="990000"/>
                </a:solidFill>
                <a:latin typeface="Arial"/>
              </a:rPr>
              <a:t>DECL Lorries – </a:t>
            </a:r>
            <a:r>
              <a:rPr lang="en-US" sz="2400" spc="-1" dirty="0">
                <a:solidFill>
                  <a:srgbClr val="990000"/>
                </a:solidFill>
                <a:latin typeface="Arial"/>
              </a:rPr>
              <a:t>Testing requests and organ. of feedback</a:t>
            </a:r>
            <a:endParaRPr lang="en-US" dirty="0"/>
          </a:p>
        </p:txBody>
      </p:sp>
      <p:sp>
        <p:nvSpPr>
          <p:cNvPr id="3" name="Inhaltsplatzhalter 2"/>
          <p:cNvSpPr>
            <a:spLocks noGrp="1"/>
          </p:cNvSpPr>
          <p:nvPr>
            <p:ph idx="1"/>
          </p:nvPr>
        </p:nvSpPr>
        <p:spPr/>
        <p:txBody>
          <a:bodyPr/>
          <a:lstStyle/>
          <a:p>
            <a:pPr>
              <a:spcBef>
                <a:spcPts val="900"/>
              </a:spcBef>
            </a:pPr>
            <a:r>
              <a:rPr lang="en-US" sz="1600" dirty="0"/>
              <a:t>Testing requests:</a:t>
            </a:r>
          </a:p>
          <a:p>
            <a:pPr lvl="1"/>
            <a:r>
              <a:rPr lang="en-US" sz="1400" dirty="0"/>
              <a:t>Test configurations relevant in your portfolio</a:t>
            </a:r>
          </a:p>
          <a:p>
            <a:pPr lvl="1"/>
            <a:r>
              <a:rPr lang="en-US" sz="1400" dirty="0"/>
              <a:t>Specific analysis regarding open issues as mentioned on slide “Known issues with current version”</a:t>
            </a:r>
          </a:p>
          <a:p>
            <a:pPr>
              <a:spcBef>
                <a:spcPts val="900"/>
              </a:spcBef>
            </a:pPr>
            <a:r>
              <a:rPr lang="en-US" sz="1600" dirty="0"/>
              <a:t>Feedback</a:t>
            </a:r>
          </a:p>
          <a:p>
            <a:pPr lvl="1"/>
            <a:r>
              <a:rPr lang="en-US" sz="1400" dirty="0"/>
              <a:t>Bug reports, questions etc.: please </a:t>
            </a:r>
            <a:r>
              <a:rPr lang="en-US" sz="1400" b="1" u="sng" dirty="0"/>
              <a:t>ONLY use JIRA</a:t>
            </a:r>
            <a:r>
              <a:rPr lang="en-US" sz="1400" dirty="0"/>
              <a:t> (no specific emails regarding those topics in the upcoming period)</a:t>
            </a:r>
          </a:p>
          <a:p>
            <a:pPr lvl="1"/>
            <a:r>
              <a:rPr lang="en-US" sz="1400" dirty="0"/>
              <a:t>If there is an urgent need for a meeting before the next DEV workshop (e.g. because of a special problem), this will be announced separately.</a:t>
            </a:r>
          </a:p>
          <a:p>
            <a:pPr marL="266700" lvl="1">
              <a:spcBef>
                <a:spcPts val="900"/>
              </a:spcBef>
              <a:buClr>
                <a:srgbClr val="F70146"/>
              </a:buClr>
            </a:pPr>
            <a:r>
              <a:rPr lang="en-US" sz="1600" dirty="0"/>
              <a:t>Bug fixing and support</a:t>
            </a:r>
          </a:p>
          <a:p>
            <a:pPr lvl="1"/>
            <a:r>
              <a:rPr lang="en-US" sz="1400" dirty="0"/>
              <a:t>TUG will focus on </a:t>
            </a:r>
            <a:r>
              <a:rPr lang="en-US" sz="1400" dirty="0" err="1"/>
              <a:t>finalising</a:t>
            </a:r>
            <a:r>
              <a:rPr lang="en-US" sz="1400" dirty="0"/>
              <a:t> the DECL for buses in the coming weeks.</a:t>
            </a:r>
          </a:p>
          <a:p>
            <a:pPr lvl="1"/>
            <a:r>
              <a:rPr lang="en-US" sz="1400" dirty="0"/>
              <a:t>Topics for the DECL for lorries will be collected and sorted by priority.</a:t>
            </a:r>
          </a:p>
          <a:p>
            <a:pPr lvl="1"/>
            <a:r>
              <a:rPr lang="en-US" sz="1400" dirty="0"/>
              <a:t>Unless urgent </a:t>
            </a:r>
            <a:r>
              <a:rPr lang="en-US" sz="1400" dirty="0" err="1"/>
              <a:t>bugfix</a:t>
            </a:r>
            <a:r>
              <a:rPr lang="en-US" sz="1400" dirty="0"/>
              <a:t> releases for blocking issues, there will be no new release before May.</a:t>
            </a:r>
          </a:p>
        </p:txBody>
      </p:sp>
      <p:sp>
        <p:nvSpPr>
          <p:cNvPr id="4" name="Foliennummernplatzhalter 3"/>
          <p:cNvSpPr>
            <a:spLocks noGrp="1"/>
          </p:cNvSpPr>
          <p:nvPr>
            <p:ph type="sldNum" sz="quarter" idx="12"/>
          </p:nvPr>
        </p:nvSpPr>
        <p:spPr/>
        <p:txBody>
          <a:bodyPr/>
          <a:lstStyle/>
          <a:p>
            <a:fld id="{4B64EC4D-37E3-EF42-B9AB-6337577588CB}" type="slidenum">
              <a:rPr lang="de-DE" smtClean="0"/>
              <a:t>50</a:t>
            </a:fld>
            <a:endParaRPr lang="de-DE"/>
          </a:p>
        </p:txBody>
      </p:sp>
    </p:spTree>
    <p:extLst>
      <p:ext uri="{BB962C8B-B14F-4D97-AF65-F5344CB8AC3E}">
        <p14:creationId xmlns:p14="http://schemas.microsoft.com/office/powerpoint/2010/main" val="26020678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68360" y="714240"/>
            <a:ext cx="8217720" cy="680400"/>
          </a:xfrm>
          <a:prstGeom prst="rect">
            <a:avLst/>
          </a:prstGeom>
          <a:noFill/>
          <a:ln w="0">
            <a:noFill/>
          </a:ln>
        </p:spPr>
        <p:txBody>
          <a:bodyPr lIns="0" tIns="0" rIns="0" bIns="0" numCol="1" spcCol="0" anchor="ctr">
            <a:noAutofit/>
          </a:bodyPr>
          <a:lstStyle/>
          <a:p>
            <a:pPr algn="ctr">
              <a:lnSpc>
                <a:spcPct val="100000"/>
              </a:lnSpc>
              <a:buNone/>
            </a:pPr>
            <a:r>
              <a:rPr lang="en-US" sz="2400" b="1" strike="noStrike" spc="-1" dirty="0" err="1">
                <a:solidFill>
                  <a:srgbClr val="990000"/>
                </a:solidFill>
                <a:latin typeface="Arial"/>
              </a:rPr>
              <a:t>Vecto</a:t>
            </a:r>
            <a:r>
              <a:rPr lang="en-US" sz="2400" b="1" strike="noStrike" spc="-1" dirty="0">
                <a:solidFill>
                  <a:srgbClr val="990000"/>
                </a:solidFill>
                <a:latin typeface="Arial"/>
              </a:rPr>
              <a:t> 0.7.9.2864 JRC Development Version</a:t>
            </a:r>
            <a:r>
              <a:rPr lang="en-US" sz="2400" b="0" strike="noStrike" spc="-1" dirty="0">
                <a:latin typeface="Arial"/>
              </a:rPr>
              <a:t> </a:t>
            </a:r>
            <a:br>
              <a:rPr sz="2400" dirty="0"/>
            </a:br>
            <a:r>
              <a:rPr lang="en-US" sz="1600" b="1" strike="noStrike" spc="-1" dirty="0">
                <a:solidFill>
                  <a:srgbClr val="990000"/>
                </a:solidFill>
                <a:latin typeface="Arial"/>
              </a:rPr>
              <a:t>November 2022</a:t>
            </a:r>
            <a:endParaRPr lang="en-US" sz="1600" b="0" strike="noStrike" spc="-1" dirty="0">
              <a:latin typeface="Arial"/>
            </a:endParaRPr>
          </a:p>
        </p:txBody>
      </p:sp>
      <p:sp>
        <p:nvSpPr>
          <p:cNvPr id="91" name="PlaceHolder 2"/>
          <p:cNvSpPr/>
          <p:nvPr/>
        </p:nvSpPr>
        <p:spPr>
          <a:xfrm>
            <a:off x="419760" y="1600200"/>
            <a:ext cx="8495280" cy="482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Important Note</a:t>
            </a:r>
            <a:br>
              <a:rPr sz="1600"/>
            </a:br>
            <a:r>
              <a:rPr lang="en-US" sz="1600" b="0" strike="noStrike" spc="-1">
                <a:solidFill>
                  <a:srgbClr val="000000"/>
                </a:solidFill>
                <a:latin typeface="Arial"/>
              </a:rPr>
              <a:t>This is a special development release by JRC to validate the time-runs for BEVs. </a:t>
            </a:r>
            <a:br>
              <a:rPr sz="1600"/>
            </a:br>
            <a:r>
              <a:rPr lang="en-US" sz="1600" b="0" strike="noStrike" spc="-1">
                <a:solidFill>
                  <a:srgbClr val="000000"/>
                </a:solidFill>
                <a:latin typeface="Arial"/>
              </a:rPr>
              <a:t> </a:t>
            </a:r>
            <a:endParaRPr lang="en-US" sz="1600" b="0" strike="noStrike" spc="-1">
              <a:latin typeface="Arial"/>
            </a:endParaRPr>
          </a:p>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of measured speed cycle for BEVs (E2, E3, E4, IEPC)</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of measured speed with gear for BEVs (E2, IEPC)</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of Pwheel mode for BEVs (E2, E3, E4, IEPC)</a:t>
            </a:r>
            <a:br>
              <a:rPr sz="1400"/>
            </a:br>
            <a:r>
              <a:rPr lang="en-US" sz="1400" b="0" strike="noStrike" spc="-1">
                <a:solidFill>
                  <a:srgbClr val="000000"/>
                </a:solidFill>
                <a:latin typeface="Arial"/>
              </a:rPr>
              <a:t>In this type of cycle, the input field </a:t>
            </a:r>
            <a:r>
              <a:rPr lang="en-US" sz="1400" b="1" strike="noStrike" spc="-1">
                <a:solidFill>
                  <a:srgbClr val="000000"/>
                </a:solidFill>
                <a:latin typeface="Arial"/>
              </a:rPr>
              <a:t>&lt;n&gt;</a:t>
            </a:r>
            <a:r>
              <a:rPr lang="en-US" sz="1400" b="0" strike="noStrike" spc="-1">
                <a:solidFill>
                  <a:srgbClr val="000000"/>
                </a:solidFill>
                <a:latin typeface="Arial"/>
              </a:rPr>
              <a:t> stands for the speed of the electric motor.</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ea typeface="Microsoft YaHei"/>
              </a:rPr>
              <a:t>The E2 vehicle job “Generic Vehicles\Engineering Mode\GenericVehicleE2\BEV_ENG_timeruns.vecto” is preconfigured to run time-run cycles.</a:t>
            </a: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spcBef>
                <a:spcPts val="281"/>
              </a:spcBef>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0.7.9.2741 Development Version</a:t>
            </a:r>
            <a:br>
              <a:rPr sz="2400"/>
            </a:br>
            <a:r>
              <a:rPr lang="en-US" sz="1600" b="1" strike="noStrike" spc="-1">
                <a:solidFill>
                  <a:srgbClr val="990000"/>
                </a:solidFill>
                <a:latin typeface="Arial"/>
              </a:rPr>
              <a:t>June 2022</a:t>
            </a:r>
            <a:endParaRPr lang="en-US" sz="1600" b="0" strike="noStrike" spc="-1">
              <a:latin typeface="Arial"/>
            </a:endParaRPr>
          </a:p>
        </p:txBody>
      </p:sp>
      <p:sp>
        <p:nvSpPr>
          <p:cNvPr id="93"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Changes/Bugfixes</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of IEPC</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of IEPC-S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of IHPC</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Adaptations HEV-S strategy, SoC correction for HEV-S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PTO idle drag losses for PEV, adapting PTO idle losses according to 2nd amendment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Hashing tool crashes in .net version 6.0</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Corrected length for BusAux volume calculation</a:t>
            </a: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spcBef>
                <a:spcPts val="281"/>
              </a:spcBef>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Modeling of IEPC component</a:t>
            </a:r>
            <a:endParaRPr lang="en-US" sz="2400" b="0" strike="noStrike" spc="-1">
              <a:latin typeface="Arial"/>
            </a:endParaRPr>
          </a:p>
        </p:txBody>
      </p:sp>
      <p:sp>
        <p:nvSpPr>
          <p:cNvPr id="95"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IEPC is modelled as APT-N transmission and electric machine</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Using already available models, same shift strategy as for E2/S2</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Simplified transmission in case of single-speed IEPC</a:t>
            </a:r>
            <a:endParaRPr lang="en-US" sz="1800" b="0" strike="noStrike" spc="-1">
              <a:latin typeface="Arial"/>
            </a:endParaRPr>
          </a:p>
        </p:txBody>
      </p:sp>
      <p:sp>
        <p:nvSpPr>
          <p:cNvPr id="96" name="PlaceHolder 3"/>
          <p:cNvSpPr>
            <a:spLocks noGrp="1"/>
          </p:cNvSpPr>
          <p:nvPr>
            <p:ph type="sldNum" idx="1"/>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pic>
        <p:nvPicPr>
          <p:cNvPr id="97" name="Grafik 72"/>
          <p:cNvPicPr/>
          <p:nvPr/>
        </p:nvPicPr>
        <p:blipFill>
          <a:blip r:embed="rId2"/>
          <a:stretch/>
        </p:blipFill>
        <p:spPr>
          <a:xfrm>
            <a:off x="2500920" y="3562200"/>
            <a:ext cx="3913560" cy="1592280"/>
          </a:xfrm>
          <a:prstGeom prst="rect">
            <a:avLst/>
          </a:prstGeom>
          <a:ln w="0">
            <a:noFill/>
          </a:ln>
        </p:spPr>
      </p:pic>
      <p:sp>
        <p:nvSpPr>
          <p:cNvPr id="98" name="Textfeld 73"/>
          <p:cNvSpPr/>
          <p:nvPr/>
        </p:nvSpPr>
        <p:spPr>
          <a:xfrm>
            <a:off x="0" y="5155200"/>
            <a:ext cx="91432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700"/>
              </a:spcBef>
              <a:buNone/>
            </a:pPr>
            <a:r>
              <a:rPr lang="en-US" sz="1400" b="1" strike="noStrike" spc="-1">
                <a:solidFill>
                  <a:srgbClr val="000000"/>
                </a:solidFill>
                <a:latin typeface="Courier New"/>
                <a:ea typeface="DejaVu Sans"/>
              </a:rPr>
              <a:t>_int </a:t>
            </a:r>
            <a:r>
              <a:rPr lang="en-US" sz="1400" b="1" strike="noStrike" spc="-1">
                <a:solidFill>
                  <a:srgbClr val="000000"/>
                </a:solidFill>
                <a:latin typeface="Arial"/>
                <a:ea typeface="DejaVu Sans"/>
              </a:rPr>
              <a:t>signals refer to the out-shaft of the electric motor</a:t>
            </a:r>
            <a:endParaRPr lang="en-US" sz="1400" b="0" strike="noStrike" spc="-1">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dirty="0">
                <a:solidFill>
                  <a:srgbClr val="990000"/>
                </a:solidFill>
                <a:latin typeface="Arial"/>
              </a:rPr>
              <a:t>Peculiarities of IEPC</a:t>
            </a:r>
            <a:endParaRPr lang="en-US" sz="2400" b="0" strike="noStrike" spc="-1" dirty="0">
              <a:latin typeface="Arial"/>
            </a:endParaRPr>
          </a:p>
        </p:txBody>
      </p:sp>
      <p:sp>
        <p:nvSpPr>
          <p:cNvPr id="100"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Model parameters (max torque, power maps) refer to IEPC out-shaft</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Internally converted to electric motor</a:t>
            </a:r>
            <a:endParaRPr lang="en-US" sz="18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Overload parameters are measured in the gear with the </a:t>
            </a:r>
            <a:br>
              <a:rPr sz="2000"/>
            </a:br>
            <a:r>
              <a:rPr lang="en-US" sz="2000" b="0" strike="noStrike" spc="-1">
                <a:solidFill>
                  <a:srgbClr val="000000"/>
                </a:solidFill>
                <a:latin typeface="Arial"/>
              </a:rPr>
              <a:t>ratio closest to 1 </a:t>
            </a:r>
            <a:endParaRPr lang="en-US" sz="20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2 options for drag curve acc. to Annex Xb:</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 single drag curve is provided </a:t>
            </a:r>
            <a:br>
              <a:rPr sz="1800"/>
            </a:br>
            <a:r>
              <a:rPr lang="en-US" sz="1800" b="0" strike="noStrike" spc="-1">
                <a:solidFill>
                  <a:srgbClr val="000000"/>
                </a:solidFill>
                <a:latin typeface="Arial"/>
              </a:rPr>
              <a:t>(measured in gear with ratio closest to 1)</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Drag curve for every gear is provided</a:t>
            </a:r>
            <a:endParaRPr lang="en-US" sz="1800" b="0" strike="noStrike" spc="-1">
              <a:latin typeface="Arial"/>
            </a:endParaRPr>
          </a:p>
        </p:txBody>
      </p:sp>
      <p:sp>
        <p:nvSpPr>
          <p:cNvPr id="101" name="PlaceHolder 3"/>
          <p:cNvSpPr>
            <a:spLocks noGrp="1"/>
          </p:cNvSpPr>
          <p:nvPr>
            <p:ph type="sldNum" idx="2"/>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Input data for IEPC component</a:t>
            </a:r>
            <a:endParaRPr lang="en-US" sz="2400" b="0" strike="noStrike" spc="-1">
              <a:latin typeface="Arial"/>
            </a:endParaRPr>
          </a:p>
        </p:txBody>
      </p:sp>
      <p:sp>
        <p:nvSpPr>
          <p:cNvPr id="103" name="PlaceHolder 2"/>
          <p:cNvSpPr>
            <a:spLocks noGrp="1"/>
          </p:cNvSpPr>
          <p:nvPr>
            <p:ph/>
          </p:nvPr>
        </p:nvSpPr>
        <p:spPr>
          <a:xfrm>
            <a:off x="622440" y="2137320"/>
            <a:ext cx="8393760" cy="95688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IEPC powertrain architecture definition</a:t>
            </a:r>
            <a:endParaRPr lang="en-US" sz="2000" b="0" strike="noStrike" spc="-1">
              <a:latin typeface="Arial"/>
            </a:endParaRPr>
          </a:p>
          <a:p>
            <a:pPr marL="743040" lvl="1" indent="-285840">
              <a:lnSpc>
                <a:spcPct val="100000"/>
              </a:lnSpc>
              <a:spcBef>
                <a:spcPts val="281"/>
              </a:spcBef>
              <a:buClr>
                <a:srgbClr val="000000"/>
              </a:buClr>
              <a:buFont typeface="Symbol"/>
              <a:buChar char=""/>
            </a:pPr>
            <a:r>
              <a:rPr lang="en-US" sz="1400" b="0" strike="noStrike" spc="-1">
                <a:solidFill>
                  <a:srgbClr val="000000"/>
                </a:solidFill>
                <a:latin typeface="Arial"/>
              </a:rPr>
              <a:t>Specific system layout is described by setting of 3 parameters</a:t>
            </a:r>
            <a:br>
              <a:rPr sz="1400"/>
            </a:br>
            <a:r>
              <a:rPr lang="en-US" sz="1400" b="0" strike="noStrike" spc="-1">
                <a:solidFill>
                  <a:srgbClr val="000000"/>
                </a:solidFill>
                <a:latin typeface="Arial"/>
              </a:rPr>
              <a:t>(for detailed description please refer to Annex Xb)</a:t>
            </a:r>
            <a:endParaRPr lang="en-US" sz="1400" b="0" strike="noStrike" spc="-1">
              <a:latin typeface="Arial"/>
            </a:endParaRPr>
          </a:p>
        </p:txBody>
      </p:sp>
      <p:sp>
        <p:nvSpPr>
          <p:cNvPr id="104" name="PlaceHolder 3"/>
          <p:cNvSpPr>
            <a:spLocks noGrp="1"/>
          </p:cNvSpPr>
          <p:nvPr>
            <p:ph type="sldNum" idx="3"/>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graphicFrame>
        <p:nvGraphicFramePr>
          <p:cNvPr id="105" name="Tabelle 4"/>
          <p:cNvGraphicFramePr/>
          <p:nvPr/>
        </p:nvGraphicFramePr>
        <p:xfrm>
          <a:off x="29160" y="2980800"/>
          <a:ext cx="9074160" cy="2890440"/>
        </p:xfrm>
        <a:graphic>
          <a:graphicData uri="http://schemas.openxmlformats.org/drawingml/2006/table">
            <a:tbl>
              <a:tblPr/>
              <a:tblGrid>
                <a:gridCol w="542520">
                  <a:extLst>
                    <a:ext uri="{9D8B030D-6E8A-4147-A177-3AD203B41FA5}">
                      <a16:colId xmlns:a16="http://schemas.microsoft.com/office/drawing/2014/main" val="20000"/>
                    </a:ext>
                  </a:extLst>
                </a:gridCol>
                <a:gridCol w="684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972000">
                  <a:extLst>
                    <a:ext uri="{9D8B030D-6E8A-4147-A177-3AD203B41FA5}">
                      <a16:colId xmlns:a16="http://schemas.microsoft.com/office/drawing/2014/main" val="20003"/>
                    </a:ext>
                  </a:extLst>
                </a:gridCol>
                <a:gridCol w="2700000">
                  <a:extLst>
                    <a:ext uri="{9D8B030D-6E8A-4147-A177-3AD203B41FA5}">
                      <a16:colId xmlns:a16="http://schemas.microsoft.com/office/drawing/2014/main" val="20004"/>
                    </a:ext>
                  </a:extLst>
                </a:gridCol>
                <a:gridCol w="3456000">
                  <a:extLst>
                    <a:ext uri="{9D8B030D-6E8A-4147-A177-3AD203B41FA5}">
                      <a16:colId xmlns:a16="http://schemas.microsoft.com/office/drawing/2014/main" val="20005"/>
                    </a:ext>
                  </a:extLst>
                </a:gridCol>
              </a:tblGrid>
              <a:tr h="370800">
                <a:tc>
                  <a:txBody>
                    <a:bodyPr/>
                    <a:lstStyle/>
                    <a:p>
                      <a:pPr algn="ctr">
                        <a:lnSpc>
                          <a:spcPct val="100000"/>
                        </a:lnSpc>
                        <a:buNone/>
                      </a:pPr>
                      <a:r>
                        <a:rPr lang="de-AT" sz="800" b="1" strike="noStrike" spc="-1">
                          <a:solidFill>
                            <a:srgbClr val="FFFFFF"/>
                          </a:solidFill>
                          <a:latin typeface="Arial"/>
                        </a:rPr>
                        <a:t>IEPC layout case #</a:t>
                      </a:r>
                      <a:endParaRPr lang="en-US" sz="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gn="ctr">
                        <a:lnSpc>
                          <a:spcPct val="100000"/>
                        </a:lnSpc>
                        <a:buNone/>
                      </a:pPr>
                      <a:r>
                        <a:rPr lang="de-AT" sz="700" b="1" strike="noStrike" spc="-1">
                          <a:solidFill>
                            <a:srgbClr val="FFFFFF"/>
                          </a:solidFill>
                          <a:latin typeface="Arial"/>
                        </a:rPr>
                        <a:t>Differential</a:t>
                      </a:r>
                      <a:br>
                        <a:rPr sz="700"/>
                      </a:br>
                      <a:r>
                        <a:rPr lang="de-AT" sz="700" b="1" strike="noStrike" spc="-1">
                          <a:solidFill>
                            <a:srgbClr val="FFFFFF"/>
                          </a:solidFill>
                          <a:latin typeface="Arial"/>
                        </a:rPr>
                        <a:t>Included</a:t>
                      </a:r>
                      <a:endParaRPr lang="en-US" sz="7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gn="ctr">
                        <a:lnSpc>
                          <a:spcPct val="100000"/>
                        </a:lnSpc>
                        <a:buNone/>
                      </a:pPr>
                      <a:r>
                        <a:rPr lang="de-AT" sz="700" b="1" strike="noStrike" spc="-1">
                          <a:solidFill>
                            <a:srgbClr val="FFFFFF"/>
                          </a:solidFill>
                          <a:latin typeface="Arial"/>
                        </a:rPr>
                        <a:t>DesignType</a:t>
                      </a:r>
                      <a:br>
                        <a:rPr sz="700"/>
                      </a:br>
                      <a:r>
                        <a:rPr lang="de-AT" sz="700" b="1" strike="noStrike" spc="-1">
                          <a:solidFill>
                            <a:srgbClr val="FFFFFF"/>
                          </a:solidFill>
                          <a:latin typeface="Arial"/>
                        </a:rPr>
                        <a:t>WheelMotor</a:t>
                      </a:r>
                      <a:endParaRPr lang="en-US" sz="7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gn="ctr">
                        <a:lnSpc>
                          <a:spcPct val="100000"/>
                        </a:lnSpc>
                        <a:buNone/>
                      </a:pPr>
                      <a:r>
                        <a:rPr lang="de-AT" sz="700" b="1" strike="noStrike" spc="-1">
                          <a:solidFill>
                            <a:srgbClr val="FFFFFF"/>
                          </a:solidFill>
                          <a:latin typeface="Arial"/>
                        </a:rPr>
                        <a:t>DesignTypeWheel</a:t>
                      </a:r>
                      <a:br>
                        <a:rPr sz="700"/>
                      </a:br>
                      <a:r>
                        <a:rPr lang="de-AT" sz="700" b="1" strike="noStrike" spc="-1">
                          <a:solidFill>
                            <a:srgbClr val="FFFFFF"/>
                          </a:solidFill>
                          <a:latin typeface="Arial"/>
                        </a:rPr>
                        <a:t>MotorMeasured</a:t>
                      </a:r>
                      <a:endParaRPr lang="en-US" sz="7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gn="ctr">
                        <a:lnSpc>
                          <a:spcPct val="100000"/>
                        </a:lnSpc>
                        <a:buNone/>
                      </a:pPr>
                      <a:r>
                        <a:rPr lang="de-AT" sz="800" b="1" strike="noStrike" spc="-1">
                          <a:solidFill>
                            <a:srgbClr val="FFFFFF"/>
                          </a:solidFill>
                          <a:latin typeface="Arial"/>
                        </a:rPr>
                        <a:t>Layout schematics</a:t>
                      </a:r>
                      <a:endParaRPr lang="en-US" sz="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gn="ctr">
                        <a:lnSpc>
                          <a:spcPct val="100000"/>
                        </a:lnSpc>
                        <a:buNone/>
                      </a:pPr>
                      <a:r>
                        <a:rPr lang="de-AT" sz="800" b="1" strike="noStrike" spc="-1">
                          <a:solidFill>
                            <a:srgbClr val="FFFFFF"/>
                          </a:solidFill>
                          <a:latin typeface="Arial"/>
                        </a:rPr>
                        <a:t>Comments</a:t>
                      </a:r>
                      <a:endParaRPr lang="en-US" sz="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756000">
                <a:tc>
                  <a:txBody>
                    <a:bodyPr/>
                    <a:lstStyle/>
                    <a:p>
                      <a:pPr>
                        <a:lnSpc>
                          <a:spcPct val="100000"/>
                        </a:lnSpc>
                        <a:buNone/>
                      </a:pPr>
                      <a:r>
                        <a:rPr lang="de-AT" sz="1200" b="0" strike="noStrike" spc="-1">
                          <a:solidFill>
                            <a:srgbClr val="000000"/>
                          </a:solidFill>
                          <a:latin typeface="Arial"/>
                        </a:rPr>
                        <a:t>1</a:t>
                      </a:r>
                      <a:endParaRPr lang="en-US" sz="1200" b="0" strike="noStrike" spc="-1">
                        <a:latin typeface="Arial"/>
                      </a:endParaRPr>
                    </a:p>
                  </a:txBody>
                  <a:tcPr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gn="ctr">
                        <a:lnSpc>
                          <a:spcPct val="100000"/>
                        </a:lnSpc>
                        <a:buNone/>
                      </a:pPr>
                      <a:r>
                        <a:rPr lang="de-AT" sz="1200" b="0" strike="noStrike" spc="-1">
                          <a:solidFill>
                            <a:srgbClr val="000000"/>
                          </a:solidFill>
                          <a:latin typeface="Arial"/>
                        </a:rPr>
                        <a:t>No</a:t>
                      </a:r>
                      <a:endParaRPr lang="en-US" sz="1200" b="0" strike="noStrike" spc="-1">
                        <a:latin typeface="Arial"/>
                      </a:endParaRPr>
                    </a:p>
                  </a:txBody>
                  <a:tcPr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gn="ctr">
                        <a:lnSpc>
                          <a:spcPct val="100000"/>
                        </a:lnSpc>
                        <a:buNone/>
                      </a:pPr>
                      <a:r>
                        <a:rPr lang="de-AT" sz="1200" b="0" strike="noStrike" spc="-1">
                          <a:solidFill>
                            <a:srgbClr val="000000"/>
                          </a:solidFill>
                          <a:latin typeface="Arial"/>
                        </a:rPr>
                        <a:t>No</a:t>
                      </a:r>
                      <a:endParaRPr lang="en-US" sz="1200" b="0" strike="noStrike" spc="-1">
                        <a:latin typeface="Arial"/>
                      </a:endParaRPr>
                    </a:p>
                  </a:txBody>
                  <a:tcPr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gn="ctr">
                        <a:lnSpc>
                          <a:spcPct val="100000"/>
                        </a:lnSpc>
                        <a:buNone/>
                      </a:pPr>
                      <a:r>
                        <a:rPr lang="de-AT" sz="1200" b="0" strike="noStrike" spc="-1">
                          <a:solidFill>
                            <a:srgbClr val="000000"/>
                          </a:solidFill>
                          <a:latin typeface="Arial"/>
                        </a:rPr>
                        <a:t>n.a.</a:t>
                      </a:r>
                      <a:endParaRPr lang="en-US" sz="1200" b="0" strike="noStrike" spc="-1">
                        <a:latin typeface="Arial"/>
                      </a:endParaRPr>
                    </a:p>
                  </a:txBody>
                  <a:tcPr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endParaRPr lang="de-DE"/>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buNone/>
                      </a:pPr>
                      <a:r>
                        <a:rPr lang="de-AT" sz="800" b="0" strike="noStrike" spc="-1">
                          <a:solidFill>
                            <a:srgbClr val="000000"/>
                          </a:solidFill>
                          <a:latin typeface="Arial"/>
                        </a:rPr>
                        <a:t>Regular axle component required in job file</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de-AT" sz="800" b="1" strike="noStrike" spc="-1">
                          <a:solidFill>
                            <a:srgbClr val="000000"/>
                          </a:solidFill>
                          <a:latin typeface="Wingdings"/>
                        </a:rPr>
                        <a:t></a:t>
                      </a:r>
                      <a:r>
                        <a:rPr lang="de-AT" sz="800" b="1" strike="noStrike" spc="-1">
                          <a:solidFill>
                            <a:srgbClr val="000000"/>
                          </a:solidFill>
                          <a:latin typeface="Arial"/>
                        </a:rPr>
                        <a:t> useage of transmission type</a:t>
                      </a:r>
                      <a:br>
                        <a:rPr sz="800"/>
                      </a:br>
                      <a:r>
                        <a:rPr lang="de-AT" sz="800" b="1" strike="noStrike" spc="-1">
                          <a:solidFill>
                            <a:srgbClr val="000000"/>
                          </a:solidFill>
                          <a:latin typeface="Arial"/>
                        </a:rPr>
                        <a:t>„IEPC Transmission – dummy entry“</a:t>
                      </a:r>
                      <a:endParaRPr lang="en-US" sz="800" b="0" strike="noStrike" spc="-1">
                        <a:latin typeface="Arial"/>
                      </a:endParaRPr>
                    </a:p>
                    <a:p>
                      <a:pPr>
                        <a:lnSpc>
                          <a:spcPct val="100000"/>
                        </a:lnSpc>
                        <a:buNone/>
                      </a:pPr>
                      <a:r>
                        <a:rPr lang="de-AT" sz="800" b="0" strike="noStrike" spc="-1">
                          <a:solidFill>
                            <a:srgbClr val="000000"/>
                          </a:solidFill>
                          <a:latin typeface="Arial"/>
                        </a:rPr>
                        <a:t>(allows axle component alone without a min. number of gears)</a:t>
                      </a:r>
                      <a:endParaRPr lang="en-US" sz="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r h="756000">
                <a:tc>
                  <a:txBody>
                    <a:bodyPr/>
                    <a:lstStyle/>
                    <a:p>
                      <a:pPr>
                        <a:lnSpc>
                          <a:spcPct val="100000"/>
                        </a:lnSpc>
                        <a:buNone/>
                      </a:pPr>
                      <a:r>
                        <a:rPr lang="de-AT" sz="1200" b="0" strike="noStrike" spc="-1">
                          <a:solidFill>
                            <a:srgbClr val="000000"/>
                          </a:solidFill>
                          <a:latin typeface="Arial"/>
                        </a:rPr>
                        <a:t>2</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200" b="0" strike="noStrike" spc="-1">
                          <a:solidFill>
                            <a:srgbClr val="000000"/>
                          </a:solidFill>
                          <a:latin typeface="Arial"/>
                        </a:rPr>
                        <a:t>Yes</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200" b="0" strike="noStrike" spc="-1">
                          <a:solidFill>
                            <a:srgbClr val="000000"/>
                          </a:solidFill>
                          <a:latin typeface="Arial"/>
                        </a:rPr>
                        <a:t>No</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200" b="0" strike="noStrike" spc="-1">
                          <a:solidFill>
                            <a:srgbClr val="000000"/>
                          </a:solidFill>
                          <a:latin typeface="Arial"/>
                        </a:rPr>
                        <a:t>n.a.</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endParaRPr lang="de-DE"/>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de-AT" sz="800" b="0" strike="noStrike" spc="-1">
                          <a:solidFill>
                            <a:srgbClr val="000000"/>
                          </a:solidFill>
                          <a:latin typeface="Arial"/>
                        </a:rPr>
                        <a:t>No axle component</a:t>
                      </a:r>
                      <a:endParaRPr lang="en-US" sz="800" b="0" strike="noStrike" spc="-1">
                        <a:latin typeface="Arial"/>
                      </a:endParaRPr>
                    </a:p>
                    <a:p>
                      <a:pPr>
                        <a:lnSpc>
                          <a:spcPct val="100000"/>
                        </a:lnSpc>
                        <a:buNone/>
                      </a:pPr>
                      <a:endParaRPr lang="en-US" sz="800" b="0" strike="noStrike" spc="-1">
                        <a:latin typeface="Arial"/>
                      </a:endParaRPr>
                    </a:p>
                    <a:p>
                      <a:pPr>
                        <a:lnSpc>
                          <a:spcPct val="100000"/>
                        </a:lnSpc>
                        <a:buNone/>
                      </a:pPr>
                      <a:r>
                        <a:rPr lang="de-AT" sz="800" b="0" strike="noStrike" spc="-1">
                          <a:solidFill>
                            <a:srgbClr val="000000"/>
                          </a:solidFill>
                          <a:latin typeface="Arial"/>
                        </a:rPr>
                        <a:t>All parameterization via IEPC specific window</a:t>
                      </a:r>
                      <a:endParaRPr lang="en-US" sz="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504000">
                <a:tc>
                  <a:txBody>
                    <a:bodyPr/>
                    <a:lstStyle/>
                    <a:p>
                      <a:pPr>
                        <a:lnSpc>
                          <a:spcPct val="100000"/>
                        </a:lnSpc>
                        <a:buNone/>
                      </a:pPr>
                      <a:r>
                        <a:rPr lang="de-AT" sz="1200" b="0" strike="noStrike" spc="-1">
                          <a:solidFill>
                            <a:srgbClr val="000000"/>
                          </a:solidFill>
                          <a:latin typeface="Arial"/>
                        </a:rPr>
                        <a:t>3</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gn="ctr">
                        <a:lnSpc>
                          <a:spcPct val="100000"/>
                        </a:lnSpc>
                        <a:buNone/>
                      </a:pPr>
                      <a:r>
                        <a:rPr lang="de-AT" sz="1200" b="0" strike="noStrike" spc="-1">
                          <a:solidFill>
                            <a:srgbClr val="000000"/>
                          </a:solidFill>
                          <a:latin typeface="Arial"/>
                        </a:rPr>
                        <a:t>No</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gn="ctr">
                        <a:lnSpc>
                          <a:spcPct val="100000"/>
                        </a:lnSpc>
                        <a:buNone/>
                      </a:pPr>
                      <a:r>
                        <a:rPr lang="de-AT" sz="1200" b="0" strike="noStrike" spc="-1">
                          <a:solidFill>
                            <a:srgbClr val="000000"/>
                          </a:solidFill>
                          <a:latin typeface="Arial"/>
                        </a:rPr>
                        <a:t>Yes</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gn="ctr">
                        <a:lnSpc>
                          <a:spcPct val="100000"/>
                        </a:lnSpc>
                        <a:buNone/>
                      </a:pPr>
                      <a:r>
                        <a:rPr lang="de-AT" sz="1200" b="0" strike="noStrike" spc="-1">
                          <a:solidFill>
                            <a:srgbClr val="000000"/>
                          </a:solidFill>
                          <a:latin typeface="Arial"/>
                        </a:rPr>
                        <a:t>1</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rowSpan="2">
                  <a:txBody>
                    <a:bodyPr/>
                    <a:lstStyle/>
                    <a:p>
                      <a:endParaRPr lang="de-DE"/>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pPr>
                      <a:r>
                        <a:rPr lang="de-AT" sz="800" b="0" strike="noStrike" spc="-1">
                          <a:solidFill>
                            <a:srgbClr val="000000"/>
                          </a:solidFill>
                          <a:latin typeface="Arial"/>
                        </a:rPr>
                        <a:t>Component test performed in L-config acc. to Annex Xb (only one side)</a:t>
                      </a:r>
                      <a:endParaRPr lang="en-US" sz="800" b="0" strike="noStrike" spc="-1">
                        <a:latin typeface="Arial"/>
                      </a:endParaRPr>
                    </a:p>
                    <a:p>
                      <a:pPr>
                        <a:lnSpc>
                          <a:spcPct val="100000"/>
                        </a:lnSpc>
                        <a:buNone/>
                      </a:pPr>
                      <a:r>
                        <a:rPr lang="de-AT" sz="800" b="0" i="1" strike="noStrike" spc="-1">
                          <a:solidFill>
                            <a:srgbClr val="000000"/>
                          </a:solidFill>
                          <a:latin typeface="Wingdings"/>
                        </a:rPr>
                        <a:t></a:t>
                      </a:r>
                      <a:r>
                        <a:rPr lang="de-AT" sz="800" b="0" i="1" strike="noStrike" spc="-1">
                          <a:solidFill>
                            <a:srgbClr val="000000"/>
                          </a:solidFill>
                          <a:latin typeface="Arial"/>
                        </a:rPr>
                        <a:t> All torque and power values in input data are multiplied with a factor of 2</a:t>
                      </a:r>
                      <a:endParaRPr lang="en-US" sz="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504000">
                <a:tc>
                  <a:txBody>
                    <a:bodyPr/>
                    <a:lstStyle/>
                    <a:p>
                      <a:pPr>
                        <a:lnSpc>
                          <a:spcPct val="100000"/>
                        </a:lnSpc>
                        <a:buNone/>
                      </a:pPr>
                      <a:r>
                        <a:rPr lang="de-AT" sz="1200" b="0" strike="noStrike" spc="-1">
                          <a:solidFill>
                            <a:srgbClr val="000000"/>
                          </a:solidFill>
                          <a:latin typeface="Arial"/>
                        </a:rPr>
                        <a:t>4</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200" b="0" strike="noStrike" spc="-1">
                          <a:solidFill>
                            <a:srgbClr val="000000"/>
                          </a:solidFill>
                          <a:latin typeface="Arial"/>
                        </a:rPr>
                        <a:t>No</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200" b="0" strike="noStrike" spc="-1">
                          <a:solidFill>
                            <a:srgbClr val="000000"/>
                          </a:solidFill>
                          <a:latin typeface="Arial"/>
                        </a:rPr>
                        <a:t>Yes</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200" b="0" strike="noStrike" spc="-1">
                          <a:solidFill>
                            <a:srgbClr val="000000"/>
                          </a:solidFill>
                          <a:latin typeface="Arial"/>
                        </a:rPr>
                        <a:t>2</a:t>
                      </a:r>
                      <a:endParaRPr lang="en-US" sz="12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vMerge="1">
                  <a:txBody>
                    <a:bodyPr/>
                    <a:lstStyle/>
                    <a:p>
                      <a:endParaRPr lang="de-DE"/>
                    </a:p>
                  </a:txBody>
                  <a:tcPr marL="90000" marR="90000">
                    <a:lnL>
                      <a:noFill/>
                    </a:lnL>
                    <a:lnR>
                      <a:noFill/>
                    </a:lnR>
                    <a:lnT>
                      <a:noFill/>
                    </a:lnT>
                    <a:lnB>
                      <a:noFill/>
                    </a:lnB>
                    <a:solidFill>
                      <a:srgbClr val="729FCF"/>
                    </a:solidFill>
                  </a:tcPr>
                </a:tc>
                <a:tc>
                  <a:txBody>
                    <a:bodyPr/>
                    <a:lstStyle/>
                    <a:p>
                      <a:pPr>
                        <a:lnSpc>
                          <a:spcPct val="100000"/>
                        </a:lnSpc>
                        <a:buNone/>
                      </a:pPr>
                      <a:r>
                        <a:rPr lang="de-AT" sz="800" b="0" strike="noStrike" spc="-1">
                          <a:solidFill>
                            <a:srgbClr val="000000"/>
                          </a:solidFill>
                          <a:latin typeface="Arial"/>
                        </a:rPr>
                        <a:t>Component test performed in T-config acc. to Annex Xb (both sides)</a:t>
                      </a:r>
                      <a:endParaRPr lang="en-US" sz="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bl>
          </a:graphicData>
        </a:graphic>
      </p:graphicFrame>
      <p:pic>
        <p:nvPicPr>
          <p:cNvPr id="106" name="Grafik 5"/>
          <p:cNvPicPr/>
          <p:nvPr/>
        </p:nvPicPr>
        <p:blipFill>
          <a:blip r:embed="rId2"/>
          <a:stretch/>
        </p:blipFill>
        <p:spPr>
          <a:xfrm>
            <a:off x="2983680" y="3498840"/>
            <a:ext cx="1720800" cy="647280"/>
          </a:xfrm>
          <a:prstGeom prst="rect">
            <a:avLst/>
          </a:prstGeom>
          <a:ln w="0">
            <a:noFill/>
          </a:ln>
        </p:spPr>
      </p:pic>
      <p:pic>
        <p:nvPicPr>
          <p:cNvPr id="107" name="Grafik 6"/>
          <p:cNvPicPr/>
          <p:nvPr/>
        </p:nvPicPr>
        <p:blipFill>
          <a:blip r:embed="rId3"/>
          <a:stretch/>
        </p:blipFill>
        <p:spPr>
          <a:xfrm>
            <a:off x="2983680" y="4256640"/>
            <a:ext cx="1465920" cy="647280"/>
          </a:xfrm>
          <a:prstGeom prst="rect">
            <a:avLst/>
          </a:prstGeom>
          <a:ln w="0">
            <a:noFill/>
          </a:ln>
        </p:spPr>
      </p:pic>
      <p:pic>
        <p:nvPicPr>
          <p:cNvPr id="108" name="Grafik 7"/>
          <p:cNvPicPr/>
          <p:nvPr/>
        </p:nvPicPr>
        <p:blipFill>
          <a:blip r:embed="rId4"/>
          <a:stretch/>
        </p:blipFill>
        <p:spPr>
          <a:xfrm>
            <a:off x="2986200" y="4988880"/>
            <a:ext cx="939960" cy="935280"/>
          </a:xfrm>
          <a:prstGeom prst="rect">
            <a:avLst/>
          </a:prstGeom>
          <a:ln w="0">
            <a:noFill/>
          </a:ln>
        </p:spPr>
      </p:pic>
      <p:pic>
        <p:nvPicPr>
          <p:cNvPr id="109" name="Grafik 8"/>
          <p:cNvPicPr/>
          <p:nvPr/>
        </p:nvPicPr>
        <p:blipFill>
          <a:blip r:embed="rId5"/>
          <a:stretch/>
        </p:blipFill>
        <p:spPr>
          <a:xfrm>
            <a:off x="4516560" y="4256640"/>
            <a:ext cx="1077840" cy="644040"/>
          </a:xfrm>
          <a:prstGeom prst="rect">
            <a:avLst/>
          </a:prstGeom>
          <a:ln w="0">
            <a:noFill/>
          </a:ln>
        </p:spPr>
      </p:pic>
      <p:pic>
        <p:nvPicPr>
          <p:cNvPr id="110" name="Grafik 9"/>
          <p:cNvPicPr/>
          <p:nvPr/>
        </p:nvPicPr>
        <p:blipFill>
          <a:blip r:embed="rId4"/>
          <a:stretch/>
        </p:blipFill>
        <p:spPr>
          <a:xfrm>
            <a:off x="4141800" y="4988880"/>
            <a:ext cx="939960" cy="935280"/>
          </a:xfrm>
          <a:prstGeom prst="rect">
            <a:avLst/>
          </a:prstGeom>
          <a:ln w="0">
            <a:noFill/>
          </a:ln>
        </p:spPr>
      </p:pic>
      <p:sp>
        <p:nvSpPr>
          <p:cNvPr id="111" name="Rechteck 10"/>
          <p:cNvSpPr/>
          <p:nvPr/>
        </p:nvSpPr>
        <p:spPr>
          <a:xfrm>
            <a:off x="2986200" y="5467680"/>
            <a:ext cx="939960" cy="456480"/>
          </a:xfrm>
          <a:prstGeom prst="rect">
            <a:avLst/>
          </a:prstGeom>
          <a:solidFill>
            <a:schemeClr val="bg1">
              <a:alpha val="80000"/>
            </a:scheme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Input data for IEPC component</a:t>
            </a:r>
            <a:endParaRPr lang="en-US" sz="2400" b="0" strike="noStrike" spc="-1">
              <a:latin typeface="Arial"/>
            </a:endParaRPr>
          </a:p>
        </p:txBody>
      </p:sp>
      <p:sp>
        <p:nvSpPr>
          <p:cNvPr id="113"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IEPC General parameters</a:t>
            </a:r>
            <a:endParaRPr lang="en-US" sz="2000" b="0" strike="noStrike" spc="-1">
              <a:latin typeface="Arial"/>
            </a:endParaRPr>
          </a:p>
        </p:txBody>
      </p:sp>
      <p:sp>
        <p:nvSpPr>
          <p:cNvPr id="114"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graphicFrame>
        <p:nvGraphicFramePr>
          <p:cNvPr id="115" name="Tabelle 4"/>
          <p:cNvGraphicFramePr/>
          <p:nvPr/>
        </p:nvGraphicFramePr>
        <p:xfrm>
          <a:off x="933480" y="2647800"/>
          <a:ext cx="7835040" cy="2490120"/>
        </p:xfrm>
        <a:graphic>
          <a:graphicData uri="http://schemas.openxmlformats.org/drawingml/2006/table">
            <a:tbl>
              <a:tblPr/>
              <a:tblGrid>
                <a:gridCol w="2730240">
                  <a:extLst>
                    <a:ext uri="{9D8B030D-6E8A-4147-A177-3AD203B41FA5}">
                      <a16:colId xmlns:a16="http://schemas.microsoft.com/office/drawing/2014/main" val="20000"/>
                    </a:ext>
                  </a:extLst>
                </a:gridCol>
                <a:gridCol w="5105160">
                  <a:extLst>
                    <a:ext uri="{9D8B030D-6E8A-4147-A177-3AD203B41FA5}">
                      <a16:colId xmlns:a16="http://schemas.microsoft.com/office/drawing/2014/main" val="20001"/>
                    </a:ext>
                  </a:extLst>
                </a:gridCol>
              </a:tblGrid>
              <a:tr h="370800">
                <a:tc>
                  <a:txBody>
                    <a:bodyPr/>
                    <a:lstStyle/>
                    <a:p>
                      <a:pPr>
                        <a:lnSpc>
                          <a:spcPct val="100000"/>
                        </a:lnSpc>
                        <a:buNone/>
                      </a:pPr>
                      <a:r>
                        <a:rPr lang="de-AT" sz="1200" b="1" strike="noStrike" spc="-1">
                          <a:solidFill>
                            <a:srgbClr val="FFFFFF"/>
                          </a:solidFill>
                          <a:latin typeface="Arial"/>
                        </a:rPr>
                        <a:t>Parameter name</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buNone/>
                      </a:pPr>
                      <a:r>
                        <a:rPr lang="de-AT" sz="1200" b="1" strike="noStrike" spc="-1">
                          <a:solidFill>
                            <a:srgbClr val="FFFFFF"/>
                          </a:solidFill>
                          <a:latin typeface="Arial"/>
                        </a:rPr>
                        <a:t>Description</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774360">
                <a:tc>
                  <a:txBody>
                    <a:bodyPr/>
                    <a:lstStyle/>
                    <a:p>
                      <a:pPr>
                        <a:lnSpc>
                          <a:spcPct val="100000"/>
                        </a:lnSpc>
                        <a:buNone/>
                      </a:pPr>
                      <a:r>
                        <a:rPr lang="de-AT" sz="1200" b="0" strike="noStrike" spc="-1">
                          <a:solidFill>
                            <a:srgbClr val="000000"/>
                          </a:solidFill>
                          <a:latin typeface="Arial"/>
                        </a:rPr>
                        <a:t>RotationalInertia</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buNone/>
                      </a:pPr>
                      <a:r>
                        <a:rPr lang="en-US" sz="1200" b="0" strike="noStrike" spc="-1">
                          <a:solidFill>
                            <a:srgbClr val="000000"/>
                          </a:solidFill>
                          <a:latin typeface="Arial"/>
                        </a:rPr>
                        <a:t>For EM inertia, gearbox parts not to be considered (as for regular transmission components). Reference point for definition of inertia is EM output shaft. </a:t>
                      </a:r>
                      <a:endParaRPr lang="en-US" sz="1200" b="0" strike="noStrike" spc="-1">
                        <a:latin typeface="Arial"/>
                      </a:endParaRPr>
                    </a:p>
                    <a:p>
                      <a:pPr>
                        <a:lnSpc>
                          <a:spcPct val="100000"/>
                        </a:lnSpc>
                        <a:buNone/>
                      </a:pPr>
                      <a:r>
                        <a:rPr lang="en-US" sz="1200" b="0" strike="noStrike" spc="-1">
                          <a:solidFill>
                            <a:srgbClr val="000000"/>
                          </a:solidFill>
                          <a:latin typeface="Arial"/>
                        </a:rPr>
                        <a:t>Determined in accordance with point 8 of Appendix 8 of Annex Xb.</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r h="370800">
                <a:tc>
                  <a:txBody>
                    <a:bodyPr/>
                    <a:lstStyle/>
                    <a:p>
                      <a:pPr>
                        <a:lnSpc>
                          <a:spcPct val="100000"/>
                        </a:lnSpc>
                        <a:buNone/>
                      </a:pPr>
                      <a:r>
                        <a:rPr lang="de-AT" sz="1200" b="0" strike="noStrike" spc="-1">
                          <a:solidFill>
                            <a:srgbClr val="000000"/>
                          </a:solidFill>
                          <a:latin typeface="Arial"/>
                        </a:rPr>
                        <a:t>DifferentialIncluded</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200" b="0" strike="noStrike" spc="-1">
                          <a:solidFill>
                            <a:srgbClr val="000000"/>
                          </a:solidFill>
                          <a:latin typeface="Arial"/>
                        </a:rPr>
                        <a:t>Set to ‘true’ in the case a differential is part of the IEPC</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370800">
                <a:tc>
                  <a:txBody>
                    <a:bodyPr/>
                    <a:lstStyle/>
                    <a:p>
                      <a:pPr>
                        <a:lnSpc>
                          <a:spcPct val="100000"/>
                        </a:lnSpc>
                        <a:buNone/>
                      </a:pPr>
                      <a:r>
                        <a:rPr lang="de-AT" sz="1200" b="0" strike="noStrike" spc="-1">
                          <a:solidFill>
                            <a:srgbClr val="000000"/>
                          </a:solidFill>
                          <a:latin typeface="Arial"/>
                        </a:rPr>
                        <a:t>DesignTypeWheelMotor</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pPr>
                      <a:r>
                        <a:rPr lang="en-US" sz="1200" b="0" strike="noStrike" spc="-1">
                          <a:solidFill>
                            <a:srgbClr val="000000"/>
                          </a:solidFill>
                          <a:latin typeface="Arial"/>
                        </a:rPr>
                        <a:t>Set to ‘true’ in the case of an IEPC design type wheel motor</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603720">
                <a:tc>
                  <a:txBody>
                    <a:bodyPr/>
                    <a:lstStyle/>
                    <a:p>
                      <a:pPr>
                        <a:lnSpc>
                          <a:spcPct val="100000"/>
                        </a:lnSpc>
                        <a:buNone/>
                      </a:pPr>
                      <a:r>
                        <a:rPr lang="de-AT" sz="1200" b="0" strike="noStrike" spc="-1">
                          <a:solidFill>
                            <a:srgbClr val="000000"/>
                          </a:solidFill>
                          <a:latin typeface="Arial"/>
                        </a:rPr>
                        <a:t>DesignTypeWheelMotorMeasured</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200" b="0" strike="noStrike" spc="-1">
                          <a:solidFill>
                            <a:srgbClr val="000000"/>
                          </a:solidFill>
                          <a:latin typeface="Arial"/>
                        </a:rPr>
                        <a:t>Input only relevant in the case of an IEPC design type wheel motor, in accordance with paragraph 4.1.1.2 of Annex Xb.</a:t>
                      </a:r>
                      <a:endParaRPr lang="en-US" sz="1200" b="0" strike="noStrike" spc="-1">
                        <a:latin typeface="Arial"/>
                      </a:endParaRPr>
                    </a:p>
                    <a:p>
                      <a:pPr>
                        <a:lnSpc>
                          <a:spcPct val="100000"/>
                        </a:lnSpc>
                        <a:buNone/>
                      </a:pPr>
                      <a:r>
                        <a:rPr lang="en-US" sz="1200" b="0" strike="noStrike" spc="-1">
                          <a:solidFill>
                            <a:srgbClr val="000000"/>
                          </a:solidFill>
                          <a:latin typeface="Arial"/>
                        </a:rPr>
                        <a:t>Allowed values: ‘1’, ‘2’</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Input data for IEPC component</a:t>
            </a:r>
            <a:endParaRPr lang="en-US" sz="2400" b="0" strike="noStrike" spc="-1">
              <a:latin typeface="Arial"/>
            </a:endParaRPr>
          </a:p>
        </p:txBody>
      </p:sp>
      <p:sp>
        <p:nvSpPr>
          <p:cNvPr id="117"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IEPC performance parameters</a:t>
            </a:r>
            <a:endParaRPr lang="en-US" sz="2000" b="0" strike="noStrike" spc="-1">
              <a:latin typeface="Arial"/>
            </a:endParaRPr>
          </a:p>
        </p:txBody>
      </p:sp>
      <p:sp>
        <p:nvSpPr>
          <p:cNvPr id="118"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graphicFrame>
        <p:nvGraphicFramePr>
          <p:cNvPr id="119" name="Tabelle 4"/>
          <p:cNvGraphicFramePr/>
          <p:nvPr/>
        </p:nvGraphicFramePr>
        <p:xfrm>
          <a:off x="933480" y="2647800"/>
          <a:ext cx="7835040" cy="2644200"/>
        </p:xfrm>
        <a:graphic>
          <a:graphicData uri="http://schemas.openxmlformats.org/drawingml/2006/table">
            <a:tbl>
              <a:tblPr/>
              <a:tblGrid>
                <a:gridCol w="2730240">
                  <a:extLst>
                    <a:ext uri="{9D8B030D-6E8A-4147-A177-3AD203B41FA5}">
                      <a16:colId xmlns:a16="http://schemas.microsoft.com/office/drawing/2014/main" val="20000"/>
                    </a:ext>
                  </a:extLst>
                </a:gridCol>
                <a:gridCol w="5105160">
                  <a:extLst>
                    <a:ext uri="{9D8B030D-6E8A-4147-A177-3AD203B41FA5}">
                      <a16:colId xmlns:a16="http://schemas.microsoft.com/office/drawing/2014/main" val="20001"/>
                    </a:ext>
                  </a:extLst>
                </a:gridCol>
              </a:tblGrid>
              <a:tr h="370800">
                <a:tc>
                  <a:txBody>
                    <a:bodyPr/>
                    <a:lstStyle/>
                    <a:p>
                      <a:pPr>
                        <a:lnSpc>
                          <a:spcPct val="100000"/>
                        </a:lnSpc>
                        <a:buNone/>
                      </a:pPr>
                      <a:r>
                        <a:rPr lang="de-AT" sz="1200" b="1" strike="noStrike" spc="-1">
                          <a:solidFill>
                            <a:srgbClr val="FFFFFF"/>
                          </a:solidFill>
                          <a:latin typeface="Arial"/>
                        </a:rPr>
                        <a:t>Parameter name</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buNone/>
                      </a:pPr>
                      <a:r>
                        <a:rPr lang="de-AT" sz="1200" b="1" strike="noStrike" spc="-1">
                          <a:solidFill>
                            <a:srgbClr val="FFFFFF"/>
                          </a:solidFill>
                          <a:latin typeface="Arial"/>
                        </a:rPr>
                        <a:t>Description</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433080">
                <a:tc>
                  <a:txBody>
                    <a:bodyPr/>
                    <a:lstStyle/>
                    <a:p>
                      <a:pPr>
                        <a:lnSpc>
                          <a:spcPct val="100000"/>
                        </a:lnSpc>
                        <a:buNone/>
                      </a:pPr>
                      <a:r>
                        <a:rPr lang="de-AT" sz="1200" b="0" strike="noStrike" spc="-1">
                          <a:solidFill>
                            <a:srgbClr val="000000"/>
                          </a:solidFill>
                          <a:latin typeface="Arial"/>
                        </a:rPr>
                        <a:t>Gear data</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buNone/>
                      </a:pPr>
                      <a:r>
                        <a:rPr lang="en-US" sz="1200" b="0" strike="noStrike" spc="-1">
                          <a:solidFill>
                            <a:srgbClr val="000000"/>
                          </a:solidFill>
                          <a:latin typeface="Arial"/>
                        </a:rPr>
                        <a:t>For each gear: number, ratio, MaxOutputShaftTorque (optional), MaxOutputShaftSpeed (optional)</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r h="603720">
                <a:tc>
                  <a:txBody>
                    <a:bodyPr/>
                    <a:lstStyle/>
                    <a:p>
                      <a:pPr>
                        <a:lnSpc>
                          <a:spcPct val="100000"/>
                        </a:lnSpc>
                        <a:buNone/>
                      </a:pPr>
                      <a:r>
                        <a:rPr lang="de-AT" sz="1200" b="0" strike="noStrike" spc="-1">
                          <a:solidFill>
                            <a:srgbClr val="000000"/>
                          </a:solidFill>
                          <a:latin typeface="Arial"/>
                        </a:rPr>
                        <a:t>Overload data</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200" b="0" strike="noStrike" spc="-1">
                          <a:solidFill>
                            <a:srgbClr val="000000"/>
                          </a:solidFill>
                          <a:latin typeface="Arial"/>
                        </a:rPr>
                        <a:t>Overload and Continuous operation point and Overload Time</a:t>
                      </a:r>
                      <a:endParaRPr lang="en-US" sz="1200" b="0" strike="noStrike" spc="-1">
                        <a:latin typeface="Arial"/>
                      </a:endParaRPr>
                    </a:p>
                    <a:p>
                      <a:pPr>
                        <a:lnSpc>
                          <a:spcPct val="100000"/>
                        </a:lnSpc>
                        <a:buNone/>
                      </a:pPr>
                      <a:r>
                        <a:rPr lang="en-US" sz="1200" b="0" strike="noStrike" spc="-1">
                          <a:solidFill>
                            <a:srgbClr val="000000"/>
                          </a:solidFill>
                          <a:latin typeface="Arial"/>
                        </a:rPr>
                        <a:t>For each voltage level separately</a:t>
                      </a:r>
                      <a:endParaRPr lang="en-US" sz="1200" b="0" strike="noStrike" spc="-1">
                        <a:latin typeface="Arial"/>
                      </a:endParaRPr>
                    </a:p>
                    <a:p>
                      <a:pPr>
                        <a:lnSpc>
                          <a:spcPct val="100000"/>
                        </a:lnSpc>
                        <a:buNone/>
                      </a:pPr>
                      <a:r>
                        <a:rPr lang="en-US" sz="1200" b="0" strike="noStrike" spc="-1">
                          <a:solidFill>
                            <a:srgbClr val="000000"/>
                          </a:solidFill>
                          <a:latin typeface="Arial"/>
                        </a:rPr>
                        <a:t>Measured in gear closest to ratio 1 acc. to Annex Xb</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433080">
                <a:tc>
                  <a:txBody>
                    <a:bodyPr/>
                    <a:lstStyle/>
                    <a:p>
                      <a:pPr>
                        <a:lnSpc>
                          <a:spcPct val="100000"/>
                        </a:lnSpc>
                        <a:buNone/>
                      </a:pPr>
                      <a:r>
                        <a:rPr lang="de-AT" sz="1200" b="0" strike="noStrike" spc="-1">
                          <a:solidFill>
                            <a:srgbClr val="000000"/>
                          </a:solidFill>
                          <a:latin typeface="Arial"/>
                        </a:rPr>
                        <a:t>Max/min torque limits</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tabLst>
                          <a:tab pos="0" algn="l"/>
                        </a:tabLst>
                      </a:pPr>
                      <a:r>
                        <a:rPr lang="en-US" sz="1200" b="0" strike="noStrike" spc="-1">
                          <a:solidFill>
                            <a:srgbClr val="000000"/>
                          </a:solidFill>
                          <a:latin typeface="Arial"/>
                        </a:rPr>
                        <a:t>Full load curve (only for one gear closest to ratio 1 acc. to Annex Xb)</a:t>
                      </a:r>
                      <a:endParaRPr lang="en-US" sz="1200" b="0" strike="noStrike" spc="-1">
                        <a:latin typeface="Arial"/>
                      </a:endParaRPr>
                    </a:p>
                    <a:p>
                      <a:pPr>
                        <a:lnSpc>
                          <a:spcPct val="100000"/>
                        </a:lnSpc>
                        <a:buNone/>
                        <a:tabLst>
                          <a:tab pos="0" algn="l"/>
                        </a:tabLst>
                      </a:pPr>
                      <a:r>
                        <a:rPr lang="en-US" sz="1200" b="0" strike="noStrike" spc="-1">
                          <a:solidFill>
                            <a:srgbClr val="000000"/>
                          </a:solidFill>
                          <a:latin typeface="Arial"/>
                        </a:rPr>
                        <a:t>For each voltage level separately</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370800">
                <a:tc>
                  <a:txBody>
                    <a:bodyPr/>
                    <a:lstStyle/>
                    <a:p>
                      <a:pPr>
                        <a:lnSpc>
                          <a:spcPct val="100000"/>
                        </a:lnSpc>
                        <a:buNone/>
                      </a:pPr>
                      <a:r>
                        <a:rPr lang="de-AT" sz="1200" b="0" strike="noStrike" spc="-1">
                          <a:solidFill>
                            <a:srgbClr val="000000"/>
                          </a:solidFill>
                          <a:latin typeface="Arial"/>
                        </a:rPr>
                        <a:t>Drag torque</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200" b="0" strike="noStrike" spc="-1">
                          <a:solidFill>
                            <a:srgbClr val="000000"/>
                          </a:solidFill>
                          <a:latin typeface="Arial"/>
                        </a:rPr>
                        <a:t>Only for one voltage level acc. to Annex Xb</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r h="433080">
                <a:tc>
                  <a:txBody>
                    <a:bodyPr/>
                    <a:lstStyle/>
                    <a:p>
                      <a:pPr>
                        <a:lnSpc>
                          <a:spcPct val="100000"/>
                        </a:lnSpc>
                        <a:buNone/>
                      </a:pPr>
                      <a:r>
                        <a:rPr lang="de-AT" sz="1200" b="0" strike="noStrike" spc="-1">
                          <a:solidFill>
                            <a:srgbClr val="000000"/>
                          </a:solidFill>
                          <a:latin typeface="Arial"/>
                        </a:rPr>
                        <a:t>Electric power maps</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pPr>
                      <a:r>
                        <a:rPr lang="en-US" sz="1200" b="0" strike="noStrike" spc="-1">
                          <a:solidFill>
                            <a:srgbClr val="000000"/>
                          </a:solidFill>
                          <a:latin typeface="Arial"/>
                        </a:rPr>
                        <a:t>For each gear</a:t>
                      </a:r>
                      <a:endParaRPr lang="en-US" sz="1200" b="0" strike="noStrike" spc="-1">
                        <a:latin typeface="Arial"/>
                      </a:endParaRPr>
                    </a:p>
                    <a:p>
                      <a:pPr>
                        <a:lnSpc>
                          <a:spcPct val="100000"/>
                        </a:lnSpc>
                        <a:buNone/>
                      </a:pPr>
                      <a:r>
                        <a:rPr lang="en-US" sz="1200" b="0" strike="noStrike" spc="-1">
                          <a:solidFill>
                            <a:srgbClr val="000000"/>
                          </a:solidFill>
                          <a:latin typeface="Arial"/>
                        </a:rPr>
                        <a:t>For each voltage level separately</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IEPC Input Form</a:t>
            </a:r>
            <a:endParaRPr lang="en-US" sz="2400" b="0" strike="noStrike" spc="-1">
              <a:latin typeface="Arial"/>
            </a:endParaRPr>
          </a:p>
        </p:txBody>
      </p:sp>
      <p:sp>
        <p:nvSpPr>
          <p:cNvPr id="121" name="PlaceHolder 2"/>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pic>
        <p:nvPicPr>
          <p:cNvPr id="122" name="Grafik 4"/>
          <p:cNvPicPr/>
          <p:nvPr/>
        </p:nvPicPr>
        <p:blipFill>
          <a:blip r:embed="rId2"/>
          <a:stretch/>
        </p:blipFill>
        <p:spPr>
          <a:xfrm>
            <a:off x="4567680" y="1908720"/>
            <a:ext cx="4449600" cy="3288240"/>
          </a:xfrm>
          <a:prstGeom prst="rect">
            <a:avLst/>
          </a:prstGeom>
          <a:ln w="0">
            <a:noFill/>
          </a:ln>
        </p:spPr>
      </p:pic>
      <p:sp>
        <p:nvSpPr>
          <p:cNvPr id="123" name="Gerade Verbindung mit Pfeil 6"/>
          <p:cNvSpPr/>
          <p:nvPr/>
        </p:nvSpPr>
        <p:spPr>
          <a:xfrm flipH="1" flipV="1">
            <a:off x="4938120" y="4318920"/>
            <a:ext cx="495720" cy="877320"/>
          </a:xfrm>
          <a:custGeom>
            <a:avLst/>
            <a:gdLst/>
            <a:ahLst/>
            <a:cxnLst/>
            <a:rect l="l" t="t" r="r" b="b"/>
            <a:pathLst>
              <a:path w="21600" h="21600">
                <a:moveTo>
                  <a:pt x="0" y="0"/>
                </a:moveTo>
                <a:lnTo>
                  <a:pt x="21600" y="21600"/>
                </a:lnTo>
              </a:path>
            </a:pathLst>
          </a:custGeom>
          <a:noFill/>
          <a:ln>
            <a:solidFill>
              <a:srgbClr val="FF0000"/>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124" name="Gerade Verbindung mit Pfeil 8"/>
          <p:cNvSpPr/>
          <p:nvPr/>
        </p:nvSpPr>
        <p:spPr>
          <a:xfrm flipV="1">
            <a:off x="5435640" y="3552480"/>
            <a:ext cx="1991880" cy="1643760"/>
          </a:xfrm>
          <a:custGeom>
            <a:avLst/>
            <a:gdLst/>
            <a:ahLst/>
            <a:cxnLst/>
            <a:rect l="l" t="t" r="r" b="b"/>
            <a:pathLst>
              <a:path w="21600" h="21600">
                <a:moveTo>
                  <a:pt x="0" y="0"/>
                </a:moveTo>
                <a:lnTo>
                  <a:pt x="21600" y="21600"/>
                </a:lnTo>
              </a:path>
            </a:pathLst>
          </a:custGeom>
          <a:noFill/>
          <a:ln>
            <a:solidFill>
              <a:srgbClr val="FF0000"/>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pic>
        <p:nvPicPr>
          <p:cNvPr id="125" name="Grafik 5"/>
          <p:cNvPicPr/>
          <p:nvPr/>
        </p:nvPicPr>
        <p:blipFill>
          <a:blip r:embed="rId3"/>
          <a:stretch/>
        </p:blipFill>
        <p:spPr>
          <a:xfrm>
            <a:off x="622440" y="1908720"/>
            <a:ext cx="3527280" cy="3027600"/>
          </a:xfrm>
          <a:prstGeom prst="rect">
            <a:avLst/>
          </a:prstGeom>
          <a:ln w="0">
            <a:noFill/>
          </a:ln>
        </p:spPr>
      </p:pic>
      <p:sp>
        <p:nvSpPr>
          <p:cNvPr id="126" name="Pfeil nach rechts 7"/>
          <p:cNvSpPr/>
          <p:nvPr/>
        </p:nvSpPr>
        <p:spPr>
          <a:xfrm>
            <a:off x="4150440" y="2647080"/>
            <a:ext cx="473400" cy="1270440"/>
          </a:xfrm>
          <a:prstGeom prst="rightArrow">
            <a:avLst>
              <a:gd name="adj1" fmla="val 50000"/>
              <a:gd name="adj2" fmla="val 50000"/>
            </a:avLst>
          </a:prstGeom>
          <a:solidFill>
            <a:srgbClr val="FF0000"/>
          </a:solidFill>
          <a:ln>
            <a:solidFill>
              <a:srgbClr val="4A7EB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 name="Textfeld 9"/>
          <p:cNvSpPr/>
          <p:nvPr/>
        </p:nvSpPr>
        <p:spPr>
          <a:xfrm>
            <a:off x="4701960" y="5153400"/>
            <a:ext cx="2442960" cy="82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601"/>
              </a:spcBef>
              <a:buNone/>
            </a:pPr>
            <a:r>
              <a:rPr lang="en-US" sz="1200" b="1" strike="noStrike" spc="-1">
                <a:solidFill>
                  <a:srgbClr val="000000"/>
                </a:solidFill>
                <a:latin typeface="Arial"/>
                <a:ea typeface="DejaVu Sans"/>
              </a:rPr>
              <a:t>Lists with gear entries are synchronized, gears can be added/removed in the gear-list on the right</a:t>
            </a:r>
            <a:endParaRPr lang="en-US" sz="1200" b="0" strike="noStrike" spc="-1">
              <a:latin typeface="Arial"/>
            </a:endParaRPr>
          </a:p>
        </p:txBody>
      </p:sp>
      <p:sp>
        <p:nvSpPr>
          <p:cNvPr id="128" name="Textfeld 11"/>
          <p:cNvSpPr/>
          <p:nvPr/>
        </p:nvSpPr>
        <p:spPr>
          <a:xfrm>
            <a:off x="622440" y="5065560"/>
            <a:ext cx="3527280" cy="45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601"/>
              </a:spcBef>
              <a:buNone/>
            </a:pPr>
            <a:r>
              <a:rPr lang="en-US" sz="1200" b="1" strike="noStrike" spc="-1">
                <a:solidFill>
                  <a:srgbClr val="000000"/>
                </a:solidFill>
                <a:latin typeface="Arial"/>
                <a:ea typeface="DejaVu Sans"/>
              </a:rPr>
              <a:t>Definition of IEPC component via</a:t>
            </a:r>
            <a:br>
              <a:rPr sz="1200"/>
            </a:br>
            <a:r>
              <a:rPr lang="en-US" sz="1200" b="1" i="1" strike="noStrike" spc="-1">
                <a:solidFill>
                  <a:srgbClr val="000000"/>
                </a:solidFill>
                <a:latin typeface="Arial"/>
                <a:ea typeface="DejaVu Sans"/>
              </a:rPr>
              <a:t>“Vehicle \ IEPC-Tab”</a:t>
            </a:r>
            <a:endParaRPr lang="en-US" sz="1200" b="0" strike="noStrike" spc="-1">
              <a:latin typeface="Arial"/>
            </a:endParaRPr>
          </a:p>
        </p:txBody>
      </p:sp>
      <p:sp>
        <p:nvSpPr>
          <p:cNvPr id="129" name="Ellipse 12"/>
          <p:cNvSpPr/>
          <p:nvPr/>
        </p:nvSpPr>
        <p:spPr>
          <a:xfrm>
            <a:off x="529560" y="2379240"/>
            <a:ext cx="578880" cy="176400"/>
          </a:xfrm>
          <a:prstGeom prst="ellipse">
            <a:avLst/>
          </a:prstGeom>
          <a:solidFill>
            <a:srgbClr val="FF0000">
              <a:alpha val="15000"/>
            </a:srgbClr>
          </a:solidFill>
          <a:ln w="28575">
            <a:solidFill>
              <a:srgbClr val="FF000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0" name="Ellipse 13"/>
          <p:cNvSpPr/>
          <p:nvPr/>
        </p:nvSpPr>
        <p:spPr>
          <a:xfrm>
            <a:off x="1630080" y="3207600"/>
            <a:ext cx="578880" cy="143280"/>
          </a:xfrm>
          <a:prstGeom prst="ellipse">
            <a:avLst/>
          </a:prstGeom>
          <a:solidFill>
            <a:srgbClr val="FF0000">
              <a:alpha val="15000"/>
            </a:srgbClr>
          </a:solidFill>
          <a:ln w="28575">
            <a:solidFill>
              <a:srgbClr val="FF000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1" name="Gerade Verbindung mit Pfeil 15"/>
          <p:cNvSpPr/>
          <p:nvPr/>
        </p:nvSpPr>
        <p:spPr>
          <a:xfrm flipH="1" flipV="1">
            <a:off x="1697760" y="3478320"/>
            <a:ext cx="186480" cy="330480"/>
          </a:xfrm>
          <a:custGeom>
            <a:avLst/>
            <a:gdLst/>
            <a:ahLst/>
            <a:cxnLst/>
            <a:rect l="l" t="t" r="r" b="b"/>
            <a:pathLst>
              <a:path w="21600" h="21600">
                <a:moveTo>
                  <a:pt x="0" y="0"/>
                </a:moveTo>
                <a:lnTo>
                  <a:pt x="21600" y="21600"/>
                </a:lnTo>
              </a:path>
            </a:pathLst>
          </a:custGeom>
          <a:noFill/>
          <a:ln>
            <a:solidFill>
              <a:srgbClr val="4F81BD"/>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132" name="Textfeld 17"/>
          <p:cNvSpPr/>
          <p:nvPr/>
        </p:nvSpPr>
        <p:spPr>
          <a:xfrm>
            <a:off x="1825920" y="3666960"/>
            <a:ext cx="1315440" cy="40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524"/>
              </a:spcBef>
              <a:buNone/>
            </a:pPr>
            <a:r>
              <a:rPr lang="en-US" sz="1050" b="1" strike="noStrike" spc="-1">
                <a:solidFill>
                  <a:srgbClr val="FF0000"/>
                </a:solidFill>
                <a:latin typeface="Arial"/>
                <a:ea typeface="DejaVu Sans"/>
              </a:rPr>
              <a:t>Click for specific IEPC GUI-window</a:t>
            </a:r>
            <a:endParaRPr lang="en-US" sz="1050" b="0" strike="noStrike" spc="-1">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Gearbox Form for IEPC Vehicles</a:t>
            </a:r>
            <a:endParaRPr lang="en-US" sz="2400" b="0" strike="noStrike" spc="-1">
              <a:latin typeface="Arial"/>
            </a:endParaRPr>
          </a:p>
        </p:txBody>
      </p:sp>
      <p:sp>
        <p:nvSpPr>
          <p:cNvPr id="134" name="PlaceHolder 2"/>
          <p:cNvSpPr>
            <a:spLocks noGrp="1"/>
          </p:cNvSpPr>
          <p:nvPr>
            <p:ph/>
          </p:nvPr>
        </p:nvSpPr>
        <p:spPr>
          <a:xfrm>
            <a:off x="622440" y="2137320"/>
            <a:ext cx="3633840" cy="348120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No gearbox file needs to be provided for IEPC with differential included (case 2)</a:t>
            </a:r>
            <a:endParaRPr lang="en-US" sz="20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New IEPC gearbox type for all other variants where only the axlegear ratio needs to be provided</a:t>
            </a:r>
            <a:endParaRPr lang="en-US" sz="2000" b="0" strike="noStrike" spc="-1">
              <a:latin typeface="Arial"/>
            </a:endParaRPr>
          </a:p>
        </p:txBody>
      </p:sp>
      <p:sp>
        <p:nvSpPr>
          <p:cNvPr id="135"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pic>
        <p:nvPicPr>
          <p:cNvPr id="136" name="Grafik 4"/>
          <p:cNvPicPr/>
          <p:nvPr/>
        </p:nvPicPr>
        <p:blipFill>
          <a:blip r:embed="rId2"/>
          <a:stretch/>
        </p:blipFill>
        <p:spPr>
          <a:xfrm>
            <a:off x="4500000" y="2137320"/>
            <a:ext cx="3516120" cy="3321720"/>
          </a:xfrm>
          <a:prstGeom prst="rect">
            <a:avLst/>
          </a:prstGeom>
          <a:ln w="0">
            <a:noFill/>
          </a:ln>
        </p:spPr>
      </p:pic>
      <p:sp>
        <p:nvSpPr>
          <p:cNvPr id="137" name="Gerade Verbindung mit Pfeil 5"/>
          <p:cNvSpPr/>
          <p:nvPr/>
        </p:nvSpPr>
        <p:spPr>
          <a:xfrm flipH="1">
            <a:off x="6164280" y="2885400"/>
            <a:ext cx="811440" cy="291600"/>
          </a:xfrm>
          <a:custGeom>
            <a:avLst/>
            <a:gdLst/>
            <a:ahLst/>
            <a:cxnLst/>
            <a:rect l="l" t="t" r="r" b="b"/>
            <a:pathLst>
              <a:path w="21600" h="21600">
                <a:moveTo>
                  <a:pt x="0" y="0"/>
                </a:moveTo>
                <a:lnTo>
                  <a:pt x="21600" y="21600"/>
                </a:lnTo>
              </a:path>
            </a:pathLst>
          </a:custGeom>
          <a:noFill/>
          <a:ln>
            <a:solidFill>
              <a:srgbClr val="4F81BD"/>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138" name="Textfeld 6"/>
          <p:cNvSpPr/>
          <p:nvPr/>
        </p:nvSpPr>
        <p:spPr>
          <a:xfrm>
            <a:off x="6977160" y="2596680"/>
            <a:ext cx="2003760" cy="56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524"/>
              </a:spcBef>
              <a:buNone/>
            </a:pPr>
            <a:r>
              <a:rPr lang="en-US" sz="1050" b="1" strike="noStrike" spc="-1">
                <a:solidFill>
                  <a:srgbClr val="FF0000"/>
                </a:solidFill>
                <a:latin typeface="Arial"/>
                <a:ea typeface="DejaVu Sans"/>
              </a:rPr>
              <a:t>Specific Gearbox Type for IEPC. Only requires axlegear to be provided</a:t>
            </a:r>
            <a:endParaRPr lang="en-US" sz="1050" b="0" strike="noStrike" spc="-1">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Modeling of IHPC component</a:t>
            </a:r>
            <a:endParaRPr lang="en-US" sz="2400" b="0" strike="noStrike" spc="-1">
              <a:latin typeface="Arial"/>
            </a:endParaRPr>
          </a:p>
        </p:txBody>
      </p:sp>
      <p:sp>
        <p:nvSpPr>
          <p:cNvPr id="140"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IHPC transmission is modeled as APT-N</a:t>
            </a:r>
            <a:endParaRPr lang="en-US" sz="20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IHPC electric motor is modeled as regular electric motor at position P2</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Gear-dependent power maps</a:t>
            </a:r>
            <a:endParaRPr lang="en-US" sz="1800" b="0" strike="noStrike" spc="-1">
              <a:latin typeface="Arial"/>
            </a:endParaRPr>
          </a:p>
          <a:p>
            <a:pPr>
              <a:lnSpc>
                <a:spcPct val="100000"/>
              </a:lnSpc>
              <a:buNone/>
            </a:pPr>
            <a:endParaRPr lang="en-US" sz="18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Peculiarities of IHPC</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Drag-curve shall be set to </a:t>
            </a:r>
            <a:r>
              <a:rPr lang="en-US" sz="1800" b="1" strike="noStrike" spc="-1">
                <a:solidFill>
                  <a:srgbClr val="000000"/>
                </a:solidFill>
                <a:latin typeface="Arial"/>
              </a:rPr>
              <a:t>0 Nm</a:t>
            </a:r>
            <a:r>
              <a:rPr lang="en-US" sz="1800" b="0" strike="noStrike" spc="-1">
                <a:solidFill>
                  <a:srgbClr val="000000"/>
                </a:solidFill>
                <a:latin typeface="Arial"/>
              </a:rPr>
              <a:t> acc. to Annex Xb</a:t>
            </a:r>
            <a:endParaRPr lang="en-US" sz="1800" b="0" strike="noStrike" spc="-1">
              <a:latin typeface="Arial"/>
            </a:endParaRPr>
          </a:p>
          <a:p>
            <a:pPr>
              <a:lnSpc>
                <a:spcPct val="100000"/>
              </a:lnSpc>
              <a:buNone/>
            </a:pPr>
            <a:endParaRPr lang="en-US" sz="18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For detailed description of component characteristics as well as</a:t>
            </a:r>
            <a:br>
              <a:rPr sz="2000"/>
            </a:br>
            <a:r>
              <a:rPr lang="en-US" sz="2000" b="0" strike="noStrike" spc="-1">
                <a:solidFill>
                  <a:srgbClr val="000000"/>
                </a:solidFill>
                <a:latin typeface="Arial"/>
              </a:rPr>
              <a:t>testing and measurement post-processing methods please refer to Annex Xb</a:t>
            </a:r>
            <a:endParaRPr lang="en-US" sz="2000" b="0" strike="noStrike" spc="-1">
              <a:latin typeface="Arial"/>
            </a:endParaRPr>
          </a:p>
        </p:txBody>
      </p:sp>
      <p:sp>
        <p:nvSpPr>
          <p:cNvPr id="141"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Input data for IHPC component</a:t>
            </a:r>
            <a:endParaRPr lang="en-US" sz="2400" b="0" strike="noStrike" spc="-1">
              <a:latin typeface="Arial"/>
            </a:endParaRPr>
          </a:p>
        </p:txBody>
      </p:sp>
      <p:sp>
        <p:nvSpPr>
          <p:cNvPr id="143"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IHPC general parameters EM </a:t>
            </a:r>
            <a:r>
              <a:rPr lang="en-US" sz="2000" b="0" i="1" strike="noStrike" spc="-1">
                <a:solidFill>
                  <a:srgbClr val="000000"/>
                </a:solidFill>
                <a:latin typeface="Arial"/>
              </a:rPr>
              <a:t>(same as for basic EM component)</a:t>
            </a:r>
            <a:endParaRPr lang="en-US" sz="2000" b="0" strike="noStrike" spc="-1">
              <a:latin typeface="Arial"/>
            </a:endParaRPr>
          </a:p>
        </p:txBody>
      </p:sp>
      <p:sp>
        <p:nvSpPr>
          <p:cNvPr id="144"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graphicFrame>
        <p:nvGraphicFramePr>
          <p:cNvPr id="145" name="Tabelle 4"/>
          <p:cNvGraphicFramePr/>
          <p:nvPr/>
        </p:nvGraphicFramePr>
        <p:xfrm>
          <a:off x="933480" y="2647800"/>
          <a:ext cx="7835040" cy="741240"/>
        </p:xfrm>
        <a:graphic>
          <a:graphicData uri="http://schemas.openxmlformats.org/drawingml/2006/table">
            <a:tbl>
              <a:tblPr/>
              <a:tblGrid>
                <a:gridCol w="2730240">
                  <a:extLst>
                    <a:ext uri="{9D8B030D-6E8A-4147-A177-3AD203B41FA5}">
                      <a16:colId xmlns:a16="http://schemas.microsoft.com/office/drawing/2014/main" val="20000"/>
                    </a:ext>
                  </a:extLst>
                </a:gridCol>
                <a:gridCol w="5105160">
                  <a:extLst>
                    <a:ext uri="{9D8B030D-6E8A-4147-A177-3AD203B41FA5}">
                      <a16:colId xmlns:a16="http://schemas.microsoft.com/office/drawing/2014/main" val="20001"/>
                    </a:ext>
                  </a:extLst>
                </a:gridCol>
              </a:tblGrid>
              <a:tr h="370800">
                <a:tc>
                  <a:txBody>
                    <a:bodyPr/>
                    <a:lstStyle/>
                    <a:p>
                      <a:pPr>
                        <a:lnSpc>
                          <a:spcPct val="100000"/>
                        </a:lnSpc>
                        <a:buNone/>
                      </a:pPr>
                      <a:r>
                        <a:rPr lang="de-AT" sz="1200" b="1" strike="noStrike" spc="-1">
                          <a:solidFill>
                            <a:srgbClr val="FFFFFF"/>
                          </a:solidFill>
                          <a:latin typeface="Arial"/>
                        </a:rPr>
                        <a:t>Parameter name</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buNone/>
                      </a:pPr>
                      <a:r>
                        <a:rPr lang="de-AT" sz="1200" b="1" strike="noStrike" spc="-1">
                          <a:solidFill>
                            <a:srgbClr val="FFFFFF"/>
                          </a:solidFill>
                          <a:latin typeface="Arial"/>
                        </a:rPr>
                        <a:t>Description</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370800">
                <a:tc>
                  <a:txBody>
                    <a:bodyPr/>
                    <a:lstStyle/>
                    <a:p>
                      <a:pPr>
                        <a:lnSpc>
                          <a:spcPct val="100000"/>
                        </a:lnSpc>
                        <a:buNone/>
                      </a:pPr>
                      <a:r>
                        <a:rPr lang="de-AT" sz="1200" b="0" strike="noStrike" spc="-1">
                          <a:solidFill>
                            <a:srgbClr val="000000"/>
                          </a:solidFill>
                          <a:latin typeface="Arial"/>
                        </a:rPr>
                        <a:t>RotationalInertia</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buNone/>
                      </a:pPr>
                      <a:r>
                        <a:rPr lang="en-US" sz="1200" b="0" strike="noStrike" spc="-1">
                          <a:solidFill>
                            <a:srgbClr val="000000"/>
                          </a:solidFill>
                          <a:latin typeface="Arial"/>
                        </a:rPr>
                        <a:t>For EM inertia, gearbox parts not to be considered (as for regular transmission components). Reference point for definition of inertia is EM output shaft. </a:t>
                      </a:r>
                      <a:endParaRPr lang="en-US" sz="1200" b="0" strike="noStrike" spc="-1">
                        <a:latin typeface="Arial"/>
                      </a:endParaRPr>
                    </a:p>
                    <a:p>
                      <a:pPr>
                        <a:lnSpc>
                          <a:spcPct val="100000"/>
                        </a:lnSpc>
                        <a:buNone/>
                      </a:pPr>
                      <a:r>
                        <a:rPr lang="en-US" sz="1200" b="0" strike="noStrike" spc="-1">
                          <a:solidFill>
                            <a:srgbClr val="000000"/>
                          </a:solidFill>
                          <a:latin typeface="Arial"/>
                        </a:rPr>
                        <a:t>Determined in accordance with point 8 of Appendix 8 of Annex Xb.</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Input data for IHPC component</a:t>
            </a:r>
            <a:endParaRPr lang="en-US" sz="2400" b="0" strike="noStrike" spc="-1">
              <a:latin typeface="Arial"/>
            </a:endParaRPr>
          </a:p>
        </p:txBody>
      </p:sp>
      <p:sp>
        <p:nvSpPr>
          <p:cNvPr id="147"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IHPC performance parameters EM</a:t>
            </a:r>
            <a:br>
              <a:rPr sz="2000"/>
            </a:br>
            <a:r>
              <a:rPr lang="en-US" sz="2000" b="0" strike="noStrike" spc="-1">
                <a:solidFill>
                  <a:srgbClr val="000000"/>
                </a:solidFill>
                <a:latin typeface="Wingdings"/>
              </a:rPr>
              <a:t></a:t>
            </a:r>
            <a:r>
              <a:rPr lang="en-US" sz="2000" b="0" strike="noStrike" spc="-1">
                <a:solidFill>
                  <a:srgbClr val="000000"/>
                </a:solidFill>
                <a:latin typeface="Arial"/>
              </a:rPr>
              <a:t> </a:t>
            </a:r>
            <a:r>
              <a:rPr lang="en-US" sz="2000" b="0" i="1" strike="noStrike" spc="-1">
                <a:solidFill>
                  <a:srgbClr val="000000"/>
                </a:solidFill>
                <a:latin typeface="Arial"/>
              </a:rPr>
              <a:t>same as for basic EM component, except </a:t>
            </a:r>
            <a:r>
              <a:rPr lang="en-US" sz="2000" b="1" i="1" u="sng" strike="noStrike" spc="-1">
                <a:solidFill>
                  <a:srgbClr val="000000"/>
                </a:solidFill>
                <a:uFillTx/>
                <a:latin typeface="Arial"/>
              </a:rPr>
              <a:t>multiple El. power maps</a:t>
            </a:r>
            <a:endParaRPr lang="en-US" sz="2000" b="0" strike="noStrike" spc="-1">
              <a:latin typeface="Arial"/>
            </a:endParaRPr>
          </a:p>
        </p:txBody>
      </p:sp>
      <p:sp>
        <p:nvSpPr>
          <p:cNvPr id="148"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graphicFrame>
        <p:nvGraphicFramePr>
          <p:cNvPr id="149" name="Tabelle 4"/>
          <p:cNvGraphicFramePr/>
          <p:nvPr/>
        </p:nvGraphicFramePr>
        <p:xfrm>
          <a:off x="933480" y="3238560"/>
          <a:ext cx="7835040" cy="2581920"/>
        </p:xfrm>
        <a:graphic>
          <a:graphicData uri="http://schemas.openxmlformats.org/drawingml/2006/table">
            <a:tbl>
              <a:tblPr/>
              <a:tblGrid>
                <a:gridCol w="2419200">
                  <a:extLst>
                    <a:ext uri="{9D8B030D-6E8A-4147-A177-3AD203B41FA5}">
                      <a16:colId xmlns:a16="http://schemas.microsoft.com/office/drawing/2014/main" val="20000"/>
                    </a:ext>
                  </a:extLst>
                </a:gridCol>
                <a:gridCol w="5416200">
                  <a:extLst>
                    <a:ext uri="{9D8B030D-6E8A-4147-A177-3AD203B41FA5}">
                      <a16:colId xmlns:a16="http://schemas.microsoft.com/office/drawing/2014/main" val="20001"/>
                    </a:ext>
                  </a:extLst>
                </a:gridCol>
              </a:tblGrid>
              <a:tr h="370800">
                <a:tc>
                  <a:txBody>
                    <a:bodyPr/>
                    <a:lstStyle/>
                    <a:p>
                      <a:pPr>
                        <a:lnSpc>
                          <a:spcPct val="100000"/>
                        </a:lnSpc>
                        <a:buNone/>
                      </a:pPr>
                      <a:r>
                        <a:rPr lang="de-AT" sz="1200" b="1" strike="noStrike" spc="-1">
                          <a:solidFill>
                            <a:srgbClr val="FFFFFF"/>
                          </a:solidFill>
                          <a:latin typeface="Arial"/>
                        </a:rPr>
                        <a:t>Parameter name</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buNone/>
                      </a:pPr>
                      <a:r>
                        <a:rPr lang="de-AT" sz="1200" b="1" strike="noStrike" spc="-1">
                          <a:solidFill>
                            <a:srgbClr val="FFFFFF"/>
                          </a:solidFill>
                          <a:latin typeface="Arial"/>
                        </a:rPr>
                        <a:t>Description</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370800">
                <a:tc>
                  <a:txBody>
                    <a:bodyPr/>
                    <a:lstStyle/>
                    <a:p>
                      <a:pPr>
                        <a:lnSpc>
                          <a:spcPct val="100000"/>
                        </a:lnSpc>
                        <a:buNone/>
                      </a:pPr>
                      <a:r>
                        <a:rPr lang="de-AT" sz="1200" b="0" strike="noStrike" spc="-1">
                          <a:solidFill>
                            <a:srgbClr val="000000"/>
                          </a:solidFill>
                          <a:latin typeface="Arial"/>
                        </a:rPr>
                        <a:t>Gear data</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buNone/>
                      </a:pPr>
                      <a:r>
                        <a:rPr lang="en-US" sz="1200" b="0" strike="noStrike" spc="-1">
                          <a:solidFill>
                            <a:srgbClr val="000000"/>
                          </a:solidFill>
                          <a:latin typeface="Arial"/>
                        </a:rPr>
                        <a:t>For each gear: number (needs to match with specifications in gearbox file)</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r h="603720">
                <a:tc>
                  <a:txBody>
                    <a:bodyPr/>
                    <a:lstStyle/>
                    <a:p>
                      <a:pPr>
                        <a:lnSpc>
                          <a:spcPct val="100000"/>
                        </a:lnSpc>
                        <a:buNone/>
                      </a:pPr>
                      <a:r>
                        <a:rPr lang="de-AT" sz="1200" b="0" strike="noStrike" spc="-1">
                          <a:solidFill>
                            <a:srgbClr val="000000"/>
                          </a:solidFill>
                          <a:latin typeface="Arial"/>
                        </a:rPr>
                        <a:t>Overload data</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200" b="0" strike="noStrike" spc="-1">
                          <a:solidFill>
                            <a:srgbClr val="000000"/>
                          </a:solidFill>
                          <a:latin typeface="Arial"/>
                        </a:rPr>
                        <a:t>Overload and Continuous operation point and Overload Time</a:t>
                      </a:r>
                      <a:endParaRPr lang="en-US" sz="1200" b="0" strike="noStrike" spc="-1">
                        <a:latin typeface="Arial"/>
                      </a:endParaRPr>
                    </a:p>
                    <a:p>
                      <a:pPr>
                        <a:lnSpc>
                          <a:spcPct val="100000"/>
                        </a:lnSpc>
                        <a:buNone/>
                      </a:pPr>
                      <a:r>
                        <a:rPr lang="en-US" sz="1200" b="0" strike="noStrike" spc="-1">
                          <a:solidFill>
                            <a:srgbClr val="000000"/>
                          </a:solidFill>
                          <a:latin typeface="Arial"/>
                        </a:rPr>
                        <a:t>For each voltage level separately</a:t>
                      </a:r>
                      <a:endParaRPr lang="en-US" sz="1200" b="0" strike="noStrike" spc="-1">
                        <a:latin typeface="Arial"/>
                      </a:endParaRPr>
                    </a:p>
                    <a:p>
                      <a:pPr>
                        <a:lnSpc>
                          <a:spcPct val="100000"/>
                        </a:lnSpc>
                        <a:buNone/>
                      </a:pPr>
                      <a:r>
                        <a:rPr lang="en-US" sz="1200" b="0" strike="noStrike" spc="-1">
                          <a:solidFill>
                            <a:srgbClr val="000000"/>
                          </a:solidFill>
                          <a:latin typeface="Arial"/>
                        </a:rPr>
                        <a:t>Measured in gear closest to ratio 1 acc. to Annex Xb</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433080">
                <a:tc>
                  <a:txBody>
                    <a:bodyPr/>
                    <a:lstStyle/>
                    <a:p>
                      <a:pPr>
                        <a:lnSpc>
                          <a:spcPct val="100000"/>
                        </a:lnSpc>
                        <a:buNone/>
                      </a:pPr>
                      <a:r>
                        <a:rPr lang="de-AT" sz="1200" b="0" strike="noStrike" spc="-1">
                          <a:solidFill>
                            <a:srgbClr val="000000"/>
                          </a:solidFill>
                          <a:latin typeface="Arial"/>
                        </a:rPr>
                        <a:t>Max/min torque limits</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tabLst>
                          <a:tab pos="0" algn="l"/>
                        </a:tabLst>
                      </a:pPr>
                      <a:r>
                        <a:rPr lang="en-US" sz="1200" b="0" strike="noStrike" spc="-1">
                          <a:solidFill>
                            <a:srgbClr val="000000"/>
                          </a:solidFill>
                          <a:latin typeface="Arial"/>
                        </a:rPr>
                        <a:t>Full load curve (only for one gear closest to ratio 1 acc. to Annex Xb)</a:t>
                      </a:r>
                      <a:endParaRPr lang="en-US" sz="1200" b="0" strike="noStrike" spc="-1">
                        <a:latin typeface="Arial"/>
                      </a:endParaRPr>
                    </a:p>
                    <a:p>
                      <a:pPr>
                        <a:lnSpc>
                          <a:spcPct val="100000"/>
                        </a:lnSpc>
                        <a:buNone/>
                        <a:tabLst>
                          <a:tab pos="0" algn="l"/>
                        </a:tabLst>
                      </a:pPr>
                      <a:r>
                        <a:rPr lang="en-US" sz="1200" b="0" strike="noStrike" spc="-1">
                          <a:solidFill>
                            <a:srgbClr val="000000"/>
                          </a:solidFill>
                          <a:latin typeface="Arial"/>
                        </a:rPr>
                        <a:t>For each voltage level separately</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370800">
                <a:tc>
                  <a:txBody>
                    <a:bodyPr/>
                    <a:lstStyle/>
                    <a:p>
                      <a:pPr>
                        <a:lnSpc>
                          <a:spcPct val="100000"/>
                        </a:lnSpc>
                        <a:buNone/>
                      </a:pPr>
                      <a:r>
                        <a:rPr lang="de-AT" sz="1200" b="0" strike="noStrike" spc="-1">
                          <a:solidFill>
                            <a:srgbClr val="000000"/>
                          </a:solidFill>
                          <a:latin typeface="Arial"/>
                        </a:rPr>
                        <a:t>Drag torque</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200" b="1" u="sng" strike="noStrike" spc="-1">
                          <a:solidFill>
                            <a:srgbClr val="000000"/>
                          </a:solidFill>
                          <a:uFillTx/>
                          <a:latin typeface="Arial"/>
                        </a:rPr>
                        <a:t>NOT MEASURED</a:t>
                      </a:r>
                      <a:r>
                        <a:rPr lang="en-US" sz="1200" b="0" strike="noStrike" spc="-1">
                          <a:solidFill>
                            <a:srgbClr val="000000"/>
                          </a:solidFill>
                          <a:latin typeface="Arial"/>
                        </a:rPr>
                        <a:t> acc. to Annex Xb, but input of “0 Nm” drag torque reqired!</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r h="433080">
                <a:tc>
                  <a:txBody>
                    <a:bodyPr/>
                    <a:lstStyle/>
                    <a:p>
                      <a:pPr>
                        <a:lnSpc>
                          <a:spcPct val="100000"/>
                        </a:lnSpc>
                        <a:buNone/>
                      </a:pPr>
                      <a:r>
                        <a:rPr lang="de-AT" sz="1200" b="0" strike="noStrike" spc="-1">
                          <a:solidFill>
                            <a:srgbClr val="000000"/>
                          </a:solidFill>
                          <a:latin typeface="Arial"/>
                        </a:rPr>
                        <a:t>Electric power maps</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pPr>
                      <a:r>
                        <a:rPr lang="en-US" sz="1200" b="0" strike="noStrike" spc="-1">
                          <a:solidFill>
                            <a:srgbClr val="000000"/>
                          </a:solidFill>
                          <a:latin typeface="Arial"/>
                        </a:rPr>
                        <a:t>For each gear</a:t>
                      </a:r>
                      <a:endParaRPr lang="en-US" sz="1200" b="0" strike="noStrike" spc="-1">
                        <a:latin typeface="Arial"/>
                      </a:endParaRPr>
                    </a:p>
                    <a:p>
                      <a:pPr>
                        <a:lnSpc>
                          <a:spcPct val="100000"/>
                        </a:lnSpc>
                        <a:buNone/>
                      </a:pPr>
                      <a:r>
                        <a:rPr lang="en-US" sz="1200" b="0" strike="noStrike" spc="-1">
                          <a:solidFill>
                            <a:srgbClr val="000000"/>
                          </a:solidFill>
                          <a:latin typeface="Arial"/>
                        </a:rPr>
                        <a:t>For each voltage level separately</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Input data for IHPC component</a:t>
            </a:r>
            <a:endParaRPr lang="en-US" sz="2400" b="0" strike="noStrike" spc="-1">
              <a:latin typeface="Arial"/>
            </a:endParaRPr>
          </a:p>
        </p:txBody>
      </p:sp>
      <p:sp>
        <p:nvSpPr>
          <p:cNvPr id="151"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IHPC parameters Gearbox</a:t>
            </a:r>
            <a:br>
              <a:rPr sz="2000"/>
            </a:br>
            <a:r>
              <a:rPr lang="en-US" sz="2000" b="0" strike="noStrike" spc="-1">
                <a:solidFill>
                  <a:srgbClr val="000000"/>
                </a:solidFill>
                <a:latin typeface="Wingdings"/>
              </a:rPr>
              <a:t></a:t>
            </a:r>
            <a:r>
              <a:rPr lang="en-US" sz="2000" b="0" strike="noStrike" spc="-1">
                <a:solidFill>
                  <a:srgbClr val="000000"/>
                </a:solidFill>
                <a:latin typeface="Arial"/>
              </a:rPr>
              <a:t> </a:t>
            </a:r>
            <a:r>
              <a:rPr lang="en-US" sz="2000" b="0" i="1" strike="noStrike" spc="-1">
                <a:solidFill>
                  <a:srgbClr val="000000"/>
                </a:solidFill>
                <a:latin typeface="Arial"/>
              </a:rPr>
              <a:t>same as for basic transmission component</a:t>
            </a:r>
            <a:br>
              <a:rPr sz="2000"/>
            </a:br>
            <a:r>
              <a:rPr lang="en-US" sz="2000" b="0" i="1" strike="noStrike" spc="-1">
                <a:solidFill>
                  <a:srgbClr val="000000"/>
                </a:solidFill>
                <a:latin typeface="Wingdings"/>
              </a:rPr>
              <a:t></a:t>
            </a:r>
            <a:r>
              <a:rPr lang="en-US" sz="2000" b="0" i="1" strike="noStrike" spc="-1">
                <a:solidFill>
                  <a:srgbClr val="000000"/>
                </a:solidFill>
                <a:latin typeface="Arial"/>
              </a:rPr>
              <a:t> transmission type needs to be set to </a:t>
            </a:r>
            <a:r>
              <a:rPr lang="en-US" sz="2000" b="1" i="1" u="sng" strike="noStrike" spc="-1">
                <a:solidFill>
                  <a:srgbClr val="000000"/>
                </a:solidFill>
                <a:uFillTx/>
                <a:latin typeface="Arial"/>
              </a:rPr>
              <a:t>”IHPC Transmission”</a:t>
            </a:r>
            <a:endParaRPr lang="en-US" sz="2000" b="0" strike="noStrike" spc="-1">
              <a:latin typeface="Arial"/>
            </a:endParaRPr>
          </a:p>
        </p:txBody>
      </p:sp>
      <p:sp>
        <p:nvSpPr>
          <p:cNvPr id="152"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graphicFrame>
        <p:nvGraphicFramePr>
          <p:cNvPr id="153" name="Tabelle 4"/>
          <p:cNvGraphicFramePr/>
          <p:nvPr/>
        </p:nvGraphicFramePr>
        <p:xfrm>
          <a:off x="933480" y="3238560"/>
          <a:ext cx="7835040" cy="1482840"/>
        </p:xfrm>
        <a:graphic>
          <a:graphicData uri="http://schemas.openxmlformats.org/drawingml/2006/table">
            <a:tbl>
              <a:tblPr/>
              <a:tblGrid>
                <a:gridCol w="2419200">
                  <a:extLst>
                    <a:ext uri="{9D8B030D-6E8A-4147-A177-3AD203B41FA5}">
                      <a16:colId xmlns:a16="http://schemas.microsoft.com/office/drawing/2014/main" val="20000"/>
                    </a:ext>
                  </a:extLst>
                </a:gridCol>
                <a:gridCol w="5416200">
                  <a:extLst>
                    <a:ext uri="{9D8B030D-6E8A-4147-A177-3AD203B41FA5}">
                      <a16:colId xmlns:a16="http://schemas.microsoft.com/office/drawing/2014/main" val="20001"/>
                    </a:ext>
                  </a:extLst>
                </a:gridCol>
              </a:tblGrid>
              <a:tr h="370800">
                <a:tc>
                  <a:txBody>
                    <a:bodyPr/>
                    <a:lstStyle/>
                    <a:p>
                      <a:pPr>
                        <a:lnSpc>
                          <a:spcPct val="100000"/>
                        </a:lnSpc>
                        <a:buNone/>
                      </a:pPr>
                      <a:r>
                        <a:rPr lang="de-AT" sz="1200" b="1" strike="noStrike" spc="-1">
                          <a:solidFill>
                            <a:srgbClr val="FFFFFF"/>
                          </a:solidFill>
                          <a:latin typeface="Arial"/>
                        </a:rPr>
                        <a:t>Parameter name</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buNone/>
                      </a:pPr>
                      <a:r>
                        <a:rPr lang="de-AT" sz="1200" b="1" strike="noStrike" spc="-1">
                          <a:solidFill>
                            <a:srgbClr val="FFFFFF"/>
                          </a:solidFill>
                          <a:latin typeface="Arial"/>
                        </a:rPr>
                        <a:t>Description</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370800">
                <a:tc>
                  <a:txBody>
                    <a:bodyPr/>
                    <a:lstStyle/>
                    <a:p>
                      <a:pPr>
                        <a:lnSpc>
                          <a:spcPct val="100000"/>
                        </a:lnSpc>
                        <a:buNone/>
                      </a:pPr>
                      <a:r>
                        <a:rPr lang="de-AT" sz="1200" b="0" strike="noStrike" spc="-1">
                          <a:solidFill>
                            <a:srgbClr val="000000"/>
                          </a:solidFill>
                          <a:latin typeface="Arial"/>
                        </a:rPr>
                        <a:t>Gear identifier</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buNone/>
                      </a:pPr>
                      <a:r>
                        <a:rPr lang="en-US" sz="1200" b="0" strike="noStrike" spc="-1">
                          <a:solidFill>
                            <a:srgbClr val="000000"/>
                          </a:solidFill>
                          <a:latin typeface="Arial"/>
                        </a:rPr>
                        <a:t>For each gear (number needs to match with specifications in IHPC file)</a:t>
                      </a:r>
                      <a:endParaRPr lang="en-US" sz="1200" b="0" strike="noStrike" spc="-1">
                        <a:latin typeface="Arial"/>
                      </a:endParaRPr>
                    </a:p>
                    <a:p>
                      <a:pPr>
                        <a:lnSpc>
                          <a:spcPct val="100000"/>
                        </a:lnSpc>
                        <a:buNone/>
                      </a:pPr>
                      <a:r>
                        <a:rPr lang="en-US" sz="1200" b="0" strike="noStrike" spc="-1">
                          <a:solidFill>
                            <a:srgbClr val="000000"/>
                          </a:solidFill>
                          <a:latin typeface="Wingdings"/>
                        </a:rPr>
                        <a:t></a:t>
                      </a:r>
                      <a:r>
                        <a:rPr lang="en-US" sz="1200" b="0" strike="noStrike" spc="-1">
                          <a:solidFill>
                            <a:srgbClr val="000000"/>
                          </a:solidFill>
                          <a:latin typeface="Arial"/>
                        </a:rPr>
                        <a:t> Regular axle component to be specified as well</a:t>
                      </a:r>
                      <a:endParaRPr lang="en-US" sz="12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r h="370800">
                <a:tc>
                  <a:txBody>
                    <a:bodyPr/>
                    <a:lstStyle/>
                    <a:p>
                      <a:pPr>
                        <a:lnSpc>
                          <a:spcPct val="100000"/>
                        </a:lnSpc>
                        <a:buNone/>
                      </a:pPr>
                      <a:r>
                        <a:rPr lang="de-AT" sz="1200" b="0" strike="noStrike" spc="-1">
                          <a:solidFill>
                            <a:srgbClr val="000000"/>
                          </a:solidFill>
                          <a:latin typeface="Arial"/>
                        </a:rPr>
                        <a:t>Ratio</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200" b="0" strike="noStrike" spc="-1">
                          <a:solidFill>
                            <a:srgbClr val="000000"/>
                          </a:solidFill>
                          <a:latin typeface="Arial"/>
                        </a:rPr>
                        <a:t>For each gear</a:t>
                      </a:r>
                      <a:endParaRPr lang="en-US" sz="1200" b="0" strike="noStrike" spc="-1">
                        <a:latin typeface="Arial"/>
                      </a:endParaRPr>
                    </a:p>
                    <a:p>
                      <a:pPr>
                        <a:lnSpc>
                          <a:spcPct val="100000"/>
                        </a:lnSpc>
                        <a:buNone/>
                      </a:pPr>
                      <a:endParaRPr lang="en-US" sz="1200" b="0" strike="noStrike" spc="-1">
                        <a:latin typeface="Arial"/>
                      </a:endParaRPr>
                    </a:p>
                    <a:p>
                      <a:pPr>
                        <a:lnSpc>
                          <a:spcPct val="100000"/>
                        </a:lnSpc>
                        <a:buNone/>
                      </a:pPr>
                      <a:r>
                        <a:rPr lang="en-US" sz="1200" b="0" strike="noStrike" spc="-1">
                          <a:solidFill>
                            <a:srgbClr val="000000"/>
                          </a:solidFill>
                          <a:latin typeface="Wingdings"/>
                        </a:rPr>
                        <a:t></a:t>
                      </a:r>
                      <a:r>
                        <a:rPr lang="en-US" sz="1200" b="0" strike="noStrike" spc="-1">
                          <a:solidFill>
                            <a:srgbClr val="000000"/>
                          </a:solidFill>
                          <a:latin typeface="Arial"/>
                        </a:rPr>
                        <a:t> Regular axle component to be specified as well</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370800">
                <a:tc>
                  <a:txBody>
                    <a:bodyPr/>
                    <a:lstStyle/>
                    <a:p>
                      <a:pPr>
                        <a:lnSpc>
                          <a:spcPct val="100000"/>
                        </a:lnSpc>
                        <a:buNone/>
                      </a:pPr>
                      <a:r>
                        <a:rPr lang="de-AT" sz="1200" b="0" strike="noStrike" spc="-1">
                          <a:solidFill>
                            <a:srgbClr val="000000"/>
                          </a:solidFill>
                          <a:latin typeface="Arial"/>
                        </a:rPr>
                        <a:t>Loss Map</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tabLst>
                          <a:tab pos="0" algn="l"/>
                        </a:tabLst>
                      </a:pPr>
                      <a:r>
                        <a:rPr lang="en-US" sz="1200" b="0" strike="noStrike" spc="-1">
                          <a:solidFill>
                            <a:srgbClr val="000000"/>
                          </a:solidFill>
                          <a:latin typeface="Arial"/>
                        </a:rPr>
                        <a:t>For each gear</a:t>
                      </a:r>
                      <a:endParaRPr lang="en-US" sz="1200" b="0" strike="noStrike" spc="-1">
                        <a:latin typeface="Arial"/>
                      </a:endParaRPr>
                    </a:p>
                    <a:p>
                      <a:pPr>
                        <a:lnSpc>
                          <a:spcPct val="100000"/>
                        </a:lnSpc>
                        <a:buNone/>
                        <a:tabLst>
                          <a:tab pos="0" algn="l"/>
                        </a:tabLst>
                      </a:pPr>
                      <a:r>
                        <a:rPr lang="en-US" sz="1200" b="0" strike="noStrike" spc="-1">
                          <a:solidFill>
                            <a:srgbClr val="000000"/>
                          </a:solidFill>
                          <a:latin typeface="Wingdings"/>
                        </a:rPr>
                        <a:t></a:t>
                      </a:r>
                      <a:r>
                        <a:rPr lang="en-US" sz="1200" b="0" strike="noStrike" spc="-1">
                          <a:solidFill>
                            <a:srgbClr val="000000"/>
                          </a:solidFill>
                          <a:latin typeface="Arial"/>
                        </a:rPr>
                        <a:t> Methodology how to derive data acc. to Annex Xb</a:t>
                      </a:r>
                      <a:br>
                        <a:rPr sz="1200"/>
                      </a:br>
                      <a:r>
                        <a:rPr lang="en-US" sz="1200" b="0" strike="noStrike" spc="-1">
                          <a:solidFill>
                            <a:srgbClr val="000000"/>
                          </a:solidFill>
                          <a:latin typeface="Arial"/>
                        </a:rPr>
                        <a:t>(esp. braking side needs to be measured separately as well – as opposed to copy-paste for regular transmission testing)</a:t>
                      </a:r>
                      <a:endParaRPr lang="en-US" sz="1200" b="0" strike="noStrike" spc="-1">
                        <a:latin typeface="Arial"/>
                      </a:endParaRPr>
                    </a:p>
                    <a:p>
                      <a:pPr>
                        <a:lnSpc>
                          <a:spcPct val="100000"/>
                        </a:lnSpc>
                        <a:buNone/>
                        <a:tabLst>
                          <a:tab pos="0" algn="l"/>
                        </a:tabLst>
                      </a:pPr>
                      <a:endParaRPr lang="en-US" sz="1200" b="0" strike="noStrike" spc="-1">
                        <a:latin typeface="Arial"/>
                      </a:endParaRPr>
                    </a:p>
                    <a:p>
                      <a:pPr>
                        <a:lnSpc>
                          <a:spcPct val="100000"/>
                        </a:lnSpc>
                        <a:buNone/>
                        <a:tabLst>
                          <a:tab pos="0" algn="l"/>
                        </a:tabLst>
                      </a:pPr>
                      <a:r>
                        <a:rPr lang="en-US" sz="1200" b="0" strike="noStrike" spc="-1">
                          <a:solidFill>
                            <a:srgbClr val="000000"/>
                          </a:solidFill>
                          <a:latin typeface="Wingdings"/>
                        </a:rPr>
                        <a:t></a:t>
                      </a:r>
                      <a:r>
                        <a:rPr lang="en-US" sz="1200" b="0" strike="noStrike" spc="-1">
                          <a:solidFill>
                            <a:srgbClr val="000000"/>
                          </a:solidFill>
                          <a:latin typeface="Arial"/>
                        </a:rPr>
                        <a:t> Regular axle component to be specified as well</a:t>
                      </a:r>
                      <a:endParaRPr lang="en-US" sz="12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Grafik 36"/>
          <p:cNvPicPr/>
          <p:nvPr/>
        </p:nvPicPr>
        <p:blipFill>
          <a:blip r:embed="rId2"/>
          <a:stretch/>
        </p:blipFill>
        <p:spPr>
          <a:xfrm>
            <a:off x="6566040" y="1469880"/>
            <a:ext cx="2450520" cy="2748240"/>
          </a:xfrm>
          <a:prstGeom prst="rect">
            <a:avLst/>
          </a:prstGeom>
          <a:ln w="0">
            <a:noFill/>
          </a:ln>
        </p:spPr>
      </p:pic>
      <p:pic>
        <p:nvPicPr>
          <p:cNvPr id="155" name="Grafik 34"/>
          <p:cNvPicPr/>
          <p:nvPr/>
        </p:nvPicPr>
        <p:blipFill>
          <a:blip r:embed="rId3"/>
          <a:srcRect b="44675"/>
          <a:stretch/>
        </p:blipFill>
        <p:spPr>
          <a:xfrm>
            <a:off x="5650920" y="4423680"/>
            <a:ext cx="3365280" cy="1541880"/>
          </a:xfrm>
          <a:prstGeom prst="rect">
            <a:avLst/>
          </a:prstGeom>
          <a:ln w="0">
            <a:solidFill>
              <a:srgbClr val="000000"/>
            </a:solidFill>
          </a:ln>
        </p:spPr>
      </p:pic>
      <p:pic>
        <p:nvPicPr>
          <p:cNvPr id="156" name="Grafik 27"/>
          <p:cNvPicPr/>
          <p:nvPr/>
        </p:nvPicPr>
        <p:blipFill>
          <a:blip r:embed="rId4"/>
          <a:srcRect r="43153"/>
          <a:stretch/>
        </p:blipFill>
        <p:spPr>
          <a:xfrm>
            <a:off x="676440" y="1908720"/>
            <a:ext cx="2004840" cy="2471760"/>
          </a:xfrm>
          <a:prstGeom prst="rect">
            <a:avLst/>
          </a:prstGeom>
          <a:ln w="0">
            <a:solidFill>
              <a:srgbClr val="000000"/>
            </a:solidFill>
          </a:ln>
        </p:spPr>
      </p:pic>
      <p:sp>
        <p:nvSpPr>
          <p:cNvPr id="157"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IHPC Input Form</a:t>
            </a:r>
            <a:endParaRPr lang="en-US" sz="2400" b="0" strike="noStrike" spc="-1">
              <a:latin typeface="Arial"/>
            </a:endParaRPr>
          </a:p>
        </p:txBody>
      </p:sp>
      <p:sp>
        <p:nvSpPr>
          <p:cNvPr id="158" name="PlaceHolder 2"/>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sp>
        <p:nvSpPr>
          <p:cNvPr id="159" name="Gerade Verbindung mit Pfeil 6"/>
          <p:cNvSpPr/>
          <p:nvPr/>
        </p:nvSpPr>
        <p:spPr>
          <a:xfrm flipH="1">
            <a:off x="5833080" y="4035240"/>
            <a:ext cx="224280" cy="1458000"/>
          </a:xfrm>
          <a:custGeom>
            <a:avLst/>
            <a:gdLst/>
            <a:ahLst/>
            <a:cxnLst/>
            <a:rect l="l" t="t" r="r" b="b"/>
            <a:pathLst>
              <a:path w="21600" h="21600">
                <a:moveTo>
                  <a:pt x="0" y="0"/>
                </a:moveTo>
                <a:lnTo>
                  <a:pt x="21600" y="21600"/>
                </a:lnTo>
              </a:path>
            </a:pathLst>
          </a:custGeom>
          <a:noFill/>
          <a:ln>
            <a:solidFill>
              <a:srgbClr val="FF0000"/>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160" name="Gerade Verbindung mit Pfeil 8"/>
          <p:cNvSpPr/>
          <p:nvPr/>
        </p:nvSpPr>
        <p:spPr>
          <a:xfrm flipV="1">
            <a:off x="6058800" y="3477600"/>
            <a:ext cx="657360" cy="556200"/>
          </a:xfrm>
          <a:custGeom>
            <a:avLst/>
            <a:gdLst/>
            <a:ahLst/>
            <a:cxnLst/>
            <a:rect l="l" t="t" r="r" b="b"/>
            <a:pathLst>
              <a:path w="21600" h="21600">
                <a:moveTo>
                  <a:pt x="0" y="0"/>
                </a:moveTo>
                <a:lnTo>
                  <a:pt x="21600" y="21600"/>
                </a:lnTo>
              </a:path>
            </a:pathLst>
          </a:custGeom>
          <a:noFill/>
          <a:ln>
            <a:solidFill>
              <a:srgbClr val="FF0000"/>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161" name="Pfeil nach rechts 7"/>
          <p:cNvSpPr/>
          <p:nvPr/>
        </p:nvSpPr>
        <p:spPr>
          <a:xfrm>
            <a:off x="5894280" y="2058840"/>
            <a:ext cx="611280" cy="1270440"/>
          </a:xfrm>
          <a:prstGeom prst="rightArrow">
            <a:avLst>
              <a:gd name="adj1" fmla="val 50000"/>
              <a:gd name="adj2" fmla="val 50000"/>
            </a:avLst>
          </a:prstGeom>
          <a:solidFill>
            <a:srgbClr val="FF0000"/>
          </a:solidFill>
          <a:ln>
            <a:solidFill>
              <a:srgbClr val="4A7EB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2" name="Textfeld 9"/>
          <p:cNvSpPr/>
          <p:nvPr/>
        </p:nvSpPr>
        <p:spPr>
          <a:xfrm>
            <a:off x="4579200" y="3804480"/>
            <a:ext cx="1478880" cy="45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spcBef>
                <a:spcPts val="601"/>
              </a:spcBef>
              <a:buNone/>
            </a:pPr>
            <a:r>
              <a:rPr lang="en-US" sz="1200" b="1" strike="noStrike" spc="-1">
                <a:solidFill>
                  <a:srgbClr val="000000"/>
                </a:solidFill>
                <a:latin typeface="Arial"/>
                <a:ea typeface="DejaVu Sans"/>
              </a:rPr>
              <a:t>Number of gears</a:t>
            </a:r>
            <a:br>
              <a:rPr sz="1200"/>
            </a:br>
            <a:r>
              <a:rPr lang="en-US" sz="1200" b="1" strike="noStrike" spc="-1">
                <a:solidFill>
                  <a:srgbClr val="000000"/>
                </a:solidFill>
                <a:latin typeface="Arial"/>
                <a:ea typeface="DejaVu Sans"/>
              </a:rPr>
              <a:t>need to match</a:t>
            </a:r>
            <a:endParaRPr lang="en-US" sz="1200" b="0" strike="noStrike" spc="-1">
              <a:latin typeface="Arial"/>
            </a:endParaRPr>
          </a:p>
        </p:txBody>
      </p:sp>
      <p:sp>
        <p:nvSpPr>
          <p:cNvPr id="163" name="Textfeld 11"/>
          <p:cNvSpPr/>
          <p:nvPr/>
        </p:nvSpPr>
        <p:spPr>
          <a:xfrm>
            <a:off x="583560" y="4470120"/>
            <a:ext cx="2490120" cy="107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601"/>
              </a:spcBef>
              <a:buNone/>
            </a:pPr>
            <a:r>
              <a:rPr lang="en-US" sz="1200" b="1" strike="noStrike" spc="-1">
                <a:solidFill>
                  <a:srgbClr val="000000"/>
                </a:solidFill>
                <a:latin typeface="Arial"/>
                <a:ea typeface="DejaVu Sans"/>
              </a:rPr>
              <a:t>Definition of IHPC component as two separate component parts via</a:t>
            </a:r>
            <a:br>
              <a:rPr sz="1200"/>
            </a:br>
            <a:r>
              <a:rPr lang="en-US" sz="1200" b="1" strike="noStrike" spc="-1">
                <a:solidFill>
                  <a:srgbClr val="000000"/>
                </a:solidFill>
                <a:latin typeface="Arial"/>
                <a:ea typeface="DejaVu Sans"/>
              </a:rPr>
              <a:t>#1: </a:t>
            </a:r>
            <a:r>
              <a:rPr lang="en-US" sz="1200" b="1" i="1" strike="noStrike" spc="-1">
                <a:solidFill>
                  <a:srgbClr val="000000"/>
                </a:solidFill>
                <a:latin typeface="Arial"/>
                <a:ea typeface="DejaVu Sans"/>
              </a:rPr>
              <a:t>“Vehicle \ IHPC-Tab”</a:t>
            </a:r>
            <a:endParaRPr lang="en-US" sz="1200" b="0" strike="noStrike" spc="-1">
              <a:latin typeface="Arial"/>
            </a:endParaRPr>
          </a:p>
          <a:p>
            <a:pPr algn="ctr">
              <a:lnSpc>
                <a:spcPct val="100000"/>
              </a:lnSpc>
              <a:spcBef>
                <a:spcPts val="601"/>
              </a:spcBef>
              <a:buNone/>
            </a:pPr>
            <a:r>
              <a:rPr lang="en-US" sz="1200" b="1" strike="noStrike" spc="-1">
                <a:solidFill>
                  <a:srgbClr val="000000"/>
                </a:solidFill>
                <a:latin typeface="Arial"/>
                <a:ea typeface="DejaVu Sans"/>
              </a:rPr>
              <a:t>#2: </a:t>
            </a:r>
            <a:r>
              <a:rPr lang="en-US" sz="1200" b="1" i="1" strike="noStrike" spc="-1">
                <a:solidFill>
                  <a:srgbClr val="000000"/>
                </a:solidFill>
                <a:latin typeface="Arial"/>
                <a:ea typeface="DejaVu Sans"/>
              </a:rPr>
              <a:t>“Gearbox”</a:t>
            </a:r>
            <a:endParaRPr lang="en-US" sz="1200" b="0" strike="noStrike" spc="-1">
              <a:latin typeface="Arial"/>
            </a:endParaRPr>
          </a:p>
        </p:txBody>
      </p:sp>
      <p:sp>
        <p:nvSpPr>
          <p:cNvPr id="164" name="Ellipse 12"/>
          <p:cNvSpPr/>
          <p:nvPr/>
        </p:nvSpPr>
        <p:spPr>
          <a:xfrm>
            <a:off x="583560" y="2413080"/>
            <a:ext cx="578880" cy="107280"/>
          </a:xfrm>
          <a:prstGeom prst="ellipse">
            <a:avLst/>
          </a:prstGeom>
          <a:solidFill>
            <a:srgbClr val="FF0000">
              <a:alpha val="15000"/>
            </a:srgbClr>
          </a:solidFill>
          <a:ln w="28575">
            <a:solidFill>
              <a:srgbClr val="FF000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pic>
        <p:nvPicPr>
          <p:cNvPr id="165" name="Grafik 16"/>
          <p:cNvPicPr/>
          <p:nvPr/>
        </p:nvPicPr>
        <p:blipFill>
          <a:blip r:embed="rId5"/>
          <a:srcRect b="34206"/>
          <a:stretch/>
        </p:blipFill>
        <p:spPr>
          <a:xfrm>
            <a:off x="3324600" y="1908720"/>
            <a:ext cx="2508480" cy="1623240"/>
          </a:xfrm>
          <a:prstGeom prst="rect">
            <a:avLst/>
          </a:prstGeom>
          <a:ln w="0">
            <a:solidFill>
              <a:srgbClr val="000000"/>
            </a:solidFill>
          </a:ln>
        </p:spPr>
      </p:pic>
      <p:sp>
        <p:nvSpPr>
          <p:cNvPr id="166" name="Ellipse 13"/>
          <p:cNvSpPr/>
          <p:nvPr/>
        </p:nvSpPr>
        <p:spPr>
          <a:xfrm>
            <a:off x="3357360" y="2801160"/>
            <a:ext cx="578880" cy="143280"/>
          </a:xfrm>
          <a:prstGeom prst="ellipse">
            <a:avLst/>
          </a:prstGeom>
          <a:solidFill>
            <a:srgbClr val="FF0000">
              <a:alpha val="15000"/>
            </a:srgbClr>
          </a:solidFill>
          <a:ln w="28575">
            <a:solidFill>
              <a:srgbClr val="4A7EB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7" name="Gerade Verbindung mit Pfeil 15"/>
          <p:cNvSpPr/>
          <p:nvPr/>
        </p:nvSpPr>
        <p:spPr>
          <a:xfrm flipH="1" flipV="1">
            <a:off x="3702600" y="3024720"/>
            <a:ext cx="186480" cy="330480"/>
          </a:xfrm>
          <a:custGeom>
            <a:avLst/>
            <a:gdLst/>
            <a:ahLst/>
            <a:cxnLst/>
            <a:rect l="l" t="t" r="r" b="b"/>
            <a:pathLst>
              <a:path w="21600" h="21600">
                <a:moveTo>
                  <a:pt x="0" y="0"/>
                </a:moveTo>
                <a:lnTo>
                  <a:pt x="21600" y="21600"/>
                </a:lnTo>
              </a:path>
            </a:pathLst>
          </a:custGeom>
          <a:noFill/>
          <a:ln>
            <a:solidFill>
              <a:srgbClr val="4F81BD"/>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168" name="Textfeld 17"/>
          <p:cNvSpPr/>
          <p:nvPr/>
        </p:nvSpPr>
        <p:spPr>
          <a:xfrm>
            <a:off x="3830760" y="3159000"/>
            <a:ext cx="1315440" cy="40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524"/>
              </a:spcBef>
              <a:buNone/>
            </a:pPr>
            <a:r>
              <a:rPr lang="en-US" sz="1050" b="1" strike="noStrike" spc="-1">
                <a:solidFill>
                  <a:srgbClr val="FF0000"/>
                </a:solidFill>
                <a:latin typeface="Arial"/>
                <a:ea typeface="DejaVu Sans"/>
              </a:rPr>
              <a:t>Click for specific IHPC GUI-window</a:t>
            </a:r>
            <a:endParaRPr lang="en-US" sz="1050" b="0" strike="noStrike" spc="-1">
              <a:latin typeface="Arial"/>
            </a:endParaRPr>
          </a:p>
        </p:txBody>
      </p:sp>
      <p:sp>
        <p:nvSpPr>
          <p:cNvPr id="169" name="Textfeld 19"/>
          <p:cNvSpPr/>
          <p:nvPr/>
        </p:nvSpPr>
        <p:spPr>
          <a:xfrm>
            <a:off x="13680" y="2660040"/>
            <a:ext cx="676440" cy="364320"/>
          </a:xfrm>
          <a:prstGeom prst="rect">
            <a:avLst/>
          </a:prstGeom>
          <a:solidFill>
            <a:schemeClr val="bg1">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451"/>
              </a:spcBef>
              <a:buNone/>
            </a:pPr>
            <a:r>
              <a:rPr lang="en-US" sz="900" b="1" strike="noStrike" spc="-1">
                <a:solidFill>
                  <a:srgbClr val="FF0000"/>
                </a:solidFill>
                <a:latin typeface="Arial"/>
                <a:ea typeface="DejaVu Sans"/>
              </a:rPr>
              <a:t>Item #1:</a:t>
            </a:r>
            <a:br>
              <a:rPr sz="900"/>
            </a:br>
            <a:r>
              <a:rPr lang="en-US" sz="900" b="1" strike="noStrike" spc="-1">
                <a:solidFill>
                  <a:srgbClr val="FF0000"/>
                </a:solidFill>
                <a:latin typeface="Arial"/>
                <a:ea typeface="DejaVu Sans"/>
              </a:rPr>
              <a:t>IHPC-EM</a:t>
            </a:r>
            <a:endParaRPr lang="en-US" sz="900" b="0" strike="noStrike" spc="-1">
              <a:latin typeface="Arial"/>
            </a:endParaRPr>
          </a:p>
        </p:txBody>
      </p:sp>
      <p:sp>
        <p:nvSpPr>
          <p:cNvPr id="170" name="Textfeld 20"/>
          <p:cNvSpPr/>
          <p:nvPr/>
        </p:nvSpPr>
        <p:spPr>
          <a:xfrm>
            <a:off x="784440" y="3373560"/>
            <a:ext cx="990360" cy="364320"/>
          </a:xfrm>
          <a:prstGeom prst="rect">
            <a:avLst/>
          </a:prstGeom>
          <a:solidFill>
            <a:schemeClr val="bg1">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451"/>
              </a:spcBef>
              <a:buNone/>
            </a:pPr>
            <a:r>
              <a:rPr lang="en-US" sz="900" b="1" strike="noStrike" spc="-1">
                <a:solidFill>
                  <a:srgbClr val="FF0000"/>
                </a:solidFill>
                <a:latin typeface="Arial"/>
                <a:ea typeface="DejaVu Sans"/>
              </a:rPr>
              <a:t>Item #2:</a:t>
            </a:r>
            <a:br>
              <a:rPr sz="900"/>
            </a:br>
            <a:r>
              <a:rPr lang="en-US" sz="900" b="1" strike="noStrike" spc="-1">
                <a:solidFill>
                  <a:srgbClr val="FF0000"/>
                </a:solidFill>
                <a:latin typeface="Arial"/>
                <a:ea typeface="DejaVu Sans"/>
              </a:rPr>
              <a:t>IHPC-Gearbox</a:t>
            </a:r>
            <a:endParaRPr lang="en-US" sz="900" b="0" strike="noStrike" spc="-1">
              <a:latin typeface="Arial"/>
            </a:endParaRPr>
          </a:p>
        </p:txBody>
      </p:sp>
      <p:sp>
        <p:nvSpPr>
          <p:cNvPr id="171" name="Gerade Verbindung mit Pfeil 21"/>
          <p:cNvSpPr/>
          <p:nvPr/>
        </p:nvSpPr>
        <p:spPr>
          <a:xfrm flipV="1">
            <a:off x="352080" y="2504520"/>
            <a:ext cx="315720" cy="154080"/>
          </a:xfrm>
          <a:custGeom>
            <a:avLst/>
            <a:gdLst/>
            <a:ahLst/>
            <a:cxnLst/>
            <a:rect l="l" t="t" r="r" b="b"/>
            <a:pathLst>
              <a:path w="21600" h="21600">
                <a:moveTo>
                  <a:pt x="0" y="0"/>
                </a:moveTo>
                <a:lnTo>
                  <a:pt x="21600" y="21600"/>
                </a:lnTo>
              </a:path>
            </a:pathLst>
          </a:custGeom>
          <a:noFill/>
          <a:ln>
            <a:solidFill>
              <a:srgbClr val="FF0000"/>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172" name="Gerade Verbindung mit Pfeil 24"/>
          <p:cNvSpPr/>
          <p:nvPr/>
        </p:nvSpPr>
        <p:spPr>
          <a:xfrm flipH="1" flipV="1">
            <a:off x="872640" y="2747880"/>
            <a:ext cx="405720" cy="624600"/>
          </a:xfrm>
          <a:custGeom>
            <a:avLst/>
            <a:gdLst/>
            <a:ahLst/>
            <a:cxnLst/>
            <a:rect l="l" t="t" r="r" b="b"/>
            <a:pathLst>
              <a:path w="21600" h="21600">
                <a:moveTo>
                  <a:pt x="0" y="0"/>
                </a:moveTo>
                <a:lnTo>
                  <a:pt x="21600" y="21600"/>
                </a:lnTo>
              </a:path>
            </a:pathLst>
          </a:custGeom>
          <a:noFill/>
          <a:ln>
            <a:solidFill>
              <a:srgbClr val="FF0000"/>
            </a:solidFill>
            <a:roun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173" name="Ellipse 25"/>
          <p:cNvSpPr/>
          <p:nvPr/>
        </p:nvSpPr>
        <p:spPr>
          <a:xfrm>
            <a:off x="583560" y="2640600"/>
            <a:ext cx="578880" cy="107280"/>
          </a:xfrm>
          <a:prstGeom prst="ellipse">
            <a:avLst/>
          </a:prstGeom>
          <a:solidFill>
            <a:srgbClr val="FF0000">
              <a:alpha val="15000"/>
            </a:srgbClr>
          </a:solidFill>
          <a:ln w="28575">
            <a:solidFill>
              <a:srgbClr val="FF000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 name="Pfeil nach rechts 28"/>
          <p:cNvSpPr/>
          <p:nvPr/>
        </p:nvSpPr>
        <p:spPr>
          <a:xfrm>
            <a:off x="1369800" y="2322360"/>
            <a:ext cx="1873080" cy="364680"/>
          </a:xfrm>
          <a:prstGeom prst="rightArrow">
            <a:avLst>
              <a:gd name="adj1" fmla="val 50000"/>
              <a:gd name="adj2" fmla="val 50000"/>
            </a:avLst>
          </a:prstGeom>
          <a:solidFill>
            <a:srgbClr val="FF0000"/>
          </a:solidFill>
          <a:ln>
            <a:solidFill>
              <a:srgbClr val="4A7EB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spcBef>
                <a:spcPts val="550"/>
              </a:spcBef>
              <a:buNone/>
            </a:pPr>
            <a:r>
              <a:rPr lang="de-AT" sz="1100" b="1" strike="noStrike" spc="-1">
                <a:solidFill>
                  <a:srgbClr val="FFFFFF"/>
                </a:solidFill>
                <a:latin typeface="Arial"/>
                <a:ea typeface="DejaVu Sans"/>
              </a:rPr>
              <a:t>item #1</a:t>
            </a:r>
            <a:endParaRPr lang="en-US" sz="1100" b="0" strike="noStrike" spc="-1">
              <a:latin typeface="Arial"/>
            </a:endParaRPr>
          </a:p>
        </p:txBody>
      </p:sp>
      <p:sp>
        <p:nvSpPr>
          <p:cNvPr id="175" name="Pfeil nach rechts 31"/>
          <p:cNvSpPr/>
          <p:nvPr/>
        </p:nvSpPr>
        <p:spPr>
          <a:xfrm rot="1800000">
            <a:off x="831600" y="3837600"/>
            <a:ext cx="4724280" cy="364680"/>
          </a:xfrm>
          <a:prstGeom prst="rightArrow">
            <a:avLst>
              <a:gd name="adj1" fmla="val 50000"/>
              <a:gd name="adj2" fmla="val 50000"/>
            </a:avLst>
          </a:prstGeom>
          <a:solidFill>
            <a:srgbClr val="FF0000"/>
          </a:solidFill>
          <a:ln>
            <a:solidFill>
              <a:srgbClr val="4A7EB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a:lnSpc>
                <a:spcPct val="100000"/>
              </a:lnSpc>
              <a:spcBef>
                <a:spcPts val="550"/>
              </a:spcBef>
              <a:buNone/>
            </a:pPr>
            <a:r>
              <a:rPr lang="de-AT" sz="1100" b="1" strike="noStrike" spc="-1">
                <a:solidFill>
                  <a:srgbClr val="FFFFFF"/>
                </a:solidFill>
                <a:latin typeface="Arial"/>
                <a:ea typeface="DejaVu Sans"/>
              </a:rPr>
              <a:t>item #2</a:t>
            </a:r>
            <a:endParaRPr lang="en-US" sz="1100" b="0" strike="noStrike" spc="-1">
              <a:latin typeface="Arial"/>
            </a:endParaRPr>
          </a:p>
        </p:txBody>
      </p:sp>
      <p:sp>
        <p:nvSpPr>
          <p:cNvPr id="176" name="Ellipse 35"/>
          <p:cNvSpPr/>
          <p:nvPr/>
        </p:nvSpPr>
        <p:spPr>
          <a:xfrm>
            <a:off x="6062760" y="4896360"/>
            <a:ext cx="935280" cy="143280"/>
          </a:xfrm>
          <a:prstGeom prst="ellipse">
            <a:avLst/>
          </a:prstGeom>
          <a:solidFill>
            <a:srgbClr val="FF0000">
              <a:alpha val="15000"/>
            </a:srgbClr>
          </a:solidFill>
          <a:ln w="28575">
            <a:solidFill>
              <a:srgbClr val="FF000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7" name="Textfeld 41"/>
          <p:cNvSpPr/>
          <p:nvPr/>
        </p:nvSpPr>
        <p:spPr>
          <a:xfrm>
            <a:off x="6800400" y="4439880"/>
            <a:ext cx="990360" cy="364320"/>
          </a:xfrm>
          <a:prstGeom prst="rect">
            <a:avLst/>
          </a:prstGeom>
          <a:solidFill>
            <a:schemeClr val="bg1">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451"/>
              </a:spcBef>
              <a:buNone/>
            </a:pPr>
            <a:r>
              <a:rPr lang="en-US" sz="900" b="1" strike="noStrike" spc="-1">
                <a:solidFill>
                  <a:srgbClr val="FF0000"/>
                </a:solidFill>
                <a:latin typeface="Arial"/>
                <a:ea typeface="DejaVu Sans"/>
              </a:rPr>
              <a:t>Item #2:</a:t>
            </a:r>
            <a:br>
              <a:rPr sz="900"/>
            </a:br>
            <a:r>
              <a:rPr lang="en-US" sz="900" b="1" strike="noStrike" spc="-1">
                <a:solidFill>
                  <a:srgbClr val="FF0000"/>
                </a:solidFill>
                <a:latin typeface="Arial"/>
                <a:ea typeface="DejaVu Sans"/>
              </a:rPr>
              <a:t>IHPC-Gearbox</a:t>
            </a:r>
            <a:endParaRPr lang="en-US" sz="900" b="0" strike="noStrike" spc="-1">
              <a:latin typeface="Arial"/>
            </a:endParaRPr>
          </a:p>
        </p:txBody>
      </p:sp>
      <p:sp>
        <p:nvSpPr>
          <p:cNvPr id="178" name="Textfeld 42"/>
          <p:cNvSpPr/>
          <p:nvPr/>
        </p:nvSpPr>
        <p:spPr>
          <a:xfrm>
            <a:off x="7506720" y="1510200"/>
            <a:ext cx="676440" cy="364320"/>
          </a:xfrm>
          <a:prstGeom prst="rect">
            <a:avLst/>
          </a:prstGeom>
          <a:solidFill>
            <a:schemeClr val="bg1">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451"/>
              </a:spcBef>
              <a:buNone/>
            </a:pPr>
            <a:r>
              <a:rPr lang="en-US" sz="900" b="1" strike="noStrike" spc="-1">
                <a:solidFill>
                  <a:srgbClr val="FF0000"/>
                </a:solidFill>
                <a:latin typeface="Arial"/>
                <a:ea typeface="DejaVu Sans"/>
              </a:rPr>
              <a:t>Item #1:</a:t>
            </a:r>
            <a:br>
              <a:rPr sz="900"/>
            </a:br>
            <a:r>
              <a:rPr lang="en-US" sz="900" b="1" strike="noStrike" spc="-1">
                <a:solidFill>
                  <a:srgbClr val="FF0000"/>
                </a:solidFill>
                <a:latin typeface="Arial"/>
                <a:ea typeface="DejaVu Sans"/>
              </a:rPr>
              <a:t>IHPC-EM</a:t>
            </a:r>
            <a:endParaRPr lang="en-US" sz="9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Adaptations Serial Hybrid Strategy  (1/3)</a:t>
            </a:r>
            <a:endParaRPr lang="en-US" sz="2400" b="0" strike="noStrike" spc="-1">
              <a:latin typeface="Arial"/>
            </a:endParaRPr>
          </a:p>
        </p:txBody>
      </p:sp>
      <p:sp>
        <p:nvSpPr>
          <p:cNvPr id="180"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Observation: GenSet often switching between optimal and maximum power, while operating constantly at optimal power would be sufficient</a:t>
            </a:r>
            <a:endParaRPr lang="en-US" sz="2000" b="0" strike="noStrike" spc="-1">
              <a:latin typeface="Arial"/>
            </a:endParaRPr>
          </a:p>
        </p:txBody>
      </p:sp>
      <p:sp>
        <p:nvSpPr>
          <p:cNvPr id="181"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pic>
        <p:nvPicPr>
          <p:cNvPr id="182" name="Grafik 7"/>
          <p:cNvPicPr/>
          <p:nvPr/>
        </p:nvPicPr>
        <p:blipFill>
          <a:blip r:embed="rId2"/>
          <a:stretch/>
        </p:blipFill>
        <p:spPr>
          <a:xfrm>
            <a:off x="1650240" y="2942640"/>
            <a:ext cx="4498920" cy="2755800"/>
          </a:xfrm>
          <a:prstGeom prst="rect">
            <a:avLst/>
          </a:prstGeom>
          <a:ln w="0">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Adaptations Serial Hybrid Strategy  (2/3)</a:t>
            </a:r>
            <a:endParaRPr lang="en-US" sz="2400" b="0" strike="noStrike" spc="-1">
              <a:latin typeface="Arial"/>
            </a:endParaRPr>
          </a:p>
        </p:txBody>
      </p:sp>
      <p:sp>
        <p:nvSpPr>
          <p:cNvPr id="184" name="PlaceHolder 2"/>
          <p:cNvSpPr>
            <a:spLocks noGrp="1"/>
          </p:cNvSpPr>
          <p:nvPr>
            <p:ph/>
          </p:nvPr>
        </p:nvSpPr>
        <p:spPr>
          <a:xfrm>
            <a:off x="622440" y="2137320"/>
            <a:ext cx="5026320" cy="348120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pPr>
            <a:r>
              <a:rPr lang="en-US" sz="1800" b="0" strike="noStrike" spc="-1">
                <a:solidFill>
                  <a:srgbClr val="000000"/>
                </a:solidFill>
                <a:latin typeface="Arial"/>
              </a:rPr>
              <a:t>Minor changes in Serial Hybrid Strategy</a:t>
            </a:r>
            <a:endParaRPr lang="en-US" sz="18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GenSet is switched on as soon as SoC falls below SoC_min</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GenSet is switched off as soon as SoC reaches SoC_target</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GenSet operation points P_opt and P_max:</a:t>
            </a:r>
            <a:endParaRPr lang="en-US" sz="16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In total 4 points defined, for GenSet in regular and in de-rating condition</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SoC_min ≤ </a:t>
            </a:r>
            <a:r>
              <a:rPr lang="en-US" sz="1400" b="1" strike="noStrike" spc="-1">
                <a:solidFill>
                  <a:srgbClr val="000000"/>
                </a:solidFill>
                <a:latin typeface="Arial"/>
              </a:rPr>
              <a:t>SoC</a:t>
            </a:r>
            <a:r>
              <a:rPr lang="en-US" sz="1400" b="0" strike="noStrike" spc="-1">
                <a:solidFill>
                  <a:srgbClr val="000000"/>
                </a:solidFill>
                <a:latin typeface="Arial"/>
              </a:rPr>
              <a:t> &lt; SOC_target: P_opt</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1" strike="noStrike" spc="-1">
                <a:solidFill>
                  <a:srgbClr val="000000"/>
                </a:solidFill>
                <a:latin typeface="Arial"/>
              </a:rPr>
              <a:t>SoC</a:t>
            </a:r>
            <a:r>
              <a:rPr lang="en-US" sz="1400" b="0" strike="noStrike" spc="-1">
                <a:solidFill>
                  <a:srgbClr val="000000"/>
                </a:solidFill>
                <a:latin typeface="Arial"/>
              </a:rPr>
              <a:t> &lt; SoC_min:</a:t>
            </a:r>
            <a:endParaRPr lang="en-US" sz="1400" b="0" strike="noStrike" spc="-1">
              <a:latin typeface="Arial"/>
            </a:endParaRPr>
          </a:p>
          <a:p>
            <a:pPr marL="1600200" lvl="3" indent="-228600">
              <a:lnSpc>
                <a:spcPct val="100000"/>
              </a:lnSpc>
              <a:spcBef>
                <a:spcPts val="241"/>
              </a:spcBef>
              <a:buClr>
                <a:srgbClr val="000000"/>
              </a:buClr>
              <a:buFont typeface="Symbol"/>
              <a:buChar char=""/>
            </a:pPr>
            <a:r>
              <a:rPr lang="en-US" sz="1200" b="0" strike="noStrike" spc="-1">
                <a:solidFill>
                  <a:srgbClr val="000000"/>
                </a:solidFill>
                <a:latin typeface="Arial"/>
              </a:rPr>
              <a:t>requested el. power &gt; P_opt: GENSET @ P_max</a:t>
            </a:r>
            <a:endParaRPr lang="en-US" sz="1200" b="0" strike="noStrike" spc="-1">
              <a:latin typeface="Arial"/>
            </a:endParaRPr>
          </a:p>
          <a:p>
            <a:pPr marL="1600200" lvl="3" indent="-228600">
              <a:lnSpc>
                <a:spcPct val="100000"/>
              </a:lnSpc>
              <a:spcBef>
                <a:spcPts val="241"/>
              </a:spcBef>
              <a:buClr>
                <a:srgbClr val="000000"/>
              </a:buClr>
              <a:buFont typeface="Symbol"/>
              <a:buChar char=""/>
            </a:pPr>
            <a:r>
              <a:rPr lang="en-US" sz="1200" b="0" strike="noStrike" spc="-1">
                <a:solidFill>
                  <a:srgbClr val="000000"/>
                </a:solidFill>
                <a:latin typeface="Arial"/>
              </a:rPr>
              <a:t>requested el. power ≤ P_opt: GENSET @ P_opt</a:t>
            </a:r>
            <a:endParaRPr lang="en-US" sz="1200" b="0" strike="noStrike" spc="-1">
              <a:latin typeface="Arial"/>
            </a:endParaRPr>
          </a:p>
          <a:p>
            <a:pPr marL="743040" lvl="1" indent="-285840">
              <a:lnSpc>
                <a:spcPct val="100000"/>
              </a:lnSpc>
              <a:spcBef>
                <a:spcPts val="320"/>
              </a:spcBef>
              <a:buClr>
                <a:srgbClr val="000000"/>
              </a:buClr>
              <a:buFont typeface="Symbol"/>
              <a:buChar char=""/>
            </a:pPr>
            <a:r>
              <a:rPr lang="en-US" sz="1600" b="0" i="1" strike="noStrike" spc="-1">
                <a:solidFill>
                  <a:srgbClr val="000000"/>
                </a:solidFill>
                <a:latin typeface="Arial"/>
              </a:rPr>
              <a:t>Note: SoC_min shall be above battery’s min SoC</a:t>
            </a:r>
            <a:endParaRPr lang="en-US" sz="1600" b="0" strike="noStrike" spc="-1">
              <a:latin typeface="Arial"/>
            </a:endParaRPr>
          </a:p>
        </p:txBody>
      </p:sp>
      <p:sp>
        <p:nvSpPr>
          <p:cNvPr id="185"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pic>
        <p:nvPicPr>
          <p:cNvPr id="186" name="Grafik 4"/>
          <p:cNvPicPr/>
          <p:nvPr/>
        </p:nvPicPr>
        <p:blipFill>
          <a:blip r:embed="rId2"/>
          <a:stretch/>
        </p:blipFill>
        <p:spPr>
          <a:xfrm>
            <a:off x="5649120" y="4174560"/>
            <a:ext cx="3367080" cy="1362960"/>
          </a:xfrm>
          <a:prstGeom prst="rect">
            <a:avLst/>
          </a:prstGeom>
          <a:ln w="0">
            <a:noFill/>
          </a:ln>
        </p:spPr>
      </p:pic>
      <p:pic>
        <p:nvPicPr>
          <p:cNvPr id="187" name="Grafik 5"/>
          <p:cNvPicPr/>
          <p:nvPr/>
        </p:nvPicPr>
        <p:blipFill>
          <a:blip r:embed="rId3"/>
          <a:stretch/>
        </p:blipFill>
        <p:spPr>
          <a:xfrm>
            <a:off x="7012440" y="1480680"/>
            <a:ext cx="2003760" cy="2350440"/>
          </a:xfrm>
          <a:prstGeom prst="rect">
            <a:avLst/>
          </a:prstGeom>
          <a:ln w="0">
            <a:noFill/>
          </a:ln>
        </p:spPr>
      </p:pic>
      <p:sp>
        <p:nvSpPr>
          <p:cNvPr id="188" name="Gerade Verbindung mit Pfeil 6"/>
          <p:cNvSpPr/>
          <p:nvPr/>
        </p:nvSpPr>
        <p:spPr>
          <a:xfrm flipV="1">
            <a:off x="6318360" y="2520360"/>
            <a:ext cx="640800" cy="1571760"/>
          </a:xfrm>
          <a:custGeom>
            <a:avLst/>
            <a:gdLst/>
            <a:ahLst/>
            <a:cxnLst/>
            <a:rect l="l" t="t" r="r" b="b"/>
            <a:pathLst>
              <a:path w="21600" h="21600">
                <a:moveTo>
                  <a:pt x="0" y="0"/>
                </a:moveTo>
                <a:lnTo>
                  <a:pt x="21600" y="21600"/>
                </a:lnTo>
              </a:path>
            </a:pathLst>
          </a:custGeom>
          <a:noFill/>
          <a:ln>
            <a:solidFill>
              <a:srgbClr val="FF0000"/>
            </a:solidFill>
            <a:round/>
            <a:headEnd type="triangle" w="med" len="med"/>
            <a:tailEnd type="triangle" w="med" len="med"/>
          </a:ln>
          <a:effectLst>
            <a:outerShdw blurRad="39960" dist="20160" dir="5400000" rotWithShape="0">
              <a:srgbClr val="000000">
                <a:alpha val="38000"/>
              </a:srgbClr>
            </a:outerShdw>
          </a:effectLst>
        </p:spPr>
        <p:style>
          <a:lnRef idx="2">
            <a:schemeClr val="accent1"/>
          </a:lnRef>
          <a:fillRef idx="0">
            <a:schemeClr val="accent1"/>
          </a:fillRef>
          <a:effectRef idx="1">
            <a:schemeClr val="accent1"/>
          </a:effectRef>
          <a:fontRef idx="minor"/>
        </p:style>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Adaptations Serial Hybrid Strategy  (3/3)</a:t>
            </a:r>
            <a:endParaRPr lang="en-US" sz="2400" b="0" strike="noStrike" spc="-1">
              <a:latin typeface="Arial"/>
            </a:endParaRPr>
          </a:p>
        </p:txBody>
      </p:sp>
      <p:sp>
        <p:nvSpPr>
          <p:cNvPr id="190"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GenSet now always operates in optimal point</a:t>
            </a:r>
            <a:endParaRPr lang="en-US" sz="20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Speed profile is unchanged, SoC trace slightly different</a:t>
            </a:r>
            <a:endParaRPr lang="en-US" sz="2000" b="0" strike="noStrike" spc="-1">
              <a:latin typeface="Arial"/>
            </a:endParaRPr>
          </a:p>
        </p:txBody>
      </p:sp>
      <p:sp>
        <p:nvSpPr>
          <p:cNvPr id="191"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pic>
        <p:nvPicPr>
          <p:cNvPr id="192" name="Grafik 7"/>
          <p:cNvPicPr/>
          <p:nvPr/>
        </p:nvPicPr>
        <p:blipFill>
          <a:blip r:embed="rId2"/>
          <a:stretch/>
        </p:blipFill>
        <p:spPr>
          <a:xfrm>
            <a:off x="1659240" y="2942640"/>
            <a:ext cx="4481280" cy="2755800"/>
          </a:xfrm>
          <a:prstGeom prst="rect">
            <a:avLst/>
          </a:prstGeom>
          <a:ln w="0">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SoC Correction for HEV-S</a:t>
            </a:r>
            <a:endParaRPr lang="en-US" sz="2400" b="0" strike="noStrike" spc="-1">
              <a:latin typeface="Arial"/>
            </a:endParaRPr>
          </a:p>
        </p:txBody>
      </p:sp>
      <p:sp>
        <p:nvSpPr>
          <p:cNvPr id="194"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REESS SoC for HEV is corrected using the engine line</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Engine line makes no sense for HEV-S as the ICE is decoupled from the drivetrain and operates only in certain points</a:t>
            </a:r>
            <a:endParaRPr lang="en-US" sz="18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SoC Correction:</a:t>
            </a:r>
            <a:endParaRPr lang="en-US" sz="2000" b="0" strike="noStrike" spc="-1">
              <a:latin typeface="Arial"/>
            </a:endParaRPr>
          </a:p>
          <a:p>
            <a:pPr>
              <a:lnSpc>
                <a:spcPct val="100000"/>
              </a:lnSpc>
              <a:buNone/>
            </a:pPr>
            <a:endParaRPr lang="en-US" sz="1800" b="0" strike="noStrike" spc="-1">
              <a:latin typeface="Arial"/>
            </a:endParaRPr>
          </a:p>
        </p:txBody>
      </p:sp>
      <p:sp>
        <p:nvSpPr>
          <p:cNvPr id="195"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a:defRPr lang="en-US" sz="2400" b="0" strike="noStrike" spc="-1">
                <a:latin typeface="Times New Roman"/>
              </a:defRPr>
            </a:lvl1pPr>
          </a:lstStyle>
          <a:p>
            <a:endParaRPr lang="en-US" sz="2400" b="0" strike="noStrike" spc="-1">
              <a:latin typeface="Times New Roman"/>
            </a:endParaRPr>
          </a:p>
        </p:txBody>
      </p:sp>
      <p:pic>
        <p:nvPicPr>
          <p:cNvPr id="196" name="Grafik 4"/>
          <p:cNvPicPr/>
          <p:nvPr/>
        </p:nvPicPr>
        <p:blipFill>
          <a:blip r:embed="rId2"/>
          <a:stretch/>
        </p:blipFill>
        <p:spPr>
          <a:xfrm>
            <a:off x="1735920" y="3544560"/>
            <a:ext cx="2488680" cy="435960"/>
          </a:xfrm>
          <a:prstGeom prst="rect">
            <a:avLst/>
          </a:prstGeom>
          <a:ln w="0">
            <a:noFill/>
          </a:ln>
        </p:spPr>
      </p:pic>
      <p:pic>
        <p:nvPicPr>
          <p:cNvPr id="197" name="Grafik 5"/>
          <p:cNvPicPr/>
          <p:nvPr/>
        </p:nvPicPr>
        <p:blipFill>
          <a:blip r:embed="rId3"/>
          <a:stretch/>
        </p:blipFill>
        <p:spPr>
          <a:xfrm>
            <a:off x="4686840" y="3607560"/>
            <a:ext cx="1725480" cy="309240"/>
          </a:xfrm>
          <a:prstGeom prst="rect">
            <a:avLst/>
          </a:prstGeom>
          <a:ln w="0">
            <a:noFill/>
          </a:ln>
        </p:spPr>
      </p:pic>
      <p:pic>
        <p:nvPicPr>
          <p:cNvPr id="198" name="Grafik 6"/>
          <p:cNvPicPr/>
          <p:nvPr/>
        </p:nvPicPr>
        <p:blipFill>
          <a:blip r:embed="rId4"/>
          <a:stretch/>
        </p:blipFill>
        <p:spPr>
          <a:xfrm>
            <a:off x="1453320" y="4127040"/>
            <a:ext cx="2859840" cy="529920"/>
          </a:xfrm>
          <a:prstGeom prst="rect">
            <a:avLst/>
          </a:prstGeom>
          <a:ln w="0">
            <a:noFill/>
          </a:ln>
        </p:spPr>
      </p:pic>
      <p:pic>
        <p:nvPicPr>
          <p:cNvPr id="199" name="Grafik 7"/>
          <p:cNvPicPr/>
          <p:nvPr/>
        </p:nvPicPr>
        <p:blipFill>
          <a:blip r:embed="rId5"/>
          <a:stretch/>
        </p:blipFill>
        <p:spPr>
          <a:xfrm>
            <a:off x="1453320" y="4777200"/>
            <a:ext cx="2709000" cy="493200"/>
          </a:xfrm>
          <a:prstGeom prst="rect">
            <a:avLst/>
          </a:prstGeom>
          <a:ln w="0">
            <a:noFill/>
          </a:ln>
        </p:spPr>
      </p:pic>
      <p:sp>
        <p:nvSpPr>
          <p:cNvPr id="200" name="Textfeld 8"/>
          <p:cNvSpPr/>
          <p:nvPr/>
        </p:nvSpPr>
        <p:spPr>
          <a:xfrm>
            <a:off x="4557240" y="4253760"/>
            <a:ext cx="3899160" cy="272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spcBef>
                <a:spcPts val="601"/>
              </a:spcBef>
              <a:buNone/>
            </a:pPr>
            <a:r>
              <a:rPr lang="en-US" sz="1200" b="1" i="1" strike="noStrike" spc="-1">
                <a:solidFill>
                  <a:srgbClr val="000000"/>
                </a:solidFill>
                <a:latin typeface="Arial"/>
                <a:ea typeface="DejaVu Sans"/>
              </a:rPr>
              <a:t>… in case the GenSet was on during the simulation</a:t>
            </a:r>
            <a:endParaRPr lang="en-US" sz="1200" b="0" strike="noStrike" spc="-1">
              <a:latin typeface="Arial"/>
            </a:endParaRPr>
          </a:p>
        </p:txBody>
      </p:sp>
      <p:sp>
        <p:nvSpPr>
          <p:cNvPr id="201" name="Textfeld 9"/>
          <p:cNvSpPr/>
          <p:nvPr/>
        </p:nvSpPr>
        <p:spPr>
          <a:xfrm>
            <a:off x="4584960" y="4885560"/>
            <a:ext cx="4178160" cy="272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spcBef>
                <a:spcPts val="601"/>
              </a:spcBef>
              <a:buNone/>
            </a:pPr>
            <a:r>
              <a:rPr lang="en-US" sz="1200" b="1" i="1" strike="noStrike" spc="-1">
                <a:solidFill>
                  <a:srgbClr val="000000"/>
                </a:solidFill>
                <a:latin typeface="Arial"/>
                <a:ea typeface="DejaVu Sans"/>
              </a:rPr>
              <a:t>… in case the GenSet was not on during the simulation</a:t>
            </a:r>
            <a:endParaRPr lang="en-US" sz="1200" b="0" strike="noStrike" spc="-1">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0.7.8.2679 Development Version</a:t>
            </a:r>
            <a:br>
              <a:rPr sz="2400"/>
            </a:br>
            <a:r>
              <a:rPr lang="en-US" sz="1600" b="1" strike="noStrike" spc="-1">
                <a:solidFill>
                  <a:srgbClr val="990000"/>
                </a:solidFill>
                <a:latin typeface="Arial"/>
              </a:rPr>
              <a:t>April 2022</a:t>
            </a:r>
            <a:endParaRPr lang="en-US" sz="1600" b="0" strike="noStrike" spc="-1">
              <a:latin typeface="Arial"/>
            </a:endParaRPr>
          </a:p>
        </p:txBody>
      </p:sp>
      <p:sp>
        <p:nvSpPr>
          <p:cNvPr id="203"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Changes/Bugfixes</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Multi-Target Executables in .net 6.0 and .net Framework 4.8 (and .net Framework 4.5, but this will be removed with the next release)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Serial Hybrid Vehicles S2, S3, S4</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APT-S/P with E2 and S2 vehicle architecture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Correct handling of retarder positions with HEV and PEV, adding axlegear input retarder option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hashing tool to handle new powertrain components (electric motor, battery, supercap)</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Changing EM overload buffer calculation: interpolate between both voltage levels (pre-processing)</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Handling of torque limitations (engine torque limit, boosting torque limits, gearbox torque limits) for P2 architecture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Connect electric WHR system to REESS in case of hybrid vehicles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LH cycle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GUI improvements: enable/disable some fields in Job Form, Vehicle Form, and Hybrid Strategy Parameters to simplify user interface and avoid erratic entries.</a:t>
            </a: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spcBef>
                <a:spcPts val="281"/>
              </a:spcBef>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Serial Hybrid Implementation</a:t>
            </a:r>
            <a:endParaRPr lang="en-US" sz="2400" b="0" strike="noStrike" spc="-1">
              <a:latin typeface="Arial"/>
            </a:endParaRPr>
          </a:p>
        </p:txBody>
      </p:sp>
      <p:sp>
        <p:nvSpPr>
          <p:cNvPr id="205"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General approach</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Simple operating strategy, not ECMS–based</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Three-point controller for GenSet (off/optimal point/maximum power)</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Operate GenSet in optimal load-points whenever required and possible</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Drivetrain similar to PEV</a:t>
            </a:r>
            <a:endParaRPr lang="en-US" sz="1800" b="0" strike="noStrike" spc="-1">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Serial Hybrids: GenSet Pre-Processing</a:t>
            </a:r>
            <a:endParaRPr lang="en-US" sz="2400" b="0" strike="noStrike" spc="-1">
              <a:latin typeface="Arial"/>
            </a:endParaRPr>
          </a:p>
        </p:txBody>
      </p:sp>
      <p:sp>
        <p:nvSpPr>
          <p:cNvPr id="207"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Find optimal points for the GenSet</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Iterate from 0 to maximum power of the ICE (20 steps)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Iterate from ICE idle speed to n</a:t>
            </a:r>
            <a:r>
              <a:rPr lang="en-US" sz="1800" b="0" strike="noStrike" spc="-1" baseline="-25000">
                <a:solidFill>
                  <a:srgbClr val="000000"/>
                </a:solidFill>
                <a:latin typeface="Arial"/>
              </a:rPr>
              <a:t>95h</a:t>
            </a:r>
            <a:r>
              <a:rPr lang="en-US" sz="1800" b="0" strike="noStrike" spc="-1">
                <a:solidFill>
                  <a:srgbClr val="000000"/>
                </a:solidFill>
                <a:latin typeface="Arial"/>
              </a:rPr>
              <a:t> speed (20 steps)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Calculate electric power and fuel consumption for all load-points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Select operating points:</a:t>
            </a:r>
            <a:endParaRPr lang="en-US" sz="18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Maximum electric power, EM de-rated/not de-rated</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Optimal operating point (minimum FC per electric power generated), EM de-rated/not de-rated</a:t>
            </a:r>
            <a:endParaRPr lang="en-US" sz="1400" b="0" strike="noStrike" spc="-1">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Serial Hybrid Strategy (main principles)</a:t>
            </a:r>
            <a:endParaRPr lang="en-US" sz="2400" b="0" strike="noStrike" spc="-1">
              <a:latin typeface="Arial"/>
            </a:endParaRPr>
          </a:p>
        </p:txBody>
      </p:sp>
      <p:sp>
        <p:nvSpPr>
          <p:cNvPr id="209" name="PlaceHolder 2"/>
          <p:cNvSpPr>
            <a:spLocks noGrp="1"/>
          </p:cNvSpPr>
          <p:nvPr>
            <p:ph/>
          </p:nvPr>
        </p:nvSpPr>
        <p:spPr>
          <a:xfrm>
            <a:off x="468360" y="1582560"/>
            <a:ext cx="5629320" cy="4542840"/>
          </a:xfrm>
          <a:prstGeom prst="rect">
            <a:avLst/>
          </a:prstGeom>
          <a:noFill/>
          <a:ln w="0">
            <a:noFill/>
          </a:ln>
        </p:spPr>
        <p:txBody>
          <a:bodyPr lIns="90000" tIns="45000" rIns="90000" bIns="45000" numCol="1" spcCol="0" anchor="t">
            <a:noAutofit/>
          </a:bodyPr>
          <a:lstStyle/>
          <a:p>
            <a:pPr marL="457200" indent="-457200">
              <a:lnSpc>
                <a:spcPct val="100000"/>
              </a:lnSpc>
              <a:spcBef>
                <a:spcPts val="320"/>
              </a:spcBef>
              <a:buClr>
                <a:srgbClr val="000000"/>
              </a:buClr>
              <a:buFont typeface="Arial"/>
              <a:buAutoNum type="arabicPeriod"/>
            </a:pPr>
            <a:r>
              <a:rPr lang="en-US" sz="1600" b="0" strike="noStrike" spc="-1">
                <a:solidFill>
                  <a:srgbClr val="000000"/>
                </a:solidFill>
                <a:latin typeface="Arial"/>
              </a:rPr>
              <a:t>Calculate max. electric power GenSet can provide</a:t>
            </a:r>
            <a:endParaRPr lang="en-US" sz="1600" b="0" strike="noStrike" spc="-1">
              <a:latin typeface="Arial"/>
            </a:endParaRPr>
          </a:p>
          <a:p>
            <a:pPr marL="457200" indent="-457200">
              <a:lnSpc>
                <a:spcPct val="100000"/>
              </a:lnSpc>
              <a:spcBef>
                <a:spcPts val="320"/>
              </a:spcBef>
              <a:buClr>
                <a:srgbClr val="000000"/>
              </a:buClr>
              <a:buFont typeface="Arial"/>
              <a:buAutoNum type="arabicPeriod"/>
            </a:pPr>
            <a:r>
              <a:rPr lang="en-US" sz="1600" b="0" strike="noStrike" spc="-1">
                <a:solidFill>
                  <a:srgbClr val="000000"/>
                </a:solidFill>
                <a:latin typeface="Arial"/>
              </a:rPr>
              <a:t>Calculate power demand of electric motor, assuming max. electric power (REESS + GenSet)</a:t>
            </a:r>
            <a:endParaRPr lang="en-US" sz="1600" b="0" strike="noStrike" spc="-1">
              <a:latin typeface="Arial"/>
            </a:endParaRPr>
          </a:p>
          <a:p>
            <a:pPr marL="457200" indent="-457200">
              <a:lnSpc>
                <a:spcPct val="100000"/>
              </a:lnSpc>
              <a:spcBef>
                <a:spcPts val="320"/>
              </a:spcBef>
              <a:buClr>
                <a:srgbClr val="000000"/>
              </a:buClr>
              <a:buFont typeface="Arial"/>
              <a:buAutoNum type="arabicPeriod"/>
            </a:pPr>
            <a:r>
              <a:rPr lang="en-US" sz="1600" b="0" strike="noStrike" spc="-1">
                <a:solidFill>
                  <a:srgbClr val="000000"/>
                </a:solidFill>
                <a:latin typeface="Arial"/>
              </a:rPr>
              <a:t>Depending on drivetrain power demand and SoC turn on ICE and operate GenSet either in optimal point or at maximum power (considering de-rating of GenSet)</a:t>
            </a:r>
            <a:endParaRPr lang="en-US" sz="1600" b="0" strike="noStrike" spc="-1">
              <a:latin typeface="Arial"/>
            </a:endParaRPr>
          </a:p>
        </p:txBody>
      </p:sp>
      <p:pic>
        <p:nvPicPr>
          <p:cNvPr id="210" name="Grafik 4"/>
          <p:cNvPicPr/>
          <p:nvPr/>
        </p:nvPicPr>
        <p:blipFill>
          <a:blip r:embed="rId2"/>
          <a:stretch/>
        </p:blipFill>
        <p:spPr>
          <a:xfrm>
            <a:off x="5924880" y="2263320"/>
            <a:ext cx="2942280" cy="3073680"/>
          </a:xfrm>
          <a:prstGeom prst="rect">
            <a:avLst/>
          </a:prstGeom>
          <a:ln w="0">
            <a:noFill/>
          </a:ln>
        </p:spPr>
      </p:pic>
      <p:pic>
        <p:nvPicPr>
          <p:cNvPr id="211" name="Grafik 5"/>
          <p:cNvPicPr/>
          <p:nvPr/>
        </p:nvPicPr>
        <p:blipFill>
          <a:blip r:embed="rId3"/>
          <a:stretch/>
        </p:blipFill>
        <p:spPr>
          <a:xfrm>
            <a:off x="622440" y="3945240"/>
            <a:ext cx="3777480" cy="1712880"/>
          </a:xfrm>
          <a:prstGeom prst="rect">
            <a:avLst/>
          </a:prstGeom>
          <a:ln w="0">
            <a:noFill/>
          </a:ln>
        </p:spPr>
      </p:pic>
      <p:sp>
        <p:nvSpPr>
          <p:cNvPr id="212" name="Textfeld 6"/>
          <p:cNvSpPr/>
          <p:nvPr/>
        </p:nvSpPr>
        <p:spPr>
          <a:xfrm>
            <a:off x="90360" y="5779080"/>
            <a:ext cx="5958360" cy="257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spcBef>
                <a:spcPts val="550"/>
              </a:spcBef>
              <a:buNone/>
            </a:pPr>
            <a:r>
              <a:rPr lang="en-US" sz="1100" b="1" i="1" strike="noStrike" spc="-1">
                <a:solidFill>
                  <a:srgbClr val="808080"/>
                </a:solidFill>
                <a:latin typeface="Arial"/>
                <a:ea typeface="DejaVu Sans"/>
              </a:rPr>
              <a:t>Note: SoC_min and SoC_target are parameters of the SerialHybridStrategy, not REESS</a:t>
            </a:r>
            <a:endParaRPr lang="en-US" sz="1100" b="0" strike="noStrike" spc="-1">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Serial Hybrids: GenSet</a:t>
            </a:r>
            <a:endParaRPr lang="en-US" sz="2400" b="0" strike="noStrike" spc="-1">
              <a:latin typeface="Arial"/>
            </a:endParaRPr>
          </a:p>
        </p:txBody>
      </p:sp>
      <p:sp>
        <p:nvSpPr>
          <p:cNvPr id="214"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When switching on the ICE, it is often not possible to directly operate it in the desired operating point (high ICE speed, too high torque demand due to inertia)</a:t>
            </a:r>
            <a:br>
              <a:rPr sz="2000"/>
            </a:br>
            <a:br>
              <a:rPr sz="2000"/>
            </a:br>
            <a:r>
              <a:rPr lang="en-US" sz="2000" b="0" strike="noStrike" spc="-1">
                <a:solidFill>
                  <a:srgbClr val="000000"/>
                </a:solidFill>
                <a:latin typeface="Wingdings"/>
              </a:rPr>
              <a:t></a:t>
            </a:r>
            <a:r>
              <a:rPr lang="en-US" sz="2000" b="0" strike="noStrike" spc="-1">
                <a:solidFill>
                  <a:srgbClr val="000000"/>
                </a:solidFill>
                <a:latin typeface="Arial"/>
              </a:rPr>
              <a:t> Ramp-up ICE with electric machine switched off (usually 1 or 2 </a:t>
            </a:r>
            <a:br>
              <a:rPr sz="2000"/>
            </a:br>
            <a:r>
              <a:rPr lang="en-US" sz="2000" b="0" strike="noStrike" spc="-1">
                <a:solidFill>
                  <a:srgbClr val="000000"/>
                </a:solidFill>
                <a:latin typeface="Arial"/>
              </a:rPr>
              <a:t>     simulation steps) and then turn on the electric machine</a:t>
            </a:r>
            <a:endParaRPr lang="en-US" sz="2000" b="0" strike="noStrike" spc="-1">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Serial Hybrid Strategy Parameters</a:t>
            </a:r>
            <a:endParaRPr lang="en-US" sz="2400" b="0" strike="noStrike" spc="-1">
              <a:latin typeface="Arial"/>
            </a:endParaRPr>
          </a:p>
        </p:txBody>
      </p:sp>
      <p:sp>
        <p:nvSpPr>
          <p:cNvPr id="216"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MinSoC</a:t>
            </a:r>
            <a:endParaRPr lang="en-US" sz="20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TargetSoC</a:t>
            </a:r>
            <a:endParaRPr lang="en-US" sz="2000" b="0" strike="noStrike" spc="-1">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 name="Inhaltsplatzhalter 4"/>
          <p:cNvPicPr/>
          <p:nvPr/>
        </p:nvPicPr>
        <p:blipFill>
          <a:blip r:embed="rId2"/>
          <a:stretch/>
        </p:blipFill>
        <p:spPr>
          <a:xfrm>
            <a:off x="467640" y="1124640"/>
            <a:ext cx="7625520" cy="4542840"/>
          </a:xfrm>
          <a:prstGeom prst="rect">
            <a:avLst/>
          </a:prstGeom>
          <a:ln w="0">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GB" sz="2400" b="1" strike="noStrike" spc="-1">
                <a:solidFill>
                  <a:srgbClr val="990000"/>
                </a:solidFill>
                <a:latin typeface="Arial"/>
              </a:rPr>
              <a:t>EM: overload buffer calculated from both voltage levels</a:t>
            </a:r>
            <a:endParaRPr lang="en-US" sz="2400" b="0" strike="noStrike" spc="-1">
              <a:latin typeface="Arial"/>
            </a:endParaRPr>
          </a:p>
        </p:txBody>
      </p:sp>
      <p:sp>
        <p:nvSpPr>
          <p:cNvPr id="219"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pPr>
            <a:r>
              <a:rPr lang="en-US" sz="1600" b="0" strike="noStrike" spc="-1">
                <a:solidFill>
                  <a:srgbClr val="000000"/>
                </a:solidFill>
                <a:latin typeface="Arial"/>
              </a:rPr>
              <a:t>Input parameters of EM measured for min and max voltage level</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Overload data</a:t>
            </a:r>
            <a:endParaRPr lang="en-US" sz="16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Continuous Torque</a:t>
            </a:r>
            <a:endParaRPr lang="en-US" sz="12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Overload Torque + Overload Duration</a:t>
            </a:r>
            <a:endParaRPr lang="en-US" sz="12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Maximum and Minimum torque limitations</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Electric power map</a:t>
            </a:r>
            <a:endParaRPr lang="en-US" sz="1600" b="0" strike="noStrike" spc="-1">
              <a:latin typeface="Arial"/>
            </a:endParaRPr>
          </a:p>
          <a:p>
            <a:pPr marL="343080" indent="-343080">
              <a:lnSpc>
                <a:spcPct val="100000"/>
              </a:lnSpc>
              <a:spcBef>
                <a:spcPts val="320"/>
              </a:spcBef>
              <a:buClr>
                <a:srgbClr val="000000"/>
              </a:buClr>
              <a:buFont typeface="Symbol"/>
              <a:buChar char=""/>
            </a:pPr>
            <a:r>
              <a:rPr lang="en-US" sz="1600" b="0" strike="noStrike" spc="-1">
                <a:solidFill>
                  <a:srgbClr val="000000"/>
                </a:solidFill>
                <a:latin typeface="Arial"/>
              </a:rPr>
              <a:t>Implementation in software:</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From overload data above, thermal buffer is calculated for each voltage level separately (acc. to equations in VECTO user manual						    )</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Applied values for simulation run are calculated by linear interpolation between two voltage levels, where average of usable SOC range is used</a:t>
            </a:r>
            <a:endParaRPr lang="en-US" sz="16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Overload buffer</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Maximum and Minimum torque limitations</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Continuous Torque</a:t>
            </a:r>
            <a:endParaRPr lang="en-US" sz="1400" b="0" strike="noStrike" spc="-1">
              <a:latin typeface="Arial"/>
            </a:endParaRPr>
          </a:p>
        </p:txBody>
      </p:sp>
      <p:pic>
        <p:nvPicPr>
          <p:cNvPr id="220" name="Grafik 5"/>
          <p:cNvPicPr/>
          <p:nvPr/>
        </p:nvPicPr>
        <p:blipFill>
          <a:blip r:embed="rId2"/>
          <a:stretch/>
        </p:blipFill>
        <p:spPr>
          <a:xfrm>
            <a:off x="6131160" y="4268520"/>
            <a:ext cx="2447280" cy="278280"/>
          </a:xfrm>
          <a:prstGeom prst="rect">
            <a:avLst/>
          </a:prstGeom>
          <a:ln w="0">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Inhaltsplatzhalter 2"/>
          <p:cNvSpPr/>
          <p:nvPr/>
        </p:nvSpPr>
        <p:spPr>
          <a:xfrm>
            <a:off x="622440" y="1990440"/>
            <a:ext cx="4746960" cy="344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66760" indent="-266760">
              <a:lnSpc>
                <a:spcPct val="100000"/>
              </a:lnSpc>
              <a:spcBef>
                <a:spcPts val="360"/>
              </a:spcBef>
              <a:buClr>
                <a:srgbClr val="F70146"/>
              </a:buClr>
              <a:buFont typeface="Wingdings" charset="2"/>
              <a:buChar char=""/>
            </a:pPr>
            <a:r>
              <a:rPr lang="en-US" sz="1800" b="1" strike="noStrike" spc="-1">
                <a:solidFill>
                  <a:srgbClr val="000000"/>
                </a:solidFill>
                <a:latin typeface="Arial"/>
                <a:ea typeface="DejaVu Sans"/>
              </a:rPr>
              <a:t>Ref. to ticket nr. 1478+1479</a:t>
            </a:r>
            <a:endParaRPr lang="en-US" sz="1800" b="0" strike="noStrike" spc="-1">
              <a:latin typeface="Arial"/>
            </a:endParaRPr>
          </a:p>
          <a:p>
            <a:pPr marL="266760" indent="-266760">
              <a:lnSpc>
                <a:spcPct val="100000"/>
              </a:lnSpc>
              <a:spcBef>
                <a:spcPts val="360"/>
              </a:spcBef>
              <a:buClr>
                <a:srgbClr val="F70146"/>
              </a:buClr>
              <a:buFont typeface="Wingdings" charset="2"/>
              <a:buChar char=""/>
            </a:pPr>
            <a:r>
              <a:rPr lang="en-US" sz="1800" b="1" strike="noStrike" spc="-1">
                <a:solidFill>
                  <a:srgbClr val="000000"/>
                </a:solidFill>
                <a:latin typeface="Arial"/>
                <a:ea typeface="DejaVu Sans"/>
              </a:rPr>
              <a:t>Only relevant for P1 + P2 HEV where EM is located upstream of transmission</a:t>
            </a:r>
            <a:endParaRPr lang="en-US" sz="1800" b="0" strike="noStrike" spc="-1">
              <a:latin typeface="Arial"/>
            </a:endParaRPr>
          </a:p>
          <a:p>
            <a:pPr marL="266760" indent="-266760">
              <a:lnSpc>
                <a:spcPct val="100000"/>
              </a:lnSpc>
              <a:spcBef>
                <a:spcPts val="360"/>
              </a:spcBef>
              <a:buClr>
                <a:srgbClr val="F70146"/>
              </a:buClr>
              <a:buFont typeface="Wingdings" charset="2"/>
              <a:buChar char=""/>
            </a:pPr>
            <a:r>
              <a:rPr lang="en-US" sz="1800" b="1" strike="noStrike" spc="-1">
                <a:solidFill>
                  <a:srgbClr val="000000"/>
                </a:solidFill>
                <a:latin typeface="Arial"/>
                <a:ea typeface="DejaVu Sans"/>
              </a:rPr>
              <a:t>Starting Point: ICE FLD</a:t>
            </a:r>
            <a:endParaRPr lang="en-US" sz="1800" b="0" strike="noStrike" spc="-1">
              <a:latin typeface="Arial"/>
            </a:endParaRPr>
          </a:p>
          <a:p>
            <a:pPr marL="906480" lvl="1" indent="-457200">
              <a:lnSpc>
                <a:spcPct val="100000"/>
              </a:lnSpc>
              <a:spcBef>
                <a:spcPts val="360"/>
              </a:spcBef>
              <a:buClr>
                <a:srgbClr val="000000"/>
              </a:buClr>
              <a:buFont typeface="Arial"/>
              <a:buAutoNum type="arabicPeriod"/>
            </a:pPr>
            <a:r>
              <a:rPr lang="en-US" sz="1800" b="1" strike="noStrike" spc="-1">
                <a:solidFill>
                  <a:srgbClr val="000000"/>
                </a:solidFill>
                <a:latin typeface="Arial"/>
                <a:ea typeface="DejaVu Sans"/>
              </a:rPr>
              <a:t>Crop with max ICE torque declared at vehicle level (per gear) </a:t>
            </a:r>
            <a:br>
              <a:rPr sz="1800"/>
            </a:br>
            <a:r>
              <a:rPr lang="en-US" sz="1200" b="1" i="1" strike="noStrike" spc="-1">
                <a:solidFill>
                  <a:srgbClr val="376092"/>
                </a:solidFill>
                <a:latin typeface="Arial"/>
                <a:ea typeface="DejaVu Sans"/>
              </a:rPr>
              <a:t>‘Vehicle/EngineTorqueLimits’ per gear – P196 + P197</a:t>
            </a:r>
            <a:endParaRPr lang="en-US" sz="1200" b="0" strike="noStrike" spc="-1">
              <a:latin typeface="Arial"/>
            </a:endParaRPr>
          </a:p>
          <a:p>
            <a:pPr marL="906480" lvl="1" indent="-457200">
              <a:lnSpc>
                <a:spcPct val="100000"/>
              </a:lnSpc>
              <a:spcBef>
                <a:spcPts val="360"/>
              </a:spcBef>
              <a:buClr>
                <a:srgbClr val="000000"/>
              </a:buClr>
              <a:buFont typeface="Arial"/>
              <a:buAutoNum type="arabicPeriod"/>
            </a:pPr>
            <a:r>
              <a:rPr lang="en-US" sz="1800" b="1" strike="noStrike" spc="-1">
                <a:solidFill>
                  <a:srgbClr val="000000"/>
                </a:solidFill>
                <a:latin typeface="Arial"/>
                <a:ea typeface="DejaVu Sans"/>
              </a:rPr>
              <a:t>Add boosting torque</a:t>
            </a:r>
            <a:br>
              <a:rPr sz="1800"/>
            </a:br>
            <a:r>
              <a:rPr lang="en-US" sz="1200" b="1" i="1" strike="noStrike" spc="-1">
                <a:solidFill>
                  <a:srgbClr val="376092"/>
                </a:solidFill>
                <a:latin typeface="Arial"/>
                <a:ea typeface="DejaVu Sans"/>
              </a:rPr>
              <a:t>Boosting limitations for parallel HEV – P415 + P416</a:t>
            </a:r>
            <a:endParaRPr lang="en-US" sz="1200" b="0" strike="noStrike" spc="-1">
              <a:latin typeface="Arial"/>
            </a:endParaRPr>
          </a:p>
          <a:p>
            <a:pPr marL="906480" lvl="1" indent="-457200">
              <a:lnSpc>
                <a:spcPct val="100000"/>
              </a:lnSpc>
              <a:spcBef>
                <a:spcPts val="360"/>
              </a:spcBef>
              <a:buClr>
                <a:srgbClr val="000000"/>
              </a:buClr>
              <a:buFont typeface="Arial"/>
              <a:buAutoNum type="arabicPeriod"/>
            </a:pPr>
            <a:r>
              <a:rPr lang="en-US" sz="1800" b="1" strike="noStrike" spc="-1">
                <a:solidFill>
                  <a:srgbClr val="000000"/>
                </a:solidFill>
                <a:latin typeface="Arial"/>
                <a:ea typeface="DejaVu Sans"/>
              </a:rPr>
              <a:t>In case of P1 or P2: crop with gearbox max input torque (per gear)  </a:t>
            </a:r>
            <a:r>
              <a:rPr lang="en-US" sz="1200" b="1" i="1" strike="noStrike" spc="-1">
                <a:solidFill>
                  <a:srgbClr val="376092"/>
                </a:solidFill>
                <a:latin typeface="Arial"/>
                <a:ea typeface="DejaVu Sans"/>
              </a:rPr>
              <a:t>MaxTorque – P157</a:t>
            </a:r>
            <a:endParaRPr lang="en-US" sz="1200" b="0" strike="noStrike" spc="-1">
              <a:latin typeface="Arial"/>
            </a:endParaRPr>
          </a:p>
          <a:p>
            <a:pPr marL="357120" indent="-357120">
              <a:lnSpc>
                <a:spcPct val="100000"/>
              </a:lnSpc>
              <a:spcBef>
                <a:spcPts val="360"/>
              </a:spcBef>
              <a:buNone/>
              <a:tabLst>
                <a:tab pos="0" algn="l"/>
              </a:tabLst>
            </a:pPr>
            <a:r>
              <a:rPr lang="en-US" sz="1800" b="1" strike="noStrike" spc="-1">
                <a:solidFill>
                  <a:srgbClr val="000000"/>
                </a:solidFill>
                <a:latin typeface="Wingdings"/>
                <a:ea typeface="DejaVu Sans"/>
              </a:rPr>
              <a:t></a:t>
            </a:r>
            <a:r>
              <a:rPr lang="en-US" sz="1800" b="1" strike="noStrike" spc="-1">
                <a:solidFill>
                  <a:srgbClr val="000000"/>
                </a:solidFill>
                <a:latin typeface="Arial"/>
                <a:ea typeface="DejaVu Sans"/>
              </a:rPr>
              <a:t> Torque limits per gear applied by HybridStrategy</a:t>
            </a:r>
            <a:endParaRPr lang="en-US" sz="1800" b="0" strike="noStrike" spc="-1">
              <a:latin typeface="Arial"/>
            </a:endParaRPr>
          </a:p>
        </p:txBody>
      </p:sp>
      <p:sp>
        <p:nvSpPr>
          <p:cNvPr id="222" name="Textfeld 6"/>
          <p:cNvSpPr/>
          <p:nvPr/>
        </p:nvSpPr>
        <p:spPr>
          <a:xfrm>
            <a:off x="5237640" y="1922040"/>
            <a:ext cx="3517920" cy="25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550"/>
              </a:spcBef>
              <a:buNone/>
            </a:pPr>
            <a:r>
              <a:rPr lang="en-US" sz="1100" b="1" strike="noStrike" spc="-1">
                <a:solidFill>
                  <a:srgbClr val="000000"/>
                </a:solidFill>
                <a:latin typeface="Arial"/>
                <a:ea typeface="DejaVu Sans"/>
              </a:rPr>
              <a:t>Example for P2</a:t>
            </a:r>
            <a:endParaRPr lang="en-US" sz="1100" b="0" strike="noStrike" spc="-1">
              <a:latin typeface="Arial"/>
            </a:endParaRPr>
          </a:p>
        </p:txBody>
      </p:sp>
      <p:pic>
        <p:nvPicPr>
          <p:cNvPr id="223" name="Grafik 7"/>
          <p:cNvPicPr/>
          <p:nvPr/>
        </p:nvPicPr>
        <p:blipFill>
          <a:blip r:embed="rId2"/>
          <a:stretch/>
        </p:blipFill>
        <p:spPr>
          <a:xfrm>
            <a:off x="5220360" y="2088000"/>
            <a:ext cx="3813840" cy="2790720"/>
          </a:xfrm>
          <a:prstGeom prst="rect">
            <a:avLst/>
          </a:prstGeom>
          <a:ln w="0">
            <a:noFill/>
          </a:ln>
        </p:spPr>
      </p:pic>
      <p:pic>
        <p:nvPicPr>
          <p:cNvPr id="224" name="Grafik 8"/>
          <p:cNvPicPr/>
          <p:nvPr/>
        </p:nvPicPr>
        <p:blipFill>
          <a:blip r:embed="rId3"/>
          <a:stretch/>
        </p:blipFill>
        <p:spPr>
          <a:xfrm>
            <a:off x="5781960" y="4757760"/>
            <a:ext cx="2815200" cy="1215720"/>
          </a:xfrm>
          <a:prstGeom prst="rect">
            <a:avLst/>
          </a:prstGeom>
          <a:ln w="0">
            <a:noFill/>
          </a:ln>
        </p:spPr>
      </p:pic>
      <p:sp>
        <p:nvSpPr>
          <p:cNvPr id="225"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GB" sz="2400" b="1" strike="noStrike" spc="-1">
                <a:solidFill>
                  <a:srgbClr val="990000"/>
                </a:solidFill>
                <a:latin typeface="Arial"/>
              </a:rPr>
              <a:t>Consider gearbox MaxTorque limits for HEV</a:t>
            </a:r>
            <a:endParaRPr lang="en-US" sz="2400" b="0" strike="noStrike" spc="-1">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0.7.8.xxx Development Version</a:t>
            </a:r>
            <a:br>
              <a:rPr sz="2400"/>
            </a:br>
            <a:r>
              <a:rPr lang="en-US" sz="1600" b="1" strike="noStrike" spc="-1">
                <a:solidFill>
                  <a:srgbClr val="990000"/>
                </a:solidFill>
                <a:latin typeface="Arial"/>
              </a:rPr>
              <a:t>April 2022</a:t>
            </a:r>
            <a:endParaRPr lang="en-US" sz="1600" b="0" strike="noStrike" spc="-1">
              <a:latin typeface="Arial"/>
            </a:endParaRPr>
          </a:p>
        </p:txBody>
      </p:sp>
      <p:sp>
        <p:nvSpPr>
          <p:cNvPr id="227"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Detailed Changes/Bugfixes (See </a:t>
            </a:r>
            <a:r>
              <a:rPr lang="en-US" sz="1600" b="1" u="sng" strike="noStrike" spc="-1">
                <a:solidFill>
                  <a:srgbClr val="0000FF"/>
                </a:solidFill>
                <a:uFillTx/>
                <a:latin typeface="Arial"/>
                <a:hlinkClick r:id="rId2"/>
              </a:rPr>
              <a:t>CITnet/Jira</a:t>
            </a:r>
            <a:r>
              <a:rPr lang="en-US" sz="1600" b="1" strike="noStrike" spc="-1">
                <a:solidFill>
                  <a:srgbClr val="000000"/>
                </a:solidFill>
                <a:latin typeface="Arial"/>
              </a:rPr>
              <a:t>)</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[VECTO-1541] - Implement E2/S2 with APT-S/P</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[VECTO-1549] - Error in gearshift behavior for AT transmissions when braking</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[VECTO-1466] - 076.2451 E2 significant increase of calculation time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[VECTO-1479] - Maximum gearbox torque not respected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[VECTO-1519] - 077.2457 E2 Gear oscillation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[VECTO-1520] - 077.2457 P2 Crashing at takeoff</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[VECTO-1531] - ElectricMotor Lookup Maximum Torque: Object reference not set to an instance of an object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[VECTO-1532] - 077.2547 P2 crashing with 600 RPM idling speed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[VECTO-1539] - Engine speed ramping up before vehicle halt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[VECTO-1551] - AT-P Transmission Bus Application: Error during braking phase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[VECTO-1559] - battery internal resistance curve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[VECTO-1411] - Switching to new .NET version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[VECTO-1456] - Cycle Cache in engineering mode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[VECTO-1478] - Torque limits only apply to ICE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[VECTO-1521] - Updating tyre dimensions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[VECTO-1522] - VECTO warning if there are more steered axles than steering pump technologies</a:t>
            </a: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0.7.8.xxx Development Version</a:t>
            </a:r>
            <a:br>
              <a:rPr sz="2400"/>
            </a:br>
            <a:r>
              <a:rPr lang="en-US" sz="1600" b="1" strike="noStrike" spc="-1">
                <a:solidFill>
                  <a:srgbClr val="990000"/>
                </a:solidFill>
                <a:latin typeface="Arial"/>
              </a:rPr>
              <a:t>April 2022</a:t>
            </a:r>
            <a:endParaRPr lang="en-US" sz="1600" b="0" strike="noStrike" spc="-1">
              <a:latin typeface="Arial"/>
            </a:endParaRPr>
          </a:p>
        </p:txBody>
      </p:sp>
      <p:sp>
        <p:nvSpPr>
          <p:cNvPr id="229"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Detailed Changes/Bugfixes (See </a:t>
            </a:r>
            <a:r>
              <a:rPr lang="en-US" sz="1600" b="1" u="sng" strike="noStrike" spc="-1">
                <a:solidFill>
                  <a:srgbClr val="0000FF"/>
                </a:solidFill>
                <a:uFillTx/>
                <a:latin typeface="Arial"/>
                <a:hlinkClick r:id="rId2"/>
              </a:rPr>
              <a:t>CITnet/Jira</a:t>
            </a:r>
            <a:r>
              <a:rPr lang="en-US" sz="1600" b="1" strike="noStrike" spc="-1">
                <a:solidFill>
                  <a:srgbClr val="000000"/>
                </a:solidFill>
                <a:latin typeface="Arial"/>
              </a:rPr>
              <a:t>)</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[VECTO-1525] - PCC Preprocessing</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[VECTO-1533] - Multi-Target Compilation and .NET Upgrade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[VECTO-1538] - Transmission ratios limitation of input value to &lt;=25</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[VECTO-1540] - Retarder Types AxleGearInputRetarder</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[VECTO-1543] - Calculation of EM Overload buffer, and continuous torque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[VECTO-1545] - WHR electric - connect to REESS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[VECTO-1548] - Update Coach cycle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[VECTO-1560] - update toolchain for generating usermanual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[VECTO-1562] - Adapting WHTC Correction Factor weighting for LH Cycle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[VECTO-1563] - Electric Motor: Calculation of Overload Buffer</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[VECTO-1564] - XML Schema adaptations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[VECTO-1565] - VECTO warning if there are more steered axles than steering pump technologies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[VECTO-1569] - Bugfix: Extrapolation warning in PEV shift strategy</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[VECTO-1573] - Update LH Cycle and WHTC correction factor weighting</a:t>
            </a: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0.7.7.2547 Development Version</a:t>
            </a:r>
            <a:br>
              <a:rPr sz="2400"/>
            </a:br>
            <a:r>
              <a:rPr lang="en-US" sz="1600" b="1" strike="noStrike" spc="-1">
                <a:solidFill>
                  <a:srgbClr val="990000"/>
                </a:solidFill>
                <a:latin typeface="Arial"/>
              </a:rPr>
              <a:t>December 2021</a:t>
            </a:r>
            <a:endParaRPr lang="en-US" sz="1600" b="0" strike="noStrike" spc="-1">
              <a:latin typeface="Arial"/>
            </a:endParaRPr>
          </a:p>
        </p:txBody>
      </p:sp>
      <p:sp>
        <p:nvSpPr>
          <p:cNvPr id="231"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Changes/Bugfixes</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APT-N Gearbox + shift strategy</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EM model (drag curve independent of voltage level)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EM electric power map interpolation method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user manual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Update/bugfixes PEV shift strategy (influence of drag curve, error in calculation of costs)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 calculation E_EM_off_loss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generic shift lines for PEV E2</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 post-processing fuel consumption correction bus auxiliaries (in case of no alternator)</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Bugfixes PCC for xEV</a:t>
            </a:r>
            <a:endParaRPr lang="en-US" sz="14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spcBef>
                <a:spcPts val="320"/>
              </a:spcBef>
              <a:buNone/>
              <a:tabLst>
                <a:tab pos="1886040" algn="l"/>
              </a:tabLst>
            </a:pPr>
            <a:endParaRPr lang="en-US" sz="1600" b="0" strike="noStrike" spc="-1">
              <a:latin typeface="Arial"/>
            </a:endParaRPr>
          </a:p>
          <a:p>
            <a:pPr>
              <a:lnSpc>
                <a:spcPct val="100000"/>
              </a:lnSpc>
              <a:buNone/>
              <a:tabLst>
                <a:tab pos="1886040" algn="l"/>
              </a:tabLst>
            </a:pP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0.7.7.2547 Development Version</a:t>
            </a:r>
            <a:br>
              <a:rPr sz="2400"/>
            </a:br>
            <a:r>
              <a:rPr lang="en-US" sz="1600" b="1" strike="noStrike" spc="-1">
                <a:solidFill>
                  <a:srgbClr val="990000"/>
                </a:solidFill>
                <a:latin typeface="Arial"/>
              </a:rPr>
              <a:t>December 2021</a:t>
            </a:r>
            <a:endParaRPr lang="en-US" sz="1600" b="0" strike="noStrike" spc="-1">
              <a:latin typeface="Arial"/>
            </a:endParaRPr>
          </a:p>
        </p:txBody>
      </p:sp>
      <p:sp>
        <p:nvSpPr>
          <p:cNvPr id="233"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General comments (1/x)</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All topics in this section will also be explained in the next xEV workshop #9 on 11.01.2022</a:t>
            </a:r>
            <a:br>
              <a:rPr sz="1400"/>
            </a:br>
            <a:r>
              <a:rPr lang="en-US" sz="1400" b="0" strike="noStrike" spc="-1">
                <a:solidFill>
                  <a:srgbClr val="000000"/>
                </a:solidFill>
                <a:latin typeface="Arial"/>
              </a:rPr>
              <a:t> </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Also topics for testing and feedback will be discussed in this workshop.</a:t>
            </a:r>
            <a:br>
              <a:rPr sz="1400"/>
            </a:br>
            <a:r>
              <a:rPr lang="en-US" sz="1400" b="0" strike="noStrike" spc="-1">
                <a:solidFill>
                  <a:srgbClr val="000000"/>
                </a:solidFill>
                <a:latin typeface="Arial"/>
              </a:rPr>
              <a:t>Until then, no feedback on the distributed version is expected.</a:t>
            </a:r>
            <a:br>
              <a:rPr sz="1400"/>
            </a:br>
            <a:r>
              <a:rPr lang="en-US" sz="1400" b="0" strike="noStrike" spc="-1">
                <a:solidFill>
                  <a:srgbClr val="000000"/>
                </a:solidFill>
                <a:latin typeface="Arial"/>
              </a:rPr>
              <a:t> </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Calculation of overload buffer for EM</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Overload buffer is currently calculated with data for lower voltage level only</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Update of calculation method based on two voltage levels will be implemented once all details reg. the method are clarified</a:t>
            </a:r>
            <a:br>
              <a:rPr sz="1000"/>
            </a:br>
            <a:r>
              <a:rPr lang="en-US" sz="1000" b="0" strike="noStrike" spc="-1">
                <a:solidFill>
                  <a:srgbClr val="000000"/>
                </a:solidFill>
                <a:latin typeface="Arial"/>
              </a:rPr>
              <a:t> </a:t>
            </a:r>
            <a:endParaRPr lang="en-US" sz="10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Propulsion Torque Limits (Vehicle Boosting Limits)</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In the rotational speed range from 0 to engine idling speed the full load torque available from the ICE equals the ICE full load torque at engine idling speed due to the modelling of the clutch behaviour during vehicle starts.</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Any arbitrary number of values may be declared in between the range of zero and the maximum rotational speed of the ICE full load curve.</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Declared values lower than zero are not allowed for the additional torque.</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For detailed explanation refer to user manual (“Vehicle Editor – Torque Limits Tab”, “Torque and Speed Limitations”)</a:t>
            </a:r>
            <a:br>
              <a:rPr sz="1000"/>
            </a:br>
            <a:r>
              <a:rPr lang="en-US" sz="1000" b="0" strike="noStrike" spc="-1">
                <a:solidFill>
                  <a:srgbClr val="000000"/>
                </a:solidFill>
                <a:latin typeface="Arial"/>
              </a:rPr>
              <a:t> </a:t>
            </a:r>
            <a:endParaRPr lang="en-US" sz="10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Pulse-duration dependency of internal resistance of battery</a:t>
            </a:r>
            <a:endParaRPr lang="en-US" sz="1400" b="0" strike="noStrike" spc="-1">
              <a:latin typeface="Arial"/>
            </a:endParaRPr>
          </a:p>
          <a:p>
            <a:pPr marL="1143000" lvl="2" indent="-228600">
              <a:lnSpc>
                <a:spcPct val="100000"/>
              </a:lnSpc>
              <a:spcBef>
                <a:spcPts val="281"/>
              </a:spcBef>
              <a:buClr>
                <a:srgbClr val="000000"/>
              </a:buClr>
              <a:buFont typeface="Symbol"/>
              <a:buChar char=""/>
              <a:tabLst>
                <a:tab pos="1886040" algn="l"/>
              </a:tabLst>
            </a:pPr>
            <a:r>
              <a:rPr lang="en-US" sz="1000" b="0" strike="noStrike" spc="-1">
                <a:solidFill>
                  <a:srgbClr val="000000"/>
                </a:solidFill>
                <a:latin typeface="Arial"/>
              </a:rPr>
              <a:t>For detailed explanation refer to user manual</a:t>
            </a:r>
            <a:br>
              <a:rPr sz="1400"/>
            </a:br>
            <a:r>
              <a:rPr lang="en-US" sz="1400" b="0" strike="noStrike" spc="-1">
                <a:solidFill>
                  <a:srgbClr val="000000"/>
                </a:solidFill>
                <a:latin typeface="Arial"/>
              </a:rPr>
              <a:t> </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HEV operation strategy method for declaration mode</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Method explained in “User Manual/HEV_DECL_method_20211221.pptx” distributed together with VECTO archive</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Generic values defined per (vehicle group, mission, payload and usable SOC range) in “User Manual/HEV_Strategy_Parameters.xlsx” distributed together with VECTO archive</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For further details refer to distributed material/recording from xEV workshop #8</a:t>
            </a:r>
            <a:endParaRPr lang="en-US" sz="10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0.7.7.2547 Development Version</a:t>
            </a:r>
            <a:br>
              <a:rPr sz="2400"/>
            </a:br>
            <a:r>
              <a:rPr lang="en-US" sz="1600" b="1" strike="noStrike" spc="-1">
                <a:solidFill>
                  <a:srgbClr val="990000"/>
                </a:solidFill>
                <a:latin typeface="Arial"/>
              </a:rPr>
              <a:t>December 2021</a:t>
            </a:r>
            <a:endParaRPr lang="en-US" sz="1600" b="0" strike="noStrike" spc="-1">
              <a:latin typeface="Arial"/>
            </a:endParaRPr>
          </a:p>
        </p:txBody>
      </p:sp>
      <p:sp>
        <p:nvSpPr>
          <p:cNvPr id="235"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General comments (2/x)</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Auxiliaries for PEV</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Electric power demand of auxiliaries for both, lorries and buses, need to be parameterized via the “BusAux” GUI window</a:t>
            </a:r>
            <a:br>
              <a:rPr sz="1000"/>
            </a:br>
            <a:br>
              <a:rPr sz="1000"/>
            </a:br>
            <a:br>
              <a:rPr sz="1000"/>
            </a:br>
            <a:br>
              <a:rPr sz="1000"/>
            </a:br>
            <a:r>
              <a:rPr lang="en-US" sz="1000" b="0" strike="noStrike" spc="-1">
                <a:solidFill>
                  <a:srgbClr val="000000"/>
                </a:solidFill>
                <a:latin typeface="Arial"/>
              </a:rPr>
              <a:t> </a:t>
            </a:r>
            <a:endParaRPr lang="en-US" sz="1000" b="0" strike="noStrike" spc="-1">
              <a:latin typeface="Arial"/>
            </a:endParaRPr>
          </a:p>
          <a:p>
            <a:pPr>
              <a:lnSpc>
                <a:spcPct val="100000"/>
              </a:lnSpc>
              <a:buNone/>
              <a:tabLst>
                <a:tab pos="1886040" algn="l"/>
              </a:tabLst>
            </a:pPr>
            <a:br>
              <a:rPr sz="1000"/>
            </a:br>
            <a:br>
              <a:rPr sz="1000"/>
            </a:br>
            <a:br>
              <a:rPr sz="1000"/>
            </a:br>
            <a:br>
              <a:rPr sz="1000"/>
            </a:br>
            <a:br>
              <a:rPr sz="1000"/>
            </a:br>
            <a:br>
              <a:rPr sz="1000"/>
            </a:br>
            <a:br>
              <a:rPr sz="1000"/>
            </a:br>
            <a:br>
              <a:rPr sz="1000"/>
            </a:br>
            <a:br>
              <a:rPr sz="1000"/>
            </a:br>
            <a:br>
              <a:rPr sz="1000"/>
            </a:br>
            <a:br>
              <a:rPr sz="1000"/>
            </a:br>
            <a:br>
              <a:rPr sz="1000"/>
            </a:br>
            <a:br>
              <a:rPr sz="1000"/>
            </a:br>
            <a:br>
              <a:rPr sz="1000"/>
            </a:br>
            <a:br>
              <a:rPr sz="1000"/>
            </a:br>
            <a:br>
              <a:rPr sz="1000"/>
            </a:br>
            <a:endParaRPr lang="en-US" sz="10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Gearshift model for PEV</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Details explained on next slides</a:t>
            </a:r>
            <a:endParaRPr lang="en-US" sz="1000" b="0" strike="noStrike" spc="-1">
              <a:latin typeface="Arial"/>
            </a:endParaRPr>
          </a:p>
        </p:txBody>
      </p:sp>
      <p:grpSp>
        <p:nvGrpSpPr>
          <p:cNvPr id="236" name="Gruppieren 12"/>
          <p:cNvGrpSpPr/>
          <p:nvPr/>
        </p:nvGrpSpPr>
        <p:grpSpPr>
          <a:xfrm>
            <a:off x="1047600" y="2188080"/>
            <a:ext cx="7963560" cy="2519280"/>
            <a:chOff x="1047600" y="2188080"/>
            <a:chExt cx="7963560" cy="2519280"/>
          </a:xfrm>
        </p:grpSpPr>
        <p:pic>
          <p:nvPicPr>
            <p:cNvPr id="237" name="Grafik 5"/>
            <p:cNvPicPr/>
            <p:nvPr/>
          </p:nvPicPr>
          <p:blipFill>
            <a:blip r:embed="rId2"/>
            <a:srcRect r="53544"/>
            <a:stretch/>
          </p:blipFill>
          <p:spPr>
            <a:xfrm>
              <a:off x="5004000" y="2188080"/>
              <a:ext cx="2510280" cy="2519280"/>
            </a:xfrm>
            <a:prstGeom prst="rect">
              <a:avLst/>
            </a:prstGeom>
            <a:ln w="0">
              <a:noFill/>
            </a:ln>
          </p:spPr>
        </p:pic>
        <p:grpSp>
          <p:nvGrpSpPr>
            <p:cNvPr id="238" name="Gruppieren 7"/>
            <p:cNvGrpSpPr/>
            <p:nvPr/>
          </p:nvGrpSpPr>
          <p:grpSpPr>
            <a:xfrm>
              <a:off x="1047600" y="2188080"/>
              <a:ext cx="3735000" cy="2519280"/>
              <a:chOff x="1047600" y="2188080"/>
              <a:chExt cx="3735000" cy="2519280"/>
            </a:xfrm>
          </p:grpSpPr>
          <p:pic>
            <p:nvPicPr>
              <p:cNvPr id="239" name="Grafik 4"/>
              <p:cNvPicPr/>
              <p:nvPr/>
            </p:nvPicPr>
            <p:blipFill>
              <a:blip r:embed="rId3"/>
              <a:stretch/>
            </p:blipFill>
            <p:spPr>
              <a:xfrm>
                <a:off x="1187640" y="2188080"/>
                <a:ext cx="3594960" cy="2519280"/>
              </a:xfrm>
              <a:prstGeom prst="rect">
                <a:avLst/>
              </a:prstGeom>
              <a:ln w="0">
                <a:noFill/>
              </a:ln>
            </p:spPr>
          </p:pic>
          <p:sp>
            <p:nvSpPr>
              <p:cNvPr id="240" name="Ellipse 6"/>
              <p:cNvSpPr/>
              <p:nvPr/>
            </p:nvSpPr>
            <p:spPr>
              <a:xfrm>
                <a:off x="1047600" y="3812760"/>
                <a:ext cx="899280" cy="287280"/>
              </a:xfrm>
              <a:prstGeom prst="ellipse">
                <a:avLst/>
              </a:prstGeom>
              <a:noFill/>
              <a:ln w="19050">
                <a:solidFill>
                  <a:srgbClr val="FF0000"/>
                </a:solidFill>
                <a:round/>
              </a:ln>
            </p:spPr>
            <p:style>
              <a:lnRef idx="0">
                <a:scrgbClr r="0" g="0" b="0"/>
              </a:lnRef>
              <a:fillRef idx="0">
                <a:scrgbClr r="0" g="0" b="0"/>
              </a:fillRef>
              <a:effectRef idx="0">
                <a:scrgbClr r="0" g="0" b="0"/>
              </a:effectRef>
              <a:fontRef idx="minor"/>
            </p:style>
          </p:sp>
        </p:grpSp>
        <p:sp>
          <p:nvSpPr>
            <p:cNvPr id="241" name="Legende mit Linie 1 10"/>
            <p:cNvSpPr/>
            <p:nvPr/>
          </p:nvSpPr>
          <p:spPr>
            <a:xfrm>
              <a:off x="7566480" y="2836080"/>
              <a:ext cx="1444680" cy="337680"/>
            </a:xfrm>
            <a:prstGeom prst="borderCallout1">
              <a:avLst>
                <a:gd name="adj1" fmla="val 18750"/>
                <a:gd name="adj2" fmla="val -8333"/>
                <a:gd name="adj3" fmla="val 70225"/>
                <a:gd name="adj4" fmla="val -65838"/>
              </a:avLst>
            </a:prstGeom>
            <a:noFill/>
            <a:ln w="19050">
              <a:solidFill>
                <a:srgbClr val="FF0000"/>
              </a:solidFill>
              <a:round/>
            </a:ln>
          </p:spPr>
          <p:style>
            <a:lnRef idx="0">
              <a:scrgbClr r="0" g="0" b="0"/>
            </a:lnRef>
            <a:fillRef idx="0">
              <a:scrgbClr r="0" g="0" b="0"/>
            </a:fillRef>
            <a:effectRef idx="0">
              <a:scrgbClr r="0" g="0" b="0"/>
            </a:effectRef>
            <a:fontRef idx="minor"/>
          </p:style>
          <p:txBody>
            <a:bodyPr lIns="90000" tIns="45000" rIns="90000" bIns="45000" numCol="1" spcCol="0" anchor="ctr">
              <a:noAutofit/>
            </a:bodyPr>
            <a:lstStyle/>
            <a:p>
              <a:pPr algn="ctr">
                <a:lnSpc>
                  <a:spcPct val="100000"/>
                </a:lnSpc>
                <a:spcBef>
                  <a:spcPts val="329"/>
                </a:spcBef>
                <a:buNone/>
                <a:tabLst>
                  <a:tab pos="0" algn="l"/>
                </a:tabLst>
              </a:pPr>
              <a:r>
                <a:rPr lang="de-DE" sz="1100" b="0" strike="noStrike" spc="-1">
                  <a:solidFill>
                    <a:srgbClr val="000000"/>
                  </a:solidFill>
                  <a:latin typeface="Arial"/>
                  <a:ea typeface="DejaVu Sans"/>
                </a:rPr>
                <a:t>Demand during vehicle driving</a:t>
              </a:r>
              <a:endParaRPr lang="en-US" sz="1100" b="0" strike="noStrike" spc="-1">
                <a:latin typeface="Arial"/>
              </a:endParaRPr>
            </a:p>
          </p:txBody>
        </p:sp>
        <p:sp>
          <p:nvSpPr>
            <p:cNvPr id="242" name="Legende mit Linie 1 11"/>
            <p:cNvSpPr/>
            <p:nvPr/>
          </p:nvSpPr>
          <p:spPr>
            <a:xfrm>
              <a:off x="7566480" y="3340080"/>
              <a:ext cx="1444680" cy="337680"/>
            </a:xfrm>
            <a:prstGeom prst="borderCallout1">
              <a:avLst>
                <a:gd name="adj1" fmla="val 18750"/>
                <a:gd name="adj2" fmla="val -8333"/>
                <a:gd name="adj3" fmla="val -28416"/>
                <a:gd name="adj4" fmla="val -65839"/>
              </a:avLst>
            </a:prstGeom>
            <a:noFill/>
            <a:ln w="19050">
              <a:solidFill>
                <a:srgbClr val="FF0000"/>
              </a:solidFill>
              <a:round/>
            </a:ln>
          </p:spPr>
          <p:style>
            <a:lnRef idx="0">
              <a:scrgbClr r="0" g="0" b="0"/>
            </a:lnRef>
            <a:fillRef idx="0">
              <a:scrgbClr r="0" g="0" b="0"/>
            </a:fillRef>
            <a:effectRef idx="0">
              <a:scrgbClr r="0" g="0" b="0"/>
            </a:effectRef>
            <a:fontRef idx="minor"/>
          </p:style>
          <p:txBody>
            <a:bodyPr lIns="90000" tIns="45000" rIns="90000" bIns="45000" numCol="1" spcCol="0" anchor="ctr">
              <a:noAutofit/>
            </a:bodyPr>
            <a:lstStyle/>
            <a:p>
              <a:pPr algn="ctr">
                <a:lnSpc>
                  <a:spcPct val="100000"/>
                </a:lnSpc>
                <a:spcBef>
                  <a:spcPts val="329"/>
                </a:spcBef>
                <a:buNone/>
                <a:tabLst>
                  <a:tab pos="0" algn="l"/>
                </a:tabLst>
              </a:pPr>
              <a:r>
                <a:rPr lang="de-DE" sz="1100" b="0" strike="noStrike" spc="-1">
                  <a:solidFill>
                    <a:srgbClr val="000000"/>
                  </a:solidFill>
                  <a:latin typeface="Arial"/>
                  <a:ea typeface="DejaVu Sans"/>
                </a:rPr>
                <a:t>Demand during vehicle standstill</a:t>
              </a:r>
              <a:endParaRPr lang="en-US" sz="1100" b="0" strike="noStrike" spc="-1">
                <a:latin typeface="Arial"/>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 name="Grafik 14"/>
          <p:cNvPicPr/>
          <p:nvPr/>
        </p:nvPicPr>
        <p:blipFill>
          <a:blip r:embed="rId2"/>
          <a:stretch/>
        </p:blipFill>
        <p:spPr>
          <a:xfrm>
            <a:off x="323640" y="1743840"/>
            <a:ext cx="5759280" cy="4748040"/>
          </a:xfrm>
          <a:prstGeom prst="rect">
            <a:avLst/>
          </a:prstGeom>
          <a:ln w="0">
            <a:noFill/>
          </a:ln>
        </p:spPr>
      </p:pic>
      <p:sp>
        <p:nvSpPr>
          <p:cNvPr id="24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0.7.7.2547 Development Version</a:t>
            </a:r>
            <a:br>
              <a:rPr sz="2400"/>
            </a:br>
            <a:r>
              <a:rPr lang="en-US" sz="1600" b="1" strike="noStrike" spc="-1">
                <a:solidFill>
                  <a:srgbClr val="990000"/>
                </a:solidFill>
                <a:latin typeface="Arial"/>
              </a:rPr>
              <a:t>December 2021</a:t>
            </a:r>
            <a:endParaRPr lang="en-US" sz="1600" b="0" strike="noStrike" spc="-1">
              <a:latin typeface="Arial"/>
            </a:endParaRPr>
          </a:p>
        </p:txBody>
      </p:sp>
      <p:sp>
        <p:nvSpPr>
          <p:cNvPr id="245"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Gearshift model for PEV (1/x)</a:t>
            </a:r>
            <a:endParaRPr lang="en-US" sz="1600" b="0" strike="noStrike" spc="-1">
              <a:latin typeface="Arial"/>
            </a:endParaRPr>
          </a:p>
        </p:txBody>
      </p:sp>
      <p:sp>
        <p:nvSpPr>
          <p:cNvPr id="246" name="Textfeld 12"/>
          <p:cNvSpPr/>
          <p:nvPr/>
        </p:nvSpPr>
        <p:spPr>
          <a:xfrm>
            <a:off x="6156000" y="1524960"/>
            <a:ext cx="2987280" cy="467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spcBef>
                <a:spcPts val="550"/>
              </a:spcBef>
              <a:buClr>
                <a:srgbClr val="000000"/>
              </a:buClr>
              <a:buFont typeface="Wingdings" charset="2"/>
              <a:buChar char=""/>
            </a:pPr>
            <a:r>
              <a:rPr lang="en-US" sz="1100" b="1" u="sng" strike="noStrike" spc="-1">
                <a:solidFill>
                  <a:srgbClr val="000000"/>
                </a:solidFill>
                <a:uFillTx/>
                <a:latin typeface="Arial"/>
                <a:ea typeface="DejaVu Sans"/>
              </a:rPr>
              <a:t>Basics:</a:t>
            </a:r>
            <a:endParaRPr lang="en-US" sz="1100" b="0" strike="noStrike" spc="-1">
              <a:latin typeface="Arial"/>
            </a:endParaRPr>
          </a:p>
          <a:p>
            <a:pPr marL="743040" lvl="1" indent="-285840">
              <a:lnSpc>
                <a:spcPct val="100000"/>
              </a:lnSpc>
              <a:spcBef>
                <a:spcPts val="499"/>
              </a:spcBef>
              <a:buClr>
                <a:srgbClr val="000000"/>
              </a:buClr>
              <a:buFont typeface="Wingdings" charset="2"/>
              <a:buChar char=""/>
            </a:pPr>
            <a:r>
              <a:rPr lang="en-US" sz="1000" b="0" strike="noStrike" spc="-1">
                <a:solidFill>
                  <a:srgbClr val="000000"/>
                </a:solidFill>
                <a:latin typeface="Arial"/>
                <a:ea typeface="DejaVu Sans"/>
              </a:rPr>
              <a:t>Downshift for operation point left of green dot-dashed downshift lines</a:t>
            </a:r>
            <a:endParaRPr lang="en-US" sz="1000" b="0" strike="noStrike" spc="-1">
              <a:latin typeface="Arial"/>
            </a:endParaRPr>
          </a:p>
          <a:p>
            <a:pPr marL="743040" lvl="1" indent="-285840">
              <a:lnSpc>
                <a:spcPct val="100000"/>
              </a:lnSpc>
              <a:spcBef>
                <a:spcPts val="499"/>
              </a:spcBef>
              <a:buClr>
                <a:srgbClr val="000000"/>
              </a:buClr>
              <a:buFont typeface="Wingdings" charset="2"/>
              <a:buChar char=""/>
            </a:pPr>
            <a:r>
              <a:rPr lang="en-US" sz="1000" b="0" strike="noStrike" spc="-1">
                <a:solidFill>
                  <a:srgbClr val="000000"/>
                </a:solidFill>
                <a:latin typeface="Arial"/>
                <a:ea typeface="DejaVu Sans"/>
              </a:rPr>
              <a:t>Upshift for operation point right of green dot-dashed upshift line</a:t>
            </a:r>
            <a:endParaRPr lang="en-US" sz="1000" b="0" strike="noStrike" spc="-1">
              <a:latin typeface="Arial"/>
            </a:endParaRPr>
          </a:p>
          <a:p>
            <a:pPr marL="743040" lvl="1" indent="-285840">
              <a:lnSpc>
                <a:spcPct val="100000"/>
              </a:lnSpc>
              <a:spcBef>
                <a:spcPts val="499"/>
              </a:spcBef>
              <a:buClr>
                <a:srgbClr val="000000"/>
              </a:buClr>
              <a:buFont typeface="Wingdings" charset="2"/>
              <a:buChar char=""/>
            </a:pPr>
            <a:r>
              <a:rPr lang="en-US" sz="1000" b="0" strike="noStrike" spc="-1">
                <a:solidFill>
                  <a:srgbClr val="000000"/>
                </a:solidFill>
                <a:latin typeface="Arial"/>
                <a:ea typeface="DejaVu Sans"/>
              </a:rPr>
              <a:t>EffShift method applied for operation point between downshift and upshift lines (refer to user manual) </a:t>
            </a:r>
            <a:endParaRPr lang="en-US" sz="1000" b="0" strike="noStrike" spc="-1">
              <a:latin typeface="Arial"/>
            </a:endParaRPr>
          </a:p>
          <a:p>
            <a:pPr marL="285840" indent="-285840">
              <a:lnSpc>
                <a:spcPct val="100000"/>
              </a:lnSpc>
              <a:spcBef>
                <a:spcPts val="550"/>
              </a:spcBef>
              <a:buClr>
                <a:srgbClr val="000000"/>
              </a:buClr>
              <a:buFont typeface="Wingdings" charset="2"/>
              <a:buChar char=""/>
            </a:pPr>
            <a:r>
              <a:rPr lang="en-US" sz="1100" b="1" u="sng" strike="noStrike" spc="-1">
                <a:solidFill>
                  <a:srgbClr val="000000"/>
                </a:solidFill>
                <a:uFillTx/>
                <a:latin typeface="Arial"/>
                <a:ea typeface="DejaVu Sans"/>
              </a:rPr>
              <a:t>Driving:</a:t>
            </a:r>
            <a:endParaRPr lang="en-US" sz="1100" b="0" strike="noStrike" spc="-1">
              <a:latin typeface="Arial"/>
            </a:endParaRPr>
          </a:p>
          <a:p>
            <a:pPr marL="743040" lvl="1" indent="-285840">
              <a:lnSpc>
                <a:spcPct val="100000"/>
              </a:lnSpc>
              <a:spcBef>
                <a:spcPts val="499"/>
              </a:spcBef>
              <a:buClr>
                <a:srgbClr val="000000"/>
              </a:buClr>
              <a:buFont typeface="Wingdings" charset="2"/>
              <a:buChar char=""/>
            </a:pPr>
            <a:r>
              <a:rPr lang="en-US" sz="1000" b="0" strike="noStrike" spc="-1">
                <a:solidFill>
                  <a:srgbClr val="000000"/>
                </a:solidFill>
                <a:latin typeface="Arial"/>
                <a:ea typeface="DejaVu Sans"/>
              </a:rPr>
              <a:t>Maximum downshift speed always located at </a:t>
            </a:r>
            <a:r>
              <a:rPr lang="en-US" sz="1000" b="1" strike="noStrike" spc="-1">
                <a:solidFill>
                  <a:srgbClr val="000000"/>
                </a:solidFill>
                <a:latin typeface="Arial"/>
                <a:ea typeface="DejaVu Sans"/>
              </a:rPr>
              <a:t>n_P80low</a:t>
            </a:r>
            <a:r>
              <a:rPr lang="en-US" sz="1000" b="0" strike="noStrike" spc="-1">
                <a:solidFill>
                  <a:srgbClr val="000000"/>
                </a:solidFill>
                <a:latin typeface="Arial"/>
                <a:ea typeface="DejaVu Sans"/>
              </a:rPr>
              <a:t> (where 80% of max power is available)</a:t>
            </a:r>
            <a:endParaRPr lang="en-US" sz="1000" b="0" strike="noStrike" spc="-1">
              <a:latin typeface="Arial"/>
            </a:endParaRPr>
          </a:p>
          <a:p>
            <a:pPr marL="743040" lvl="1" indent="-285840">
              <a:lnSpc>
                <a:spcPct val="100000"/>
              </a:lnSpc>
              <a:spcBef>
                <a:spcPts val="499"/>
              </a:spcBef>
              <a:buClr>
                <a:srgbClr val="000000"/>
              </a:buClr>
              <a:buFont typeface="Wingdings" charset="2"/>
              <a:buChar char=""/>
            </a:pPr>
            <a:r>
              <a:rPr lang="en-US" sz="1000" b="0" strike="noStrike" spc="-1">
                <a:solidFill>
                  <a:srgbClr val="000000"/>
                </a:solidFill>
                <a:latin typeface="Arial"/>
                <a:ea typeface="DejaVu Sans"/>
              </a:rPr>
              <a:t>For EM in de-rating </a:t>
            </a:r>
            <a:r>
              <a:rPr lang="en-US" sz="1000" b="1" strike="noStrike" spc="-1">
                <a:solidFill>
                  <a:srgbClr val="000000"/>
                </a:solidFill>
                <a:latin typeface="Arial"/>
                <a:ea typeface="DejaVu Sans"/>
              </a:rPr>
              <a:t>n_P80low</a:t>
            </a:r>
            <a:r>
              <a:rPr lang="en-US" sz="1000" b="0" strike="noStrike" spc="-1">
                <a:solidFill>
                  <a:srgbClr val="000000"/>
                </a:solidFill>
                <a:latin typeface="Arial"/>
                <a:ea typeface="DejaVu Sans"/>
              </a:rPr>
              <a:t> is calculated from the de-rated power curve</a:t>
            </a:r>
            <a:endParaRPr lang="en-US" sz="1000" b="0" strike="noStrike" spc="-1">
              <a:latin typeface="Arial"/>
            </a:endParaRPr>
          </a:p>
          <a:p>
            <a:pPr marL="285840" indent="-285840">
              <a:lnSpc>
                <a:spcPct val="100000"/>
              </a:lnSpc>
              <a:spcBef>
                <a:spcPts val="550"/>
              </a:spcBef>
              <a:buClr>
                <a:srgbClr val="000000"/>
              </a:buClr>
              <a:buFont typeface="Wingdings" charset="2"/>
              <a:buChar char=""/>
            </a:pPr>
            <a:r>
              <a:rPr lang="en-US" sz="1100" b="1" u="sng" strike="noStrike" spc="-1">
                <a:solidFill>
                  <a:srgbClr val="000000"/>
                </a:solidFill>
                <a:uFillTx/>
                <a:latin typeface="Arial"/>
                <a:ea typeface="DejaVu Sans"/>
              </a:rPr>
              <a:t>Braking:</a:t>
            </a:r>
            <a:endParaRPr lang="en-US" sz="1100" b="0" strike="noStrike" spc="-1">
              <a:latin typeface="Arial"/>
            </a:endParaRPr>
          </a:p>
          <a:p>
            <a:pPr marL="743040" lvl="1" indent="-285840">
              <a:lnSpc>
                <a:spcPct val="100000"/>
              </a:lnSpc>
              <a:spcBef>
                <a:spcPts val="499"/>
              </a:spcBef>
              <a:buClr>
                <a:srgbClr val="000000"/>
              </a:buClr>
              <a:buFont typeface="Wingdings" charset="2"/>
              <a:buChar char=""/>
            </a:pPr>
            <a:r>
              <a:rPr lang="en-US" sz="1000" b="0" strike="noStrike" spc="-1">
                <a:solidFill>
                  <a:srgbClr val="000000"/>
                </a:solidFill>
                <a:latin typeface="Arial"/>
                <a:ea typeface="DejaVu Sans"/>
              </a:rPr>
              <a:t>EffShift is suppressed for operation point within red shaded area</a:t>
            </a:r>
            <a:br>
              <a:rPr sz="1000"/>
            </a:br>
            <a:r>
              <a:rPr lang="en-US" sz="1000" b="0" strike="noStrike" spc="-1">
                <a:solidFill>
                  <a:srgbClr val="000000"/>
                </a:solidFill>
                <a:latin typeface="Arial"/>
                <a:ea typeface="DejaVu Sans"/>
              </a:rPr>
              <a:t>(2% below max recuperation power)</a:t>
            </a:r>
            <a:endParaRPr lang="en-US" sz="1000" b="0" strike="noStrike" spc="-1">
              <a:latin typeface="Arial"/>
            </a:endParaRPr>
          </a:p>
          <a:p>
            <a:pPr marL="743040" lvl="1" indent="-285840">
              <a:lnSpc>
                <a:spcPct val="100000"/>
              </a:lnSpc>
              <a:spcBef>
                <a:spcPts val="499"/>
              </a:spcBef>
              <a:buClr>
                <a:srgbClr val="000000"/>
              </a:buClr>
              <a:buFont typeface="Wingdings" charset="2"/>
              <a:buChar char=""/>
            </a:pPr>
            <a:r>
              <a:rPr lang="en-US" sz="1000" b="0" strike="noStrike" spc="-1">
                <a:solidFill>
                  <a:srgbClr val="000000"/>
                </a:solidFill>
                <a:latin typeface="Arial"/>
                <a:ea typeface="DejaVu Sans"/>
              </a:rPr>
              <a:t>New gear after downshift is selected so that operation point is closest to and above </a:t>
            </a:r>
            <a:r>
              <a:rPr lang="en-US" sz="1000" b="1" strike="noStrike" spc="-1">
                <a:solidFill>
                  <a:srgbClr val="000000"/>
                </a:solidFill>
                <a:latin typeface="Arial"/>
                <a:ea typeface="DejaVu Sans"/>
              </a:rPr>
              <a:t>n_brake_target_norm</a:t>
            </a:r>
            <a:r>
              <a:rPr lang="en-US" sz="1000" b="0" strike="noStrike" spc="-1">
                <a:solidFill>
                  <a:srgbClr val="000000"/>
                </a:solidFill>
                <a:latin typeface="Arial"/>
                <a:ea typeface="DejaVu Sans"/>
              </a:rPr>
              <a:t> (or only closest to </a:t>
            </a:r>
            <a:r>
              <a:rPr lang="en-US" sz="1000" b="1" strike="noStrike" spc="-1">
                <a:solidFill>
                  <a:srgbClr val="000000"/>
                </a:solidFill>
                <a:latin typeface="Arial"/>
                <a:ea typeface="DejaVu Sans"/>
              </a:rPr>
              <a:t>n_brake_target_norm</a:t>
            </a:r>
            <a:r>
              <a:rPr lang="en-US" sz="1000" b="0" strike="noStrike" spc="-1">
                <a:solidFill>
                  <a:srgbClr val="000000"/>
                </a:solidFill>
                <a:latin typeface="Arial"/>
                <a:ea typeface="DejaVu Sans"/>
              </a:rPr>
              <a:t> in case no operation point with higher speed exists)</a:t>
            </a:r>
            <a:endParaRPr lang="en-US" sz="1000" b="0" strike="noStrike" spc="-1">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 name="Grafik 6"/>
          <p:cNvPicPr/>
          <p:nvPr/>
        </p:nvPicPr>
        <p:blipFill>
          <a:blip r:embed="rId2"/>
          <a:stretch/>
        </p:blipFill>
        <p:spPr>
          <a:xfrm>
            <a:off x="323640" y="1743840"/>
            <a:ext cx="5759280" cy="4748040"/>
          </a:xfrm>
          <a:prstGeom prst="rect">
            <a:avLst/>
          </a:prstGeom>
          <a:ln w="0">
            <a:noFill/>
          </a:ln>
        </p:spPr>
      </p:pic>
      <p:sp>
        <p:nvSpPr>
          <p:cNvPr id="24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0.7.7.2547 Development Version</a:t>
            </a:r>
            <a:br>
              <a:rPr sz="2400"/>
            </a:br>
            <a:r>
              <a:rPr lang="en-US" sz="1600" b="1" strike="noStrike" spc="-1">
                <a:solidFill>
                  <a:srgbClr val="990000"/>
                </a:solidFill>
                <a:latin typeface="Arial"/>
              </a:rPr>
              <a:t>December 2021</a:t>
            </a:r>
            <a:endParaRPr lang="en-US" sz="1600" b="0" strike="noStrike" spc="-1">
              <a:latin typeface="Arial"/>
            </a:endParaRPr>
          </a:p>
        </p:txBody>
      </p:sp>
      <p:sp>
        <p:nvSpPr>
          <p:cNvPr id="249"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Gearshift model for PEV (2/x)</a:t>
            </a:r>
            <a:endParaRPr lang="en-US" sz="1600" b="0" strike="noStrike" spc="-1">
              <a:latin typeface="Arial"/>
            </a:endParaRPr>
          </a:p>
        </p:txBody>
      </p:sp>
      <p:sp>
        <p:nvSpPr>
          <p:cNvPr id="250" name="Textfeld 12"/>
          <p:cNvSpPr/>
          <p:nvPr/>
        </p:nvSpPr>
        <p:spPr>
          <a:xfrm>
            <a:off x="6156000" y="1524960"/>
            <a:ext cx="2987280" cy="1097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spcBef>
                <a:spcPts val="550"/>
              </a:spcBef>
              <a:buClr>
                <a:srgbClr val="000000"/>
              </a:buClr>
              <a:buFont typeface="Wingdings" charset="2"/>
              <a:buChar char=""/>
            </a:pPr>
            <a:r>
              <a:rPr lang="en-US" sz="1100" b="1" u="sng" strike="noStrike" spc="-1">
                <a:solidFill>
                  <a:srgbClr val="000000"/>
                </a:solidFill>
                <a:uFillTx/>
                <a:latin typeface="Arial"/>
                <a:ea typeface="DejaVu Sans"/>
              </a:rPr>
              <a:t>All factors in bold red can be tuned via shift parameter file .vtcu</a:t>
            </a:r>
            <a:endParaRPr lang="en-US" sz="1100" b="0" strike="noStrike" spc="-1">
              <a:latin typeface="Arial"/>
            </a:endParaRPr>
          </a:p>
          <a:p>
            <a:pPr marL="743040" lvl="1" indent="-285840">
              <a:lnSpc>
                <a:spcPct val="100000"/>
              </a:lnSpc>
              <a:spcBef>
                <a:spcPts val="499"/>
              </a:spcBef>
              <a:buClr>
                <a:srgbClr val="000000"/>
              </a:buClr>
              <a:buFont typeface="Wingdings" charset="2"/>
              <a:buChar char=""/>
            </a:pPr>
            <a:r>
              <a:rPr lang="en-US" sz="1000" b="0" strike="noStrike" spc="-1">
                <a:solidFill>
                  <a:srgbClr val="000000"/>
                </a:solidFill>
                <a:latin typeface="Arial"/>
                <a:ea typeface="DejaVu Sans"/>
              </a:rPr>
              <a:t>Refer to sample file for User Manual/PEV_ShiftParameters.vtcu distributed together with VECTO archive</a:t>
            </a:r>
            <a:endParaRPr lang="en-US" sz="1000" b="0" strike="noStrike" spc="-1">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0.7.7.2547 Development Version</a:t>
            </a:r>
            <a:br>
              <a:rPr sz="2400"/>
            </a:br>
            <a:r>
              <a:rPr lang="en-US" sz="1600" b="1" strike="noStrike" spc="-1">
                <a:solidFill>
                  <a:srgbClr val="990000"/>
                </a:solidFill>
                <a:latin typeface="Arial"/>
              </a:rPr>
              <a:t>December 2021</a:t>
            </a:r>
            <a:endParaRPr lang="en-US" sz="1600" b="0" strike="noStrike" spc="-1">
              <a:latin typeface="Arial"/>
            </a:endParaRPr>
          </a:p>
        </p:txBody>
      </p:sp>
      <p:sp>
        <p:nvSpPr>
          <p:cNvPr id="252"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Detailed Changes/Bugfixes (see </a:t>
            </a:r>
            <a:r>
              <a:rPr lang="en-US" sz="1600" b="1" u="sng" strike="noStrike" spc="-1">
                <a:solidFill>
                  <a:srgbClr val="0000FF"/>
                </a:solidFill>
                <a:uFillTx/>
                <a:latin typeface="Arial"/>
                <a:hlinkClick r:id="rId2"/>
              </a:rPr>
              <a:t>CITnet/JIRA</a:t>
            </a:r>
            <a:r>
              <a:rPr lang="en-US" sz="1600" b="1" strike="noStrike" spc="-1">
                <a:solidFill>
                  <a:srgbClr val="000000"/>
                </a:solidFill>
                <a:latin typeface="Arial"/>
              </a:rPr>
              <a:t>)</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[VECTO-1460] - APT-N Gearbox</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[VECTO-1501] - Update EM Map interpolation method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[VECTO-1477] - Update user manual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[VECTO-1383] - E2 PEV, 2-speed AMT: "Failed to find operating point"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[VECTO-1384] - E2 PEV, 2-speed AMT: Downshifts missing</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[VECTO-1414] - E2 selects high gear at low speed after take-off, does not reach target acc</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[VECTO-1443] - 0.7.5.2356 EC_el_final calculated from REESS terminal signals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[VECTO-1445] - 073.2356, E2 Missing Downshifts, simulation abort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[VECTO-1464] - Engine Off not working with activated PCC (Hybrid Vehicles)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[VECTO-1465] - PEV PCCState oscillates between Interrupt and UseCase1</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[VECTO-1467] - PCC HEV Small Spike at end of UseCase1 when Target speed is reached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[VECTO-1468] - EM map interpolation comments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[VECTO-1470] - 076.2463 EM drag torque questions/findings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[VECTO-1482] - Hybrid Vehicle EM speed gets very high, no gearshift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[VECTO-1483] - Job aborting: E4_Group 5 LH_ll_LongHaul_mod5_id_2</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[VECTO-1484] - Job aborting: P2_Group5_s2c0_rep_Payload_LongHaul_mod5_id_27</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[VECTO-1486] - NG PI fuel type not working with Engine GUI (.veng) in Engineering Mode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[VECTO-1487] - Calculation of EM efficiency during recuperation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[VECTO-1490] - Exceeded max iterations: Operating Point could not be found</a:t>
            </a:r>
            <a:endParaRPr lang="en-US" sz="1400" b="0" strike="noStrike" spc="-1">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0.7.7.2547 Development Version</a:t>
            </a:r>
            <a:br>
              <a:rPr sz="2400"/>
            </a:br>
            <a:r>
              <a:rPr lang="en-US" sz="1600" b="1" strike="noStrike" spc="-1">
                <a:solidFill>
                  <a:srgbClr val="990000"/>
                </a:solidFill>
                <a:latin typeface="Arial"/>
              </a:rPr>
              <a:t>December 2021</a:t>
            </a:r>
            <a:endParaRPr lang="en-US" sz="1600" b="0" strike="noStrike" spc="-1">
              <a:latin typeface="Arial"/>
            </a:endParaRPr>
          </a:p>
        </p:txBody>
      </p:sp>
      <p:sp>
        <p:nvSpPr>
          <p:cNvPr id="254"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Detailed Changes/Bugfixes (see </a:t>
            </a:r>
            <a:r>
              <a:rPr lang="en-US" sz="1600" b="1" u="sng" strike="noStrike" spc="-1">
                <a:solidFill>
                  <a:srgbClr val="0000FF"/>
                </a:solidFill>
                <a:uFillTx/>
                <a:latin typeface="Arial"/>
                <a:hlinkClick r:id="rId2"/>
              </a:rPr>
              <a:t>CITnet/JIRA</a:t>
            </a:r>
            <a:r>
              <a:rPr lang="en-US" sz="1600" b="1" strike="noStrike" spc="-1">
                <a:solidFill>
                  <a:srgbClr val="000000"/>
                </a:solidFill>
                <a:latin typeface="Arial"/>
              </a:rPr>
              <a:t>)</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[VECTO-1491] - Electric Energy Storage Editor does not show values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[VECTO-1499] - Energy balance when ICE is turned on in a P1 hybrid configuration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[VECTO-1514] - Modeldata uses wrong inertia in case multiple EMs are used on a position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[VECTO-1515] - Output in vsum file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[VECTO-1516] - GUI: PEV vehicle, disable hybrid parameters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[VECTO-1489] - Engine-off eco-roll for P1 hybrids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[VECTO-1448] - 075.2356, E2 Selecting high gear in downhill, needs to use wheel brakes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[VECTO-1472] - Do not end PCC if acceleration is still high enough</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[VECTO-1473] - Additional tyre dimensions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[VECTO-1476] - Update EM GUI, EM component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[VECTO-1493] - Use EngineStartStop in PCC-Events for Hybrid P1</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[VECTO-1498] - Crosswind correction in engineering mode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[VECTO-1508] - EM-Off Losses in .vsum</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[VECTO-1509] - SP Technology "Electric" already contains mechanical power demand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[VECTO-1510] - Remove selection of shift strategy in job dialog</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[VECTO-1511] - Error Message for "HEVs and BEVs not supported in Declaration Mode"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[VECTO-1512] - Adapt shift lines for xEV vehicles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[VECTO-1513] - Bus Aux post-processing correction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[VECTO-1481] - New warning message regarding transmission: what does it mean?</a:t>
            </a:r>
            <a:endParaRPr lang="en-US" sz="1400" b="0" strike="noStrike" spc="-1">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0.7.6.2451 Development Version</a:t>
            </a:r>
            <a:br>
              <a:rPr sz="2400"/>
            </a:br>
            <a:r>
              <a:rPr lang="en-US" sz="1600" b="1" strike="noStrike" spc="-1">
                <a:solidFill>
                  <a:srgbClr val="990000"/>
                </a:solidFill>
                <a:latin typeface="Arial"/>
              </a:rPr>
              <a:t>September 2021</a:t>
            </a:r>
            <a:endParaRPr lang="en-US" sz="1600" b="0" strike="noStrike" spc="-1">
              <a:latin typeface="Arial"/>
            </a:endParaRPr>
          </a:p>
        </p:txBody>
      </p:sp>
      <p:sp>
        <p:nvSpPr>
          <p:cNvPr id="256"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ADAS for HEV and PEV vehicles</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For HEV vehicles interaction of PCC and HEV strategy under further analysis</a:t>
            </a:r>
            <a:endParaRPr lang="en-US" sz="10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electric motor model: support for different voltage levels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battery model: modular battery components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Update battery model: pulse-duration dependent internal resistance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Bugfixes</a:t>
            </a: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0.7.5.2353 Development Version</a:t>
            </a:r>
            <a:br>
              <a:rPr sz="2400"/>
            </a:br>
            <a:r>
              <a:rPr lang="en-US" sz="1600" b="1" strike="noStrike" spc="-1">
                <a:solidFill>
                  <a:srgbClr val="990000"/>
                </a:solidFill>
                <a:latin typeface="Arial"/>
              </a:rPr>
              <a:t>June 2021</a:t>
            </a:r>
            <a:endParaRPr lang="en-US" sz="1600" b="0" strike="noStrike" spc="-1">
              <a:latin typeface="Arial"/>
            </a:endParaRPr>
          </a:p>
        </p:txBody>
      </p:sp>
      <p:sp>
        <p:nvSpPr>
          <p:cNvPr id="258" name="PlaceHolder 2"/>
          <p:cNvSpPr>
            <a:spLocks noGrp="1"/>
          </p:cNvSpPr>
          <p:nvPr>
            <p:ph/>
          </p:nvPr>
        </p:nvSpPr>
        <p:spPr>
          <a:xfrm>
            <a:off x="323640" y="1268640"/>
            <a:ext cx="8496360" cy="4823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Bugfixes in shift strategy for PEV (E2)</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Additional Powertrain architectures</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P1 AMT and APT-S/P</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P2.5 (transmission ratio EM per gear)</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P3 &amp; P4 with APT transmissions</a:t>
            </a:r>
            <a:endParaRPr lang="en-US" sz="10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Loss-map for electric machine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Bus auxiliaries in engineering mode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Combine Bus auxiliaries with HEV powertrains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Refactoring Engine Stop/Start approach</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ICE is always off during simulation, balance missing energy in case ICE is on / ICE is off for all auxiliaries in .vmod.</a:t>
            </a:r>
            <a:endParaRPr lang="en-US" sz="10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Correct for missing aux energy in post-processing (not fully implemented in this version)</a:t>
            </a:r>
            <a:endParaRPr lang="en-US" sz="10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Added vehicle propulsion limits (relative to ICE max torque)</a:t>
            </a:r>
            <a:endParaRPr lang="en-US" sz="1400" b="0" strike="noStrike" spc="-1">
              <a:latin typeface="Arial"/>
            </a:endParaRPr>
          </a:p>
          <a:p>
            <a:pPr marL="1143000" lvl="2" indent="-22860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P2, P3, and P4</a:t>
            </a:r>
            <a:endParaRPr lang="en-US" sz="10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Refactored EM model: continuous torque, overload torque as separate inputs</a:t>
            </a:r>
            <a:endParaRPr lang="en-US" sz="1400" b="0" strike="noStrike" spc="-1">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0.7.3.2164 Development Version</a:t>
            </a:r>
            <a:br>
              <a:rPr sz="2400"/>
            </a:br>
            <a:r>
              <a:rPr lang="en-US" sz="1600" b="1" strike="noStrike" spc="-1">
                <a:solidFill>
                  <a:srgbClr val="990000"/>
                </a:solidFill>
                <a:latin typeface="Arial"/>
              </a:rPr>
              <a:t>December 2020</a:t>
            </a:r>
            <a:endParaRPr lang="en-US" sz="1600" b="0" strike="noStrike" spc="-1">
              <a:latin typeface="Arial"/>
            </a:endParaRPr>
          </a:p>
        </p:txBody>
      </p:sp>
      <p:sp>
        <p:nvSpPr>
          <p:cNvPr id="260" name="PlaceHolder 2"/>
          <p:cNvSpPr>
            <a:spLocks noGrp="1"/>
          </p:cNvSpPr>
          <p:nvPr>
            <p:ph/>
          </p:nvPr>
        </p:nvSpPr>
        <p:spPr>
          <a:xfrm>
            <a:off x="323640" y="1268640"/>
            <a:ext cx="8496360" cy="1727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Bugfixes in shift strategy for PEV (E2)</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Refined electric motor model: model transmission stage of electric machine as individual sub-component instead of transforming the maps. Adapted columns in .vmod and .vsum regarding electric machine. See user manual for details. </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Bugfixes SuperCap model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Removed E_REESS from .vmod file, calculate delta_E_REESS from P_REESS in .vsum file</a:t>
            </a: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0.7.2.2118 Development Version</a:t>
            </a:r>
            <a:br>
              <a:rPr sz="2400"/>
            </a:br>
            <a:r>
              <a:rPr lang="en-US" sz="1600" b="1" strike="noStrike" spc="-1">
                <a:solidFill>
                  <a:srgbClr val="990000"/>
                </a:solidFill>
                <a:latin typeface="Arial"/>
              </a:rPr>
              <a:t>October 2020</a:t>
            </a:r>
            <a:endParaRPr lang="en-US" sz="1600" b="0" strike="noStrike" spc="-1">
              <a:latin typeface="Arial"/>
            </a:endParaRPr>
          </a:p>
        </p:txBody>
      </p:sp>
      <p:sp>
        <p:nvSpPr>
          <p:cNvPr id="262" name="PlaceHolder 2"/>
          <p:cNvSpPr>
            <a:spLocks noGrp="1"/>
          </p:cNvSpPr>
          <p:nvPr>
            <p:ph/>
          </p:nvPr>
        </p:nvSpPr>
        <p:spPr>
          <a:xfrm>
            <a:off x="323640" y="1268640"/>
            <a:ext cx="8496360" cy="1727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Implementation of PEV architecture E2 with EffShift-like gearshift strategy</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 REESS Dialog (.vimax)</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Bugfix in output of EM overload output in .vmod file </a:t>
            </a:r>
            <a:endParaRPr lang="en-US" sz="1400" b="0" strike="noStrike" spc="-1">
              <a:latin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0.7.1.2108 Development Version</a:t>
            </a:r>
            <a:br>
              <a:rPr sz="2400"/>
            </a:br>
            <a:r>
              <a:rPr lang="en-US" sz="1600" b="1" strike="noStrike" spc="-1">
                <a:solidFill>
                  <a:srgbClr val="990000"/>
                </a:solidFill>
                <a:latin typeface="Arial"/>
              </a:rPr>
              <a:t>October 2020</a:t>
            </a:r>
            <a:endParaRPr lang="en-US" sz="1600" b="0" strike="noStrike" spc="-1">
              <a:latin typeface="Arial"/>
            </a:endParaRPr>
          </a:p>
        </p:txBody>
      </p:sp>
      <p:sp>
        <p:nvSpPr>
          <p:cNvPr id="264" name="PlaceHolder 2"/>
          <p:cNvSpPr>
            <a:spLocks noGrp="1"/>
          </p:cNvSpPr>
          <p:nvPr>
            <p:ph/>
          </p:nvPr>
        </p:nvSpPr>
        <p:spPr>
          <a:xfrm>
            <a:off x="323640" y="1268640"/>
            <a:ext cx="8496360" cy="1727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Changes</a:t>
            </a:r>
            <a:endParaRPr lang="en-US" sz="1600" b="0" strike="noStrike" spc="-1">
              <a:latin typeface="Arial"/>
            </a:endParaRPr>
          </a:p>
          <a:p>
            <a:pPr marL="743040" lvl="1" indent="-285840">
              <a:lnSpc>
                <a:spcPct val="100000"/>
              </a:lnSpc>
              <a:spcBef>
                <a:spcPts val="221"/>
              </a:spcBef>
              <a:buClr>
                <a:srgbClr val="000000"/>
              </a:buClr>
              <a:buFont typeface="Symbol"/>
              <a:buChar char=""/>
              <a:tabLst>
                <a:tab pos="1886040" algn="l"/>
              </a:tabLst>
            </a:pPr>
            <a:r>
              <a:rPr lang="en-US" sz="1100" b="0" strike="noStrike" spc="-1">
                <a:solidFill>
                  <a:srgbClr val="000000"/>
                </a:solidFill>
                <a:latin typeface="Arial"/>
              </a:rPr>
              <a:t>More stable operating point search hybrid strategy</a:t>
            </a:r>
            <a:endParaRPr lang="en-US" sz="1100" b="0" strike="noStrike" spc="-1">
              <a:latin typeface="Arial"/>
            </a:endParaRPr>
          </a:p>
          <a:p>
            <a:pPr marL="743040" lvl="1" indent="-285840">
              <a:lnSpc>
                <a:spcPct val="100000"/>
              </a:lnSpc>
              <a:spcBef>
                <a:spcPts val="221"/>
              </a:spcBef>
              <a:buClr>
                <a:srgbClr val="000000"/>
              </a:buClr>
              <a:buFont typeface="Symbol"/>
              <a:buChar char=""/>
              <a:tabLst>
                <a:tab pos="1886040" algn="l"/>
              </a:tabLst>
            </a:pPr>
            <a:r>
              <a:rPr lang="en-US" sz="1100" b="0" strike="noStrike" spc="-1">
                <a:solidFill>
                  <a:srgbClr val="000000"/>
                </a:solidFill>
                <a:latin typeface="Arial"/>
              </a:rPr>
              <a:t>Bugfixes hybrid strategy</a:t>
            </a:r>
            <a:endParaRPr lang="en-US" sz="1100" b="0" strike="noStrike" spc="-1">
              <a:latin typeface="Arial"/>
            </a:endParaRPr>
          </a:p>
          <a:p>
            <a:pPr marL="743040" lvl="1" indent="-285840">
              <a:lnSpc>
                <a:spcPct val="100000"/>
              </a:lnSpc>
              <a:spcBef>
                <a:spcPts val="221"/>
              </a:spcBef>
              <a:buClr>
                <a:srgbClr val="000000"/>
              </a:buClr>
              <a:buFont typeface="Symbol"/>
              <a:buChar char=""/>
              <a:tabLst>
                <a:tab pos="1886040" algn="l"/>
              </a:tabLst>
            </a:pPr>
            <a:r>
              <a:rPr lang="en-US" sz="1100" b="0" strike="noStrike" spc="-1">
                <a:solidFill>
                  <a:srgbClr val="000000"/>
                </a:solidFill>
                <a:latin typeface="Arial"/>
              </a:rPr>
              <a:t>Adding Super Cap as REESS </a:t>
            </a:r>
            <a:endParaRPr lang="en-US" sz="1100" b="0" strike="noStrike" spc="-1">
              <a:latin typeface="Arial"/>
            </a:endParaRPr>
          </a:p>
          <a:p>
            <a:pPr marL="743040" lvl="1" indent="-285840">
              <a:lnSpc>
                <a:spcPct val="100000"/>
              </a:lnSpc>
              <a:spcBef>
                <a:spcPts val="221"/>
              </a:spcBef>
              <a:buClr>
                <a:srgbClr val="000000"/>
              </a:buClr>
              <a:buFont typeface="Symbol"/>
              <a:buChar char=""/>
              <a:tabLst>
                <a:tab pos="1886040" algn="l"/>
              </a:tabLst>
            </a:pPr>
            <a:r>
              <a:rPr lang="en-US" sz="1100" b="0" strike="noStrike" spc="-1">
                <a:solidFill>
                  <a:srgbClr val="000000"/>
                </a:solidFill>
                <a:latin typeface="Arial"/>
              </a:rPr>
              <a:t>Adding electric machine thermal de-rating</a:t>
            </a:r>
            <a:endParaRPr lang="en-US" sz="1100" b="0" strike="noStrike" spc="-1">
              <a:latin typeface="Arial"/>
            </a:endParaRPr>
          </a:p>
          <a:p>
            <a:pPr marL="743040" lvl="1" indent="-285840">
              <a:lnSpc>
                <a:spcPct val="100000"/>
              </a:lnSpc>
              <a:spcBef>
                <a:spcPts val="221"/>
              </a:spcBef>
              <a:buClr>
                <a:srgbClr val="000000"/>
              </a:buClr>
              <a:buFont typeface="Symbol"/>
              <a:buChar char=""/>
              <a:tabLst>
                <a:tab pos="1886040" algn="l"/>
              </a:tabLst>
            </a:pPr>
            <a:r>
              <a:rPr lang="en-US" sz="1100" b="0" strike="noStrike" spc="-1">
                <a:solidFill>
                  <a:srgbClr val="000000"/>
                </a:solidFill>
                <a:latin typeface="Arial"/>
              </a:rPr>
              <a:t>Modified battery model: max charge/discharge current over state of charge</a:t>
            </a:r>
            <a:endParaRPr lang="en-US" sz="1100" b="0" strike="noStrike" spc="-1">
              <a:latin typeface="Arial"/>
            </a:endParaRPr>
          </a:p>
          <a:p>
            <a:pPr marL="743040" lvl="1" indent="-285840">
              <a:lnSpc>
                <a:spcPct val="100000"/>
              </a:lnSpc>
              <a:spcBef>
                <a:spcPts val="221"/>
              </a:spcBef>
              <a:buClr>
                <a:srgbClr val="000000"/>
              </a:buClr>
              <a:buFont typeface="Symbol"/>
              <a:buChar char=""/>
              <a:tabLst>
                <a:tab pos="1886040" algn="l"/>
              </a:tabLst>
            </a:pPr>
            <a:r>
              <a:rPr lang="en-US" sz="1100" b="0" strike="noStrike" spc="-1">
                <a:solidFill>
                  <a:srgbClr val="000000"/>
                </a:solidFill>
                <a:latin typeface="Arial"/>
              </a:rPr>
              <a:t>Improvements simulation time hybrid vehicles</a:t>
            </a:r>
            <a:endParaRPr lang="en-US" sz="1100" b="0" strike="noStrike" spc="-1">
              <a:latin typeface="Arial"/>
            </a:endParaRPr>
          </a:p>
        </p:txBody>
      </p:sp>
      <p:sp>
        <p:nvSpPr>
          <p:cNvPr id="265" name="Textfeld 3"/>
          <p:cNvSpPr/>
          <p:nvPr/>
        </p:nvSpPr>
        <p:spPr>
          <a:xfrm>
            <a:off x="719640" y="3161160"/>
            <a:ext cx="7704000" cy="729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400" b="1" strike="noStrike" spc="-1">
                <a:solidFill>
                  <a:srgbClr val="000000"/>
                </a:solidFill>
                <a:latin typeface="Arial"/>
                <a:ea typeface="DejaVu Sans"/>
              </a:rPr>
              <a:t>Note: </a:t>
            </a:r>
            <a:r>
              <a:rPr lang="en-US" sz="1400" b="0" strike="noStrike" spc="-1">
                <a:solidFill>
                  <a:srgbClr val="000000"/>
                </a:solidFill>
                <a:latin typeface="Arial"/>
                <a:ea typeface="DejaVu Sans"/>
              </a:rPr>
              <a:t>As the model data for electric machine and battery changed from the previous VECTO version for hybrid vehicles it is necessary to open the models and provide the newly added model parameters. </a:t>
            </a:r>
            <a:endParaRPr lang="en-US" sz="1400" b="0" strike="noStrike" spc="-1">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0.7.0.2076 Development Version</a:t>
            </a:r>
            <a:br>
              <a:rPr sz="2400"/>
            </a:br>
            <a:r>
              <a:rPr lang="en-US" sz="1600" b="1" strike="noStrike" spc="-1">
                <a:solidFill>
                  <a:srgbClr val="990000"/>
                </a:solidFill>
                <a:latin typeface="Arial"/>
              </a:rPr>
              <a:t>September 2020</a:t>
            </a:r>
            <a:endParaRPr lang="en-US" sz="1600" b="0" strike="noStrike" spc="-1">
              <a:latin typeface="Arial"/>
            </a:endParaRPr>
          </a:p>
        </p:txBody>
      </p:sp>
      <p:sp>
        <p:nvSpPr>
          <p:cNvPr id="267" name="PlaceHolder 2"/>
          <p:cNvSpPr>
            <a:spLocks noGrp="1"/>
          </p:cNvSpPr>
          <p:nvPr>
            <p:ph/>
          </p:nvPr>
        </p:nvSpPr>
        <p:spPr>
          <a:xfrm>
            <a:off x="323640" y="1268640"/>
            <a:ext cx="8496360" cy="5112000"/>
          </a:xfrm>
          <a:prstGeom prst="rect">
            <a:avLst/>
          </a:prstGeom>
          <a:noFill/>
          <a:ln w="0">
            <a:noFill/>
          </a:ln>
        </p:spPr>
        <p:txBody>
          <a:bodyPr lIns="90000" tIns="45000" rIns="90000" bIns="45000" numCol="1" spcCol="0" anchor="t">
            <a:noAutofit/>
          </a:bodyPr>
          <a:lstStyle/>
          <a:p>
            <a:pPr marL="343080" indent="-343080">
              <a:lnSpc>
                <a:spcPct val="100000"/>
              </a:lnSpc>
              <a:spcBef>
                <a:spcPts val="241"/>
              </a:spcBef>
              <a:buClr>
                <a:srgbClr val="000000"/>
              </a:buClr>
              <a:buFont typeface="Symbol"/>
              <a:buChar char=""/>
              <a:tabLst>
                <a:tab pos="1886040" algn="l"/>
              </a:tabLst>
            </a:pPr>
            <a:r>
              <a:rPr lang="en-US" sz="1200" b="1" strike="noStrike" spc="-1">
                <a:solidFill>
                  <a:srgbClr val="000000"/>
                </a:solidFill>
                <a:latin typeface="Arial"/>
              </a:rPr>
              <a:t>Changes</a:t>
            </a:r>
            <a:endParaRPr lang="en-US" sz="12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i="1" strike="noStrike" spc="-1">
                <a:solidFill>
                  <a:srgbClr val="000000"/>
                </a:solidFill>
                <a:latin typeface="Arial"/>
              </a:rPr>
              <a:t>This release is the first beta version with capabilities to simulate hybrid and battery electric vehicles</a:t>
            </a:r>
            <a:r>
              <a:rPr lang="en-US" sz="1000" b="0" strike="noStrike" spc="-1">
                <a:solidFill>
                  <a:srgbClr val="000000"/>
                </a:solidFill>
                <a:latin typeface="Arial"/>
              </a:rPr>
              <a:t>.</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It covers powertrain architectures “P2”, “P3”, “P4” for hybrid electric vehicles (HEV) and  “E3”, “E4” for battery electric vehicles (PEV, pure electric vehicles).</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The definitions of the powertrain architectures and other input parameters on vehicle level can be found in the document </a:t>
            </a:r>
            <a:r>
              <a:rPr lang="en-US" sz="1000" b="0" i="1" strike="noStrike" spc="-1">
                <a:solidFill>
                  <a:srgbClr val="000000"/>
                </a:solidFill>
                <a:latin typeface="Arial"/>
              </a:rPr>
              <a:t>Input parameters vehicle level 20200907.docx</a:t>
            </a:r>
            <a:r>
              <a:rPr lang="en-US" sz="1000" b="0" strike="noStrike" spc="-1">
                <a:solidFill>
                  <a:srgbClr val="000000"/>
                </a:solidFill>
                <a:latin typeface="Arial"/>
              </a:rPr>
              <a:t>. This document is an excerpt of working document 3 of the HDV CO2 Editing board. Items marked in red are not yet featured by the tool and will follow in the next releases. </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Known limitations</a:t>
            </a:r>
            <a:endParaRPr lang="en-US" sz="1000" b="0" strike="noStrike" spc="-1">
              <a:latin typeface="Arial"/>
            </a:endParaRPr>
          </a:p>
          <a:p>
            <a:pPr marL="1143000" lvl="2" indent="-228600">
              <a:lnSpc>
                <a:spcPct val="100000"/>
              </a:lnSpc>
              <a:spcBef>
                <a:spcPts val="181"/>
              </a:spcBef>
              <a:buClr>
                <a:srgbClr val="000000"/>
              </a:buClr>
              <a:buFont typeface="Symbol"/>
              <a:buChar char=""/>
              <a:tabLst>
                <a:tab pos="1886040" algn="l"/>
              </a:tabLst>
            </a:pPr>
            <a:r>
              <a:rPr lang="en-US" sz="900" b="0" strike="noStrike" spc="-1">
                <a:solidFill>
                  <a:srgbClr val="000000"/>
                </a:solidFill>
                <a:latin typeface="Arial"/>
              </a:rPr>
              <a:t>Electric machine system overload feature not available – work in progress</a:t>
            </a:r>
            <a:endParaRPr lang="en-US" sz="900" b="0" strike="noStrike" spc="-1">
              <a:latin typeface="Arial"/>
            </a:endParaRPr>
          </a:p>
          <a:p>
            <a:pPr marL="1143000" lvl="2" indent="-228600">
              <a:lnSpc>
                <a:spcPct val="100000"/>
              </a:lnSpc>
              <a:spcBef>
                <a:spcPts val="181"/>
              </a:spcBef>
              <a:buClr>
                <a:srgbClr val="000000"/>
              </a:buClr>
              <a:buFont typeface="Symbol"/>
              <a:buChar char=""/>
              <a:tabLst>
                <a:tab pos="1886040" algn="l"/>
              </a:tabLst>
            </a:pPr>
            <a:r>
              <a:rPr lang="en-US" sz="900" b="0" strike="noStrike" spc="-1">
                <a:solidFill>
                  <a:srgbClr val="000000"/>
                </a:solidFill>
                <a:latin typeface="Arial"/>
              </a:rPr>
              <a:t>Supercaps not implemented – work in progress</a:t>
            </a:r>
            <a:endParaRPr lang="en-US" sz="900" b="0" strike="noStrike" spc="-1">
              <a:latin typeface="Arial"/>
            </a:endParaRPr>
          </a:p>
          <a:p>
            <a:pPr marL="1143000" lvl="2" indent="-228600">
              <a:lnSpc>
                <a:spcPct val="100000"/>
              </a:lnSpc>
              <a:spcBef>
                <a:spcPts val="181"/>
              </a:spcBef>
              <a:buClr>
                <a:srgbClr val="000000"/>
              </a:buClr>
              <a:buFont typeface="Symbol"/>
              <a:buChar char=""/>
              <a:tabLst>
                <a:tab pos="1886040" algn="l"/>
              </a:tabLst>
            </a:pPr>
            <a:r>
              <a:rPr lang="en-US" sz="900" b="0" strike="noStrike" spc="-1">
                <a:solidFill>
                  <a:srgbClr val="000000"/>
                </a:solidFill>
                <a:latin typeface="Arial"/>
              </a:rPr>
              <a:t>Engine Stop Start Utility Factor has to be set to 1 – further discussions in task force needed how UF-approach shall be aligned with hybrid control strategy</a:t>
            </a:r>
            <a:endParaRPr lang="en-US" sz="900" b="0" strike="noStrike" spc="-1">
              <a:latin typeface="Arial"/>
            </a:endParaRPr>
          </a:p>
          <a:p>
            <a:pPr marL="1143000" lvl="2" indent="-228600">
              <a:lnSpc>
                <a:spcPct val="100000"/>
              </a:lnSpc>
              <a:spcBef>
                <a:spcPts val="181"/>
              </a:spcBef>
              <a:buClr>
                <a:srgbClr val="000000"/>
              </a:buClr>
              <a:buFont typeface="Symbol"/>
              <a:buChar char=""/>
              <a:tabLst>
                <a:tab pos="1886040" algn="l"/>
              </a:tabLst>
            </a:pPr>
            <a:r>
              <a:rPr lang="en-US" sz="900" b="0" strike="noStrike" spc="-1">
                <a:solidFill>
                  <a:srgbClr val="000000"/>
                </a:solidFill>
                <a:latin typeface="Arial"/>
              </a:rPr>
              <a:t>P_aux_el are electric auxiliaries connected to the high-voltage system. For hybrid electric vehicles this model parameter shall currently be set to 0. – further discussions in task force needed</a:t>
            </a:r>
            <a:endParaRPr lang="en-US" sz="900" b="0" strike="noStrike" spc="-1">
              <a:latin typeface="Arial"/>
            </a:endParaRPr>
          </a:p>
          <a:p>
            <a:pPr marL="1143000" lvl="2" indent="-228600">
              <a:lnSpc>
                <a:spcPct val="100000"/>
              </a:lnSpc>
              <a:spcBef>
                <a:spcPts val="181"/>
              </a:spcBef>
              <a:buClr>
                <a:srgbClr val="000000"/>
              </a:buClr>
              <a:buFont typeface="Symbol"/>
              <a:buChar char=""/>
              <a:tabLst>
                <a:tab pos="1886040" algn="l"/>
              </a:tabLst>
            </a:pPr>
            <a:r>
              <a:rPr lang="en-US" sz="900" b="0" strike="noStrike" spc="-1">
                <a:solidFill>
                  <a:srgbClr val="000000"/>
                </a:solidFill>
                <a:latin typeface="Arial"/>
              </a:rPr>
              <a:t>APTs with HEV – to be implemented</a:t>
            </a:r>
            <a:endParaRPr lang="en-US" sz="900" b="0" strike="noStrike" spc="-1">
              <a:latin typeface="Arial"/>
            </a:endParaRPr>
          </a:p>
          <a:p>
            <a:pPr marL="1143000" lvl="2" indent="-228600">
              <a:lnSpc>
                <a:spcPct val="100000"/>
              </a:lnSpc>
              <a:spcBef>
                <a:spcPts val="181"/>
              </a:spcBef>
              <a:buClr>
                <a:srgbClr val="000000"/>
              </a:buClr>
              <a:buFont typeface="Symbol"/>
              <a:buChar char=""/>
              <a:tabLst>
                <a:tab pos="1886040" algn="l"/>
              </a:tabLst>
            </a:pPr>
            <a:r>
              <a:rPr lang="en-US" sz="900" b="0" strike="noStrike" spc="-1">
                <a:solidFill>
                  <a:srgbClr val="000000"/>
                </a:solidFill>
                <a:latin typeface="Arial"/>
              </a:rPr>
              <a:t>Eco-roll and PCC not implemented</a:t>
            </a:r>
            <a:endParaRPr lang="en-US" sz="900" b="0" strike="noStrike" spc="-1">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0.6.1.1975 Development Version</a:t>
            </a:r>
            <a:br>
              <a:rPr sz="2400"/>
            </a:br>
            <a:r>
              <a:rPr lang="en-US" sz="1600" b="1" strike="noStrike" spc="-1">
                <a:solidFill>
                  <a:srgbClr val="990000"/>
                </a:solidFill>
                <a:latin typeface="Arial"/>
              </a:rPr>
              <a:t>May 2020</a:t>
            </a:r>
            <a:endParaRPr lang="en-US" sz="1600" b="0" strike="noStrike" spc="-1">
              <a:latin typeface="Arial"/>
            </a:endParaRPr>
          </a:p>
        </p:txBody>
      </p:sp>
      <p:sp>
        <p:nvSpPr>
          <p:cNvPr id="269" name="PlaceHolder 2"/>
          <p:cNvSpPr>
            <a:spLocks noGrp="1"/>
          </p:cNvSpPr>
          <p:nvPr>
            <p:ph/>
          </p:nvPr>
        </p:nvSpPr>
        <p:spPr>
          <a:xfrm>
            <a:off x="323640" y="1268640"/>
            <a:ext cx="8640360" cy="511200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Bugfixes </a:t>
            </a:r>
            <a:endParaRPr lang="en-US" sz="16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Change passenger density primary vehicle for IU cycle</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primary vehicle: ignore TPMLM (to limit payload, do not abort simulation)</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completed vehicle: limit total mass with TPMLM (abort simulation)</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consider l_drivetrain. this length is subtracted from internal length for HVAC calculation only (bus volume for ventilation, max cooling capacity); completed vehicle</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set alternator gear efficiency to 1 to align with lorries (currently 0.92)</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electric system / radio: all vehicles are equipped with radio. modify consumed amps to consider 'usage factor' - updated already in master excel.</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Update generic values for primary HF vehicles CdxA</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HVAC: check/correct internal height for coaches (shall be 1.8m)</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HVAC: subtract driver compartment from total volume for max cooling capacity passengers</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HVAC: add configuration #10, add sanity checks (i.e. if driver AC is provided for configurations #2,</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Steering pump power demand: tubing factor only applied for first steered axle (as the additionally steered axles are close to the engine and the distance is not known)</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Allow enabling/disabling LAC in declaration mode via GUI (not persistent). Additional input on “Options” tab to set min activation speed</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.vsum file: E_AUX_SUM matches sum of individual AUX entries; bugfix writing P_busAux_ES_mech</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Update user manual on VTP cycle file format</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APT gearbox (all gears) generic efficiency 0.925</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retarder: set factor for generic retarder losses from 0.5 to 1 (i.e., use standardvalues)</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VTP engineering mode - vsum actual CF different to declaration mode</a:t>
            </a:r>
            <a:endParaRPr lang="en-US" sz="1000" b="0" strike="noStrike" spc="-1">
              <a:latin typeface="Arial"/>
            </a:endParaRPr>
          </a:p>
          <a:p>
            <a:pPr marL="343080" indent="-34308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Improvements</a:t>
            </a:r>
            <a:endParaRPr lang="en-US" sz="12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Switch GUI to 64bit mode (see VECTO-1270)</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New normalization/denormalization method for generic engine FC-Map (see VECTO-1269) </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.vsum-file: new entries P_ice_fcmap, P_wheel_in, k_vehline (previous k_vehline is now k_engline</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Bus VTP: Fan Parameter C4</a:t>
            </a:r>
            <a:endParaRPr lang="en-US" sz="1000" b="0" strike="noStrike" spc="-1">
              <a:latin typeface="Arial"/>
            </a:endParaRPr>
          </a:p>
          <a:p>
            <a:pPr marL="743040" lvl="1" indent="-285840">
              <a:lnSpc>
                <a:spcPct val="100000"/>
              </a:lnSpc>
              <a:spcBef>
                <a:spcPts val="201"/>
              </a:spcBef>
              <a:buClr>
                <a:srgbClr val="000000"/>
              </a:buClr>
              <a:buFont typeface="Symbol"/>
              <a:buChar char=""/>
              <a:tabLst>
                <a:tab pos="1886040" algn="l"/>
              </a:tabLst>
            </a:pPr>
            <a:r>
              <a:rPr lang="en-US" sz="1000" b="0" strike="noStrike" spc="-1">
                <a:solidFill>
                  <a:srgbClr val="000000"/>
                </a:solidFill>
                <a:latin typeface="Arial"/>
              </a:rPr>
              <a:t>don't write CIF for primary vehicle</a:t>
            </a:r>
            <a:endParaRPr lang="en-US" sz="1000" b="0" strike="noStrike" spc="-1">
              <a:latin typeface="Arial"/>
            </a:endParaRPr>
          </a:p>
          <a:p>
            <a:pPr>
              <a:lnSpc>
                <a:spcPct val="100000"/>
              </a:lnSpc>
              <a:buNone/>
              <a:tabLst>
                <a:tab pos="1886040" algn="l"/>
              </a:tabLst>
            </a:pPr>
            <a:endParaRPr lang="en-US" sz="1000" b="0" strike="noStrike" spc="-1">
              <a:latin typeface="Arial"/>
            </a:endParaRPr>
          </a:p>
          <a:p>
            <a:pPr>
              <a:lnSpc>
                <a:spcPct val="100000"/>
              </a:lnSpc>
              <a:buNone/>
              <a:tabLst>
                <a:tab pos="1886040" algn="l"/>
              </a:tabLst>
            </a:pPr>
            <a:endParaRPr lang="en-US" sz="1000" b="0" strike="noStrike" spc="-1">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0.6.1.1957 Development Version</a:t>
            </a:r>
            <a:br>
              <a:rPr sz="2400"/>
            </a:br>
            <a:r>
              <a:rPr lang="en-US" sz="1600" b="1" strike="noStrike" spc="-1">
                <a:solidFill>
                  <a:srgbClr val="990000"/>
                </a:solidFill>
                <a:latin typeface="Arial"/>
              </a:rPr>
              <a:t>May 2020</a:t>
            </a:r>
            <a:endParaRPr lang="en-US" sz="1600" b="0" strike="noStrike" spc="-1">
              <a:latin typeface="Arial"/>
            </a:endParaRPr>
          </a:p>
        </p:txBody>
      </p:sp>
      <p:sp>
        <p:nvSpPr>
          <p:cNvPr id="271" name="PlaceHolder 2"/>
          <p:cNvSpPr>
            <a:spLocks noGrp="1"/>
          </p:cNvSpPr>
          <p:nvPr>
            <p:ph/>
          </p:nvPr>
        </p:nvSpPr>
        <p:spPr>
          <a:xfrm>
            <a:off x="323640" y="1268640"/>
            <a:ext cx="8640360" cy="511200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Improvements </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Declaration mode for complete and completed buses via “factor method”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VTP mode for heavy buses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VTP mode for dual-fuel vehicles (new cycle file required!)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“Single bus” mode with generic data from segmentation table completed vehicle (previous version used generic data from primary vehicle)</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Adding highway sections on coach cycle (required for PCC)</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New graphical user interface (VECTO3.exe) (</a:t>
            </a:r>
            <a:r>
              <a:rPr lang="en-US" sz="1600" b="0" i="1" strike="noStrike" spc="-1">
                <a:solidFill>
                  <a:srgbClr val="953735"/>
                </a:solidFill>
                <a:latin typeface="Arial"/>
              </a:rPr>
              <a:t>alpha version!</a:t>
            </a:r>
            <a:r>
              <a:rPr lang="en-US" sz="1600" b="0" strike="noStrike" spc="-1">
                <a:solidFill>
                  <a:srgbClr val="000000"/>
                </a:solidFill>
                <a:latin typeface="Arial"/>
              </a:rPr>
              <a:t>)</a:t>
            </a:r>
            <a:endParaRPr lang="en-US" sz="16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Creating &amp; editing complete(d) bus XML</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Creating &amp; editing complete(d) bus job file (PIF + completed XML)</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Creating &amp; editing single bus job file (primary XML + completed XML)</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Simulation of all types of VECTO jobs</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Currently, other existing job files can not be edited in the new GUI – planned to be extended in future</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Functionality similar to currently official VECTO version, for further information see separate user manual on new GUI</a:t>
            </a:r>
            <a:endParaRPr lang="en-US" sz="12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XML reports (MRF, CIF, PIF) according to draft Annex IV</a:t>
            </a:r>
            <a:endParaRPr lang="en-US" sz="1600" b="0" strike="noStrike" spc="-1">
              <a:latin typeface="Arial"/>
            </a:endParaRPr>
          </a:p>
          <a:p>
            <a:pPr marL="743040" lvl="1" indent="-285840">
              <a:lnSpc>
                <a:spcPct val="100000"/>
              </a:lnSpc>
              <a:spcBef>
                <a:spcPts val="320"/>
              </a:spcBef>
              <a:buClr>
                <a:srgbClr val="953735"/>
              </a:buClr>
              <a:buFont typeface="Symbol"/>
              <a:buChar char=""/>
              <a:tabLst>
                <a:tab pos="1886040" algn="l"/>
              </a:tabLst>
            </a:pPr>
            <a:r>
              <a:rPr lang="en-US" sz="1600" b="0" i="1" strike="noStrike" spc="-1">
                <a:solidFill>
                  <a:srgbClr val="953735"/>
                </a:solidFill>
                <a:latin typeface="Arial"/>
              </a:rPr>
              <a:t>Expert feature:</a:t>
            </a:r>
            <a:r>
              <a:rPr lang="en-US" sz="1600" b="0" strike="noStrike" spc="-1">
                <a:solidFill>
                  <a:srgbClr val="000000"/>
                </a:solidFill>
                <a:latin typeface="Arial"/>
              </a:rPr>
              <a:t> allow adding torque converter data to PIF manually (not added by VECTO automatically)  to investigate on generic TC data for APT-P (see generic vehicles for reference)</a:t>
            </a:r>
            <a:endParaRPr lang="en-US" sz="1600" b="0" strike="noStrike" spc="-1">
              <a:latin typeface="Arial"/>
            </a:endParaRPr>
          </a:p>
          <a:p>
            <a:pPr marL="743040" lvl="1" indent="-285840">
              <a:lnSpc>
                <a:spcPct val="100000"/>
              </a:lnSpc>
              <a:spcBef>
                <a:spcPts val="320"/>
              </a:spcBef>
              <a:buClr>
                <a:srgbClr val="953735"/>
              </a:buClr>
              <a:buFont typeface="Symbol"/>
              <a:buChar char=""/>
              <a:tabLst>
                <a:tab pos="1886040" algn="l"/>
              </a:tabLst>
            </a:pPr>
            <a:r>
              <a:rPr lang="en-US" sz="1600" b="0" i="1" strike="noStrike" spc="-1">
                <a:solidFill>
                  <a:srgbClr val="953735"/>
                </a:solidFill>
                <a:latin typeface="Arial"/>
              </a:rPr>
              <a:t>Expert feature: </a:t>
            </a:r>
            <a:r>
              <a:rPr lang="en-US" sz="1600" b="0" strike="noStrike" spc="-1">
                <a:solidFill>
                  <a:srgbClr val="000000"/>
                </a:solidFill>
                <a:latin typeface="Arial"/>
              </a:rPr>
              <a:t>allow writing internal model data used for VECTO simulation as JSON file. Allows to compare model data between primary bus, completed bus generic body, completed bus specific body (factor method) as well as single bus</a:t>
            </a:r>
            <a:endParaRPr lang="en-US" sz="1600" b="0" strike="noStrike" spc="-1">
              <a:latin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0.6.1.1957 Development Version</a:t>
            </a:r>
            <a:br>
              <a:rPr sz="2400"/>
            </a:br>
            <a:r>
              <a:rPr lang="en-US" sz="1600" b="1" strike="noStrike" spc="-1">
                <a:solidFill>
                  <a:srgbClr val="990000"/>
                </a:solidFill>
                <a:latin typeface="Arial"/>
              </a:rPr>
              <a:t>May 2020</a:t>
            </a:r>
            <a:endParaRPr lang="en-US" sz="1600" b="0" strike="noStrike" spc="-1">
              <a:latin typeface="Arial"/>
            </a:endParaRPr>
          </a:p>
        </p:txBody>
      </p:sp>
      <p:sp>
        <p:nvSpPr>
          <p:cNvPr id="273"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heavy buses </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Correcting power demand for engine fan</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Consider electric auxiliaries (fan, steering pump) as electrical consumer</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Correcting power demand pneumatic system with mechanical clutch</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Correcting electrical consumers LED bonus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Correction for double compensation of smart electrics (battery &amp; generated vs. consumed)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Correcting passenger count depending on HVAC configuration</a:t>
            </a: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Bugfixes medium lorries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New technologies for electric steering pump</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New tyre xml supported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Bugfixes graphical user interface</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New sample data VTP</a:t>
            </a:r>
            <a:endParaRPr lang="en-US" sz="1600" b="0" strike="noStrike" spc="-1">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0.6.0.1908 Development Version</a:t>
            </a:r>
            <a:br>
              <a:rPr sz="2400"/>
            </a:br>
            <a:r>
              <a:rPr lang="en-US" sz="1600" b="1" strike="noStrike" spc="-1">
                <a:solidFill>
                  <a:srgbClr val="990000"/>
                </a:solidFill>
                <a:latin typeface="Arial"/>
              </a:rPr>
              <a:t>March. 2020</a:t>
            </a:r>
            <a:endParaRPr lang="en-US" sz="1600" b="0" strike="noStrike" spc="-1">
              <a:latin typeface="Arial"/>
            </a:endParaRPr>
          </a:p>
        </p:txBody>
      </p:sp>
      <p:sp>
        <p:nvSpPr>
          <p:cNvPr id="27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Consider vehicle’s max speed when validating input data, calculating velocity drop during traction interruption </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Reading vehicle design speed (85km/h) from segment table (also related to vehicle’s max speed)</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Fix JobEditor GUI – toolbar with icons not visible</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Fix null-reference exception simulating vehicles in engineering mode</a:t>
            </a:r>
            <a:endParaRPr lang="en-US" sz="1800" b="0" strike="noStrike" spc="-1">
              <a:latin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0.6.0.1884 Development Version</a:t>
            </a:r>
            <a:br>
              <a:rPr sz="2400"/>
            </a:br>
            <a:r>
              <a:rPr lang="en-US" sz="1600" b="1" strike="noStrike" spc="-1">
                <a:solidFill>
                  <a:srgbClr val="990000"/>
                </a:solidFill>
                <a:latin typeface="Arial"/>
              </a:rPr>
              <a:t>Feb. 2020</a:t>
            </a:r>
            <a:endParaRPr lang="en-US" sz="1600" b="0" strike="noStrike" spc="-1">
              <a:latin typeface="Arial"/>
            </a:endParaRPr>
          </a:p>
        </p:txBody>
      </p:sp>
      <p:sp>
        <p:nvSpPr>
          <p:cNvPr id="27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Improvements </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Refactoring and bug fixes in bus auxiliaries model (former Ricardo AAUX model), parametrization of bus auxiliaries model (HVAC) from “primary bus” input data and generic values in segmentation matrix, </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Support for P0 hybrids in bus auxiliaries model</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Support for “primary bus” (declaration mode)</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Support for “single bus” – combine input parameters of primary bus and completed bus to a single simulation (no factor method) (declaration mode)</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Support for medium lorries</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Support for vehicles with front-wheel drive (axlegear included in gearbox)</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VTP Mode for medium lorries</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New XML schema for new vehicle categories, adapted XML schema for generated reports (MRF, CIF, PIF)</a:t>
            </a:r>
            <a:endParaRPr lang="en-US" sz="1800" b="0" strike="noStrike" spc="-1">
              <a:latin typeface="Arial"/>
            </a:endParaRPr>
          </a:p>
          <a:p>
            <a:pPr marL="457200">
              <a:lnSpc>
                <a:spcPct val="100000"/>
              </a:lnSpc>
              <a:spcBef>
                <a:spcPts val="320"/>
              </a:spcBef>
              <a:buNone/>
              <a:tabLst>
                <a:tab pos="0" algn="l"/>
              </a:tabLst>
            </a:pPr>
            <a:endParaRPr lang="en-US" sz="1600" b="0" strike="noStrike" spc="-1">
              <a:latin typeface="Arial"/>
            </a:endParaRPr>
          </a:p>
          <a:p>
            <a:pPr marL="457200">
              <a:lnSpc>
                <a:spcPct val="100000"/>
              </a:lnSpc>
              <a:spcBef>
                <a:spcPts val="320"/>
              </a:spcBef>
              <a:buNone/>
              <a:tabLst>
                <a:tab pos="0" algn="l"/>
              </a:tabLst>
            </a:pPr>
            <a:r>
              <a:rPr lang="en-US" sz="1600" b="0" strike="noStrike" spc="-1">
                <a:solidFill>
                  <a:srgbClr val="000000"/>
                </a:solidFill>
                <a:latin typeface="Arial"/>
              </a:rPr>
              <a:t>This development version includes all features already included in version 0.5.0</a:t>
            </a:r>
            <a:endParaRPr lang="en-US" sz="1600" b="0" strike="noStrike" spc="-1">
              <a:latin typeface="Arial"/>
            </a:endParaRPr>
          </a:p>
          <a:p>
            <a:pPr marL="457200">
              <a:lnSpc>
                <a:spcPct val="100000"/>
              </a:lnSpc>
              <a:buNone/>
              <a:tabLst>
                <a:tab pos="0" algn="l"/>
              </a:tabLst>
            </a:pPr>
            <a:endParaRPr lang="en-US" sz="1400" b="0" strike="noStrike" spc="-1">
              <a:latin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0.5.0 Development Version</a:t>
            </a:r>
            <a:br>
              <a:rPr sz="2400"/>
            </a:br>
            <a:r>
              <a:rPr lang="en-US" sz="1600" b="1" strike="noStrike" spc="-1">
                <a:solidFill>
                  <a:srgbClr val="990000"/>
                </a:solidFill>
                <a:latin typeface="Arial"/>
              </a:rPr>
              <a:t>Dec. 2019</a:t>
            </a:r>
            <a:endParaRPr lang="en-US" sz="1600" b="0" strike="noStrike" spc="-1">
              <a:latin typeface="Arial"/>
            </a:endParaRPr>
          </a:p>
        </p:txBody>
      </p:sp>
      <p:sp>
        <p:nvSpPr>
          <p:cNvPr id="279"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Improvements </a:t>
            </a:r>
            <a:endParaRPr lang="en-US" sz="1800" b="0" strike="noStrike" spc="-1">
              <a:latin typeface="Arial"/>
            </a:endParaRPr>
          </a:p>
          <a:p>
            <a:pPr marL="743040" lvl="1" indent="-28584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Adding in-the-loop simulation of advanced driver assistant systems (ADAS)</a:t>
            </a:r>
            <a:endParaRPr lang="en-US" sz="18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Engine stop-start during vehicle stop</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Eco-roll with and without engine stop</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Predictive cruise control: dip coasting, crest coasting</a:t>
            </a:r>
            <a:endParaRPr lang="en-US" sz="12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Adding support for dual-fuel vehicles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Adding support for waste- / exhaust-heat recovery systems (electrical and mechanical)</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New gear shift strategy (EffShift) for AMT and AT transmissions</a:t>
            </a:r>
            <a:endParaRPr lang="en-US" sz="1600" b="0" strike="noStrike" spc="-1">
              <a:latin typeface="Arial"/>
            </a:endParaRPr>
          </a:p>
          <a:p>
            <a:pPr marL="457200">
              <a:lnSpc>
                <a:spcPct val="100000"/>
              </a:lnSpc>
              <a:spcBef>
                <a:spcPts val="320"/>
              </a:spcBef>
              <a:buNone/>
              <a:tabLst>
                <a:tab pos="0" algn="l"/>
              </a:tabLst>
            </a:pPr>
            <a:endParaRPr lang="en-US" sz="1600" b="0" strike="noStrike" spc="-1">
              <a:latin typeface="Arial"/>
            </a:endParaRPr>
          </a:p>
          <a:p>
            <a:pPr marL="457200">
              <a:lnSpc>
                <a:spcPct val="100000"/>
              </a:lnSpc>
              <a:spcBef>
                <a:spcPts val="320"/>
              </a:spcBef>
              <a:buNone/>
              <a:tabLst>
                <a:tab pos="0" algn="l"/>
              </a:tabLst>
            </a:pPr>
            <a:r>
              <a:rPr lang="en-US" sz="1600" b="0" strike="noStrike" spc="-1">
                <a:solidFill>
                  <a:srgbClr val="000000"/>
                </a:solidFill>
                <a:latin typeface="Arial"/>
              </a:rPr>
              <a:t>Details on the new models, model parameters, and new signals in the output are described in the user manual</a:t>
            </a:r>
            <a:endParaRPr lang="en-US" sz="1600" b="0" strike="noStrike" spc="-1">
              <a:latin typeface="Arial"/>
            </a:endParaRPr>
          </a:p>
          <a:p>
            <a:pPr marL="457200">
              <a:lnSpc>
                <a:spcPct val="100000"/>
              </a:lnSpc>
              <a:buNone/>
              <a:tabLst>
                <a:tab pos="0" algn="l"/>
              </a:tabLst>
            </a:pPr>
            <a:endParaRPr lang="en-US" sz="1400" b="0" strike="noStrike" spc="-1">
              <a:latin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3.3.10.2401 Official Release</a:t>
            </a:r>
            <a:br>
              <a:rPr sz="2400"/>
            </a:br>
            <a:r>
              <a:rPr lang="en-US" sz="1600" b="1" strike="noStrike" spc="-1">
                <a:solidFill>
                  <a:srgbClr val="990000"/>
                </a:solidFill>
                <a:latin typeface="Arial"/>
              </a:rPr>
              <a:t>2020-07-29</a:t>
            </a:r>
            <a:endParaRPr lang="en-US" sz="1600" b="0" strike="noStrike" spc="-1">
              <a:latin typeface="Arial"/>
            </a:endParaRPr>
          </a:p>
        </p:txBody>
      </p:sp>
      <p:sp>
        <p:nvSpPr>
          <p:cNvPr id="281"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Handling of exempted vehicles (not changed since release candidate) – see next slides for details</a:t>
            </a: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No additional bugfixes compared to VECTO 3.3.10.2401</a:t>
            </a:r>
            <a:endParaRPr lang="en-US" sz="1600" b="0" strike="noStrike" spc="-1">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3.3.10.2373 Release Candidate</a:t>
            </a:r>
            <a:br>
              <a:rPr sz="2400"/>
            </a:br>
            <a:r>
              <a:rPr lang="en-US" sz="1600" b="1" strike="noStrike" spc="-1">
                <a:solidFill>
                  <a:srgbClr val="990000"/>
                </a:solidFill>
                <a:latin typeface="Arial"/>
              </a:rPr>
              <a:t>2020-07-01</a:t>
            </a:r>
            <a:endParaRPr lang="en-US" sz="1600" b="0" strike="noStrike" spc="-1">
              <a:latin typeface="Arial"/>
            </a:endParaRPr>
          </a:p>
        </p:txBody>
      </p:sp>
      <p:sp>
        <p:nvSpPr>
          <p:cNvPr id="283"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[VECTO-1421] – Added vehicle sub-group (CO</a:t>
            </a:r>
            <a:r>
              <a:rPr lang="en-US" sz="1600" b="0" strike="noStrike" spc="-1" baseline="-25000">
                <a:solidFill>
                  <a:srgbClr val="000000"/>
                </a:solidFill>
                <a:latin typeface="Arial"/>
              </a:rPr>
              <a:t>2</a:t>
            </a:r>
            <a:r>
              <a:rPr lang="en-US" sz="1600" b="0" strike="noStrike" spc="-1">
                <a:solidFill>
                  <a:srgbClr val="000000"/>
                </a:solidFill>
                <a:latin typeface="Arial"/>
              </a:rPr>
              <a:t>-standards to MRF and CIF)</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 1449] – Handling of exempted vehicles: See next slide for details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[VECTO-1404] – Corrected URL for CSS in MRF and CIF</a:t>
            </a: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[VECTO-1419] – Simulation abort in urban cycle: failed to find operating point on search braking power with TC gear</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[VECTO-1439] – Bugfix handling duplicate entries in engine full-load curve when intersecting with max-torque of gearbox</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[VECTO-1429] – error in XML schema 2.x for exempted vehicles – MaxNetPower1/2 are optional input parameters</a:t>
            </a:r>
            <a:endParaRPr lang="en-US" sz="1600" b="0" strike="noStrike" spc="-1">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3.3.10.2373 Release Candidate</a:t>
            </a:r>
            <a:br>
              <a:rPr sz="2400"/>
            </a:br>
            <a:r>
              <a:rPr lang="en-US" sz="1600" b="1" strike="noStrike" spc="-1">
                <a:solidFill>
                  <a:srgbClr val="990000"/>
                </a:solidFill>
                <a:latin typeface="Arial"/>
              </a:rPr>
              <a:t>2020-07-01</a:t>
            </a:r>
            <a:endParaRPr lang="en-US" sz="1600" b="0" strike="noStrike" spc="-1">
              <a:latin typeface="Arial"/>
            </a:endParaRPr>
          </a:p>
        </p:txBody>
      </p:sp>
      <p:sp>
        <p:nvSpPr>
          <p:cNvPr id="28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479"/>
              </a:spcBef>
              <a:buNone/>
              <a:tabLst>
                <a:tab pos="0" algn="l"/>
              </a:tabLst>
            </a:pPr>
            <a:r>
              <a:rPr lang="en-US" sz="2400" b="1" strike="noStrike" spc="-1">
                <a:solidFill>
                  <a:srgbClr val="990000"/>
                </a:solidFill>
                <a:latin typeface="Arial"/>
              </a:rPr>
              <a:t>Handling of exempted vehicles</a:t>
            </a:r>
            <a:endParaRPr lang="en-US" sz="2400" b="0" strike="noStrike" spc="-1">
              <a:latin typeface="Arial"/>
            </a:endParaRPr>
          </a:p>
          <a:p>
            <a:pPr>
              <a:lnSpc>
                <a:spcPct val="100000"/>
              </a:lnSpc>
              <a:spcBef>
                <a:spcPts val="360"/>
              </a:spcBef>
              <a:buNone/>
              <a:tabLst>
                <a:tab pos="1886040" algn="l"/>
              </a:tabLst>
            </a:pPr>
            <a:endParaRPr lang="en-US" sz="18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Axle configuration and sleeper cab are optional input parameters for exempted vehicles (XML schema 1.0 and 2.2.1). </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OEMs are recommended to provide these parameters for exempted vehicles.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If the axle configuration is provided as input parameter, the MRF contains the vehicle group. </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The sleeper cab input parameter is also part of the MRF if provided as input.</a:t>
            </a: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0" strike="noStrike" spc="-1">
                <a:solidFill>
                  <a:srgbClr val="000000"/>
                </a:solidFill>
                <a:latin typeface="Arial"/>
              </a:rPr>
              <a:t>Input parameters MaxNetPower1/2 are optional input parameters for all exempted vehicles. </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If provided in the input these parameters are part of the MRF for all exempted vehicle types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It is recommended that those parameters are used to specify the rated power also for PEV (pure electric vehicles)</a:t>
            </a:r>
            <a:endParaRPr lang="en-US" sz="1600" b="0" strike="noStrike" spc="-1">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3.3.9.2175 Official Release</a:t>
            </a:r>
            <a:br>
              <a:rPr sz="2400"/>
            </a:br>
            <a:r>
              <a:rPr lang="en-US" sz="1600" b="1" strike="noStrike" spc="-1">
                <a:solidFill>
                  <a:srgbClr val="990000"/>
                </a:solidFill>
                <a:latin typeface="Arial"/>
              </a:rPr>
              <a:t>2020-12-15</a:t>
            </a:r>
            <a:endParaRPr lang="en-US" sz="1600" b="0" strike="noStrike" spc="-1">
              <a:latin typeface="Arial"/>
            </a:endParaRPr>
          </a:p>
        </p:txBody>
      </p:sp>
      <p:sp>
        <p:nvSpPr>
          <p:cNvPr id="28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(compared to version 3.3.9.2147)</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[VECTO-1374] - VECTO VTP error – regression update</a:t>
            </a:r>
            <a:endParaRPr lang="en-US" sz="1600" b="0" strike="noStrike" spc="-1">
              <a:latin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3.3.9.2147 Release Candidate</a:t>
            </a:r>
            <a:br>
              <a:rPr sz="2400"/>
            </a:br>
            <a:r>
              <a:rPr lang="en-US" sz="1600" b="1" strike="noStrike" spc="-1">
                <a:solidFill>
                  <a:srgbClr val="990000"/>
                </a:solidFill>
                <a:latin typeface="Arial"/>
              </a:rPr>
              <a:t>2020-11-17</a:t>
            </a:r>
            <a:endParaRPr lang="en-US" sz="1600" b="0" strike="noStrike" spc="-1">
              <a:latin typeface="Arial"/>
            </a:endParaRPr>
          </a:p>
        </p:txBody>
      </p:sp>
      <p:sp>
        <p:nvSpPr>
          <p:cNvPr id="289"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[VECTO-1331] - VTP Mode does not function for vehicles of group 3</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[VECTO-1355] - VTP Simulation Abort</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[VECTO-1356] - PTO Losses not considered in VTP simulation</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[VECTO-1361] - Torque Converter in use for the First and Second Gear VTP file does not allow for this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[VECTO-1372] - Deviation of CdxA Input vs. Output for HDV16</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[VECTO-1374] - VECTO VTP error</a:t>
            </a: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[VECTO-1360] - make unit tests execute in parallel</a:t>
            </a:r>
            <a:endParaRPr lang="en-US" sz="1600" b="0" strike="noStrike" spc="-1">
              <a:latin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3.3.8.2052 Official Release</a:t>
            </a:r>
            <a:br>
              <a:rPr sz="2400"/>
            </a:br>
            <a:r>
              <a:rPr lang="en-US" sz="1600" b="1" strike="noStrike" spc="-1">
                <a:solidFill>
                  <a:srgbClr val="990000"/>
                </a:solidFill>
                <a:latin typeface="Arial"/>
              </a:rPr>
              <a:t>2020-08-14</a:t>
            </a:r>
            <a:endParaRPr lang="en-US" sz="1600" b="0" strike="noStrike" spc="-1">
              <a:latin typeface="Arial"/>
            </a:endParaRPr>
          </a:p>
        </p:txBody>
      </p:sp>
      <p:sp>
        <p:nvSpPr>
          <p:cNvPr id="291"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No additional bugfixes compared to VECTO 3.3.8.2024</a:t>
            </a:r>
            <a:endParaRPr lang="en-US" sz="1600" b="0" strike="noStrike" spc="-1">
              <a:latin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3.3.8.2024 Release Candidate</a:t>
            </a:r>
            <a:br>
              <a:rPr sz="2400"/>
            </a:br>
            <a:r>
              <a:rPr lang="en-US" sz="1600" b="1" strike="noStrike" spc="-1">
                <a:solidFill>
                  <a:srgbClr val="990000"/>
                </a:solidFill>
                <a:latin typeface="Arial"/>
              </a:rPr>
              <a:t>2020-07-17</a:t>
            </a:r>
            <a:endParaRPr lang="en-US" sz="1600" b="0" strike="noStrike" spc="-1">
              <a:latin typeface="Arial"/>
            </a:endParaRPr>
          </a:p>
        </p:txBody>
      </p:sp>
      <p:sp>
        <p:nvSpPr>
          <p:cNvPr id="293"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[VECTO-1288] - Simulation Abort UD RL</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[VECTO-1327] - Simulation abort Construction RefLoad: unexpected response ResponseOverload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[VECTO-1266] - Gear 4 Loss-Map was extrapolated</a:t>
            </a:r>
            <a:endParaRPr lang="en-US" sz="1600" b="0" strike="noStrike" spc="-1">
              <a:latin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3.3.7.1964 Official Release</a:t>
            </a:r>
            <a:br>
              <a:rPr sz="2400"/>
            </a:br>
            <a:r>
              <a:rPr lang="en-US" sz="1600" b="1" strike="noStrike" spc="-1">
                <a:solidFill>
                  <a:srgbClr val="990000"/>
                </a:solidFill>
                <a:latin typeface="Arial"/>
              </a:rPr>
              <a:t>2020-05-18</a:t>
            </a:r>
            <a:endParaRPr lang="en-US" sz="1600" b="0" strike="noStrike" spc="-1">
              <a:latin typeface="Arial"/>
            </a:endParaRPr>
          </a:p>
        </p:txBody>
      </p:sp>
      <p:sp>
        <p:nvSpPr>
          <p:cNvPr id="29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[VECTO-1254] - Hashing method does not ignore certain XML attributes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[VECTO-1259] - Mission profile weighting factors for vehicles of group 16 are not correct</a:t>
            </a:r>
            <a:endParaRPr lang="en-US" sz="1600" b="0" strike="noStrike" spc="-1">
              <a:latin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3.3.6.1916 Official Release</a:t>
            </a:r>
            <a:br>
              <a:rPr sz="2400"/>
            </a:br>
            <a:r>
              <a:rPr lang="en-US" sz="1600" b="1" strike="noStrike" spc="-1">
                <a:solidFill>
                  <a:srgbClr val="990000"/>
                </a:solidFill>
                <a:latin typeface="Arial"/>
              </a:rPr>
              <a:t>2020-03-31</a:t>
            </a:r>
            <a:endParaRPr lang="en-US" sz="1600" b="0" strike="noStrike" spc="-1">
              <a:latin typeface="Arial"/>
            </a:endParaRPr>
          </a:p>
        </p:txBody>
      </p:sp>
      <p:sp>
        <p:nvSpPr>
          <p:cNvPr id="29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[VECTO-1250] - Error creating new gearbox file from scratch</a:t>
            </a:r>
            <a:endParaRPr lang="en-US" sz="1600" b="0" strike="noStrike" spc="-1">
              <a:latin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3.3.6.1898 Release Candidate</a:t>
            </a:r>
            <a:br>
              <a:rPr sz="2400"/>
            </a:br>
            <a:r>
              <a:rPr lang="en-US" sz="1600" b="1" strike="noStrike" spc="-1">
                <a:solidFill>
                  <a:srgbClr val="990000"/>
                </a:solidFill>
                <a:latin typeface="Arial"/>
              </a:rPr>
              <a:t>2020-03-13</a:t>
            </a:r>
            <a:endParaRPr lang="en-US" sz="1600" b="0" strike="noStrike" spc="-1">
              <a:latin typeface="Arial"/>
            </a:endParaRPr>
          </a:p>
        </p:txBody>
      </p:sp>
      <p:sp>
        <p:nvSpPr>
          <p:cNvPr id="299"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[VECTO-1239] - Adaptation of Mission Profile Weighting Factors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[VECTO-1241] - Engineering mode: Adding support for additional PTO activations</a:t>
            </a:r>
            <a:endParaRPr lang="en-US" sz="1600" b="0" strike="noStrike" spc="-1">
              <a:latin typeface="Arial"/>
            </a:endParaRPr>
          </a:p>
          <a:p>
            <a:pPr>
              <a:lnSpc>
                <a:spcPct val="100000"/>
              </a:lnSpc>
              <a:spcBef>
                <a:spcPts val="360"/>
              </a:spcBef>
              <a:buNone/>
              <a:tabLst>
                <a:tab pos="1886040" algn="l"/>
              </a:tabLst>
            </a:pPr>
            <a:endParaRPr lang="en-US" sz="18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[VECTO-1243] - Bug in VTP mode for heavy lorries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[VECTO-1234] - urban cycle at reference load not running for bug when find braking operating point</a:t>
            </a:r>
            <a:endParaRPr lang="en-US" sz="1600" b="0" strike="noStrike" spc="-1">
              <a:latin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3.3.5.1812 Official Release</a:t>
            </a:r>
            <a:br>
              <a:rPr sz="2400"/>
            </a:br>
            <a:r>
              <a:rPr lang="en-US" sz="1600" b="1" strike="noStrike" spc="-1">
                <a:solidFill>
                  <a:srgbClr val="990000"/>
                </a:solidFill>
                <a:latin typeface="Arial"/>
              </a:rPr>
              <a:t>2019-12-18</a:t>
            </a:r>
            <a:endParaRPr lang="en-US" sz="1600" b="0" strike="noStrike" spc="-1">
              <a:latin typeface="Arial"/>
            </a:endParaRPr>
          </a:p>
        </p:txBody>
      </p:sp>
      <p:sp>
        <p:nvSpPr>
          <p:cNvPr id="301"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a:t>
            </a:r>
            <a:r>
              <a:rPr lang="en-US" sz="1800" b="0" strike="noStrike" spc="-1">
                <a:solidFill>
                  <a:srgbClr val="000000"/>
                </a:solidFill>
                <a:latin typeface="Arial"/>
              </a:rPr>
              <a:t>(compared to VECTO 3.3.5.1783-RC)</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[VECTO-1220] - Simulation Abort Urban Delivery RefLoad</a:t>
            </a:r>
            <a:endParaRPr lang="en-US" sz="1600" b="0" strike="noStrike" spc="-1">
              <a:latin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3.3.5.1783 Release Candidate</a:t>
            </a:r>
            <a:br>
              <a:rPr sz="2400"/>
            </a:br>
            <a:r>
              <a:rPr lang="en-US" sz="1600" b="1" strike="noStrike" spc="-1">
                <a:solidFill>
                  <a:srgbClr val="990000"/>
                </a:solidFill>
                <a:latin typeface="Arial"/>
              </a:rPr>
              <a:t>2019-11-19</a:t>
            </a:r>
            <a:endParaRPr lang="en-US" sz="1600" b="0" strike="noStrike" spc="-1">
              <a:latin typeface="Arial"/>
            </a:endParaRPr>
          </a:p>
        </p:txBody>
      </p:sp>
      <p:sp>
        <p:nvSpPr>
          <p:cNvPr id="303"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[VECTO-1194] - Handling input parameter 'vocational' for groups other than 4, 5, 9, 10</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[VECTO-1147] - Updating declaration mode cycles values in user manual </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[VECTO-1207] - run VECTO in 64bit mode by default</a:t>
            </a:r>
            <a:endParaRPr lang="en-US" sz="1600" b="0" strike="noStrike" spc="-1">
              <a:latin typeface="Arial"/>
            </a:endParaRPr>
          </a:p>
          <a:p>
            <a:pPr>
              <a:lnSpc>
                <a:spcPct val="100000"/>
              </a:lnSpc>
              <a:spcBef>
                <a:spcPts val="360"/>
              </a:spcBef>
              <a:buNone/>
              <a:tabLst>
                <a:tab pos="1886040" algn="l"/>
              </a:tabLst>
            </a:pPr>
            <a:endParaRPr lang="en-US" sz="18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[VECTO-1074] - Vecto Calculation Aborts with Interpolation Error</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[VECTO-1159] - Simulation Abort in UrbanDelivery LowLoading</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[VECTO-1189] - Error in delaunay triangulation invariant violated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[VECTO-1209] - Unexpected Response Response Overload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[VECTO-1211] - Simulation Abort Urban Delivery Ref Load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[VECTO-1214] - Validation of input data fails when gearbox speed limits are applied</a:t>
            </a:r>
            <a:endParaRPr lang="en-US" sz="1600" b="0" strike="noStrike" spc="-1">
              <a:latin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3.3.4.1716 Official Release</a:t>
            </a:r>
            <a:br>
              <a:rPr sz="2400"/>
            </a:br>
            <a:r>
              <a:rPr lang="en-US" sz="1600" b="1" strike="noStrike" spc="-1">
                <a:solidFill>
                  <a:srgbClr val="990000"/>
                </a:solidFill>
                <a:latin typeface="Arial"/>
              </a:rPr>
              <a:t>2019-09-13</a:t>
            </a:r>
            <a:endParaRPr lang="en-US" sz="1600" b="0" strike="noStrike" spc="-1">
              <a:latin typeface="Arial"/>
            </a:endParaRPr>
          </a:p>
        </p:txBody>
      </p:sp>
      <p:sp>
        <p:nvSpPr>
          <p:cNvPr id="30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a:t>
            </a:r>
            <a:r>
              <a:rPr lang="en-US" sz="1800" b="0" strike="noStrike" spc="-1">
                <a:solidFill>
                  <a:srgbClr val="000000"/>
                </a:solidFill>
                <a:latin typeface="Arial"/>
              </a:rPr>
              <a:t>(compared to VECTO 3.3.4.1686-RC)</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[VECTO-1074] - Vecto Calculation Aborts with Interpolation Error ([VECTO-1046])</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[VECTO-1111] - Simulation Abort in Municipal Reference Load</a:t>
            </a:r>
            <a:endParaRPr lang="en-US" sz="1600" b="0" strike="noStrike" spc="-1">
              <a:latin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3.3.4.1686 Release Candidate</a:t>
            </a:r>
            <a:br>
              <a:rPr sz="2400"/>
            </a:br>
            <a:r>
              <a:rPr lang="en-US" sz="1600" b="1" strike="noStrike" spc="-1">
                <a:solidFill>
                  <a:srgbClr val="990000"/>
                </a:solidFill>
                <a:latin typeface="Arial"/>
              </a:rPr>
              <a:t>2019-08-14</a:t>
            </a:r>
            <a:endParaRPr lang="en-US" sz="1600" b="0" strike="noStrike" spc="-1">
              <a:latin typeface="Arial"/>
            </a:endParaRPr>
          </a:p>
        </p:txBody>
      </p:sp>
      <p:sp>
        <p:nvSpPr>
          <p:cNvPr id="30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[VECTO-1042] - Add option to write results into a certain directory</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[VECTO-1064] - add weighting factors for vehicle groups 1, 2, 3, 11, 12, 16</a:t>
            </a:r>
            <a:endParaRPr lang="en-US" sz="1600" b="0" strike="noStrike" spc="-1">
              <a:latin typeface="Arial"/>
            </a:endParaRPr>
          </a:p>
          <a:p>
            <a:pPr>
              <a:lnSpc>
                <a:spcPct val="100000"/>
              </a:lnSpc>
              <a:buNone/>
              <a:tabLst>
                <a:tab pos="1886040" algn="l"/>
              </a:tabLst>
            </a:pP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[VECTO-1030] - Exceeded max iterations when searching for operating point! Failed to find operating point!</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[VECTO-1032] - Gear 5 LossMap data was extrapolated in Declaration Mode: range for loss map is not sufficient</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[VECTO-1067] - Vair and Beta correction for Aerodynamics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[VECTO-1000] - Error Loss-Map extrapolation in Declaration Mode</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[VECTO-1040] - Gear 6 LossMap data was extrapolated in Declaration Mode</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[VECTO-1047] - Failed to find operating point on construction cycle, ref load, AT gearbox</a:t>
            </a:r>
            <a:endParaRPr lang="en-US" sz="16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3.3.3.1639 Official Release</a:t>
            </a:r>
            <a:br>
              <a:rPr sz="2400"/>
            </a:br>
            <a:r>
              <a:rPr lang="en-US" sz="1600" b="1" strike="noStrike" spc="-1">
                <a:solidFill>
                  <a:srgbClr val="990000"/>
                </a:solidFill>
                <a:latin typeface="Arial"/>
              </a:rPr>
              <a:t>2019-06-27</a:t>
            </a:r>
            <a:endParaRPr lang="en-US" sz="1600" b="0" strike="noStrike" spc="-1">
              <a:latin typeface="Arial"/>
            </a:endParaRPr>
          </a:p>
        </p:txBody>
      </p:sp>
      <p:sp>
        <p:nvSpPr>
          <p:cNvPr id="309"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a:t>
            </a:r>
            <a:r>
              <a:rPr lang="en-US" sz="1800" b="0" strike="noStrike" spc="-1">
                <a:solidFill>
                  <a:srgbClr val="000000"/>
                </a:solidFill>
                <a:latin typeface="Arial"/>
              </a:rPr>
              <a:t>(compared to VECTO 3.3.3.1609-RC)</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[VECTO-1003] - Vecto Error: Loss-Map extrapolation in declaration mode required</a:t>
            </a:r>
            <a:br>
              <a:rPr sz="1600"/>
            </a:br>
            <a:r>
              <a:rPr lang="en-US" sz="1600" b="0" strike="noStrike" spc="-1">
                <a:solidFill>
                  <a:srgbClr val="000000"/>
                </a:solidFill>
                <a:latin typeface="Arial"/>
              </a:rPr>
              <a:t>(issue VECTO-991)</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[VECTO-1006] - Failed to find torque converter operating point on UD cycle </a:t>
            </a:r>
            <a:br>
              <a:rPr sz="1600"/>
            </a:br>
            <a:r>
              <a:rPr lang="en-US" sz="1600" b="0" strike="noStrike" spc="-1">
                <a:solidFill>
                  <a:srgbClr val="000000"/>
                </a:solidFill>
                <a:latin typeface="Arial"/>
              </a:rPr>
              <a:t>(issue VECTO-996)</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[VECTO-1010] - Unexpected Response: ResponseOverload in UD cycle </a:t>
            </a:r>
            <a:br>
              <a:rPr sz="1600"/>
            </a:br>
            <a:r>
              <a:rPr lang="en-US" sz="1600" b="0" strike="noStrike" spc="-1">
                <a:solidFill>
                  <a:srgbClr val="000000"/>
                </a:solidFill>
                <a:latin typeface="Arial"/>
              </a:rPr>
              <a:t>(issue VECTO-996)</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[VECTO-1015] - XML Schema not correctly identified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[VECTO-1019] - Error opening job in case a file is missing</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[VECTO-1020] - HashingTool Crashes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[VECTO-1021] - Invalid hash of job data</a:t>
            </a:r>
            <a:endParaRPr lang="en-US" sz="1600" b="0" strike="noStrike" spc="-1">
              <a:latin typeface="Arial"/>
            </a:endParaRPr>
          </a:p>
          <a:p>
            <a:pPr>
              <a:lnSpc>
                <a:spcPct val="100000"/>
              </a:lnSpc>
              <a:buNone/>
              <a:tabLst>
                <a:tab pos="1886040" algn="l"/>
              </a:tabLst>
            </a:pPr>
            <a:endParaRPr lang="en-US" sz="16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3.3.3.1609 Release Candidate</a:t>
            </a:r>
            <a:br>
              <a:rPr sz="2400"/>
            </a:br>
            <a:r>
              <a:rPr lang="en-US" sz="1600" b="1" strike="noStrike" spc="-1">
                <a:solidFill>
                  <a:srgbClr val="990000"/>
                </a:solidFill>
                <a:latin typeface="Arial"/>
              </a:rPr>
              <a:t>2019-05-29</a:t>
            </a:r>
            <a:endParaRPr lang="en-US" sz="1600" b="0" strike="noStrike" spc="-1">
              <a:latin typeface="Arial"/>
            </a:endParaRPr>
          </a:p>
        </p:txBody>
      </p:sp>
      <p:sp>
        <p:nvSpPr>
          <p:cNvPr id="311"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 Improvement</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[VECTO-916] - Adding new tyre sizes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[VECTO-946] - Refactoring XML reading</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[VECTO-965] - Add input fields for ADAS into VECTO GUI</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[VECTO-966] - Allow selecting Tank System for NG engines in GUI</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[VECTO-932] - Consistency in NA values in the vsum file</a:t>
            </a: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[VECTO-954] - Failed to find operating point for braking power (Fix for Notification Art. 10(2) - [VECTO-952])</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[VECTO-979] - VECTO Simulation abort with 8-speed MT transmission (Fix for Notification Art. 10(2) - [VECTO-978])</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[VECTO-931] - AT error in VECTO version 3.3.2.1519</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[VECTO-950] - Error when loading Engine Full-load curve</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[VECTO-967] - Engine-Only mode: Engine Torque reported in .vmod does not match the provided cycle</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[VECTO-980] - Error during simulation run</a:t>
            </a:r>
            <a:endParaRPr lang="en-US" sz="1600" b="0" strike="noStrike" spc="-1">
              <a:latin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3.3.2.1548 Official Release</a:t>
            </a:r>
            <a:br>
              <a:rPr sz="2400"/>
            </a:br>
            <a:r>
              <a:rPr lang="en-US" sz="1600" b="1" strike="noStrike" spc="-1">
                <a:solidFill>
                  <a:srgbClr val="990000"/>
                </a:solidFill>
                <a:latin typeface="Arial"/>
              </a:rPr>
              <a:t>2019-03-29</a:t>
            </a:r>
            <a:endParaRPr lang="en-US" sz="1600" b="0" strike="noStrike" spc="-1">
              <a:latin typeface="Arial"/>
            </a:endParaRPr>
          </a:p>
        </p:txBody>
      </p:sp>
      <p:sp>
        <p:nvSpPr>
          <p:cNvPr id="313"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(compared to 3.3.2.1519-RC)</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[VECTO-861] - 3.3.1: Torque converter not working correctly</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[VECTO-904] - Range for gear loss map not sufficient.</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[VECTO-909] - 3.3.2.1519: Problems running more than one input .xml</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[VECTO-917] - TargetVelocity (0.0000) and VehicleVelocity (&gt;0) must be zero when vehicle is halting</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[VECTO-918] - RegionalDeliveryEMS LowLoading - ResponseSpeedLimitExceeded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[VECTO-920] - Urban Delivery: Simulation Run Aborted, TargetVelocity and VehicleVelocity must be zero when vehicle is halting!</a:t>
            </a:r>
            <a:endParaRPr lang="en-US" sz="1600" b="0" strike="noStrike" spc="-1">
              <a:latin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3.3.2.1519 Release Candidate</a:t>
            </a:r>
            <a:br>
              <a:rPr sz="2400"/>
            </a:br>
            <a:r>
              <a:rPr lang="en-US" sz="1600" b="1" strike="noStrike" spc="-1">
                <a:solidFill>
                  <a:srgbClr val="990000"/>
                </a:solidFill>
                <a:latin typeface="Arial"/>
              </a:rPr>
              <a:t>2019-03-01</a:t>
            </a:r>
            <a:endParaRPr lang="en-US" sz="1600" b="0" strike="noStrike" spc="-1">
              <a:latin typeface="Arial"/>
            </a:endParaRPr>
          </a:p>
        </p:txBody>
      </p:sp>
      <p:sp>
        <p:nvSpPr>
          <p:cNvPr id="31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[VECTO-869] - change new vehicle input fields (ADAS, sleeper cab, etc.) to be mandatory</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[VECTO-784] - Configuration file for VECTO log files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[VECTO-865] - Extend Sum-Data</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[VECTO-873] - Add digest value to SumData</a:t>
            </a: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[VECTO-729] - Bugs APT submodel</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[VECTO-787] - APT: DrivingAction Accelerate after Overload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[VECTO-789] - APT: ResponseUnderload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[VECTO-797] - VECTO abort with AT transmission and TC table value</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[VECTO-798] - VECTO abort with certified AT transmission data and certified TC data</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[VECTO-807] - VECTO errors in vehicle class 1/2/3</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[VECTO-827] - Torque converter inertia </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[VECTO-838] - APT: ResponseOverload</a:t>
            </a:r>
            <a:endParaRPr lang="en-US" sz="1600" b="0" strike="noStrike" spc="-1">
              <a:latin typeface="Arial"/>
            </a:endParaRPr>
          </a:p>
        </p:txBody>
      </p:sp>
      <p:sp>
        <p:nvSpPr>
          <p:cNvPr id="316" name="Textfeld 3"/>
          <p:cNvSpPr/>
          <p:nvPr/>
        </p:nvSpPr>
        <p:spPr>
          <a:xfrm>
            <a:off x="8142840" y="6228000"/>
            <a:ext cx="7912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cont.</a:t>
            </a:r>
            <a:endParaRPr lang="en-US" sz="1800" b="0" strike="noStrike" spc="-1">
              <a:latin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3.3.2.1519 Release Candidate</a:t>
            </a:r>
            <a:br>
              <a:rPr sz="2400"/>
            </a:br>
            <a:r>
              <a:rPr lang="en-US" sz="1600" b="1" strike="noStrike" spc="-1">
                <a:solidFill>
                  <a:srgbClr val="990000"/>
                </a:solidFill>
                <a:latin typeface="Arial"/>
              </a:rPr>
              <a:t>2019-03-01</a:t>
            </a:r>
            <a:endParaRPr lang="en-US" sz="1600" b="0" strike="noStrike" spc="-1">
              <a:latin typeface="Arial"/>
            </a:endParaRPr>
          </a:p>
        </p:txBody>
      </p:sp>
      <p:sp>
        <p:nvSpPr>
          <p:cNvPr id="318" name="PlaceHolder 2"/>
          <p:cNvSpPr>
            <a:spLocks noGrp="1"/>
          </p:cNvSpPr>
          <p:nvPr>
            <p:ph/>
          </p:nvPr>
        </p:nvSpPr>
        <p:spPr>
          <a:xfrm>
            <a:off x="323640" y="1340640"/>
            <a:ext cx="8819640" cy="511200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[VECTO-843] - AT Transmissions problem on VECTO 3.3.1.1463</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[VECTO-844] - Error with AT gearbox model</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[VECTO-847] - Simulation abort due to error in NLog?</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[VECTO-848] - AT Gearbox Simulation abort (was: Problem related to Tyres?)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[VECTO-858] - Urban Delivery Abort - with APT-S Transmission and TC</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[VECTO-861] - 3.3.1: Torque converter not working correctly</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[VECTO-872] - MRF/CIF: Torque Converter certification method and certification nbr not correctly set</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[VECTO-879] - SIMULATION RUN ABORTED DistanceRun got an unexpected resp.</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[VECTO-883] - Traction interruption may be too long</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[VECTO-815] - Unexpected Response: SpeedLimitExceeded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[VECTO-816] - object reference not set to an instance of an object</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[VECTO-817] - TargetVelocity and VehicleVelocity must not be 0</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[VECTO-820] - DistanceRun got an unexpected response: ResponseSpeedLimitExceeded</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[VECTO-864] - Prevent VECTO loss-map extension to result in negative torque loss</a:t>
            </a:r>
            <a:endParaRPr lang="en-US" sz="1600" b="0" strike="noStrike" spc="-1">
              <a:latin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3.3.2.1519 Release Candidate</a:t>
            </a:r>
            <a:br>
              <a:rPr sz="2400"/>
            </a:br>
            <a:r>
              <a:rPr lang="en-US" sz="1600" b="1" strike="noStrike" spc="-1">
                <a:solidFill>
                  <a:srgbClr val="990000"/>
                </a:solidFill>
                <a:latin typeface="Arial"/>
              </a:rPr>
              <a:t>2019-03-01</a:t>
            </a:r>
            <a:endParaRPr lang="en-US" sz="1600" b="0" strike="noStrike" spc="-1">
              <a:latin typeface="Arial"/>
            </a:endParaRPr>
          </a:p>
        </p:txBody>
      </p:sp>
      <p:sp>
        <p:nvSpPr>
          <p:cNvPr id="320" name="PlaceHolder 2"/>
          <p:cNvSpPr>
            <a:spLocks noGrp="1"/>
          </p:cNvSpPr>
          <p:nvPr>
            <p:ph/>
          </p:nvPr>
        </p:nvSpPr>
        <p:spPr>
          <a:xfrm>
            <a:off x="323640" y="1340640"/>
            <a:ext cx="8496360" cy="511200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Installation Option </a:t>
            </a:r>
            <a:r>
              <a:rPr lang="en-US" sz="1800" b="0" strike="noStrike" spc="-1">
                <a:solidFill>
                  <a:srgbClr val="000000"/>
                </a:solidFill>
                <a:latin typeface="Arial"/>
              </a:rPr>
              <a:t>(VECTO-784)</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 3.3.2 adds a new feature to run as ‘installed application’ instead of the ‘portable’ mode</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 as ‘installed application’</a:t>
            </a:r>
            <a:endParaRPr lang="en-US" sz="16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Needs no write permissions to the VECTO application folder</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All configuration files and settings are written to %AppData%\VECTO\&lt;Version&gt;</a:t>
            </a:r>
            <a:endParaRPr lang="en-US" sz="1200" b="0" strike="noStrike" spc="-1">
              <a:latin typeface="Arial"/>
            </a:endParaRPr>
          </a:p>
          <a:p>
            <a:pPr marL="1143000" lvl="2" indent="-228600">
              <a:lnSpc>
                <a:spcPct val="100000"/>
              </a:lnSpc>
              <a:spcBef>
                <a:spcPts val="241"/>
              </a:spcBef>
              <a:buClr>
                <a:srgbClr val="000000"/>
              </a:buClr>
              <a:buFont typeface="Symbol"/>
              <a:buChar char=""/>
              <a:tabLst>
                <a:tab pos="1886040" algn="l"/>
              </a:tabLst>
            </a:pPr>
            <a:r>
              <a:rPr lang="en-US" sz="1200" b="0" strike="noStrike" spc="-1">
                <a:solidFill>
                  <a:srgbClr val="000000"/>
                </a:solidFill>
                <a:latin typeface="Arial"/>
              </a:rPr>
              <a:t>All log files are written to %LocalAppData%\VECTO\&lt;Version&gt;</a:t>
            </a:r>
            <a:endParaRPr lang="en-US" sz="12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Switch to ‘installed application’</a:t>
            </a:r>
            <a:endParaRPr lang="en-US" sz="1600" b="0" strike="noStrike" spc="-1">
              <a:latin typeface="Arial"/>
            </a:endParaRPr>
          </a:p>
          <a:p>
            <a:pPr marL="1143000" lvl="2" indent="-228600">
              <a:lnSpc>
                <a:spcPct val="100000"/>
              </a:lnSpc>
              <a:spcBef>
                <a:spcPts val="241"/>
              </a:spcBef>
              <a:buClr>
                <a:srgbClr val="000000"/>
              </a:buClr>
              <a:buFont typeface="Arial"/>
              <a:buAutoNum type="arabicPeriod"/>
              <a:tabLst>
                <a:tab pos="1886040" algn="l"/>
              </a:tabLst>
            </a:pPr>
            <a:r>
              <a:rPr lang="en-US" sz="1200" b="0" strike="noStrike" spc="-1">
                <a:solidFill>
                  <a:srgbClr val="000000"/>
                </a:solidFill>
                <a:latin typeface="Arial"/>
              </a:rPr>
              <a:t>Copy the VECTO directory and all its files and subdirectories to the appropriate location where the user has execute permissions</a:t>
            </a:r>
            <a:endParaRPr lang="en-US" sz="1200" b="0" strike="noStrike" spc="-1">
              <a:latin typeface="Arial"/>
            </a:endParaRPr>
          </a:p>
          <a:p>
            <a:pPr marL="1143000" lvl="2" indent="-228600">
              <a:lnSpc>
                <a:spcPct val="100000"/>
              </a:lnSpc>
              <a:spcBef>
                <a:spcPts val="241"/>
              </a:spcBef>
              <a:buClr>
                <a:srgbClr val="000000"/>
              </a:buClr>
              <a:buFont typeface="Arial"/>
              <a:buAutoNum type="arabicPeriod"/>
              <a:tabLst>
                <a:tab pos="1886040" algn="l"/>
              </a:tabLst>
            </a:pPr>
            <a:r>
              <a:rPr lang="en-US" sz="1200" b="0" strike="noStrike" spc="-1">
                <a:solidFill>
                  <a:srgbClr val="000000"/>
                </a:solidFill>
                <a:latin typeface="Arial"/>
              </a:rPr>
              <a:t>Edit the file ‘</a:t>
            </a:r>
            <a:r>
              <a:rPr lang="en-US" sz="1200" b="0" i="1" strike="noStrike" spc="-1">
                <a:solidFill>
                  <a:srgbClr val="000000"/>
                </a:solidFill>
                <a:latin typeface="Arial"/>
              </a:rPr>
              <a:t>install.ini</a:t>
            </a:r>
            <a:r>
              <a:rPr lang="en-US" sz="1200" b="0" strike="noStrike" spc="-1">
                <a:solidFill>
                  <a:srgbClr val="000000"/>
                </a:solidFill>
                <a:latin typeface="Arial"/>
              </a:rPr>
              <a:t>’ and remove the comment character (#) in the line containing </a:t>
            </a:r>
            <a:br>
              <a:rPr sz="1200"/>
            </a:br>
            <a:r>
              <a:rPr lang="en-US" sz="1200" b="0" strike="noStrike" spc="-1">
                <a:solidFill>
                  <a:srgbClr val="000000"/>
                </a:solidFill>
                <a:latin typeface="Arial"/>
              </a:rPr>
              <a:t>	</a:t>
            </a:r>
            <a:r>
              <a:rPr lang="en-US" sz="1200" b="1" strike="noStrike" spc="-1">
                <a:solidFill>
                  <a:srgbClr val="000000"/>
                </a:solidFill>
                <a:latin typeface="Courier New"/>
              </a:rPr>
              <a:t>ExecutionMode = install</a:t>
            </a:r>
            <a:endParaRPr lang="en-US" sz="1200" b="0" strike="noStrike" spc="-1">
              <a:latin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3.3.1.1492 Official Release</a:t>
            </a:r>
            <a:br>
              <a:rPr sz="2400"/>
            </a:br>
            <a:r>
              <a:rPr lang="en-US" sz="1600" b="1" strike="noStrike" spc="-1">
                <a:solidFill>
                  <a:srgbClr val="990000"/>
                </a:solidFill>
                <a:latin typeface="Arial"/>
              </a:rPr>
              <a:t>2019-02-01</a:t>
            </a:r>
            <a:endParaRPr lang="en-US" sz="1600" b="0" strike="noStrike" spc="-1">
              <a:latin typeface="Arial"/>
            </a:endParaRPr>
          </a:p>
        </p:txBody>
      </p:sp>
      <p:sp>
        <p:nvSpPr>
          <p:cNvPr id="322"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(compared to 3.3.1.1463-RC)</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[VECTO-845] - Fixing bug for VECTO-840</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[VECTO-826] - DistanceRun got an unexpected response: ResponseSpeedLimitExceeded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[VECTO-837] - VECTO GUI displays incorrect cycles prior to simulation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[VECTO-831] - Addition of indication to be added in Help and Release notes for simulations with LNG</a:t>
            </a:r>
            <a:endParaRPr lang="en-US" sz="1400" b="0" strike="noStrike" spc="-1">
              <a:latin typeface="Arial"/>
            </a:endParaRPr>
          </a:p>
        </p:txBody>
      </p:sp>
      <p:sp>
        <p:nvSpPr>
          <p:cNvPr id="323" name="Textfeld 4"/>
          <p:cNvSpPr/>
          <p:nvPr/>
        </p:nvSpPr>
        <p:spPr>
          <a:xfrm>
            <a:off x="8142840" y="6228000"/>
            <a:ext cx="7912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cont.</a:t>
            </a:r>
            <a:endParaRPr lang="en-US" sz="1800" b="0" strike="noStrike" spc="-1">
              <a:latin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3.3.1.1463 Release Candidate</a:t>
            </a:r>
            <a:br>
              <a:rPr sz="2400"/>
            </a:br>
            <a:r>
              <a:rPr lang="en-US" sz="1600" b="1" strike="noStrike" spc="-1">
                <a:solidFill>
                  <a:srgbClr val="990000"/>
                </a:solidFill>
                <a:latin typeface="Arial"/>
              </a:rPr>
              <a:t>2019-01-03</a:t>
            </a:r>
            <a:endParaRPr lang="en-US" sz="1600" b="0" strike="noStrike" spc="-1">
              <a:latin typeface="Arial"/>
            </a:endParaRPr>
          </a:p>
        </p:txBody>
      </p:sp>
      <p:sp>
        <p:nvSpPr>
          <p:cNvPr id="32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Changes according to 2017/2400 amendments</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[VECTO-761] - Adaptation of input XML Schema</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[VECTO-762] - Extension of Input Interfaces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[VECTO-763] - Extension of Segmentation Table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[VECTO-764] - ADAS benefits (according to Annex III Point 8. of amendment to 2017/2400)</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[VECTO-766] - Update power demand auxiliaries (for extended segmentation table)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[VECTO-767] - Report for exempted vehicles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[VECTO-768] - VTP mode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[VECTO-770] - Fuel Types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[VECTO-771] - Handling of exempted vehicles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[VECTO-824] - Throw exception for certain combinations of exempted vehicle parameters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[VECTO-773] - Correction Factor for Reference Fuel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[VECTO-790] - Adapt generic data for construction/municipal utility</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[VECTO-493] - Implementation of generic body weights and air drag values for construction cycle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[VECTO-565] - Consideration of LNG as possible fuel is missing</a:t>
            </a:r>
            <a:endParaRPr lang="en-US" sz="1400" b="0" strike="noStrike" spc="-1">
              <a:latin typeface="Arial"/>
            </a:endParaRPr>
          </a:p>
        </p:txBody>
      </p:sp>
      <p:sp>
        <p:nvSpPr>
          <p:cNvPr id="326" name="Textfeld 3"/>
          <p:cNvSpPr/>
          <p:nvPr/>
        </p:nvSpPr>
        <p:spPr>
          <a:xfrm>
            <a:off x="8142840" y="6228000"/>
            <a:ext cx="7912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cont.</a:t>
            </a:r>
            <a:endParaRPr lang="en-US" sz="1800" b="0" strike="noStrike" spc="-1">
              <a:latin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3.3.1.1463 Release Candidate</a:t>
            </a:r>
            <a:br>
              <a:rPr sz="2400"/>
            </a:br>
            <a:r>
              <a:rPr lang="en-US" sz="1600" b="1" strike="noStrike" spc="-1">
                <a:solidFill>
                  <a:srgbClr val="990000"/>
                </a:solidFill>
                <a:latin typeface="Arial"/>
              </a:rPr>
              <a:t>2019-01-03</a:t>
            </a:r>
            <a:endParaRPr lang="en-US" sz="1600" b="0" strike="noStrike" spc="-1">
              <a:latin typeface="Arial"/>
            </a:endParaRPr>
          </a:p>
        </p:txBody>
      </p:sp>
      <p:sp>
        <p:nvSpPr>
          <p:cNvPr id="328" name="PlaceHolder 2"/>
          <p:cNvSpPr>
            <a:spLocks noGrp="1"/>
          </p:cNvSpPr>
          <p:nvPr>
            <p:ph/>
          </p:nvPr>
        </p:nvSpPr>
        <p:spPr>
          <a:xfrm>
            <a:off x="323640" y="1196640"/>
            <a:ext cx="8640360" cy="158328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New input parameters</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The new input fields (see table below) are optional in this version. When this release candidate will be an official version manufacturers MAY certify their new vehicles using the new input parameters. As from 1</a:t>
            </a:r>
            <a:r>
              <a:rPr lang="en-US" sz="1400" b="0" strike="noStrike" spc="-1" baseline="30000">
                <a:solidFill>
                  <a:srgbClr val="000000"/>
                </a:solidFill>
                <a:latin typeface="Arial"/>
              </a:rPr>
              <a:t>st</a:t>
            </a:r>
            <a:r>
              <a:rPr lang="en-US" sz="1400" b="0" strike="noStrike" spc="-1">
                <a:solidFill>
                  <a:srgbClr val="000000"/>
                </a:solidFill>
                <a:latin typeface="Arial"/>
              </a:rPr>
              <a:t> July 2019 the new input fields will become mandatory. Further details are provided in the timetable on the next page.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Default values when the new input parameters are not provided:</a:t>
            </a:r>
            <a:endParaRPr lang="en-US" sz="1400" b="0" strike="noStrike" spc="-1">
              <a:latin typeface="Arial"/>
            </a:endParaRPr>
          </a:p>
        </p:txBody>
      </p:sp>
      <p:sp>
        <p:nvSpPr>
          <p:cNvPr id="329" name="Textfeld 3"/>
          <p:cNvSpPr/>
          <p:nvPr/>
        </p:nvSpPr>
        <p:spPr>
          <a:xfrm>
            <a:off x="8142840" y="6228000"/>
            <a:ext cx="7912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cont.</a:t>
            </a:r>
            <a:endParaRPr lang="en-US" sz="1800" b="0" strike="noStrike" spc="-1">
              <a:latin typeface="Arial"/>
            </a:endParaRPr>
          </a:p>
        </p:txBody>
      </p:sp>
      <p:graphicFrame>
        <p:nvGraphicFramePr>
          <p:cNvPr id="330" name="Tabelle 4"/>
          <p:cNvGraphicFramePr/>
          <p:nvPr/>
        </p:nvGraphicFramePr>
        <p:xfrm>
          <a:off x="1475640" y="2768760"/>
          <a:ext cx="6021720" cy="2891160"/>
        </p:xfrm>
        <a:graphic>
          <a:graphicData uri="http://schemas.openxmlformats.org/drawingml/2006/table">
            <a:tbl>
              <a:tblPr/>
              <a:tblGrid>
                <a:gridCol w="2092320">
                  <a:extLst>
                    <a:ext uri="{9D8B030D-6E8A-4147-A177-3AD203B41FA5}">
                      <a16:colId xmlns:a16="http://schemas.microsoft.com/office/drawing/2014/main" val="20000"/>
                    </a:ext>
                  </a:extLst>
                </a:gridCol>
                <a:gridCol w="3929760">
                  <a:extLst>
                    <a:ext uri="{9D8B030D-6E8A-4147-A177-3AD203B41FA5}">
                      <a16:colId xmlns:a16="http://schemas.microsoft.com/office/drawing/2014/main" val="20001"/>
                    </a:ext>
                  </a:extLst>
                </a:gridCol>
              </a:tblGrid>
              <a:tr h="183960">
                <a:tc gridSpan="2">
                  <a:txBody>
                    <a:bodyPr/>
                    <a:lstStyle/>
                    <a:p>
                      <a:pPr>
                        <a:lnSpc>
                          <a:spcPct val="115000"/>
                        </a:lnSpc>
                        <a:buNone/>
                      </a:pPr>
                      <a:r>
                        <a:rPr lang="en-GB" sz="1050" b="1" strike="noStrike" spc="-1">
                          <a:solidFill>
                            <a:srgbClr val="FFFFFF"/>
                          </a:solidFill>
                          <a:latin typeface="Arial"/>
                        </a:rPr>
                        <a:t>Input parameters vehicle – Table 1 Annex III</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hMerge="1">
                  <a:txBody>
                    <a:bodyPr/>
                    <a:lstStyle/>
                    <a:p>
                      <a:endParaRPr lang="de-DE"/>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183960">
                <a:tc>
                  <a:txBody>
                    <a:bodyPr/>
                    <a:lstStyle/>
                    <a:p>
                      <a:pPr>
                        <a:lnSpc>
                          <a:spcPct val="115000"/>
                        </a:lnSpc>
                        <a:buNone/>
                      </a:pPr>
                      <a:r>
                        <a:rPr lang="en-GB" sz="1050" b="1" strike="noStrike" spc="-1">
                          <a:solidFill>
                            <a:srgbClr val="FFFFFF"/>
                          </a:solidFill>
                          <a:latin typeface="Arial"/>
                        </a:rPr>
                        <a:t>Field</a:t>
                      </a:r>
                      <a:endParaRPr lang="en-US" sz="1050" b="0" strike="noStrike" spc="-1">
                        <a:latin typeface="Arial"/>
                      </a:endParaRPr>
                    </a:p>
                  </a:txBody>
                  <a:tcPr marL="33480" marR="33480">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Default value</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1"/>
                  </a:ext>
                </a:extLst>
              </a:tr>
              <a:tr h="367560">
                <a:tc>
                  <a:txBody>
                    <a:bodyPr/>
                    <a:lstStyle/>
                    <a:p>
                      <a:pPr>
                        <a:lnSpc>
                          <a:spcPct val="115000"/>
                        </a:lnSpc>
                        <a:buNone/>
                      </a:pPr>
                      <a:r>
                        <a:rPr lang="en-GB" sz="1050" b="1" strike="noStrike" spc="-1">
                          <a:solidFill>
                            <a:srgbClr val="FFFFFF"/>
                          </a:solidFill>
                          <a:latin typeface="Arial"/>
                        </a:rPr>
                        <a:t>VehicleCategory</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No default value but input 'rigid truck' will be converted automatically into 'rigid lorry'</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352800">
                <a:tc>
                  <a:txBody>
                    <a:bodyPr/>
                    <a:lstStyle/>
                    <a:p>
                      <a:pPr>
                        <a:lnSpc>
                          <a:spcPct val="115000"/>
                        </a:lnSpc>
                        <a:buNone/>
                      </a:pPr>
                      <a:r>
                        <a:rPr lang="en-GB" sz="1050" b="1" strike="noStrike" spc="-1">
                          <a:solidFill>
                            <a:srgbClr val="FFFFFF"/>
                          </a:solidFill>
                          <a:latin typeface="Arial"/>
                        </a:rPr>
                        <a:t>ZeroEmissionVehicle</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'No'</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352800">
                <a:tc>
                  <a:txBody>
                    <a:bodyPr/>
                    <a:lstStyle/>
                    <a:p>
                      <a:pPr>
                        <a:lnSpc>
                          <a:spcPct val="115000"/>
                        </a:lnSpc>
                        <a:buNone/>
                      </a:pPr>
                      <a:r>
                        <a:rPr lang="en-GB" sz="1050" b="1" strike="noStrike" spc="-1">
                          <a:solidFill>
                            <a:srgbClr val="FFFFFF"/>
                          </a:solidFill>
                          <a:latin typeface="Arial"/>
                        </a:rPr>
                        <a:t>NgTankSystem</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'Compressed' (only applicable to gas vehicles)</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r h="183960">
                <a:tc>
                  <a:txBody>
                    <a:bodyPr/>
                    <a:lstStyle/>
                    <a:p>
                      <a:pPr>
                        <a:lnSpc>
                          <a:spcPct val="115000"/>
                        </a:lnSpc>
                        <a:buNone/>
                      </a:pPr>
                      <a:r>
                        <a:rPr lang="en-GB" sz="1050" b="1" strike="noStrike" spc="-1">
                          <a:solidFill>
                            <a:srgbClr val="FFFFFF"/>
                          </a:solidFill>
                          <a:latin typeface="Arial"/>
                        </a:rPr>
                        <a:t>SleeperCab</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'Yes'</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5"/>
                  </a:ext>
                </a:extLst>
              </a:tr>
              <a:tr h="183960">
                <a:tc gridSpan="2">
                  <a:txBody>
                    <a:bodyPr/>
                    <a:lstStyle/>
                    <a:p>
                      <a:pPr>
                        <a:lnSpc>
                          <a:spcPct val="115000"/>
                        </a:lnSpc>
                        <a:buNone/>
                      </a:pPr>
                      <a:r>
                        <a:rPr lang="en-GB" sz="1050" b="1" strike="noStrike" spc="-1">
                          <a:solidFill>
                            <a:srgbClr val="FFFFFF"/>
                          </a:solidFill>
                          <a:latin typeface="Arial"/>
                        </a:rPr>
                        <a:t>Input parameters ADAS – Pt. 8 Annex III</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hMerge="1">
                  <a:txBody>
                    <a:bodyPr/>
                    <a:lstStyle/>
                    <a:p>
                      <a:endParaRPr lang="de-DE"/>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183960">
                <a:tc>
                  <a:txBody>
                    <a:bodyPr/>
                    <a:lstStyle/>
                    <a:p>
                      <a:pPr>
                        <a:lnSpc>
                          <a:spcPct val="115000"/>
                        </a:lnSpc>
                        <a:buNone/>
                      </a:pPr>
                      <a:r>
                        <a:rPr lang="en-GB" sz="1050" b="1" strike="noStrike" spc="-1">
                          <a:solidFill>
                            <a:srgbClr val="FFFFFF"/>
                          </a:solidFill>
                          <a:latin typeface="Arial"/>
                        </a:rPr>
                        <a:t>Field</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Default value</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7"/>
                  </a:ext>
                </a:extLst>
              </a:tr>
              <a:tr h="250560">
                <a:tc>
                  <a:txBody>
                    <a:bodyPr/>
                    <a:lstStyle/>
                    <a:p>
                      <a:pPr>
                        <a:lnSpc>
                          <a:spcPct val="115000"/>
                        </a:lnSpc>
                        <a:buNone/>
                      </a:pPr>
                      <a:r>
                        <a:rPr lang="en-GB" sz="1050" b="1" strike="noStrike" spc="-1">
                          <a:solidFill>
                            <a:srgbClr val="FFFFFF"/>
                          </a:solidFill>
                          <a:latin typeface="Arial"/>
                        </a:rPr>
                        <a:t>EngineStartStop</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'No'</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8"/>
                  </a:ext>
                </a:extLst>
              </a:tr>
              <a:tr h="216000">
                <a:tc>
                  <a:txBody>
                    <a:bodyPr/>
                    <a:lstStyle/>
                    <a:p>
                      <a:pPr>
                        <a:lnSpc>
                          <a:spcPct val="115000"/>
                        </a:lnSpc>
                        <a:buNone/>
                      </a:pPr>
                      <a:r>
                        <a:rPr lang="en-GB" sz="1050" b="1" strike="noStrike" spc="-1">
                          <a:solidFill>
                            <a:srgbClr val="FFFFFF"/>
                          </a:solidFill>
                          <a:latin typeface="Arial"/>
                        </a:rPr>
                        <a:t>EcoRollWithoutEngineStop</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'No'</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9"/>
                  </a:ext>
                </a:extLst>
              </a:tr>
              <a:tr h="216000">
                <a:tc>
                  <a:txBody>
                    <a:bodyPr/>
                    <a:lstStyle/>
                    <a:p>
                      <a:pPr>
                        <a:lnSpc>
                          <a:spcPct val="115000"/>
                        </a:lnSpc>
                        <a:buNone/>
                      </a:pPr>
                      <a:r>
                        <a:rPr lang="en-GB" sz="1050" b="1" strike="noStrike" spc="-1">
                          <a:solidFill>
                            <a:srgbClr val="FFFFFF"/>
                          </a:solidFill>
                          <a:latin typeface="Arial"/>
                        </a:rPr>
                        <a:t>EcoRollWithEngineStop</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'No'</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10"/>
                  </a:ext>
                </a:extLst>
              </a:tr>
              <a:tr h="216000">
                <a:tc>
                  <a:txBody>
                    <a:bodyPr/>
                    <a:lstStyle/>
                    <a:p>
                      <a:pPr>
                        <a:lnSpc>
                          <a:spcPct val="115000"/>
                        </a:lnSpc>
                        <a:buNone/>
                      </a:pPr>
                      <a:r>
                        <a:rPr lang="en-GB" sz="1050" b="1" strike="noStrike" spc="-1">
                          <a:solidFill>
                            <a:srgbClr val="FFFFFF"/>
                          </a:solidFill>
                          <a:latin typeface="Arial"/>
                        </a:rPr>
                        <a:t>PredictiveCruiseControl</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lstStyle/>
                    <a:p>
                      <a:pPr>
                        <a:lnSpc>
                          <a:spcPct val="115000"/>
                        </a:lnSpc>
                        <a:buNone/>
                      </a:pPr>
                      <a:r>
                        <a:rPr lang="en-GB" sz="1050" b="0" strike="noStrike" spc="-1">
                          <a:solidFill>
                            <a:srgbClr val="000000"/>
                          </a:solidFill>
                          <a:latin typeface="Arial"/>
                        </a:rPr>
                        <a:t>'No'</a:t>
                      </a:r>
                      <a:endParaRPr lang="en-US" sz="1050" b="0" strike="noStrike" spc="-1">
                        <a:latin typeface="Arial"/>
                      </a:endParaRPr>
                    </a:p>
                  </a:txBody>
                  <a:tcPr marL="33480" marR="3348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11"/>
                  </a:ext>
                </a:extLst>
              </a:tr>
            </a:tbl>
          </a:graphicData>
        </a:graphic>
      </p:graphicFrame>
      <p:sp>
        <p:nvSpPr>
          <p:cNvPr id="331" name="Inhaltsplatzhalter 2"/>
          <p:cNvSpPr/>
          <p:nvPr/>
        </p:nvSpPr>
        <p:spPr>
          <a:xfrm>
            <a:off x="166320" y="5661360"/>
            <a:ext cx="8640360" cy="93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ea typeface="DejaVu Sans"/>
              </a:rPr>
              <a:t>Currently </a:t>
            </a:r>
            <a:r>
              <a:rPr lang="en-US" sz="1400" b="1" strike="noStrike" spc="-1">
                <a:solidFill>
                  <a:srgbClr val="000000"/>
                </a:solidFill>
                <a:latin typeface="Arial"/>
                <a:ea typeface="DejaVu Sans"/>
              </a:rPr>
              <a:t>only</a:t>
            </a:r>
            <a:r>
              <a:rPr lang="en-US" sz="1400" b="0" strike="noStrike" spc="-1">
                <a:solidFill>
                  <a:srgbClr val="000000"/>
                </a:solidFill>
                <a:latin typeface="Arial"/>
                <a:ea typeface="DejaVu Sans"/>
              </a:rPr>
              <a:t> the fuel type ‘</a:t>
            </a:r>
            <a:r>
              <a:rPr lang="en-US" sz="1400" b="1" strike="noStrike" spc="-1">
                <a:solidFill>
                  <a:srgbClr val="000000"/>
                </a:solidFill>
                <a:latin typeface="Arial"/>
                <a:ea typeface="DejaVu Sans"/>
              </a:rPr>
              <a:t>NG PI</a:t>
            </a:r>
            <a:r>
              <a:rPr lang="en-US" sz="1400" b="0" strike="noStrike" spc="-1">
                <a:solidFill>
                  <a:srgbClr val="000000"/>
                </a:solidFill>
                <a:latin typeface="Arial"/>
                <a:ea typeface="DejaVu Sans"/>
              </a:rPr>
              <a:t>’ for the </a:t>
            </a:r>
            <a:r>
              <a:rPr lang="en-US" sz="1400" b="1" strike="noStrike" spc="-1">
                <a:solidFill>
                  <a:srgbClr val="000000"/>
                </a:solidFill>
                <a:latin typeface="Arial"/>
                <a:ea typeface="DejaVu Sans"/>
              </a:rPr>
              <a:t>engine certification </a:t>
            </a:r>
            <a:r>
              <a:rPr lang="en-US" sz="1400" b="0" strike="noStrike" spc="-1">
                <a:solidFill>
                  <a:srgbClr val="000000"/>
                </a:solidFill>
                <a:latin typeface="Arial"/>
                <a:ea typeface="DejaVu Sans"/>
              </a:rPr>
              <a:t>is allowed by 2017/2400. For LNG vehicles, therefore, the engine fuel type has to be set to ‘</a:t>
            </a:r>
            <a:r>
              <a:rPr lang="en-US" sz="1400" b="1" strike="noStrike" spc="-1">
                <a:solidFill>
                  <a:srgbClr val="000000"/>
                </a:solidFill>
                <a:latin typeface="Arial"/>
                <a:ea typeface="DejaVu Sans"/>
              </a:rPr>
              <a:t>NG PI</a:t>
            </a:r>
            <a:r>
              <a:rPr lang="en-US" sz="1400" b="0" strike="noStrike" spc="-1">
                <a:solidFill>
                  <a:srgbClr val="000000"/>
                </a:solidFill>
                <a:latin typeface="Arial"/>
                <a:ea typeface="DejaVu Sans"/>
              </a:rPr>
              <a:t>’ and at the vehicle level NgTankSystem has to be set to </a:t>
            </a:r>
            <a:r>
              <a:rPr lang="en-US" sz="1400" b="1" strike="noStrike" spc="-1">
                <a:solidFill>
                  <a:srgbClr val="000000"/>
                </a:solidFill>
                <a:latin typeface="Arial"/>
                <a:ea typeface="DejaVu Sans"/>
              </a:rPr>
              <a:t>liquefied</a:t>
            </a:r>
            <a:r>
              <a:rPr lang="en-US" sz="1400" b="0" strike="noStrike" spc="-1">
                <a:solidFill>
                  <a:srgbClr val="000000"/>
                </a:solidFill>
                <a:latin typeface="Arial"/>
                <a:ea typeface="DejaVu Sans"/>
              </a:rPr>
              <a:t>. For CNG the same engine fuel type is used but NgTankSystem has to be set to </a:t>
            </a:r>
            <a:r>
              <a:rPr lang="en-US" sz="1400" b="1" strike="noStrike" spc="-1">
                <a:solidFill>
                  <a:srgbClr val="000000"/>
                </a:solidFill>
                <a:latin typeface="Arial"/>
                <a:ea typeface="DejaVu Sans"/>
              </a:rPr>
              <a:t>compressed</a:t>
            </a:r>
            <a:r>
              <a:rPr lang="en-US" sz="1400" b="0" strike="noStrike" spc="-1">
                <a:solidFill>
                  <a:srgbClr val="000000"/>
                </a:solidFill>
                <a:latin typeface="Arial"/>
                <a:ea typeface="DejaVu Sans"/>
              </a:rPr>
              <a:t>.</a:t>
            </a:r>
            <a:endParaRPr lang="en-US" sz="1400" b="0" strike="noStrike" spc="-1">
              <a:latin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3.3.1.1463 Release Candidate</a:t>
            </a:r>
            <a:br>
              <a:rPr sz="2400"/>
            </a:br>
            <a:r>
              <a:rPr lang="en-US" sz="1600" b="1" strike="noStrike" spc="-1">
                <a:solidFill>
                  <a:srgbClr val="990000"/>
                </a:solidFill>
                <a:latin typeface="Arial"/>
              </a:rPr>
              <a:t>2019-01-03</a:t>
            </a:r>
            <a:endParaRPr lang="en-US" sz="1600" b="0" strike="noStrike" spc="-1">
              <a:latin typeface="Arial"/>
            </a:endParaRPr>
          </a:p>
        </p:txBody>
      </p:sp>
      <p:sp>
        <p:nvSpPr>
          <p:cNvPr id="333" name="PlaceHolder 2"/>
          <p:cNvSpPr>
            <a:spLocks noGrp="1"/>
          </p:cNvSpPr>
          <p:nvPr>
            <p:ph/>
          </p:nvPr>
        </p:nvSpPr>
        <p:spPr>
          <a:xfrm>
            <a:off x="323640" y="1628640"/>
            <a:ext cx="8640360" cy="158328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Timetable</a:t>
            </a:r>
            <a:endParaRPr lang="en-US" sz="1800" b="0" strike="noStrike" spc="-1">
              <a:latin typeface="Arial"/>
            </a:endParaRPr>
          </a:p>
        </p:txBody>
      </p:sp>
      <p:sp>
        <p:nvSpPr>
          <p:cNvPr id="334" name="Textfeld 3"/>
          <p:cNvSpPr/>
          <p:nvPr/>
        </p:nvSpPr>
        <p:spPr>
          <a:xfrm>
            <a:off x="8142840" y="6228000"/>
            <a:ext cx="7912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cont.</a:t>
            </a:r>
            <a:endParaRPr lang="en-US" sz="1800" b="0" strike="noStrike" spc="-1">
              <a:latin typeface="Arial"/>
            </a:endParaRPr>
          </a:p>
        </p:txBody>
      </p:sp>
      <p:graphicFrame>
        <p:nvGraphicFramePr>
          <p:cNvPr id="335" name="Tabelle 5"/>
          <p:cNvGraphicFramePr/>
          <p:nvPr/>
        </p:nvGraphicFramePr>
        <p:xfrm>
          <a:off x="899640" y="2100600"/>
          <a:ext cx="7786440" cy="2763720"/>
        </p:xfrm>
        <a:graphic>
          <a:graphicData uri="http://schemas.openxmlformats.org/drawingml/2006/table">
            <a:tbl>
              <a:tblPr/>
              <a:tblGrid>
                <a:gridCol w="1800000">
                  <a:extLst>
                    <a:ext uri="{9D8B030D-6E8A-4147-A177-3AD203B41FA5}">
                      <a16:colId xmlns:a16="http://schemas.microsoft.com/office/drawing/2014/main" val="20000"/>
                    </a:ext>
                  </a:extLst>
                </a:gridCol>
                <a:gridCol w="1512000">
                  <a:extLst>
                    <a:ext uri="{9D8B030D-6E8A-4147-A177-3AD203B41FA5}">
                      <a16:colId xmlns:a16="http://schemas.microsoft.com/office/drawing/2014/main" val="20001"/>
                    </a:ext>
                  </a:extLst>
                </a:gridCol>
                <a:gridCol w="4474800">
                  <a:extLst>
                    <a:ext uri="{9D8B030D-6E8A-4147-A177-3AD203B41FA5}">
                      <a16:colId xmlns:a16="http://schemas.microsoft.com/office/drawing/2014/main" val="20002"/>
                    </a:ext>
                  </a:extLst>
                </a:gridCol>
              </a:tblGrid>
              <a:tr h="370800">
                <a:tc>
                  <a:txBody>
                    <a:bodyPr/>
                    <a:lstStyle/>
                    <a:p>
                      <a:pPr>
                        <a:lnSpc>
                          <a:spcPct val="100000"/>
                        </a:lnSpc>
                        <a:buNone/>
                      </a:pPr>
                      <a:r>
                        <a:rPr lang="en-US" sz="1800" b="1" strike="noStrike" spc="-1">
                          <a:solidFill>
                            <a:srgbClr val="FFFFFF"/>
                          </a:solidFill>
                          <a:latin typeface="Arial"/>
                        </a:rPr>
                        <a:t>Planned Date</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buNone/>
                      </a:pPr>
                      <a:r>
                        <a:rPr lang="en-US" sz="1800" b="1" strike="noStrike" spc="-1">
                          <a:solidFill>
                            <a:srgbClr val="FFFFFF"/>
                          </a:solidFill>
                          <a:latin typeface="Arial"/>
                        </a:rPr>
                        <a:t>Version</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buNone/>
                      </a:pPr>
                      <a:r>
                        <a:rPr lang="en-US" sz="1800" b="1" strike="noStrike" spc="-1">
                          <a:solidFill>
                            <a:srgbClr val="FFFFFF"/>
                          </a:solidFill>
                          <a:latin typeface="Arial"/>
                        </a:rPr>
                        <a:t>Description</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640440">
                <a:tc>
                  <a:txBody>
                    <a:bodyPr/>
                    <a:lstStyle/>
                    <a:p>
                      <a:pPr>
                        <a:lnSpc>
                          <a:spcPct val="100000"/>
                        </a:lnSpc>
                        <a:buNone/>
                      </a:pPr>
                      <a:r>
                        <a:rPr lang="en-US" sz="1800" b="0" strike="noStrike" spc="-1">
                          <a:solidFill>
                            <a:srgbClr val="000000"/>
                          </a:solidFill>
                          <a:latin typeface="Arial"/>
                        </a:rPr>
                        <a:t>1. Feb. 2019</a:t>
                      </a:r>
                      <a:endParaRPr lang="en-US"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buNone/>
                      </a:pPr>
                      <a:r>
                        <a:rPr lang="en-US" sz="1800" b="0" strike="noStrike" spc="-1">
                          <a:solidFill>
                            <a:srgbClr val="000000"/>
                          </a:solidFill>
                          <a:latin typeface="Arial"/>
                        </a:rPr>
                        <a:t>3.3.1.x</a:t>
                      </a:r>
                      <a:endParaRPr lang="en-US"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buNone/>
                      </a:pPr>
                      <a:r>
                        <a:rPr lang="en-US" sz="1800" b="0" strike="noStrike" spc="-1">
                          <a:solidFill>
                            <a:srgbClr val="000000"/>
                          </a:solidFill>
                          <a:latin typeface="Arial"/>
                        </a:rPr>
                        <a:t>Release of official version of release candidate 3.3.1.1463</a:t>
                      </a:r>
                      <a:endParaRPr lang="en-US"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r h="640440">
                <a:tc>
                  <a:txBody>
                    <a:bodyPr/>
                    <a:lstStyle/>
                    <a:p>
                      <a:pPr>
                        <a:lnSpc>
                          <a:spcPct val="100000"/>
                        </a:lnSpc>
                        <a:buNone/>
                      </a:pPr>
                      <a:r>
                        <a:rPr lang="en-US" sz="1800" b="0" strike="noStrike" spc="-1">
                          <a:solidFill>
                            <a:srgbClr val="000000"/>
                          </a:solidFill>
                          <a:latin typeface="Arial"/>
                        </a:rPr>
                        <a:t>1. March 2019</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800" b="0" strike="noStrike" spc="-1">
                          <a:solidFill>
                            <a:srgbClr val="000000"/>
                          </a:solidFill>
                          <a:latin typeface="Arial"/>
                        </a:rPr>
                        <a:t>3.3.2.x-RC</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800" b="0" strike="noStrike" spc="-1">
                          <a:solidFill>
                            <a:srgbClr val="000000"/>
                          </a:solidFill>
                          <a:latin typeface="Arial"/>
                        </a:rPr>
                        <a:t>Release candidate, new input parameters are mandatory (+ further bugfixes)</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370800">
                <a:tc>
                  <a:txBody>
                    <a:bodyPr/>
                    <a:lstStyle/>
                    <a:p>
                      <a:pPr>
                        <a:lnSpc>
                          <a:spcPct val="100000"/>
                        </a:lnSpc>
                        <a:buNone/>
                      </a:pPr>
                      <a:r>
                        <a:rPr lang="en-US" sz="1800" b="0" strike="noStrike" spc="-1">
                          <a:solidFill>
                            <a:srgbClr val="000000"/>
                          </a:solidFill>
                          <a:latin typeface="Arial"/>
                        </a:rPr>
                        <a:t>1. April 2019</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pPr>
                      <a:r>
                        <a:rPr lang="en-US" sz="1800" b="0" strike="noStrike" spc="-1">
                          <a:solidFill>
                            <a:srgbClr val="000000"/>
                          </a:solidFill>
                          <a:latin typeface="Arial"/>
                        </a:rPr>
                        <a:t>3.3.2.x</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pPr>
                      <a:r>
                        <a:rPr lang="en-US" sz="1800" b="0" strike="noStrike" spc="-1">
                          <a:solidFill>
                            <a:srgbClr val="000000"/>
                          </a:solidFill>
                          <a:latin typeface="Arial"/>
                        </a:rPr>
                        <a:t>Official version of VECTO 3.3.2</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370800">
                <a:tc>
                  <a:txBody>
                    <a:bodyPr/>
                    <a:lstStyle/>
                    <a:p>
                      <a:pPr>
                        <a:lnSpc>
                          <a:spcPct val="100000"/>
                        </a:lnSpc>
                        <a:buNone/>
                      </a:pPr>
                      <a:r>
                        <a:rPr lang="en-US" sz="1800" b="0" strike="noStrike" spc="-1">
                          <a:solidFill>
                            <a:srgbClr val="000000"/>
                          </a:solidFill>
                          <a:latin typeface="Arial"/>
                        </a:rPr>
                        <a:t>1. May 2019</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endParaRPr lang="de-DE"/>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800" b="0" strike="noStrike" spc="-1">
                          <a:solidFill>
                            <a:srgbClr val="000000"/>
                          </a:solidFill>
                          <a:latin typeface="Arial"/>
                        </a:rPr>
                        <a:t>Mandatory use of 3.3.1.x for certification</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r h="370800">
                <a:tc>
                  <a:txBody>
                    <a:bodyPr/>
                    <a:lstStyle/>
                    <a:p>
                      <a:pPr>
                        <a:lnSpc>
                          <a:spcPct val="100000"/>
                        </a:lnSpc>
                        <a:buNone/>
                      </a:pPr>
                      <a:r>
                        <a:rPr lang="en-US" sz="1800" b="0" strike="noStrike" spc="-1">
                          <a:solidFill>
                            <a:srgbClr val="000000"/>
                          </a:solidFill>
                          <a:latin typeface="Arial"/>
                        </a:rPr>
                        <a:t>1. July 2019</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endParaRPr lang="de-DE"/>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buNone/>
                      </a:pPr>
                      <a:r>
                        <a:rPr lang="en-US" sz="1800" b="0" strike="noStrike" spc="-1">
                          <a:solidFill>
                            <a:srgbClr val="000000"/>
                          </a:solidFill>
                          <a:latin typeface="Arial"/>
                        </a:rPr>
                        <a:t>Mandatory use of 3.3.2.x for certification</a:t>
                      </a:r>
                      <a:endParaRPr lang="en-US"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3.3.1.1463 Release Candidate</a:t>
            </a:r>
            <a:br>
              <a:rPr sz="2400"/>
            </a:br>
            <a:r>
              <a:rPr lang="en-US" sz="1600" b="1" strike="noStrike" spc="-1">
                <a:solidFill>
                  <a:srgbClr val="990000"/>
                </a:solidFill>
                <a:latin typeface="Arial"/>
              </a:rPr>
              <a:t>2019-01-03</a:t>
            </a:r>
            <a:endParaRPr lang="en-US" sz="1600" b="0" strike="noStrike" spc="-1">
              <a:latin typeface="Arial"/>
            </a:endParaRPr>
          </a:p>
        </p:txBody>
      </p:sp>
      <p:sp>
        <p:nvSpPr>
          <p:cNvPr id="33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Changes/Improvements</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[VECTO-799] - Remove TUG Logos from Simulation Tool, Hashing Tool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[VECTO-808] - Add Monitoring Report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[VECTO-754] - Extending Loss-Maps in case of AT gearbox for each gear, axlegear, gearbox </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[VECTO-757] - Correct contact mail address in Hashing Tool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[VECTO-779] - Update Construction Cycle - shorter stop times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[VECTO-783] - Rename columns in segmentation table and GUI</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[VECTO-709] - VTP editor from user manual not matching new VECTO one: updated documentation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[VECTO-785] - Handling of Vehicles that cannot reach the cycle's target speed: Limit max speed in driver model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[VECTO-716] - Validate data in Settings Tab: update documentation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[VECTO-793] - Inconsistency between GUI, Help and Regulation: update wording in GUI and user manual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[VECTO-796] - Adaptation of FuelProperties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[VECTO-806] - extend loss-maps (gbx, axl, angl) for MT and AMT transmissions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[VECTO-750] - Simulation error DrivingAction: adapt downshift rules for AT to drive over hill with 6% inclination</a:t>
            </a:r>
            <a:endParaRPr lang="en-US" sz="1400" b="0" strike="noStrike" spc="-1">
              <a:latin typeface="Arial"/>
            </a:endParaRPr>
          </a:p>
          <a:p>
            <a:pPr>
              <a:lnSpc>
                <a:spcPct val="100000"/>
              </a:lnSpc>
              <a:spcBef>
                <a:spcPts val="320"/>
              </a:spcBef>
              <a:buNone/>
              <a:tabLst>
                <a:tab pos="1886040" algn="l"/>
              </a:tabLst>
            </a:pPr>
            <a:endParaRPr lang="en-US" sz="1600" b="0" strike="noStrike" spc="-1">
              <a:latin typeface="Arial"/>
            </a:endParaRPr>
          </a:p>
        </p:txBody>
      </p:sp>
      <p:sp>
        <p:nvSpPr>
          <p:cNvPr id="338" name="Textfeld 3"/>
          <p:cNvSpPr/>
          <p:nvPr/>
        </p:nvSpPr>
        <p:spPr>
          <a:xfrm>
            <a:off x="8142840" y="6228000"/>
            <a:ext cx="7912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cont.</a:t>
            </a:r>
            <a:endParaRPr lang="en-US" sz="1800" b="0" strike="noStrike" spc="-1">
              <a:latin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3.3.1.1463 Release Candidate</a:t>
            </a:r>
            <a:br>
              <a:rPr sz="2400"/>
            </a:br>
            <a:r>
              <a:rPr lang="en-US" sz="1600" b="1" strike="noStrike" spc="-1">
                <a:solidFill>
                  <a:srgbClr val="990000"/>
                </a:solidFill>
                <a:latin typeface="Arial"/>
              </a:rPr>
              <a:t>2019-01-03</a:t>
            </a:r>
            <a:endParaRPr lang="en-US" sz="1600" b="0" strike="noStrike" spc="-1">
              <a:latin typeface="Arial"/>
            </a:endParaRPr>
          </a:p>
        </p:txBody>
      </p:sp>
      <p:sp>
        <p:nvSpPr>
          <p:cNvPr id="340" name="PlaceHolder 2"/>
          <p:cNvSpPr>
            <a:spLocks noGrp="1"/>
          </p:cNvSpPr>
          <p:nvPr>
            <p:ph/>
          </p:nvPr>
        </p:nvSpPr>
        <p:spPr>
          <a:xfrm>
            <a:off x="323640" y="1628640"/>
            <a:ext cx="8640360" cy="50328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Update of Fuel Properties [VECTO-796]</a:t>
            </a:r>
            <a:endParaRPr lang="en-US" sz="1800" b="0" strike="noStrike" spc="-1">
              <a:latin typeface="Arial"/>
            </a:endParaRPr>
          </a:p>
        </p:txBody>
      </p:sp>
      <p:sp>
        <p:nvSpPr>
          <p:cNvPr id="341" name="Textfeld 3"/>
          <p:cNvSpPr/>
          <p:nvPr/>
        </p:nvSpPr>
        <p:spPr>
          <a:xfrm>
            <a:off x="8142840" y="6228000"/>
            <a:ext cx="7912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cont.</a:t>
            </a:r>
            <a:endParaRPr lang="en-US" sz="1800" b="0" strike="noStrike" spc="-1">
              <a:latin typeface="Arial"/>
            </a:endParaRPr>
          </a:p>
        </p:txBody>
      </p:sp>
      <p:graphicFrame>
        <p:nvGraphicFramePr>
          <p:cNvPr id="342" name="Tabelle 4"/>
          <p:cNvGraphicFramePr/>
          <p:nvPr/>
        </p:nvGraphicFramePr>
        <p:xfrm>
          <a:off x="468360" y="2606400"/>
          <a:ext cx="8217720" cy="2148840"/>
        </p:xfrm>
        <a:graphic>
          <a:graphicData uri="http://schemas.openxmlformats.org/drawingml/2006/table">
            <a:tbl>
              <a:tblPr/>
              <a:tblGrid>
                <a:gridCol w="947160">
                  <a:extLst>
                    <a:ext uri="{9D8B030D-6E8A-4147-A177-3AD203B41FA5}">
                      <a16:colId xmlns:a16="http://schemas.microsoft.com/office/drawing/2014/main" val="20000"/>
                    </a:ext>
                  </a:extLst>
                </a:gridCol>
                <a:gridCol w="1369440">
                  <a:extLst>
                    <a:ext uri="{9D8B030D-6E8A-4147-A177-3AD203B41FA5}">
                      <a16:colId xmlns:a16="http://schemas.microsoft.com/office/drawing/2014/main" val="20001"/>
                    </a:ext>
                  </a:extLst>
                </a:gridCol>
                <a:gridCol w="947160">
                  <a:extLst>
                    <a:ext uri="{9D8B030D-6E8A-4147-A177-3AD203B41FA5}">
                      <a16:colId xmlns:a16="http://schemas.microsoft.com/office/drawing/2014/main" val="20002"/>
                    </a:ext>
                  </a:extLst>
                </a:gridCol>
                <a:gridCol w="947160">
                  <a:extLst>
                    <a:ext uri="{9D8B030D-6E8A-4147-A177-3AD203B41FA5}">
                      <a16:colId xmlns:a16="http://schemas.microsoft.com/office/drawing/2014/main" val="20003"/>
                    </a:ext>
                  </a:extLst>
                </a:gridCol>
                <a:gridCol w="947160">
                  <a:extLst>
                    <a:ext uri="{9D8B030D-6E8A-4147-A177-3AD203B41FA5}">
                      <a16:colId xmlns:a16="http://schemas.microsoft.com/office/drawing/2014/main" val="20004"/>
                    </a:ext>
                  </a:extLst>
                </a:gridCol>
                <a:gridCol w="3060000">
                  <a:extLst>
                    <a:ext uri="{9D8B030D-6E8A-4147-A177-3AD203B41FA5}">
                      <a16:colId xmlns:a16="http://schemas.microsoft.com/office/drawing/2014/main" val="20005"/>
                    </a:ext>
                  </a:extLst>
                </a:gridCol>
              </a:tblGrid>
              <a:tr h="342360">
                <a:tc>
                  <a:txBody>
                    <a:bodyPr/>
                    <a:lstStyle/>
                    <a:p>
                      <a:pPr algn="ctr">
                        <a:lnSpc>
                          <a:spcPct val="100000"/>
                        </a:lnSpc>
                        <a:buNone/>
                      </a:pPr>
                      <a:r>
                        <a:rPr lang="de-AT" sz="1000" b="0" strike="noStrike" spc="-1">
                          <a:solidFill>
                            <a:srgbClr val="000000"/>
                          </a:solidFill>
                          <a:latin typeface="Arial"/>
                        </a:rPr>
                        <a:t>Fuel type</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Reference for fuel properties</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Density</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CO2 emission factor</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Lower Heating Value</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Data Source</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0"/>
                  </a:ext>
                </a:extLst>
              </a:tr>
              <a:tr h="171000">
                <a:tc>
                  <a:txBody>
                    <a:bodyPr/>
                    <a:lstStyle/>
                    <a:p>
                      <a:pPr algn="ctr">
                        <a:lnSpc>
                          <a:spcPct val="100000"/>
                        </a:lnSpc>
                        <a:buNone/>
                      </a:pPr>
                      <a:r>
                        <a:rPr lang="de-AT" sz="1000" b="0" strike="noStrike" spc="-1">
                          <a:solidFill>
                            <a:srgbClr val="000000"/>
                          </a:solidFill>
                          <a:latin typeface="Arial"/>
                        </a:rPr>
                        <a:t>[-]</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[kg/m³]</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[g_CO2/g_Fuel]</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[MJ/kg]</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1"/>
                  </a:ext>
                </a:extLst>
              </a:tr>
              <a:tr h="171000">
                <a:tc>
                  <a:txBody>
                    <a:bodyPr/>
                    <a:lstStyle/>
                    <a:p>
                      <a:pPr>
                        <a:lnSpc>
                          <a:spcPct val="100000"/>
                        </a:lnSpc>
                        <a:buNone/>
                      </a:pPr>
                      <a:r>
                        <a:rPr lang="de-AT" sz="1000" b="0" strike="noStrike" spc="-1">
                          <a:solidFill>
                            <a:srgbClr val="000000"/>
                          </a:solidFill>
                          <a:latin typeface="Arial"/>
                        </a:rPr>
                        <a:t>Diesel</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B7</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836</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3.13</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42.7</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de-AT" sz="1000" b="0" strike="noStrike" spc="-1">
                          <a:solidFill>
                            <a:srgbClr val="000000"/>
                          </a:solidFill>
                          <a:latin typeface="Arial"/>
                        </a:rPr>
                        <a:t>CONCAWE/JEC (2018) </a:t>
                      </a:r>
                      <a:endParaRPr lang="en-US" sz="10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171000">
                <a:tc>
                  <a:txBody>
                    <a:bodyPr/>
                    <a:lstStyle/>
                    <a:p>
                      <a:pPr>
                        <a:lnSpc>
                          <a:spcPct val="100000"/>
                        </a:lnSpc>
                        <a:buNone/>
                      </a:pPr>
                      <a:r>
                        <a:rPr lang="de-AT" sz="1000" b="0" strike="noStrike" spc="-1">
                          <a:solidFill>
                            <a:srgbClr val="000000"/>
                          </a:solidFill>
                          <a:latin typeface="Arial"/>
                        </a:rPr>
                        <a:t>ED95</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ED95</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820</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1.81</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25.4</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de-AT" sz="1000" b="0" strike="noStrike" spc="-1">
                          <a:solidFill>
                            <a:srgbClr val="000000"/>
                          </a:solidFill>
                          <a:latin typeface="Arial"/>
                        </a:rPr>
                        <a:t>CONCAWE/JEC (2018)</a:t>
                      </a:r>
                      <a:endParaRPr lang="en-US" sz="10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3"/>
                  </a:ext>
                </a:extLst>
              </a:tr>
              <a:tr h="171000">
                <a:tc>
                  <a:txBody>
                    <a:bodyPr/>
                    <a:lstStyle/>
                    <a:p>
                      <a:pPr>
                        <a:lnSpc>
                          <a:spcPct val="100000"/>
                        </a:lnSpc>
                        <a:buNone/>
                      </a:pPr>
                      <a:r>
                        <a:rPr lang="de-AT" sz="1000" b="0" strike="noStrike" spc="-1">
                          <a:solidFill>
                            <a:srgbClr val="000000"/>
                          </a:solidFill>
                          <a:latin typeface="Arial"/>
                        </a:rPr>
                        <a:t>Petrol</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E10</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748</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3.04</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41.5</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de-AT" sz="1000" b="0" strike="noStrike" spc="-1">
                          <a:solidFill>
                            <a:srgbClr val="000000"/>
                          </a:solidFill>
                          <a:latin typeface="Arial"/>
                        </a:rPr>
                        <a:t>CONCAWE/JEC (2018)</a:t>
                      </a:r>
                      <a:endParaRPr lang="en-US" sz="10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r h="304920">
                <a:tc>
                  <a:txBody>
                    <a:bodyPr/>
                    <a:lstStyle/>
                    <a:p>
                      <a:pPr>
                        <a:lnSpc>
                          <a:spcPct val="100000"/>
                        </a:lnSpc>
                        <a:buNone/>
                      </a:pPr>
                      <a:r>
                        <a:rPr lang="de-AT" sz="1000" b="0" strike="noStrike" spc="-1">
                          <a:solidFill>
                            <a:srgbClr val="000000"/>
                          </a:solidFill>
                          <a:latin typeface="Arial"/>
                        </a:rPr>
                        <a:t>E85</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E85</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786</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2.10</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29.3</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en-US" sz="1000" b="0" strike="noStrike" spc="-1">
                          <a:solidFill>
                            <a:srgbClr val="000000"/>
                          </a:solidFill>
                          <a:latin typeface="Arial"/>
                        </a:rPr>
                        <a:t>Calculated from E0 and E100  from CONCAWE/JEC (2018)</a:t>
                      </a:r>
                      <a:endParaRPr lang="en-US" sz="10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5"/>
                  </a:ext>
                </a:extLst>
              </a:tr>
              <a:tr h="171000">
                <a:tc>
                  <a:txBody>
                    <a:bodyPr/>
                    <a:lstStyle/>
                    <a:p>
                      <a:pPr>
                        <a:lnSpc>
                          <a:spcPct val="100000"/>
                        </a:lnSpc>
                        <a:buNone/>
                      </a:pPr>
                      <a:r>
                        <a:rPr lang="de-AT" sz="1000" b="0" strike="noStrike" spc="-1">
                          <a:solidFill>
                            <a:srgbClr val="000000"/>
                          </a:solidFill>
                          <a:latin typeface="Arial"/>
                        </a:rPr>
                        <a:t>LPG</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LPG</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not required*</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3.02</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46.0</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de-AT" sz="1000" b="0" strike="noStrike" spc="-1">
                          <a:solidFill>
                            <a:srgbClr val="000000"/>
                          </a:solidFill>
                          <a:latin typeface="Arial"/>
                        </a:rPr>
                        <a:t>CONCAWE/JEC (2018)</a:t>
                      </a:r>
                      <a:endParaRPr lang="en-US" sz="10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6"/>
                  </a:ext>
                </a:extLst>
              </a:tr>
              <a:tr h="171000">
                <a:tc>
                  <a:txBody>
                    <a:bodyPr/>
                    <a:lstStyle/>
                    <a:p>
                      <a:pPr>
                        <a:lnSpc>
                          <a:spcPct val="100000"/>
                        </a:lnSpc>
                        <a:buNone/>
                      </a:pPr>
                      <a:r>
                        <a:rPr lang="de-AT" sz="1000" b="0" strike="noStrike" spc="-1">
                          <a:solidFill>
                            <a:srgbClr val="000000"/>
                          </a:solidFill>
                          <a:latin typeface="Arial"/>
                        </a:rPr>
                        <a:t>CNG</a:t>
                      </a:r>
                      <a:endParaRPr lang="en-US" sz="10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CNG (H-Gas)</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not required*</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2.69</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48.0</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de-AT" sz="1000" b="0" strike="noStrike" spc="-1">
                          <a:solidFill>
                            <a:srgbClr val="000000"/>
                          </a:solidFill>
                          <a:latin typeface="Arial"/>
                        </a:rPr>
                        <a:t>CONCAWE/JEC (2018)</a:t>
                      </a:r>
                      <a:endParaRPr lang="en-US" sz="10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7"/>
                  </a:ext>
                </a:extLst>
              </a:tr>
              <a:tr h="304920">
                <a:tc>
                  <a:txBody>
                    <a:bodyPr/>
                    <a:lstStyle/>
                    <a:p>
                      <a:pPr>
                        <a:lnSpc>
                          <a:spcPct val="100000"/>
                        </a:lnSpc>
                        <a:buNone/>
                      </a:pPr>
                      <a:r>
                        <a:rPr lang="de-AT" sz="1000" b="0" strike="noStrike" spc="-1">
                          <a:solidFill>
                            <a:srgbClr val="000000"/>
                          </a:solidFill>
                          <a:latin typeface="Arial"/>
                        </a:rPr>
                        <a:t>LNG</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LNG (EU mix. 2016/2030)</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not required*</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2.77</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gn="ctr">
                        <a:lnSpc>
                          <a:spcPct val="100000"/>
                        </a:lnSpc>
                        <a:buNone/>
                      </a:pPr>
                      <a:r>
                        <a:rPr lang="de-AT" sz="1000" b="0" strike="noStrike" spc="-1">
                          <a:solidFill>
                            <a:srgbClr val="000000"/>
                          </a:solidFill>
                          <a:latin typeface="Arial"/>
                        </a:rPr>
                        <a:t>49.1</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de-AT" sz="1000" b="0" strike="noStrike" spc="-1">
                          <a:solidFill>
                            <a:srgbClr val="000000"/>
                          </a:solidFill>
                          <a:latin typeface="Arial"/>
                        </a:rPr>
                        <a:t>CONCAWE/JEC (2018)</a:t>
                      </a:r>
                      <a:endParaRPr lang="en-US" sz="10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8"/>
                  </a:ext>
                </a:extLst>
              </a:tr>
              <a:tr h="171000">
                <a:tc gridSpan="4">
                  <a:txBody>
                    <a:bodyPr/>
                    <a:lstStyle/>
                    <a:p>
                      <a:pPr>
                        <a:lnSpc>
                          <a:spcPct val="100000"/>
                        </a:lnSpc>
                        <a:buNone/>
                      </a:pPr>
                      <a:r>
                        <a:rPr lang="en-US" sz="1000" b="0" strike="noStrike" spc="-1">
                          <a:solidFill>
                            <a:srgbClr val="000000"/>
                          </a:solidFill>
                          <a:latin typeface="Arial"/>
                        </a:rPr>
                        <a:t>* VECTO does not provide volume based figures for gaseous fuels</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hMerge="1">
                  <a:txBody>
                    <a:bodyPr/>
                    <a:lstStyle/>
                    <a:p>
                      <a:endParaRPr lang="de-DE"/>
                    </a:p>
                  </a:txBody>
                  <a:tcPr marL="90000" marR="90000">
                    <a:lnL>
                      <a:noFill/>
                    </a:lnL>
                    <a:lnR>
                      <a:noFill/>
                    </a:lnR>
                    <a:lnT>
                      <a:noFill/>
                    </a:lnT>
                    <a:lnB>
                      <a:noFill/>
                    </a:lnB>
                    <a:solidFill>
                      <a:srgbClr val="729FCF"/>
                    </a:solidFill>
                  </a:tcPr>
                </a:tc>
                <a:tc hMerge="1">
                  <a:txBody>
                    <a:bodyPr/>
                    <a:lstStyle/>
                    <a:p>
                      <a:endParaRPr lang="de-DE"/>
                    </a:p>
                  </a:txBody>
                  <a:tcPr marL="90000" marR="90000">
                    <a:lnL>
                      <a:noFill/>
                    </a:lnL>
                    <a:lnR>
                      <a:noFill/>
                    </a:lnR>
                    <a:lnT>
                      <a:noFill/>
                    </a:lnT>
                    <a:lnB>
                      <a:noFill/>
                    </a:lnB>
                    <a:solidFill>
                      <a:srgbClr val="729FCF"/>
                    </a:solidFill>
                  </a:tcPr>
                </a:tc>
                <a:tc hMerge="1">
                  <a:txBody>
                    <a:bodyPr/>
                    <a:lstStyle/>
                    <a:p>
                      <a:endParaRPr lang="de-DE"/>
                    </a:p>
                  </a:txBody>
                  <a:tcPr marL="90000" marR="90000">
                    <a:lnL>
                      <a:noFill/>
                    </a:lnL>
                    <a:lnR>
                      <a:noFill/>
                    </a:lnR>
                    <a:lnT>
                      <a:noFill/>
                    </a:lnT>
                    <a:lnB>
                      <a:noFill/>
                    </a:lnB>
                    <a:solidFill>
                      <a:srgbClr val="729FCF"/>
                    </a:solidFill>
                  </a:tcPr>
                </a:tc>
                <a:tc>
                  <a:txBody>
                    <a:bodyPr/>
                    <a:lstStyle/>
                    <a:p>
                      <a:pPr>
                        <a:lnSpc>
                          <a:spcPct val="100000"/>
                        </a:lnSpc>
                        <a:buNone/>
                      </a:pPr>
                      <a:r>
                        <a:rPr lang="de-AT" sz="1000" b="0" strike="noStrike" spc="-1">
                          <a:solidFill>
                            <a:srgbClr val="000000"/>
                          </a:solidFill>
                          <a:latin typeface="Arial"/>
                        </a:rPr>
                        <a:t> </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buNone/>
                      </a:pPr>
                      <a:r>
                        <a:rPr lang="de-AT" sz="1000" b="0" strike="noStrike" spc="-1">
                          <a:solidFill>
                            <a:srgbClr val="000000"/>
                          </a:solidFill>
                          <a:latin typeface="Arial"/>
                        </a:rPr>
                        <a:t> </a:t>
                      </a:r>
                      <a:endParaRPr lang="en-US" sz="1000" b="0" strike="noStrike" spc="-1">
                        <a:latin typeface="Arial"/>
                      </a:endParaRPr>
                    </a:p>
                  </a:txBody>
                  <a:tcPr anchor="b">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9"/>
                  </a:ext>
                </a:extLst>
              </a:tr>
            </a:tbl>
          </a:graphicData>
        </a:graphic>
      </p:graphicFrame>
      <p:sp>
        <p:nvSpPr>
          <p:cNvPr id="343" name="Rectangle 3"/>
          <p:cNvSpPr/>
          <p:nvPr/>
        </p:nvSpPr>
        <p:spPr>
          <a:xfrm>
            <a:off x="396000" y="5153040"/>
            <a:ext cx="8142120" cy="570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marL="357120" indent="-357120">
              <a:lnSpc>
                <a:spcPct val="100000"/>
              </a:lnSpc>
              <a:buNone/>
              <a:tabLst>
                <a:tab pos="0" algn="l"/>
              </a:tabLst>
            </a:pPr>
            <a:r>
              <a:rPr lang="de-AT" sz="1050" b="0" strike="noStrike" spc="-1">
                <a:solidFill>
                  <a:srgbClr val="000000"/>
                </a:solidFill>
                <a:latin typeface="Arial"/>
                <a:ea typeface="DejaVu Sans"/>
              </a:rPr>
              <a:t>CONCAWE/JEC (2018): </a:t>
            </a:r>
            <a:r>
              <a:rPr lang="en-GB" sz="1050" b="0" strike="noStrike" spc="-1">
                <a:solidFill>
                  <a:srgbClr val="000000"/>
                </a:solidFill>
                <a:latin typeface="Arial"/>
                <a:ea typeface="DejaVu Sans"/>
              </a:rPr>
              <a:t>Specifications are based on a recent analysis (2018) performed by CONCAWE/EUCAR and shall reflect typical fuel on the European market. The data is scheduled to be published in March 2019 in the context of the study: </a:t>
            </a:r>
            <a:br>
              <a:rPr sz="1050"/>
            </a:br>
            <a:r>
              <a:rPr lang="en-GB" sz="1050" b="0" strike="noStrike" spc="-1">
                <a:solidFill>
                  <a:srgbClr val="000000"/>
                </a:solidFill>
                <a:latin typeface="Arial"/>
                <a:ea typeface="DejaVu Sans"/>
              </a:rPr>
              <a:t>Well-To-Wheels Analysis Of Future Automotive Fuels And Powertrains in the European Context – Heavy Duty vehicles</a:t>
            </a:r>
            <a:endParaRPr lang="en-US" sz="1050" b="0" strike="noStrike" spc="-1">
              <a:latin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3.3.1.1463 Release Candidate</a:t>
            </a:r>
            <a:br>
              <a:rPr sz="2400"/>
            </a:br>
            <a:r>
              <a:rPr lang="en-US" sz="1600" b="1" strike="noStrike" spc="-1">
                <a:solidFill>
                  <a:srgbClr val="990000"/>
                </a:solidFill>
                <a:latin typeface="Arial"/>
              </a:rPr>
              <a:t>2019-01-03</a:t>
            </a:r>
            <a:endParaRPr lang="en-US" sz="1600" b="0" strike="noStrike" spc="-1">
              <a:latin typeface="Arial"/>
            </a:endParaRPr>
          </a:p>
        </p:txBody>
      </p:sp>
      <p:sp>
        <p:nvSpPr>
          <p:cNvPr id="34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[VECTO-819] - object reference not set to an instance of an object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[VECTO-818] - SearchOperatingPoint: Unknown response type. ResponseOverload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[VECTO-813] - Error "Infinity [] is not allowed for SI-Value"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[VECTO-769] - DrivingAction Brake: request failed after braking power was found.ResponseEngineSpeedTooHigh</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[VECTO-804] - Error on simulation with VECTO 3.3.0.1433</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[VECTO-805] - Total vehicle mass exceeds TPMLM</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[VECTO-811] - AMT: ResponseGearShift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[VECTO-812] - AMT: ResponseOverload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[VECTO-822] - SIMULATION RUN ABORTED by Infinity</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[VECTO-792] - Vecto Hashing Tool - error object reference not set to an instance of an object (overwriting Date element)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[VECTO-696] - Problem with Primary Retarder: regression update, set torque loss to 0 for 0 speed and engaged gear</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[VECTO-776] - Decision Factor (DF)  field is emptied after each simulation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[VECTO-814] - Error: DistanceRun got an unexpected response: ResponseGearshift</a:t>
            </a:r>
            <a:endParaRPr lang="en-US" sz="1400" b="0" strike="noStrike" spc="-1">
              <a:latin typeface="Arial"/>
            </a:endParaRPr>
          </a:p>
          <a:p>
            <a:pPr>
              <a:lnSpc>
                <a:spcPct val="100000"/>
              </a:lnSpc>
              <a:buNone/>
              <a:tabLst>
                <a:tab pos="1886040" algn="l"/>
              </a:tabLst>
            </a:pPr>
            <a:endParaRPr lang="en-US" sz="1400" b="0" strike="noStrike" spc="-1">
              <a:latin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3.3.0.1433 Official Release</a:t>
            </a:r>
            <a:br>
              <a:rPr sz="2400"/>
            </a:br>
            <a:r>
              <a:rPr lang="en-US" sz="1600" b="1" strike="noStrike" spc="-1">
                <a:solidFill>
                  <a:srgbClr val="990000"/>
                </a:solidFill>
                <a:latin typeface="Arial"/>
              </a:rPr>
              <a:t>2018-12-04</a:t>
            </a:r>
            <a:endParaRPr lang="en-US" sz="1600" b="0" strike="noStrike" spc="-1">
              <a:latin typeface="Arial"/>
            </a:endParaRPr>
          </a:p>
        </p:txBody>
      </p:sp>
      <p:sp>
        <p:nvSpPr>
          <p:cNvPr id="34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(compared to 3.3.0.1398)</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[VECTO-795] – VECTO Hashing Tool crashes</a:t>
            </a:r>
            <a:endParaRPr lang="en-US" sz="16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0" strike="noStrike" spc="-1">
                <a:solidFill>
                  <a:srgbClr val="000000"/>
                </a:solidFill>
                <a:latin typeface="Arial"/>
              </a:rPr>
              <a:t>[VECTO-802] – Error in XML schema for manufacturer's record file</a:t>
            </a:r>
            <a:endParaRPr lang="en-US" sz="16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 (compared to 3.3.0.1250)</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[VECTO-723] - Simulation aborts with engine speed too high in RD cycle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[VECTO-724] - Simulation aborts with error 'EngineSpeedTooHigh' - duplicate of VECTO-744</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[VECTO-728] - Simulation aborts when vehicle's max speed (n95h) is below the target speed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[VECTO-730] - Simulation Aborts with ResponseOverload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[VECTO-744] - ResponseEngineSpeedTooHigh (due to torque limits in gearbox)</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[VECTO-731] - Case Mismatch - Torque Converter</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[VECTO-711] - Elements without types in CIF and MRF</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[VECTO-757] - Correct contact mail address in Hashing Tool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[VECTO-703] - PTO output in MRF file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[VECTO-713] - Manufacturer Information File in the legislation is not compatible with the Simulation results</a:t>
            </a:r>
            <a:endParaRPr lang="en-US" sz="14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 (compared to 3.3.0.1250)</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[VECTO-704] - Allow VTP-simulations for AT gearboxes</a:t>
            </a:r>
            <a:endParaRPr lang="en-US" sz="1400" b="0" strike="noStrike" spc="-1">
              <a:latin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3.3.0.1398 Release Candiate</a:t>
            </a:r>
            <a:br>
              <a:rPr sz="2400"/>
            </a:br>
            <a:r>
              <a:rPr lang="en-US" sz="1600" b="1" strike="noStrike" spc="-1">
                <a:solidFill>
                  <a:srgbClr val="990000"/>
                </a:solidFill>
                <a:latin typeface="Arial"/>
              </a:rPr>
              <a:t>2018-10-30</a:t>
            </a:r>
            <a:endParaRPr lang="en-US" sz="1600" b="0" strike="noStrike" spc="-1">
              <a:latin typeface="Arial"/>
            </a:endParaRPr>
          </a:p>
        </p:txBody>
      </p:sp>
      <p:sp>
        <p:nvSpPr>
          <p:cNvPr id="349"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[VECTO-723] - Simulation aborts with engine speed too high in RD cycle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[VECTO-724] - Simulation aborts with error 'EngineSpeedTooHigh' - duplicate of VECTO-744</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[VECTO-728] - Simulation aborts when vehicle's max speed (n95h) is below the target speed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[VECTO-730] - Simulation Aborts with ResponseOverload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[VECTO-744] - ResponseEngineSpeedTooHigh (due to torque limits in gearbox)</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[VECTO-731] - Case Mismatch - Torque Converter</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[VECTO-711] - Elements without types in CIF and MRF</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[VECTO-757] - Correct contact mail address in Hashing Tool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[VECTO-703] - PTO output in MRF file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[VECTO-713] - Manufacturer Information File in the legislation is not compatible with the Simulation results</a:t>
            </a:r>
            <a:endParaRPr lang="en-US" sz="14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[VECTO-704] - Allow VTP-simulations for AT gearboxes</a:t>
            </a:r>
            <a:endParaRPr lang="en-US" sz="1400" b="0" strike="noStrike" spc="-1">
              <a:latin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3.3.0.1250</a:t>
            </a:r>
            <a:br>
              <a:rPr sz="2400"/>
            </a:br>
            <a:r>
              <a:rPr lang="en-US" sz="1600" b="1" strike="noStrike" spc="-1">
                <a:solidFill>
                  <a:srgbClr val="990000"/>
                </a:solidFill>
                <a:latin typeface="Arial"/>
              </a:rPr>
              <a:t>2018-06-04</a:t>
            </a:r>
            <a:endParaRPr lang="en-US" sz="1600" b="0" strike="noStrike" spc="-1">
              <a:latin typeface="Arial"/>
            </a:endParaRPr>
          </a:p>
        </p:txBody>
      </p:sp>
      <p:sp>
        <p:nvSpPr>
          <p:cNvPr id="351"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[VECTO-665] - Adding style information to XML Reports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[VECTO-669] - Group 1 vehicle comprises vehicles with gross vehicle weight &gt; 7.5t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[VECTO-672] - Keep manual choice for "Validate data"</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[VECTO-682] - VTP Simulation in declaration mode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[VECTO-652] - VTP: Check Cycle matches simulation mode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[VECTO-683] - VTP: Quality and plausibility checks for recorded data from VTP</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[VECTO-685] - VTP Programming of standard VECTO VTP report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[VECTO-689] - Additional Tyre sizes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[VECTO-702] - Hashing tool: adapt warnings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[VECTO-667] - Removing NCV Correction Factor</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[VECTO-679] - Engine n95h computation gives wrong (too high) engine speed (above measured FLD, n70h)</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[VECTO-693] - extend vehicle performance in manufacturer record</a:t>
            </a:r>
            <a:endParaRPr lang="en-US" sz="1400" b="0" strike="noStrike" spc="-1">
              <a:latin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3.3.0.1250</a:t>
            </a:r>
            <a:br>
              <a:rPr sz="2400"/>
            </a:br>
            <a:r>
              <a:rPr lang="en-US" sz="1600" b="1" strike="noStrike" spc="-1">
                <a:solidFill>
                  <a:srgbClr val="990000"/>
                </a:solidFill>
                <a:latin typeface="Arial"/>
              </a:rPr>
              <a:t>2018-06-04</a:t>
            </a:r>
            <a:endParaRPr lang="en-US" sz="1600" b="0" strike="noStrike" spc="-1">
              <a:latin typeface="Arial"/>
            </a:endParaRPr>
          </a:p>
        </p:txBody>
      </p:sp>
      <p:sp>
        <p:nvSpPr>
          <p:cNvPr id="353"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[VECTO-656] - Distance computation in vsum</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[VECTO-666] - CF_RegPer no effect in vehicle simulation -- added to the engine correction factors</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[VECTO-687] - Saving a Engine-Only Job is not possible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[VECTO-695] - Bug in vectocmd.exe - process does not terminate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[VECTO-699] - Output in manufacturer report and customer report (VECTO) uses different units than described in legislation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[VECTO-700] - errorr in simulation with 0 stop time at the beginning of the cycle </a:t>
            </a:r>
            <a:endParaRPr lang="en-US" sz="1400" b="0" strike="noStrike" spc="-1">
              <a:latin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3.2.1.1133</a:t>
            </a:r>
            <a:br>
              <a:rPr sz="2400"/>
            </a:br>
            <a:r>
              <a:rPr lang="en-US" sz="1600" b="1" strike="noStrike" spc="-1">
                <a:solidFill>
                  <a:srgbClr val="990000"/>
                </a:solidFill>
                <a:latin typeface="Arial"/>
              </a:rPr>
              <a:t>2018-02-07</a:t>
            </a:r>
            <a:endParaRPr lang="en-US" sz="1600" b="0" strike="noStrike" spc="-1">
              <a:latin typeface="Arial"/>
            </a:endParaRPr>
          </a:p>
        </p:txBody>
      </p:sp>
      <p:sp>
        <p:nvSpPr>
          <p:cNvPr id="35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Improvement</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[VECTO-634] - VTP Mode: specific fuel consumption</a:t>
            </a:r>
            <a:endParaRPr lang="en-US" sz="14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[VECTO-642] - VECTO BUG – secondary retarder losses: </a:t>
            </a:r>
            <a:br>
              <a:rPr sz="1400"/>
            </a:br>
            <a:r>
              <a:rPr lang="en-US" sz="1400" b="1" strike="noStrike" spc="-1">
                <a:solidFill>
                  <a:srgbClr val="000000"/>
                </a:solidFill>
                <a:latin typeface="Arial"/>
              </a:rPr>
              <a:t>IMPORTANT:</a:t>
            </a:r>
            <a:r>
              <a:rPr lang="en-US" sz="1400" b="0" strike="noStrike" spc="-1">
                <a:solidFill>
                  <a:srgbClr val="000000"/>
                </a:solidFill>
                <a:latin typeface="Arial"/>
              </a:rPr>
              <a:t> Fuel-consumption relevant bug! wrong calculation of retarder losses for retarder ratio not equal to 1</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[VECTO-624] - Crash w/o comment: Infinite recursion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[VECTO-627] - Cannot open Engine-Only Job</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[VECTO-629] - Vecto crashes without errror message (same issue as VECTO-624)</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[VECTO-639] - Failed to find operating point for braking power: cycle with low target speed (3km/h). allow driving with slipping clutch</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[VECTO-640] - Exceeded max. iterations: driving fully-loaded vehicle steep uphill. fixed by allowing full-stop and drive off again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[VECTO-633] - unable to start VTP Mode simulation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[VECTO-645] - Encountered error while validating Vecto output (generated by API) through Hashing tool for vehicle without retarder</a:t>
            </a:r>
            <a:endParaRPr lang="en-US" sz="1400" b="0" strike="noStrike" spc="-1">
              <a:latin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3.2.1.1079</a:t>
            </a:r>
            <a:br>
              <a:rPr sz="2400"/>
            </a:br>
            <a:r>
              <a:rPr lang="en-US" sz="1600" b="1" strike="noStrike" spc="-1">
                <a:solidFill>
                  <a:srgbClr val="990000"/>
                </a:solidFill>
                <a:latin typeface="Arial"/>
              </a:rPr>
              <a:t>2017-12-15</a:t>
            </a:r>
            <a:endParaRPr lang="en-US" sz="1600" b="0" strike="noStrike" spc="-1">
              <a:latin typeface="Arial"/>
            </a:endParaRPr>
          </a:p>
        </p:txBody>
      </p:sp>
      <p:sp>
        <p:nvSpPr>
          <p:cNvPr id="35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marL="343080" indent="-34308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Improvement</a:t>
            </a:r>
            <a:endParaRPr lang="en-US" sz="16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[VECTO-618] - Add Hash value of tyres to manufacturer's record file</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[VECTO-590] - Handling of hash values: customer's record contains hash of manufacturer's record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[VECTO-612] - Continuously changing hashes: Info in GUI of HashingTool</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[VECTO-560] - Change Mail-Address of general VECTO contact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[VECTO-616] - SI-Unit - display derived unit instead of base units</a:t>
            </a:r>
            <a:endParaRPr lang="en-US" sz="14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Bugfixes</a:t>
            </a:r>
            <a:endParaRPr lang="en-US" sz="18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[VECTO-608] - Power balance in EPT-mode not closed</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 [VECTO-611] - Invalid input. Cannot cast Newtonsoft.Json.Linq.JObject to Newtonsoft.Json.Linq.Jtoken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[VECTO-610] - TyreCertificationNumber missing in Manufacturer Report</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[VECTO-613] - Incomplete description of allowed values of LegislativeClass (p251) in VECTO parameter documentation</a:t>
            </a:r>
            <a:endParaRPr lang="en-US" sz="1400" b="0" strike="noStrike" spc="-1">
              <a:latin typeface="Arial"/>
            </a:endParaRPr>
          </a:p>
          <a:p>
            <a:pPr marL="743040" lvl="1" indent="-28584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[VECTO-625] - Update XML Schema: Tyre dimensions according to Technicall Annex, trailing spaces in enums</a:t>
            </a:r>
            <a:endParaRPr lang="en-US" sz="1400" b="0" strike="noStrike" spc="-1">
              <a:latin typeface="Arial"/>
            </a:endParaRPr>
          </a:p>
          <a:p>
            <a:pPr marL="343080" indent="-343080">
              <a:lnSpc>
                <a:spcPct val="100000"/>
              </a:lnSpc>
              <a:spcBef>
                <a:spcPts val="360"/>
              </a:spcBef>
              <a:buClr>
                <a:srgbClr val="000000"/>
              </a:buClr>
              <a:buFont typeface="Symbol"/>
              <a:buChar char=""/>
              <a:tabLst>
                <a:tab pos="1886040" algn="l"/>
              </a:tabLst>
            </a:pPr>
            <a:r>
              <a:rPr lang="en-US" sz="1800" b="1" strike="noStrike" spc="-1">
                <a:solidFill>
                  <a:srgbClr val="000000"/>
                </a:solidFill>
                <a:latin typeface="Arial"/>
              </a:rPr>
              <a:t>Support</a:t>
            </a:r>
            <a:endParaRPr lang="en-US" sz="1800" b="0" strike="noStrike" spc="-1">
              <a:latin typeface="Arial"/>
            </a:endParaRPr>
          </a:p>
          <a:p>
            <a:pPr marL="743040" lvl="1" indent="-285840">
              <a:lnSpc>
                <a:spcPct val="100000"/>
              </a:lnSpc>
              <a:spcBef>
                <a:spcPts val="320"/>
              </a:spcBef>
              <a:buClr>
                <a:srgbClr val="000000"/>
              </a:buClr>
              <a:buFont typeface="Symbol"/>
              <a:buChar char=""/>
              <a:tabLst>
                <a:tab pos="1886040" algn="l"/>
              </a:tabLst>
            </a:pPr>
            <a:r>
              <a:rPr lang="en-US" sz="1600" b="1" strike="noStrike" spc="-1">
                <a:solidFill>
                  <a:srgbClr val="000000"/>
                </a:solidFill>
                <a:latin typeface="Arial"/>
              </a:rPr>
              <a:t> </a:t>
            </a:r>
            <a:r>
              <a:rPr lang="en-US" sz="1400" b="0" strike="noStrike" spc="-1">
                <a:solidFill>
                  <a:srgbClr val="000000"/>
                </a:solidFill>
                <a:latin typeface="Arial"/>
              </a:rPr>
              <a:t>[VECTO-615] - Error torque interpolation in declaration jobs exported to XMLImprovements</a:t>
            </a:r>
            <a:endParaRPr lang="en-US" sz="1400" b="0" strike="noStrike" spc="-1">
              <a:latin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3.2.1.1054</a:t>
            </a:r>
            <a:br>
              <a:rPr sz="2400"/>
            </a:br>
            <a:r>
              <a:rPr lang="en-US" sz="1600" b="1" strike="noStrike" spc="-1">
                <a:solidFill>
                  <a:srgbClr val="990000"/>
                </a:solidFill>
                <a:latin typeface="Arial"/>
              </a:rPr>
              <a:t>2017-11-20</a:t>
            </a:r>
            <a:endParaRPr lang="en-US" sz="1600" b="0" strike="noStrike" spc="-1">
              <a:latin typeface="Arial"/>
            </a:endParaRPr>
          </a:p>
        </p:txBody>
      </p:sp>
      <p:sp>
        <p:nvSpPr>
          <p:cNvPr id="359"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320"/>
              </a:spcBef>
              <a:buNone/>
              <a:tabLst>
                <a:tab pos="0" algn="l"/>
              </a:tabLst>
            </a:pPr>
            <a:r>
              <a:rPr lang="en-US" sz="1600" b="1" strike="noStrike" spc="-1">
                <a:solidFill>
                  <a:srgbClr val="000000"/>
                </a:solidFill>
                <a:latin typeface="Arial"/>
              </a:rPr>
              <a:t>Improvements</a:t>
            </a:r>
            <a:endParaRPr lang="en-US" sz="16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[VECTO-592] - VTP Simulation Mode</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[VECTO-605] - Improve simulation speed</a:t>
            </a:r>
            <a:endParaRPr lang="en-US" sz="1400" b="0" strike="noStrike" spc="-1">
              <a:latin typeface="Arial"/>
            </a:endParaRPr>
          </a:p>
          <a:p>
            <a:pPr>
              <a:lnSpc>
                <a:spcPct val="100000"/>
              </a:lnSpc>
              <a:spcBef>
                <a:spcPts val="281"/>
              </a:spcBef>
              <a:buNone/>
              <a:tabLst>
                <a:tab pos="0" algn="l"/>
              </a:tabLst>
            </a:pPr>
            <a:endParaRPr lang="en-US" sz="1400" b="0" strike="noStrike" spc="-1">
              <a:latin typeface="Arial"/>
            </a:endParaRPr>
          </a:p>
          <a:p>
            <a:pPr>
              <a:lnSpc>
                <a:spcPct val="100000"/>
              </a:lnSpc>
              <a:spcBef>
                <a:spcPts val="320"/>
              </a:spcBef>
              <a:buNone/>
              <a:tabLst>
                <a:tab pos="0" algn="l"/>
              </a:tabLst>
            </a:pPr>
            <a:r>
              <a:rPr lang="en-US" sz="1600" b="1" strike="noStrike" spc="-1">
                <a:solidFill>
                  <a:srgbClr val="000000"/>
                </a:solidFill>
                <a:latin typeface="Arial"/>
              </a:rPr>
              <a:t>Bugfixes</a:t>
            </a:r>
            <a:endParaRPr lang="en-US" sz="16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[VECTO-602] - Error in simulation without airdrag component</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[VECTO-589] - Scheme .xml error</a:t>
            </a:r>
            <a:endParaRPr lang="en-US" sz="1400" b="0" strike="noStrike" spc="-1">
              <a:latin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468360" y="476640"/>
            <a:ext cx="8217720" cy="57528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VTP Simulation Mode</a:t>
            </a:r>
            <a:endParaRPr lang="en-US" sz="2400" b="0" strike="noStrike" spc="-1">
              <a:latin typeface="Arial"/>
            </a:endParaRPr>
          </a:p>
        </p:txBody>
      </p:sp>
      <p:sp>
        <p:nvSpPr>
          <p:cNvPr id="361" name="PlaceHolder 2"/>
          <p:cNvSpPr>
            <a:spLocks noGrp="1"/>
          </p:cNvSpPr>
          <p:nvPr>
            <p:ph/>
          </p:nvPr>
        </p:nvSpPr>
        <p:spPr>
          <a:xfrm>
            <a:off x="468360" y="1196640"/>
            <a:ext cx="8217720" cy="511200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pPr>
            <a:r>
              <a:rPr lang="en-US" sz="1800" b="0" strike="noStrike" spc="-1">
                <a:solidFill>
                  <a:srgbClr val="000000"/>
                </a:solidFill>
                <a:latin typeface="Arial"/>
              </a:rPr>
              <a:t>Verification Test Procedure (VTP) Simulation Mode</a:t>
            </a:r>
            <a:endParaRPr lang="en-US" sz="18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Similar to Pwheel mode, different cycle format (see user manual)</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Requires:</a:t>
            </a:r>
            <a:endParaRPr lang="en-US" sz="16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Vehicle in declaration mode (XML)</a:t>
            </a:r>
            <a:endParaRPr lang="en-US" sz="12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Measured driving cycle</a:t>
            </a:r>
            <a:endParaRPr lang="en-US" sz="12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Parameters for engine-fan model</a:t>
            </a:r>
            <a:endParaRPr lang="en-US" sz="12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 calculates the gear based on the wheel speed and engine speed (and vehicle parameters) and ignores the gear provided in the driving cycle</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Fuel consumption interpolation is done using the engine speed from the cycle and calculated power demand (to avoid wrong engine speeds due to wrong gear selection)</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Simulation uses all auxiliaries except engine fan</a:t>
            </a:r>
            <a:endParaRPr lang="en-US" sz="16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Engine fan is modeled separately, power demand depends on fan speed (see user manual)</a:t>
            </a:r>
            <a:endParaRPr lang="en-US" sz="12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Auxiliary power selected according to segment table, BUT power demand depends on vehicle speed</a:t>
            </a:r>
            <a:endParaRPr lang="en-US" sz="16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v &lt; 50 km/h: Urban</a:t>
            </a:r>
            <a:endParaRPr lang="en-US" sz="12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50 &lt;= v &lt; 70 km/h: Rural</a:t>
            </a:r>
            <a:endParaRPr lang="en-US" sz="1200" b="0" strike="noStrike" spc="-1">
              <a:latin typeface="Arial"/>
            </a:endParaRPr>
          </a:p>
          <a:p>
            <a:pPr marL="1143000" lvl="2" indent="-228600">
              <a:lnSpc>
                <a:spcPct val="100000"/>
              </a:lnSpc>
              <a:spcBef>
                <a:spcPts val="241"/>
              </a:spcBef>
              <a:buClr>
                <a:srgbClr val="000000"/>
              </a:buClr>
              <a:buFont typeface="Symbol"/>
              <a:buChar char=""/>
            </a:pPr>
            <a:r>
              <a:rPr lang="en-US" sz="1200" b="0" strike="noStrike" spc="-1">
                <a:solidFill>
                  <a:srgbClr val="000000"/>
                </a:solidFill>
                <a:latin typeface="Arial"/>
              </a:rPr>
              <a:t>v &gt;70 km/h: Long haul</a:t>
            </a:r>
            <a:endParaRPr lang="en-US" sz="12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Gear and fuel consumption in the driving cycle are optional for now, may be used in future versions</a:t>
            </a:r>
            <a:endParaRPr lang="en-US" sz="1600" b="0" strike="noStrike" spc="-1">
              <a:latin typeface="Aria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3.2.0.1022</a:t>
            </a:r>
            <a:br>
              <a:rPr sz="2400"/>
            </a:br>
            <a:r>
              <a:rPr lang="en-US" sz="1600" b="1" strike="noStrike" spc="-1">
                <a:solidFill>
                  <a:srgbClr val="990000"/>
                </a:solidFill>
                <a:latin typeface="Arial"/>
              </a:rPr>
              <a:t>2017-10-19</a:t>
            </a:r>
            <a:endParaRPr lang="en-US" sz="1600" b="0" strike="noStrike" spc="-1">
              <a:latin typeface="Arial"/>
            </a:endParaRPr>
          </a:p>
        </p:txBody>
      </p:sp>
      <p:sp>
        <p:nvSpPr>
          <p:cNvPr id="363"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320"/>
              </a:spcBef>
              <a:buNone/>
              <a:tabLst>
                <a:tab pos="0" algn="l"/>
              </a:tabLst>
            </a:pPr>
            <a:r>
              <a:rPr lang="en-US" sz="1600" b="1" strike="noStrike" spc="-1">
                <a:solidFill>
                  <a:srgbClr val="000000"/>
                </a:solidFill>
                <a:latin typeface="Arial"/>
              </a:rPr>
              <a:t>Bugfixes</a:t>
            </a:r>
            <a:endParaRPr lang="en-US" sz="16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[VECTO-585, VECTO-587] – VECTO Simulation aborts when run as WCF Service</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[VECTO-586] – Gearshiftcout in reports too high</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[VECTO-573] – Use of old library references .net framework 2.0</a:t>
            </a:r>
            <a:endParaRPr lang="en-US" sz="1400" b="0" strike="noStrike" spc="-1">
              <a:latin typeface="Aria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3.2.0.1005</a:t>
            </a:r>
            <a:br>
              <a:rPr sz="2400"/>
            </a:br>
            <a:r>
              <a:rPr lang="en-US" sz="1600" b="1" strike="noStrike" spc="-1">
                <a:solidFill>
                  <a:srgbClr val="990000"/>
                </a:solidFill>
                <a:latin typeface="Arial"/>
              </a:rPr>
              <a:t>2017-10-02</a:t>
            </a:r>
            <a:endParaRPr lang="en-US" sz="1600" b="0" strike="noStrike" spc="-1">
              <a:latin typeface="Arial"/>
            </a:endParaRPr>
          </a:p>
        </p:txBody>
      </p:sp>
      <p:sp>
        <p:nvSpPr>
          <p:cNvPr id="36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320"/>
              </a:spcBef>
              <a:buNone/>
              <a:tabLst>
                <a:tab pos="0" algn="l"/>
              </a:tabLst>
            </a:pPr>
            <a:r>
              <a:rPr lang="en-US" sz="1600" b="1" strike="noStrike" spc="-1">
                <a:solidFill>
                  <a:srgbClr val="000000"/>
                </a:solidFill>
                <a:latin typeface="Arial"/>
              </a:rPr>
              <a:t>Improvements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1" strike="noStrike" spc="-1">
                <a:solidFill>
                  <a:srgbClr val="000000"/>
                </a:solidFill>
                <a:latin typeface="Arial"/>
              </a:rPr>
              <a:t>Release of Vecto Hashing Tool</a:t>
            </a:r>
            <a:endParaRPr lang="en-US" sz="16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[VECTO-557] Engine speed simulated too high during long stops</a:t>
            </a:r>
            <a:endParaRPr lang="en-US" sz="1400" b="0" strike="noStrike" spc="-1">
              <a:latin typeface="Arial"/>
            </a:endParaRPr>
          </a:p>
          <a:p>
            <a:pPr>
              <a:lnSpc>
                <a:spcPct val="100000"/>
              </a:lnSpc>
              <a:spcBef>
                <a:spcPts val="320"/>
              </a:spcBef>
              <a:buNone/>
              <a:tabLst>
                <a:tab pos="0" algn="l"/>
              </a:tabLst>
            </a:pPr>
            <a:endParaRPr lang="en-US" sz="1600" b="0" strike="noStrike" spc="-1">
              <a:latin typeface="Arial"/>
            </a:endParaRPr>
          </a:p>
          <a:p>
            <a:pPr>
              <a:lnSpc>
                <a:spcPct val="100000"/>
              </a:lnSpc>
              <a:spcBef>
                <a:spcPts val="320"/>
              </a:spcBef>
              <a:buNone/>
              <a:tabLst>
                <a:tab pos="0" algn="l"/>
              </a:tabLst>
            </a:pPr>
            <a:r>
              <a:rPr lang="en-US" sz="1600" b="1" strike="noStrike" spc="-1">
                <a:solidFill>
                  <a:srgbClr val="000000"/>
                </a:solidFill>
                <a:latin typeface="Arial"/>
              </a:rPr>
              <a:t>Bugfixes</a:t>
            </a:r>
            <a:endParaRPr lang="en-US" sz="16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[VECTO-569] - ‘Engine Retarder’ not correctly recognized as input</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[VECTO-571] - Customer Report – wrong output format of average RRC</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[VECTO-573] - Correction of displayed units in graph window</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[VECTO-575] - Correction of simulation aborts (due to gearbox inertia, engineering mode)</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[VECTO-577] - Correction of XML export functionality</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[VECTO-579] - Bug fix GUI crashes on invalid input</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[VECTO-558] - Correction of output in .vsum file – BFColdHot always 0</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[VECTO-564] - Bug fix: correct output of vehicle group in XML report</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[VECTO-566] - Vehicle height not correctly read (engineering mode)</a:t>
            </a:r>
            <a:endParaRPr lang="en-US" sz="1400" b="0" strike="noStrike" spc="-1">
              <a:latin typeface="Arial"/>
            </a:endParaRPr>
          </a:p>
          <a:p>
            <a:pPr marL="343080" indent="-343080">
              <a:lnSpc>
                <a:spcPct val="100000"/>
              </a:lnSpc>
              <a:spcBef>
                <a:spcPts val="281"/>
              </a:spcBef>
              <a:buClr>
                <a:srgbClr val="000000"/>
              </a:buClr>
              <a:buFont typeface="Symbol"/>
              <a:buChar char=""/>
              <a:tabLst>
                <a:tab pos="1886040" algn="l"/>
              </a:tabLst>
            </a:pPr>
            <a:r>
              <a:rPr lang="en-US" sz="1400" b="0" strike="noStrike" spc="-1">
                <a:solidFill>
                  <a:srgbClr val="000000"/>
                </a:solidFill>
                <a:latin typeface="Arial"/>
              </a:rPr>
              <a:t>[VECTO-545] - Update documentation on Settings dialog</a:t>
            </a:r>
            <a:endParaRPr lang="en-US" sz="1400" b="0" strike="noStrike" spc="-1">
              <a:latin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3.2.0.940</a:t>
            </a:r>
            <a:br>
              <a:rPr sz="2400"/>
            </a:br>
            <a:r>
              <a:rPr lang="en-US" sz="1600" b="1" strike="noStrike" spc="-1">
                <a:solidFill>
                  <a:srgbClr val="990000"/>
                </a:solidFill>
                <a:latin typeface="Arial"/>
              </a:rPr>
              <a:t>2017-07-28</a:t>
            </a:r>
            <a:endParaRPr lang="en-US" sz="1600" b="0" strike="noStrike" spc="-1">
              <a:latin typeface="Arial"/>
            </a:endParaRPr>
          </a:p>
        </p:txBody>
      </p:sp>
      <p:sp>
        <p:nvSpPr>
          <p:cNvPr id="36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320"/>
              </a:spcBef>
              <a:buNone/>
              <a:tabLst>
                <a:tab pos="0" algn="l"/>
              </a:tabLst>
            </a:pPr>
            <a:r>
              <a:rPr lang="en-US" sz="1600" b="1" strike="noStrike" spc="-1">
                <a:solidFill>
                  <a:srgbClr val="000000"/>
                </a:solidFill>
                <a:latin typeface="Arial"/>
              </a:rPr>
              <a:t>Bugfixes</a:t>
            </a:r>
            <a:endParaRPr lang="en-US" sz="16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[VECTO-546] - GearboxCertificationOptionType Option 2 not accepted by VECTO</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[VECTO-547] - Engine Manufacturer and Engine Model are empty in .vsum </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[VECTO-548] - online user manual</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[VECTO-549] - Inconsistent (and wrong) decimal separator in XML output (manufacturer report)</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[VECTO-551] - Average Tyre RRC not in Customer Information File output</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[VECTO-536] - GUI: improvements vehicle dialog (add missing pictures for vehicle categories)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[VECTO-550] - Allow custom settings for AirDensity in Engineering mode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[VECTO-552] - set engine rated power, rated speed to computed values from FLD if not provided as input</a:t>
            </a:r>
            <a:endParaRPr lang="en-US" sz="1400" b="0" strike="noStrike" spc="-1">
              <a:latin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3.2.0.925</a:t>
            </a:r>
            <a:br>
              <a:rPr sz="2400"/>
            </a:br>
            <a:r>
              <a:rPr lang="en-US" sz="1600" b="1" strike="noStrike" spc="-1">
                <a:solidFill>
                  <a:srgbClr val="990000"/>
                </a:solidFill>
                <a:latin typeface="Arial"/>
              </a:rPr>
              <a:t>2017-07-14</a:t>
            </a:r>
            <a:endParaRPr lang="en-US" sz="1600" b="0" strike="noStrike" spc="-1">
              <a:latin typeface="Arial"/>
            </a:endParaRPr>
          </a:p>
        </p:txBody>
      </p:sp>
      <p:sp>
        <p:nvSpPr>
          <p:cNvPr id="369"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281"/>
              </a:spcBef>
              <a:buNone/>
              <a:tabLst>
                <a:tab pos="0" algn="l"/>
              </a:tabLst>
            </a:pPr>
            <a:r>
              <a:rPr lang="en-US" sz="1400" b="1" strike="noStrike" spc="-1">
                <a:solidFill>
                  <a:srgbClr val="000000"/>
                </a:solidFill>
                <a:latin typeface="Arial"/>
              </a:rPr>
              <a:t>Improvements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[VECTO-366] added EMS vehicle configuration, EMS is only simulated when engine rated power &gt; 300kW</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[VECTO-463] add pneumatic system technology 'vacuum pump‘</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[VECTO-465] change RRC value of trailers (declaration mode) from 0.00555 to 0.0055 (due to limits in user interface)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[VECTO-477] AT Gearbox, powershift losses: remove inertia factor</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[VECTO-471] update cross-wind correction model: height-dependent wind speed (see Excel spreadsheet in User Manual folder for details)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[VECTO-367] Add Vehicle Design Speed to segmentation table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[VECTO-470] Add XML reading and export functionality</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[VECTO-486] Adding hashing library</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[VECTO-469] Limit engine max torque (either due to vehicle or gearbox limits), limit gearbox input speed</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[VECTO-466] Update vehicle payloads: 10% loaded and reference load are simulated</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[VECTO-467] Add generic PTO activation in municipal cycle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[VECTO-468] Add PTO losses (idle) in declaration mode</a:t>
            </a:r>
            <a:endParaRPr lang="en-US" sz="14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400" b="0" strike="noStrike" spc="-1">
                <a:solidFill>
                  <a:srgbClr val="000000"/>
                </a:solidFill>
                <a:latin typeface="Arial"/>
              </a:rPr>
              <a:t>[VECTO-479</a:t>
            </a:r>
            <a:r>
              <a:rPr lang="en-US" sz="1600" b="0" strike="noStrike" spc="-1">
                <a:solidFill>
                  <a:srgbClr val="000000"/>
                </a:solidFill>
                <a:latin typeface="Arial"/>
              </a:rPr>
              <a:t>] Added PTO option 'only one engaged gearwheel above oil level' with 0 losses</a:t>
            </a:r>
            <a:endParaRPr lang="en-US" sz="1600" b="0" strike="noStrike" spc="-1">
              <a:latin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3.2.0.925</a:t>
            </a:r>
            <a:br>
              <a:rPr sz="2400"/>
            </a:br>
            <a:r>
              <a:rPr lang="en-US" sz="1600" b="1" strike="noStrike" spc="-1">
                <a:solidFill>
                  <a:srgbClr val="990000"/>
                </a:solidFill>
                <a:latin typeface="Arial"/>
              </a:rPr>
              <a:t>2017-07-14</a:t>
            </a:r>
            <a:endParaRPr lang="en-US" sz="1600" b="0" strike="noStrike" spc="-1">
              <a:latin typeface="Arial"/>
            </a:endParaRPr>
          </a:p>
        </p:txBody>
      </p:sp>
      <p:sp>
        <p:nvSpPr>
          <p:cNvPr id="371"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281"/>
              </a:spcBef>
              <a:buNone/>
              <a:tabLst>
                <a:tab pos="0" algn="l"/>
              </a:tabLst>
            </a:pPr>
            <a:r>
              <a:rPr lang="en-US" sz="1400" b="1" strike="noStrike" spc="-1">
                <a:solidFill>
                  <a:srgbClr val="000000"/>
                </a:solidFill>
                <a:latin typeface="Arial"/>
              </a:rPr>
              <a:t>Improvements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[VECTO-483] Adapt CdxA supplement for additional trailers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[VECTO-494] Implementation of different fuel types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[VECTO-502] Implementing standard values for air-drag area (if not measured)</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[VECTO-501] Implement engine idle speed set in vehicle (must be higher than engine's idle speed value)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[VECTO-504] Adding HVAC technology 'none‘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[VECTO-489] Extrapolate gearbox lossmaps (required when torque limitation by gearbox is ignored)</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[VECTO-505] Implement AT transmissions in declaration mode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[VECTO-507] Allow to ignore validation of model data when starting a simulation (significant improvement on simulation startup time - about 10s)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[VECTO-506] modified method how torque-converter characteristics in drag is extended. allow drag-values in the input, only add one point at a high speed ratio</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[VECTO-509] Add axle-type (vehicle driven, vehicle non-driven, trailer) to GUI</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[VECTO-511] Add engine idle speed to Vehicle input form (GUI)</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[VECTO-510] Write XML reports (manufacturer, customer information) in declaration mode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[VECTO-474] new driving cycles for Municipal and Regional Delivery</a:t>
            </a:r>
            <a:endParaRPr lang="en-US" sz="1400" b="0" strike="noStrike" spc="-1">
              <a:latin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3.2.0.925</a:t>
            </a:r>
            <a:br>
              <a:rPr sz="2400"/>
            </a:br>
            <a:r>
              <a:rPr lang="en-US" sz="1600" b="1" strike="noStrike" spc="-1">
                <a:solidFill>
                  <a:srgbClr val="990000"/>
                </a:solidFill>
                <a:latin typeface="Arial"/>
              </a:rPr>
              <a:t>2017-07-14</a:t>
            </a:r>
            <a:endParaRPr lang="en-US" sz="1600" b="0" strike="noStrike" spc="-1">
              <a:latin typeface="Arial"/>
            </a:endParaRPr>
          </a:p>
        </p:txBody>
      </p:sp>
      <p:sp>
        <p:nvSpPr>
          <p:cNvPr id="373"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281"/>
              </a:spcBef>
              <a:buNone/>
              <a:tabLst>
                <a:tab pos="0" algn="l"/>
              </a:tabLst>
            </a:pPr>
            <a:r>
              <a:rPr lang="en-US" sz="1400" b="1" strike="noStrike" spc="-1">
                <a:solidFill>
                  <a:srgbClr val="000000"/>
                </a:solidFill>
                <a:latin typeface="Arial"/>
              </a:rPr>
              <a:t>Improvements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[VECTO-522] step-up ratio for using torque converter in second gear set to 1.85 for busses (still 1.8 for trucks)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[VECTO-525] remove info-box with max loading in GUI</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[VECTO-531] Payload calculation: limit truck payload to the truck's max payload. (earlier versions only limited the total payload of truc + trailer to the total max. payload, i.e. allowed to shifted loading from truck to the trailer)</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[VECTO-533] allow second driven axle, rdyn is calculated as average of both driven axles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[VECTO-537] new Suburban driving cycles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[VECTO-541] increase declaration mode PT1 curve to higher speeds (2500 is too low for some engines)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[VECTO-542] reduce overspeed in declaration mode to 2.5km/h</a:t>
            </a:r>
            <a:endParaRPr lang="en-US" sz="1400" b="0" strike="noStrike" spc="-1">
              <a:latin typeface="Aria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3.2.0.925</a:t>
            </a:r>
            <a:br>
              <a:rPr sz="2400"/>
            </a:br>
            <a:r>
              <a:rPr lang="en-US" sz="1600" b="1" strike="noStrike" spc="-1">
                <a:solidFill>
                  <a:srgbClr val="990000"/>
                </a:solidFill>
                <a:latin typeface="Arial"/>
              </a:rPr>
              <a:t>2017-07-14</a:t>
            </a:r>
            <a:endParaRPr lang="en-US" sz="1600" b="0" strike="noStrike" spc="-1">
              <a:latin typeface="Arial"/>
            </a:endParaRPr>
          </a:p>
        </p:txBody>
      </p:sp>
      <p:sp>
        <p:nvSpPr>
          <p:cNvPr id="375"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320"/>
              </a:spcBef>
              <a:buNone/>
              <a:tabLst>
                <a:tab pos="0" algn="l"/>
              </a:tabLst>
            </a:pPr>
            <a:r>
              <a:rPr lang="en-US" sz="1600" b="1" strike="noStrike" spc="-1">
                <a:solidFill>
                  <a:srgbClr val="000000"/>
                </a:solidFill>
                <a:latin typeface="Arial"/>
              </a:rPr>
              <a:t>Bugfixes</a:t>
            </a:r>
            <a:endParaRPr lang="en-US" sz="16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[VECTO-462] fix: decision if PTO cycle is simulated</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[VECTO-473] fix: adapt range for validation of torque converter characteristics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[VECTO-464] fix: extrapolation of engine full-load curve gives neg. max. torque. Limit engine speed to n95h</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[VECTO-480] fix: a_pos in .vsum was less than zero</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[VECTO-487] fix: Duration of PTO cycle was computed incorrectly if PTO cycle does not start at t=0</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[VECTO-514] fix: sort entries in .vsum numerically, not lexically</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[VECTO-516] fix: consider axlegear losses for estimation of acceleration after gearshifts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[VECTO-517] fix: valid shift polygon was considered invalid when extended to very high torque ranges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[VECTO-424] fix: VectoCore.dll could not be found when the current working directory is different to the directory of the vectocmd.exe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[VECTO-425] fix: vectocmd.exe - check if the output is redirected, and skip updating of the progress bar when this is the case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[VECTO-426] fix: vectocmd.exe - log errors to STDERR</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[VECTO-519] fix: computation of n95h fails for a valid full-load curve due to numerical inaccuracy. add tolerance when searching for solutions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[VECTO-520] fix: gearashift count in vsum is 0</a:t>
            </a:r>
            <a:endParaRPr lang="en-US" sz="1400" b="0" strike="noStrike" spc="-1">
              <a:latin typeface="Aria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3.1.2.810</a:t>
            </a:r>
            <a:br>
              <a:rPr sz="2400"/>
            </a:br>
            <a:r>
              <a:rPr lang="en-US" sz="1600" b="1" strike="noStrike" spc="-1">
                <a:solidFill>
                  <a:srgbClr val="990000"/>
                </a:solidFill>
                <a:latin typeface="Arial"/>
              </a:rPr>
              <a:t>2017-01-18</a:t>
            </a:r>
            <a:endParaRPr lang="en-US" sz="1600" b="0" strike="noStrike" spc="-1">
              <a:latin typeface="Arial"/>
            </a:endParaRPr>
          </a:p>
        </p:txBody>
      </p:sp>
      <p:sp>
        <p:nvSpPr>
          <p:cNvPr id="377"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281"/>
              </a:spcBef>
              <a:buNone/>
              <a:tabLst>
                <a:tab pos="0" algn="l"/>
              </a:tabLst>
            </a:pPr>
            <a:r>
              <a:rPr lang="en-US" sz="1400" b="1" strike="noStrike" spc="-1">
                <a:solidFill>
                  <a:srgbClr val="000000"/>
                </a:solidFill>
                <a:latin typeface="Arial"/>
              </a:rPr>
              <a:t>Improvements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[VECTO-445] Additional columns in vsum file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Allow splitting shift losses among multiple simulation intervals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Allow coasting overspeed only if vehicle speed &gt; 0</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Torque converter: better handling of ‘creeping’ situations</a:t>
            </a:r>
            <a:endParaRPr lang="en-US" sz="1400" b="0" strike="noStrike" spc="-1">
              <a:latin typeface="Arial"/>
            </a:endParaRPr>
          </a:p>
          <a:p>
            <a:pPr>
              <a:lnSpc>
                <a:spcPct val="100000"/>
              </a:lnSpc>
              <a:spcBef>
                <a:spcPts val="281"/>
              </a:spcBef>
              <a:buNone/>
              <a:tabLst>
                <a:tab pos="0" algn="l"/>
              </a:tabLst>
            </a:pPr>
            <a:endParaRPr lang="en-US" sz="1400" b="0" strike="noStrike" spc="-1">
              <a:latin typeface="Arial"/>
            </a:endParaRPr>
          </a:p>
          <a:p>
            <a:pPr>
              <a:lnSpc>
                <a:spcPct val="100000"/>
              </a:lnSpc>
              <a:spcBef>
                <a:spcPts val="281"/>
              </a:spcBef>
              <a:buNone/>
              <a:tabLst>
                <a:tab pos="0" algn="l"/>
              </a:tabLst>
            </a:pPr>
            <a:r>
              <a:rPr lang="en-US" sz="1400" b="1" strike="noStrike" spc="-1">
                <a:solidFill>
                  <a:srgbClr val="000000"/>
                </a:solidFill>
                <a:latin typeface="Arial"/>
              </a:rPr>
              <a:t>Bugfixes: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[VECTO-443] Bugfix in AMT shift strategy: skip gears not working correctly</a:t>
            </a:r>
            <a:endParaRPr lang="en-US" sz="1400" b="0" strike="noStrike" spc="-1">
              <a:latin typeface="Arial"/>
            </a:endParaRPr>
          </a:p>
          <a:p>
            <a:pPr>
              <a:lnSpc>
                <a:spcPct val="100000"/>
              </a:lnSpc>
              <a:spcBef>
                <a:spcPts val="281"/>
              </a:spcBef>
              <a:buNone/>
              <a:tabLst>
                <a:tab pos="0" algn="l"/>
              </a:tabLst>
            </a:pPr>
            <a:endParaRPr lang="en-US" sz="1400" b="0" strike="noStrike" spc="-1">
              <a:latin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3.1.2.796</a:t>
            </a:r>
            <a:br>
              <a:rPr sz="2400"/>
            </a:br>
            <a:r>
              <a:rPr lang="en-US" sz="1600" b="1" strike="noStrike" spc="-1">
                <a:solidFill>
                  <a:srgbClr val="990000"/>
                </a:solidFill>
                <a:latin typeface="Arial"/>
              </a:rPr>
              <a:t>2017-03-07</a:t>
            </a:r>
            <a:endParaRPr lang="en-US" sz="1600" b="0" strike="noStrike" spc="-1">
              <a:latin typeface="Arial"/>
            </a:endParaRPr>
          </a:p>
        </p:txBody>
      </p:sp>
      <p:sp>
        <p:nvSpPr>
          <p:cNvPr id="379" name="PlaceHolder 2"/>
          <p:cNvSpPr>
            <a:spLocks noGrp="1"/>
          </p:cNvSpPr>
          <p:nvPr>
            <p:ph/>
          </p:nvPr>
        </p:nvSpPr>
        <p:spPr>
          <a:xfrm>
            <a:off x="323640" y="1196640"/>
            <a:ext cx="8640360" cy="5184000"/>
          </a:xfrm>
          <a:prstGeom prst="rect">
            <a:avLst/>
          </a:prstGeom>
          <a:noFill/>
          <a:ln w="0">
            <a:noFill/>
          </a:ln>
        </p:spPr>
        <p:txBody>
          <a:bodyPr lIns="90000" tIns="45000" rIns="90000" bIns="45000" numCol="1" spcCol="0" anchor="t">
            <a:noAutofit/>
          </a:bodyPr>
          <a:lstStyle/>
          <a:p>
            <a:pPr>
              <a:lnSpc>
                <a:spcPct val="100000"/>
              </a:lnSpc>
              <a:spcBef>
                <a:spcPts val="241"/>
              </a:spcBef>
              <a:buNone/>
              <a:tabLst>
                <a:tab pos="0" algn="l"/>
              </a:tabLst>
            </a:pPr>
            <a:r>
              <a:rPr lang="en-US" sz="1200" b="1" strike="noStrike" spc="-1">
                <a:solidFill>
                  <a:srgbClr val="000000"/>
                </a:solidFill>
                <a:latin typeface="Arial"/>
              </a:rPr>
              <a:t>Improvements:</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[VECTO-405] Adding clutch-losses for AMT/MT gearboxes during drive-off, reduce drive-off distance after stop from 1m to 0.25m, set clutch closing speed (normalized) to 6.5%, changes in clutch model</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[VECTO-379] Make GUI more tolerant against missing files. Instead of aborting reading the input data the GUI shows a suffix for missing input files</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[VECTO-411] Allow a traction interruption of 0s for AMT/MT gearboxes</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[VECTO-408] Gearbox Inertia for AT gearboxes set to 0</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[VECTO-419] Adapted error messages, added list of errors</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[VECTO-421,VECTO-439] Added volume-related results to vsum file (volume is computed based on default bodies)</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 Energy balance (vsum) and balance of engine power output and power consumers (vmod) level</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[VECTO-430] AT shift strategy: upshifts may happen too early</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[VECTO-431] AMT shift strategy always started in first gear due to changes in clutch model</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[VECTO-433] adapt generic vehicles: use typical WHTC correction factors</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[VECTO-437] set vehicle speed at clutch-closed to 1.3 m/s</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[VECTO-436] fix simulation aborts with AT gearbox (neg. braking power, unexpected response, underload)</a:t>
            </a:r>
            <a:endParaRPr lang="en-US" sz="1200" b="0" strike="noStrike" spc="-1">
              <a:latin typeface="Arial"/>
            </a:endParaRPr>
          </a:p>
          <a:p>
            <a:pPr>
              <a:lnSpc>
                <a:spcPct val="100000"/>
              </a:lnSpc>
              <a:spcBef>
                <a:spcPts val="241"/>
              </a:spcBef>
              <a:buNone/>
              <a:tabLst>
                <a:tab pos="0" algn="l"/>
              </a:tabLst>
            </a:pPr>
            <a:r>
              <a:rPr lang="en-US" sz="1200" b="1" strike="noStrike" spc="-1">
                <a:solidFill>
                  <a:srgbClr val="000000"/>
                </a:solidFill>
                <a:latin typeface="Arial"/>
              </a:rPr>
              <a:t>Bugfixes:</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[VECTO-415] Powershift Losses were not considered for AT gearboxes with PowerSplit</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[VECTO-416] Measured Speed with gear failed when cycle contained parts with eco-roll (computation of next gear failed)</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[VECTO-428] Sum of timeshares adds up to 100%</a:t>
            </a:r>
            <a:endParaRPr lang="en-US" sz="1200" b="0" strike="noStrike" spc="-1">
              <a:latin typeface="Arial"/>
            </a:endParaRPr>
          </a:p>
          <a:p>
            <a:pPr marL="343080" indent="-343080">
              <a:lnSpc>
                <a:spcPct val="100000"/>
              </a:lnSpc>
              <a:spcBef>
                <a:spcPts val="241"/>
              </a:spcBef>
              <a:buClr>
                <a:srgbClr val="000000"/>
              </a:buClr>
              <a:buFont typeface="Symbol"/>
              <a:buChar char=""/>
              <a:tabLst>
                <a:tab pos="0" algn="l"/>
              </a:tabLst>
            </a:pPr>
            <a:r>
              <a:rPr lang="en-US" sz="1200" b="0" strike="noStrike" spc="-1">
                <a:solidFill>
                  <a:srgbClr val="000000"/>
                </a:solidFill>
                <a:latin typeface="Arial"/>
              </a:rPr>
              <a:t>[VECTO-429] Min Velocity for lookahead coasting was not written to JSON file</a:t>
            </a:r>
            <a:endParaRPr lang="en-US" sz="1200" b="0" strike="noStrike" spc="-1">
              <a:latin typeface="Arial"/>
            </a:endParaRPr>
          </a:p>
          <a:p>
            <a:pPr>
              <a:lnSpc>
                <a:spcPct val="100000"/>
              </a:lnSpc>
              <a:spcBef>
                <a:spcPts val="241"/>
              </a:spcBef>
              <a:buNone/>
              <a:tabLst>
                <a:tab pos="0" algn="l"/>
              </a:tabLst>
            </a:pPr>
            <a:endParaRPr lang="en-US" sz="1200" b="0" strike="noStrike" spc="-1">
              <a:latin typeface="Aria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3.1.1.748</a:t>
            </a:r>
            <a:br>
              <a:rPr sz="2400"/>
            </a:br>
            <a:r>
              <a:rPr lang="en-US" sz="1600" b="1" strike="noStrike" spc="-1">
                <a:solidFill>
                  <a:srgbClr val="990000"/>
                </a:solidFill>
                <a:latin typeface="Arial"/>
              </a:rPr>
              <a:t>2017-01-18</a:t>
            </a:r>
            <a:endParaRPr lang="en-US" sz="1600" b="0" strike="noStrike" spc="-1">
              <a:latin typeface="Arial"/>
            </a:endParaRPr>
          </a:p>
        </p:txBody>
      </p:sp>
      <p:sp>
        <p:nvSpPr>
          <p:cNvPr id="381" name="PlaceHolder 2"/>
          <p:cNvSpPr>
            <a:spLocks noGrp="1"/>
          </p:cNvSpPr>
          <p:nvPr>
            <p:ph/>
          </p:nvPr>
        </p:nvSpPr>
        <p:spPr>
          <a:xfrm>
            <a:off x="323640" y="1628640"/>
            <a:ext cx="8640360" cy="4751640"/>
          </a:xfrm>
          <a:prstGeom prst="rect">
            <a:avLst/>
          </a:prstGeom>
          <a:noFill/>
          <a:ln w="0">
            <a:noFill/>
          </a:ln>
        </p:spPr>
        <p:txBody>
          <a:bodyPr lIns="90000" tIns="45000" rIns="90000" bIns="45000" numCol="1" spcCol="0" anchor="t">
            <a:noAutofit/>
          </a:bodyPr>
          <a:lstStyle/>
          <a:p>
            <a:pPr>
              <a:lnSpc>
                <a:spcPct val="100000"/>
              </a:lnSpc>
              <a:spcBef>
                <a:spcPts val="281"/>
              </a:spcBef>
              <a:buNone/>
              <a:tabLst>
                <a:tab pos="0" algn="l"/>
              </a:tabLst>
            </a:pPr>
            <a:r>
              <a:rPr lang="en-US" sz="1400" b="1" strike="noStrike" spc="-1">
                <a:solidFill>
                  <a:srgbClr val="000000"/>
                </a:solidFill>
                <a:latin typeface="Arial"/>
              </a:rPr>
              <a:t>Bugfixes: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[VECTO-404] Driving Cycle with PTO stopped simulation after first PTO activation</a:t>
            </a:r>
            <a:endParaRPr lang="en-US" sz="1400" b="0" strike="noStrike" spc="-1">
              <a:latin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3.1.1.742</a:t>
            </a:r>
            <a:br>
              <a:rPr sz="2400"/>
            </a:br>
            <a:r>
              <a:rPr lang="en-US" sz="1600" b="1" strike="noStrike" spc="-1">
                <a:solidFill>
                  <a:srgbClr val="990000"/>
                </a:solidFill>
                <a:latin typeface="Arial"/>
              </a:rPr>
              <a:t>2017-01-12</a:t>
            </a:r>
            <a:endParaRPr lang="en-US" sz="1600" b="0" strike="noStrike" spc="-1">
              <a:latin typeface="Arial"/>
            </a:endParaRPr>
          </a:p>
        </p:txBody>
      </p:sp>
      <p:sp>
        <p:nvSpPr>
          <p:cNvPr id="383" name="PlaceHolder 2"/>
          <p:cNvSpPr>
            <a:spLocks noGrp="1"/>
          </p:cNvSpPr>
          <p:nvPr>
            <p:ph/>
          </p:nvPr>
        </p:nvSpPr>
        <p:spPr>
          <a:xfrm>
            <a:off x="323640" y="1196640"/>
            <a:ext cx="8640360" cy="5184000"/>
          </a:xfrm>
          <a:prstGeom prst="rect">
            <a:avLst/>
          </a:prstGeom>
          <a:noFill/>
          <a:ln w="0">
            <a:noFill/>
          </a:ln>
        </p:spPr>
        <p:txBody>
          <a:bodyPr lIns="90000" tIns="45000" rIns="90000" bIns="45000" numCol="1" spcCol="0" anchor="t">
            <a:noAutofit/>
          </a:bodyPr>
          <a:lstStyle/>
          <a:p>
            <a:pPr>
              <a:lnSpc>
                <a:spcPct val="100000"/>
              </a:lnSpc>
              <a:spcBef>
                <a:spcPts val="281"/>
              </a:spcBef>
              <a:buNone/>
              <a:tabLst>
                <a:tab pos="0" algn="l"/>
              </a:tabLst>
            </a:pPr>
            <a:r>
              <a:rPr lang="en-US" sz="1400" b="1" strike="noStrike" spc="-1">
                <a:solidFill>
                  <a:srgbClr val="000000"/>
                </a:solidFill>
                <a:latin typeface="Arial"/>
              </a:rPr>
              <a:t>Improvements: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[VECTO-390, VECTO-400] Adapt engine speed to estimated engine speed after gear shift during traction interruption (double clutching)</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[VECTO-396, VECTO-388] Add shift losses for AT power shifts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[VECTO-389] new gear shift rules for AT gearboxes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[VECTO-387] added max input speed for torque converter</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[VECTO-385] Automatically add generic torque converter data for drag</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[VECTO-399] Add missions and loadings for vehicle categories 11, 12, and 16 (declaration mode)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[VECTO-384] cleanup memory after simulation run</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[VECTO-394] new option for vectocmd to disable all output</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[VECTO-392] make the GUI scale depending on the Windows font size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[VECTO-391] Gearbox output speed and output torque added to .vmod files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[VECTO-386] Gearbox window: disable input fields not applicable for the selected gearbox type</a:t>
            </a:r>
            <a:endParaRPr lang="en-US" sz="1400" b="0" strike="noStrike" spc="-1">
              <a:latin typeface="Arial"/>
            </a:endParaRPr>
          </a:p>
          <a:p>
            <a:pPr>
              <a:lnSpc>
                <a:spcPct val="100000"/>
              </a:lnSpc>
              <a:spcBef>
                <a:spcPts val="281"/>
              </a:spcBef>
              <a:buNone/>
              <a:tabLst>
                <a:tab pos="0" algn="l"/>
              </a:tabLst>
            </a:pPr>
            <a:r>
              <a:rPr lang="en-US" sz="1400" b="1" strike="noStrike" spc="-1">
                <a:solidFill>
                  <a:srgbClr val="000000"/>
                </a:solidFill>
                <a:latin typeface="Arial"/>
              </a:rPr>
              <a:t>Bugfixes:</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[VECTO-401] Computation of n_95h etc. fails if engine’s max torque is constant 0 </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Lookup of Airdrag parameters in declaration mode</a:t>
            </a:r>
            <a:endParaRPr lang="en-US" sz="1400" b="0" strike="noStrike" spc="-1">
              <a:latin typeface="Arial"/>
            </a:endParaRPr>
          </a:p>
          <a:p>
            <a:pPr marL="343080" indent="-343080">
              <a:lnSpc>
                <a:spcPct val="100000"/>
              </a:lnSpc>
              <a:spcBef>
                <a:spcPts val="281"/>
              </a:spcBef>
              <a:buClr>
                <a:srgbClr val="000000"/>
              </a:buClr>
              <a:buFont typeface="Symbol"/>
              <a:buChar char=""/>
              <a:tabLst>
                <a:tab pos="0" algn="l"/>
              </a:tabLst>
            </a:pPr>
            <a:r>
              <a:rPr lang="en-US" sz="1400" b="0" strike="noStrike" spc="-1">
                <a:solidFill>
                  <a:srgbClr val="000000"/>
                </a:solidFill>
                <a:latin typeface="Arial"/>
              </a:rPr>
              <a:t>[VECTO-378] Improved file-handling in AAUX module</a:t>
            </a:r>
            <a:endParaRPr lang="en-US" sz="1400" b="0" strike="noStrike" spc="-1">
              <a:latin typeface="Aria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3.1.0.683</a:t>
            </a:r>
            <a:br>
              <a:rPr sz="2400"/>
            </a:br>
            <a:r>
              <a:rPr lang="en-US" sz="1600" b="1" strike="noStrike" spc="-1">
                <a:solidFill>
                  <a:srgbClr val="990000"/>
                </a:solidFill>
                <a:latin typeface="Arial"/>
              </a:rPr>
              <a:t>2016-11-14</a:t>
            </a:r>
            <a:endParaRPr lang="en-US" sz="1600" b="0" strike="noStrike" spc="-1">
              <a:latin typeface="Arial"/>
            </a:endParaRPr>
          </a:p>
        </p:txBody>
      </p:sp>
      <p:sp>
        <p:nvSpPr>
          <p:cNvPr id="385" name="PlaceHolder 2"/>
          <p:cNvSpPr>
            <a:spLocks noGrp="1"/>
          </p:cNvSpPr>
          <p:nvPr>
            <p:ph/>
          </p:nvPr>
        </p:nvSpPr>
        <p:spPr>
          <a:xfrm>
            <a:off x="323640" y="1196640"/>
            <a:ext cx="8640360" cy="5184000"/>
          </a:xfrm>
          <a:prstGeom prst="rect">
            <a:avLst/>
          </a:prstGeom>
          <a:noFill/>
          <a:ln w="0">
            <a:noFill/>
          </a:ln>
        </p:spPr>
        <p:txBody>
          <a:bodyPr lIns="90000" tIns="45000" rIns="90000" bIns="45000" numCol="1" spcCol="0" anchor="t">
            <a:noAutofit/>
          </a:bodyPr>
          <a:lstStyle/>
          <a:p>
            <a:pPr>
              <a:lnSpc>
                <a:spcPct val="100000"/>
              </a:lnSpc>
              <a:spcBef>
                <a:spcPts val="320"/>
              </a:spcBef>
              <a:buNone/>
              <a:tabLst>
                <a:tab pos="0" algn="l"/>
              </a:tabLst>
            </a:pPr>
            <a:r>
              <a:rPr lang="en-US" sz="1600" b="1" strike="noStrike" spc="-1">
                <a:solidFill>
                  <a:srgbClr val="000000"/>
                </a:solidFill>
                <a:latin typeface="Arial"/>
              </a:rPr>
              <a:t>Bugfixes: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[VECTO-375] Fixed bug when braking during slope change from negative to positive values.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[VECTO-372] Added check for unusual acceleration/deceleration data which could lead to error when halting.</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[VECTO-371] Added additional behavior to overcome such situations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[VECTO-370] Added additional behavior to overcome such situations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[VECTO-369] CrosswindCorrection is now saved and read again from JSON files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[VECTO-373] WHTC-Engineering correction factor now correctly read/write in JSON files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[VECTO-368] Fixed validation for specific cases when values are intentionally invalid.</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[VECTO-357] Updated GUI to not show ECO-Roll option to avoid confusion</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Fixed numerous bugs in AT-ShiftStrategy regarding the Torque Converter</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Fixed numerous bugs in MeasuredSpeed Mode (and MeasuredSpeed with Gear) in connection with AT-Gearbox and TorqueConverter</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Fixed a bug when PTO-Cycle was missing</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Corrected axle loss maps for Generic Vehicles in Declaration Mode to match technical annex</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Corrected SumFile Cruise Time Share. Added that timeshares must add up to 100%</a:t>
            </a:r>
            <a:endParaRPr lang="en-US" sz="1600" b="0" strike="noStrike" spc="-1">
              <a:latin typeface="Arial"/>
            </a:endParaRPr>
          </a:p>
          <a:p>
            <a:pPr>
              <a:lnSpc>
                <a:spcPct val="100000"/>
              </a:lnSpc>
              <a:spcBef>
                <a:spcPts val="320"/>
              </a:spcBef>
              <a:buNone/>
              <a:tabLst>
                <a:tab pos="0" algn="l"/>
              </a:tabLst>
            </a:pPr>
            <a:endParaRPr lang="en-US" sz="1600" b="0" strike="noStrike" spc="-1">
              <a:latin typeface="Aria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PlaceHolder 1"/>
          <p:cNvSpPr>
            <a:spLocks noGrp="1"/>
          </p:cNvSpPr>
          <p:nvPr>
            <p:ph/>
          </p:nvPr>
        </p:nvSpPr>
        <p:spPr>
          <a:xfrm>
            <a:off x="468360" y="1412640"/>
            <a:ext cx="8495280" cy="4968000"/>
          </a:xfrm>
          <a:prstGeom prst="rect">
            <a:avLst/>
          </a:prstGeom>
          <a:noFill/>
          <a:ln w="0">
            <a:noFill/>
          </a:ln>
        </p:spPr>
        <p:txBody>
          <a:bodyPr lIns="90000" tIns="45000" rIns="90000" bIns="45000" numCol="1" spcCol="0" anchor="t">
            <a:noAutofit/>
          </a:bodyPr>
          <a:lstStyle/>
          <a:p>
            <a:pPr>
              <a:lnSpc>
                <a:spcPct val="100000"/>
              </a:lnSpc>
              <a:spcBef>
                <a:spcPts val="320"/>
              </a:spcBef>
              <a:buNone/>
              <a:tabLst>
                <a:tab pos="0" algn="l"/>
              </a:tabLst>
            </a:pPr>
            <a:r>
              <a:rPr lang="en-US" sz="1600" b="1" strike="noStrike" spc="-1">
                <a:solidFill>
                  <a:srgbClr val="000000"/>
                </a:solidFill>
                <a:latin typeface="Arial"/>
              </a:rPr>
              <a:t>Improvements: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[VECTO-355] Updated documentation, added powertrain schematics in chapter "Simulation Models"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[VECTO-374] Check range for Torque Converter speed ratio input data to be at least between 0 and 2.2</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Updated many error messages to be more explicit about the reason of error</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Added "Mission Profiles" Directory with driving cycles publicly available in the application root directory.</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Added "Declaration" directory with the declaration data files in the application root directory.</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Added warning when engine inertia is 0</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Added check that engine speed must not fall below idle speed (even in measured speed mode)</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Shift curve validation for AT gearboxes: shift curves may now overlap due to different shift logic in AutomaticTransmissions.</a:t>
            </a:r>
            <a:endParaRPr lang="en-US" sz="1600" b="0" strike="noStrike" spc="-1">
              <a:latin typeface="Arial"/>
            </a:endParaRPr>
          </a:p>
          <a:p>
            <a:pPr marL="343080" indent="-343080">
              <a:lnSpc>
                <a:spcPct val="100000"/>
              </a:lnSpc>
              <a:spcBef>
                <a:spcPts val="320"/>
              </a:spcBef>
              <a:buClr>
                <a:srgbClr val="000000"/>
              </a:buClr>
              <a:buFont typeface="Symbol"/>
              <a:buChar char=""/>
              <a:tabLst>
                <a:tab pos="0" algn="l"/>
              </a:tabLst>
            </a:pPr>
            <a:r>
              <a:rPr lang="en-US" sz="1600" b="0" strike="noStrike" spc="-1">
                <a:solidFill>
                  <a:srgbClr val="000000"/>
                </a:solidFill>
                <a:latin typeface="Arial"/>
              </a:rPr>
              <a:t>Updated Crosswind Coefficients for </a:t>
            </a:r>
            <a:r>
              <a:rPr lang="de-AT" sz="1600" b="0" strike="noStrike" spc="-1">
                <a:solidFill>
                  <a:srgbClr val="000000"/>
                </a:solidFill>
                <a:latin typeface="Arial"/>
              </a:rPr>
              <a:t>Tractor+Semitrailer</a:t>
            </a:r>
            <a:endParaRPr lang="en-US" sz="1600" b="0" strike="noStrike" spc="-1">
              <a:latin typeface="Arial"/>
            </a:endParaRPr>
          </a:p>
          <a:p>
            <a:pPr>
              <a:lnSpc>
                <a:spcPct val="100000"/>
              </a:lnSpc>
              <a:spcBef>
                <a:spcPts val="320"/>
              </a:spcBef>
              <a:buNone/>
              <a:tabLst>
                <a:tab pos="0" algn="l"/>
              </a:tabLst>
            </a:pPr>
            <a:endParaRPr lang="en-US" sz="1600" b="0" strike="noStrike" spc="-1">
              <a:latin typeface="Arial"/>
            </a:endParaRPr>
          </a:p>
        </p:txBody>
      </p:sp>
      <p:sp>
        <p:nvSpPr>
          <p:cNvPr id="387" name="Titel 1"/>
          <p:cNvSpPr/>
          <p:nvPr/>
        </p:nvSpPr>
        <p:spPr>
          <a:xfrm>
            <a:off x="468360" y="476640"/>
            <a:ext cx="8217720" cy="68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ea typeface="DejaVu Sans"/>
              </a:rPr>
              <a:t>Vecto 3.1.0.683</a:t>
            </a:r>
            <a:br>
              <a:rPr sz="2400"/>
            </a:br>
            <a:r>
              <a:rPr lang="en-US" sz="1600" b="1" strike="noStrike" spc="-1">
                <a:solidFill>
                  <a:srgbClr val="990000"/>
                </a:solidFill>
                <a:latin typeface="Arial"/>
                <a:ea typeface="DejaVu Sans"/>
              </a:rPr>
              <a:t>2016-11-14</a:t>
            </a:r>
            <a:endParaRPr lang="en-US" sz="1600" b="0" strike="noStrike" spc="-1">
              <a:latin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3.1.0.662</a:t>
            </a:r>
            <a:br>
              <a:rPr sz="2400"/>
            </a:br>
            <a:r>
              <a:rPr lang="en-US" sz="1600" b="1" strike="noStrike" spc="-1">
                <a:solidFill>
                  <a:srgbClr val="990000"/>
                </a:solidFill>
                <a:latin typeface="Arial"/>
              </a:rPr>
              <a:t>2016-10-24</a:t>
            </a:r>
            <a:endParaRPr lang="en-US" sz="1600" b="0" strike="noStrike" spc="-1">
              <a:latin typeface="Arial"/>
            </a:endParaRPr>
          </a:p>
        </p:txBody>
      </p:sp>
      <p:sp>
        <p:nvSpPr>
          <p:cNvPr id="389" name="PlaceHolder 2"/>
          <p:cNvSpPr>
            <a:spLocks noGrp="1"/>
          </p:cNvSpPr>
          <p:nvPr>
            <p:ph/>
          </p:nvPr>
        </p:nvSpPr>
        <p:spPr>
          <a:xfrm>
            <a:off x="468360" y="1412640"/>
            <a:ext cx="8495280" cy="4968000"/>
          </a:xfrm>
          <a:prstGeom prst="rect">
            <a:avLst/>
          </a:prstGeom>
          <a:noFill/>
          <a:ln w="0">
            <a:noFill/>
          </a:ln>
        </p:spPr>
        <p:txBody>
          <a:bodyPr lIns="90000" tIns="45000" rIns="90000" bIns="45000" numCol="1" spcCol="0" anchor="t">
            <a:noAutofit/>
          </a:bodyPr>
          <a:lstStyle/>
          <a:p>
            <a:pPr marL="343080" indent="-343080">
              <a:lnSpc>
                <a:spcPct val="100000"/>
              </a:lnSpc>
              <a:spcBef>
                <a:spcPts val="360"/>
              </a:spcBef>
              <a:buClr>
                <a:srgbClr val="000000"/>
              </a:buClr>
              <a:buFont typeface="Symbol"/>
              <a:buChar char=""/>
            </a:pPr>
            <a:r>
              <a:rPr lang="en-US" sz="1800" b="1" strike="noStrike" spc="-1">
                <a:solidFill>
                  <a:srgbClr val="000000"/>
                </a:solidFill>
                <a:latin typeface="Arial"/>
              </a:rPr>
              <a:t>Bugfixes</a:t>
            </a:r>
            <a:r>
              <a:rPr lang="en-US" sz="1800" b="0" strike="noStrike" spc="-1">
                <a:solidFill>
                  <a:srgbClr val="000000"/>
                </a:solidFill>
                <a:latin typeface="Arial"/>
              </a:rPr>
              <a:t>:</a:t>
            </a:r>
            <a:endParaRPr lang="en-US" sz="18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[VECTO-360] Fixed error during startup of VECTO (loading of DLLs).</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[VECTO-358] Fixed errors during simulation where vehicle unintentionally was driving backwards. Fixed 1Hz-Filter for ModFiles (distance was wrong under certain circumstances, vehicle seemingly jumping back before halt)</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[VECTO-361] Fixed classification of vehicles with GVM of exactly 7500kg</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[VECTO-364] Fixed an error in measured speed mode (run aborts).</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[VECTO-363] Compute shift polygons in declaration mode now uses correct boundary for full load margin.</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[VECTO-365] Fixed editing gears in declaration mode</a:t>
            </a:r>
            <a:endParaRPr lang="en-US" sz="1600" b="0" strike="noStrike" spc="-1">
              <a:latin typeface="Arial"/>
            </a:endParaRPr>
          </a:p>
          <a:p>
            <a:pPr marL="343080" indent="-343080">
              <a:lnSpc>
                <a:spcPct val="100000"/>
              </a:lnSpc>
              <a:spcBef>
                <a:spcPts val="360"/>
              </a:spcBef>
              <a:buClr>
                <a:srgbClr val="000000"/>
              </a:buClr>
              <a:buFont typeface="Symbol"/>
              <a:buChar char=""/>
            </a:pPr>
            <a:r>
              <a:rPr lang="en-US" sz="1800" b="1" strike="noStrike" spc="-1">
                <a:solidFill>
                  <a:srgbClr val="000000"/>
                </a:solidFill>
                <a:latin typeface="Arial"/>
              </a:rPr>
              <a:t>Improvements</a:t>
            </a:r>
            <a:r>
              <a:rPr lang="en-US" sz="1800" b="0" strike="noStrike" spc="-1">
                <a:solidFill>
                  <a:srgbClr val="000000"/>
                </a:solidFill>
                <a:latin typeface="Arial"/>
              </a:rPr>
              <a:t>:</a:t>
            </a:r>
            <a:endParaRPr lang="en-US" sz="18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[VECTO-355] User Manual updated (Screenshots, Descriptions, File Formats, Vecto V2 Comments removed).</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[VECTO-317] Declaration data for Wheel sizes updated</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[VECTO-359] Simplified code regarding PT1 behavior.</a:t>
            </a:r>
            <a:endParaRPr lang="en-US" sz="1600" b="0" strike="noStrike" spc="-1">
              <a:latin typeface="Arial"/>
            </a:endParaRPr>
          </a:p>
          <a:p>
            <a:pPr marL="743040" lvl="1" indent="-285840">
              <a:lnSpc>
                <a:spcPct val="100000"/>
              </a:lnSpc>
              <a:spcBef>
                <a:spcPts val="320"/>
              </a:spcBef>
              <a:buClr>
                <a:srgbClr val="000000"/>
              </a:buClr>
              <a:buFont typeface="Symbol"/>
              <a:buChar char=""/>
            </a:pPr>
            <a:r>
              <a:rPr lang="en-US" sz="1600" b="0" strike="noStrike" spc="-1">
                <a:solidFill>
                  <a:srgbClr val="000000"/>
                </a:solidFill>
                <a:latin typeface="Arial"/>
              </a:rPr>
              <a:t>[VECTO-323] PTO-Cycle may now be left empty when not used in driving cycle.</a:t>
            </a:r>
            <a:endParaRPr lang="en-US" sz="1600" b="0" strike="noStrike" spc="-1">
              <a:latin typeface="Aria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3.1.0.652</a:t>
            </a:r>
            <a:br>
              <a:rPr sz="2400"/>
            </a:br>
            <a:r>
              <a:rPr lang="en-US" sz="1600" b="1" strike="noStrike" spc="-1">
                <a:solidFill>
                  <a:srgbClr val="990000"/>
                </a:solidFill>
                <a:latin typeface="Arial"/>
              </a:rPr>
              <a:t>2016-10-14</a:t>
            </a:r>
            <a:endParaRPr lang="en-US" sz="1600" b="0" strike="noStrike" spc="-1">
              <a:latin typeface="Arial"/>
            </a:endParaRPr>
          </a:p>
        </p:txBody>
      </p:sp>
      <p:sp>
        <p:nvSpPr>
          <p:cNvPr id="391" name="PlaceHolder 2"/>
          <p:cNvSpPr>
            <a:spLocks noGrp="1"/>
          </p:cNvSpPr>
          <p:nvPr>
            <p:ph/>
          </p:nvPr>
        </p:nvSpPr>
        <p:spPr>
          <a:xfrm>
            <a:off x="468360" y="1412640"/>
            <a:ext cx="8495280" cy="471276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Main Updates</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Removed VECTO Core 2.2</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Refactoring of the User-Interface Backend: loading, saving files and validating user input uses Vecto 3 models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AT-Gearbox Model: differentiate between AT gearbox with serial torque converter and AT gearbox using powersplit</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Numbering of gears with AT gearbox corresponds to mechanical gears, new column TC_locked in .vmod file to indicate if torque converter is active</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Torque converter gear no longer allowed in input (added by Vecto depending on the AT model)</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New implementation of torque converter model (analytic solutions)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Added PTO option for municipal utility vehicles: PTO idle losses, separate PTO cycle during standstill</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Added Angledrive Component</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Option for constant Auxiliary Power Demand in Job-File</a:t>
            </a:r>
            <a:endParaRPr lang="en-US" sz="1800" b="0" strike="noStrike" spc="-1">
              <a:latin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3.1.0.652</a:t>
            </a:r>
            <a:br>
              <a:rPr sz="2400"/>
            </a:br>
            <a:r>
              <a:rPr lang="en-US" sz="1600" b="1" strike="noStrike" spc="-1">
                <a:solidFill>
                  <a:srgbClr val="990000"/>
                </a:solidFill>
                <a:latin typeface="Arial"/>
              </a:rPr>
              <a:t>2016-10-14</a:t>
            </a:r>
            <a:endParaRPr lang="en-US" sz="1600" b="0" strike="noStrike" spc="-1">
              <a:latin typeface="Arial"/>
            </a:endParaRPr>
          </a:p>
        </p:txBody>
      </p:sp>
      <p:sp>
        <p:nvSpPr>
          <p:cNvPr id="393" name="PlaceHolder 2"/>
          <p:cNvSpPr>
            <a:spLocks noGrp="1"/>
          </p:cNvSpPr>
          <p:nvPr>
            <p:ph/>
          </p:nvPr>
        </p:nvSpPr>
        <p:spPr>
          <a:xfrm>
            <a:off x="468360" y="1268640"/>
            <a:ext cx="8495280" cy="485676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Main Updates (cont.)</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Normalize x/y values before triangulating Delaunay map (transmission loss-maps, fuel consumption loss map)</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Additional fuel consumption correction factor in declaration mode: cold/hot balancing factor</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Added fuel consumption correction factor (WHTC, Cold/Hot balancing, …) in engineering mode</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Update auxiliaries power demand according to latest whitebook</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Allow multiple steered axles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Adapted engine idle controller (during declutch) – engine speed decreases faster</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SUM-File: split E_axl_gbx into two columns, E_axl and E_gbx</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New columns in mod-file: PTO, torque converter</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Removed full-load curve per gear, only single value MaxTorque</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Removed rims (dynamic wheel radius depends on wheel type)</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Fixes in AAUX module: open correct file-browser, save selected files</a:t>
            </a:r>
            <a:endParaRPr lang="en-US" sz="1800" b="0" strike="noStrike" spc="-1">
              <a:latin typeface="Arial"/>
            </a:endParaRPr>
          </a:p>
          <a:p>
            <a:pPr>
              <a:lnSpc>
                <a:spcPct val="100000"/>
              </a:lnSpc>
              <a:buNone/>
            </a:pPr>
            <a:endParaRPr lang="en-US" sz="1800" b="0" strike="noStrike" spc="-1">
              <a:latin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296640" y="476640"/>
            <a:ext cx="8451360" cy="575280"/>
          </a:xfrm>
          <a:prstGeom prst="rect">
            <a:avLst/>
          </a:prstGeom>
          <a:noFill/>
          <a:ln w="0">
            <a:noFill/>
          </a:ln>
        </p:spPr>
        <p:txBody>
          <a:bodyPr lIns="90000" tIns="45000" rIns="90000" bIns="45000" numCol="1" spcCol="0" anchor="ctr">
            <a:noAutofit/>
          </a:bodyPr>
          <a:lstStyle/>
          <a:p>
            <a:pPr>
              <a:lnSpc>
                <a:spcPct val="100000"/>
              </a:lnSpc>
              <a:buNone/>
            </a:pPr>
            <a:r>
              <a:rPr lang="en-US" sz="2400" b="1" strike="noStrike" spc="-1">
                <a:solidFill>
                  <a:srgbClr val="990000"/>
                </a:solidFill>
                <a:latin typeface="Arial"/>
              </a:rPr>
              <a:t>Status quo VECTO software and open issues (Oct. 2016)</a:t>
            </a:r>
            <a:endParaRPr lang="en-US" sz="2400" b="0" strike="noStrike" spc="-1">
              <a:latin typeface="Arial"/>
            </a:endParaRPr>
          </a:p>
        </p:txBody>
      </p:sp>
      <p:sp>
        <p:nvSpPr>
          <p:cNvPr id="395" name="Textfeld 2"/>
          <p:cNvSpPr/>
          <p:nvPr/>
        </p:nvSpPr>
        <p:spPr>
          <a:xfrm>
            <a:off x="323640" y="908640"/>
            <a:ext cx="8496360" cy="39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001"/>
              </a:spcBef>
              <a:buNone/>
            </a:pPr>
            <a:r>
              <a:rPr lang="de-AT" sz="2000" b="1" strike="noStrike" spc="-1">
                <a:solidFill>
                  <a:srgbClr val="000000"/>
                </a:solidFill>
                <a:latin typeface="Arial"/>
                <a:ea typeface="DejaVu Sans"/>
              </a:rPr>
              <a:t>Next issues on the to do list</a:t>
            </a:r>
            <a:endParaRPr lang="en-US" sz="2000" b="0" strike="noStrike" spc="-1">
              <a:latin typeface="Arial"/>
            </a:endParaRPr>
          </a:p>
        </p:txBody>
      </p:sp>
      <p:sp>
        <p:nvSpPr>
          <p:cNvPr id="396" name="Textfeld 6"/>
          <p:cNvSpPr/>
          <p:nvPr/>
        </p:nvSpPr>
        <p:spPr>
          <a:xfrm>
            <a:off x="539640" y="1484640"/>
            <a:ext cx="8352360" cy="487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spcBef>
                <a:spcPts val="700"/>
              </a:spcBef>
              <a:buClr>
                <a:srgbClr val="000000"/>
              </a:buClr>
              <a:buFont typeface="Arial"/>
              <a:buChar char="•"/>
            </a:pPr>
            <a:r>
              <a:rPr lang="en-GB" sz="1400" b="1" strike="noStrike" spc="-1">
                <a:solidFill>
                  <a:srgbClr val="000000"/>
                </a:solidFill>
                <a:latin typeface="Arial"/>
                <a:ea typeface="DejaVu Sans"/>
              </a:rPr>
              <a:t>Further development of the AT model</a:t>
            </a:r>
            <a:br>
              <a:rPr sz="1400"/>
            </a:br>
            <a:r>
              <a:rPr lang="en-GB" sz="1400" b="0" strike="noStrike" spc="-1">
                <a:solidFill>
                  <a:srgbClr val="000000"/>
                </a:solidFill>
                <a:latin typeface="Arial"/>
                <a:ea typeface="DejaVu Sans"/>
              </a:rPr>
              <a:t>Consideration of losses during power shifts, update of gear shift logics</a:t>
            </a:r>
            <a:endParaRPr lang="en-US" sz="1400" b="0" strike="noStrike" spc="-1">
              <a:latin typeface="Arial"/>
            </a:endParaRPr>
          </a:p>
          <a:p>
            <a:pPr marL="285840" indent="-285840">
              <a:lnSpc>
                <a:spcPct val="100000"/>
              </a:lnSpc>
              <a:spcBef>
                <a:spcPts val="700"/>
              </a:spcBef>
              <a:buClr>
                <a:srgbClr val="000000"/>
              </a:buClr>
              <a:buFont typeface="Arial"/>
              <a:buChar char="•"/>
            </a:pPr>
            <a:r>
              <a:rPr lang="en-GB" sz="1400" b="1" strike="noStrike" spc="-1">
                <a:solidFill>
                  <a:srgbClr val="000000"/>
                </a:solidFill>
                <a:latin typeface="Arial"/>
                <a:ea typeface="DejaVu Sans"/>
              </a:rPr>
              <a:t>Reimplementation of engine stop/start</a:t>
            </a:r>
            <a:endParaRPr lang="en-US" sz="1400" b="0" strike="noStrike" spc="-1">
              <a:latin typeface="Arial"/>
            </a:endParaRPr>
          </a:p>
          <a:p>
            <a:pPr marL="285840" indent="-285840">
              <a:lnSpc>
                <a:spcPct val="100000"/>
              </a:lnSpc>
              <a:spcBef>
                <a:spcPts val="700"/>
              </a:spcBef>
              <a:buClr>
                <a:srgbClr val="000000"/>
              </a:buClr>
              <a:buFont typeface="Arial"/>
              <a:buChar char="•"/>
            </a:pPr>
            <a:r>
              <a:rPr lang="en-GB" sz="1400" b="1" strike="noStrike" spc="-1">
                <a:solidFill>
                  <a:srgbClr val="000000"/>
                </a:solidFill>
                <a:latin typeface="Arial"/>
                <a:ea typeface="DejaVu Sans"/>
              </a:rPr>
              <a:t>Declaration mode: implementation of EMS vehicle configurations</a:t>
            </a:r>
            <a:endParaRPr lang="en-US" sz="1400" b="0" strike="noStrike" spc="-1">
              <a:latin typeface="Arial"/>
            </a:endParaRPr>
          </a:p>
          <a:p>
            <a:pPr>
              <a:lnSpc>
                <a:spcPct val="100000"/>
              </a:lnSpc>
              <a:spcBef>
                <a:spcPts val="700"/>
              </a:spcBef>
              <a:buNone/>
            </a:pPr>
            <a:endParaRPr lang="en-US" sz="1400" b="0" strike="noStrike" spc="-1">
              <a:latin typeface="Arial"/>
            </a:endParaRPr>
          </a:p>
          <a:p>
            <a:pPr>
              <a:lnSpc>
                <a:spcPct val="100000"/>
              </a:lnSpc>
              <a:spcBef>
                <a:spcPts val="700"/>
              </a:spcBef>
              <a:buNone/>
            </a:pPr>
            <a:r>
              <a:rPr lang="en-GB" sz="1400" b="1" u="sng" strike="noStrike" spc="-1">
                <a:solidFill>
                  <a:srgbClr val="000000"/>
                </a:solidFill>
                <a:uFillTx/>
                <a:latin typeface="Arial"/>
                <a:ea typeface="DejaVu Sans"/>
              </a:rPr>
              <a:t>Items waiting for decision on methods and resources:</a:t>
            </a:r>
            <a:endParaRPr lang="en-US" sz="1400" b="0" strike="noStrike" spc="-1">
              <a:latin typeface="Arial"/>
            </a:endParaRPr>
          </a:p>
          <a:p>
            <a:pPr marL="285840" indent="-285840">
              <a:lnSpc>
                <a:spcPct val="100000"/>
              </a:lnSpc>
              <a:spcBef>
                <a:spcPts val="700"/>
              </a:spcBef>
              <a:buClr>
                <a:srgbClr val="000000"/>
              </a:buClr>
              <a:buFont typeface="Arial"/>
              <a:buChar char="•"/>
            </a:pPr>
            <a:r>
              <a:rPr lang="en-GB" sz="1400" b="1" strike="noStrike" spc="-1">
                <a:solidFill>
                  <a:srgbClr val="000000"/>
                </a:solidFill>
                <a:latin typeface="Arial"/>
                <a:ea typeface="DejaVu Sans"/>
              </a:rPr>
              <a:t>Update engine data (according to update of Annex II)</a:t>
            </a:r>
            <a:br>
              <a:rPr sz="1400"/>
            </a:br>
            <a:r>
              <a:rPr lang="en-GB" sz="1400" b="0" strike="noStrike" spc="-1">
                <a:solidFill>
                  <a:srgbClr val="000000"/>
                </a:solidFill>
                <a:latin typeface="Arial"/>
                <a:ea typeface="DejaVu Sans"/>
              </a:rPr>
              <a:t>Other fuels than diesel, “top torque” feature, correction factor for periodic regerating DPFs</a:t>
            </a:r>
            <a:endParaRPr lang="en-US" sz="1400" b="0" strike="noStrike" spc="-1">
              <a:latin typeface="Arial"/>
            </a:endParaRPr>
          </a:p>
          <a:p>
            <a:pPr marL="285840" indent="-285840">
              <a:lnSpc>
                <a:spcPct val="100000"/>
              </a:lnSpc>
              <a:spcBef>
                <a:spcPts val="700"/>
              </a:spcBef>
              <a:buClr>
                <a:srgbClr val="000000"/>
              </a:buClr>
              <a:buFont typeface="Arial"/>
              <a:buChar char="•"/>
            </a:pPr>
            <a:r>
              <a:rPr lang="en-GB" sz="1400" b="1" strike="noStrike" spc="-1">
                <a:solidFill>
                  <a:srgbClr val="000000"/>
                </a:solidFill>
                <a:latin typeface="Arial"/>
                <a:ea typeface="DejaVu Sans"/>
              </a:rPr>
              <a:t>Declaration mode: </a:t>
            </a:r>
            <a:endParaRPr lang="en-US" sz="1400" b="0" strike="noStrike" spc="-1">
              <a:latin typeface="Arial"/>
            </a:endParaRPr>
          </a:p>
          <a:p>
            <a:pPr marL="743040" lvl="1" indent="-285840">
              <a:lnSpc>
                <a:spcPct val="100000"/>
              </a:lnSpc>
              <a:spcBef>
                <a:spcPts val="300"/>
              </a:spcBef>
              <a:buClr>
                <a:srgbClr val="000000"/>
              </a:buClr>
              <a:buFont typeface="Arial"/>
              <a:buChar char="•"/>
            </a:pPr>
            <a:r>
              <a:rPr lang="en-GB" sz="1400" b="1" strike="noStrike" spc="-1">
                <a:solidFill>
                  <a:srgbClr val="000000"/>
                </a:solidFill>
                <a:latin typeface="Arial"/>
                <a:ea typeface="DejaVu Sans"/>
              </a:rPr>
              <a:t>Revision of calculated vehicle loads</a:t>
            </a:r>
            <a:endParaRPr lang="en-US" sz="1400" b="0" strike="noStrike" spc="-1">
              <a:latin typeface="Arial"/>
            </a:endParaRPr>
          </a:p>
          <a:p>
            <a:pPr marL="743040" lvl="1" indent="-285840">
              <a:lnSpc>
                <a:spcPct val="100000"/>
              </a:lnSpc>
              <a:spcBef>
                <a:spcPts val="300"/>
              </a:spcBef>
              <a:buClr>
                <a:srgbClr val="000000"/>
              </a:buClr>
              <a:buFont typeface="Arial"/>
              <a:buChar char="•"/>
            </a:pPr>
            <a:r>
              <a:rPr lang="en-GB" sz="1400" b="1" strike="noStrike" spc="-1">
                <a:solidFill>
                  <a:srgbClr val="000000"/>
                </a:solidFill>
                <a:latin typeface="Arial"/>
                <a:ea typeface="DejaVu Sans"/>
              </a:rPr>
              <a:t>implementation of refuse cycle (instead “municipal”)</a:t>
            </a:r>
            <a:br>
              <a:rPr sz="1400"/>
            </a:br>
            <a:r>
              <a:rPr lang="en-GB" sz="1400" b="0" strike="noStrike" spc="-1">
                <a:solidFill>
                  <a:srgbClr val="000000"/>
                </a:solidFill>
                <a:latin typeface="Arial"/>
                <a:ea typeface="DejaVu Sans"/>
              </a:rPr>
              <a:t>Update of driving cycle, consideration of generic PTO loads during collection part,</a:t>
            </a:r>
            <a:br>
              <a:rPr sz="1400"/>
            </a:br>
            <a:r>
              <a:rPr lang="en-GB" sz="1400" b="0" strike="noStrike" spc="-1">
                <a:solidFill>
                  <a:srgbClr val="000000"/>
                </a:solidFill>
                <a:latin typeface="Arial"/>
                <a:ea typeface="DejaVu Sans"/>
              </a:rPr>
              <a:t>generic body weight and payload</a:t>
            </a:r>
            <a:endParaRPr lang="en-US" sz="1400" b="0" strike="noStrike" spc="-1">
              <a:latin typeface="Arial"/>
            </a:endParaRPr>
          </a:p>
          <a:p>
            <a:pPr marL="743040" lvl="1" indent="-285840">
              <a:lnSpc>
                <a:spcPct val="100000"/>
              </a:lnSpc>
              <a:spcBef>
                <a:spcPts val="300"/>
              </a:spcBef>
              <a:buClr>
                <a:srgbClr val="000000"/>
              </a:buClr>
              <a:buFont typeface="Arial"/>
              <a:buChar char="•"/>
            </a:pPr>
            <a:r>
              <a:rPr lang="en-GB" sz="1400" b="1" strike="noStrike" spc="-1">
                <a:solidFill>
                  <a:srgbClr val="000000"/>
                </a:solidFill>
                <a:latin typeface="Arial"/>
                <a:ea typeface="DejaVu Sans"/>
              </a:rPr>
              <a:t>VECTO output (approval authorities, customer info, monitoring)</a:t>
            </a:r>
            <a:endParaRPr lang="en-US" sz="1400" b="0" strike="noStrike" spc="-1">
              <a:latin typeface="Arial"/>
            </a:endParaRPr>
          </a:p>
          <a:p>
            <a:pPr marL="743040" lvl="1" indent="-285840">
              <a:lnSpc>
                <a:spcPct val="100000"/>
              </a:lnSpc>
              <a:spcBef>
                <a:spcPts val="300"/>
              </a:spcBef>
              <a:buClr>
                <a:srgbClr val="000000"/>
              </a:buClr>
              <a:buFont typeface="Arial"/>
              <a:buChar char="•"/>
            </a:pPr>
            <a:r>
              <a:rPr lang="en-GB" sz="1400" b="1" strike="noStrike" spc="-1">
                <a:solidFill>
                  <a:srgbClr val="000000"/>
                </a:solidFill>
                <a:latin typeface="Arial"/>
                <a:ea typeface="DejaVu Sans"/>
              </a:rPr>
              <a:t>Buses</a:t>
            </a:r>
            <a:endParaRPr lang="en-US" sz="1400" b="0" strike="noStrike" spc="-1">
              <a:latin typeface="Arial"/>
            </a:endParaRPr>
          </a:p>
          <a:p>
            <a:pPr marL="285840" indent="-285840">
              <a:lnSpc>
                <a:spcPct val="100000"/>
              </a:lnSpc>
              <a:spcBef>
                <a:spcPts val="700"/>
              </a:spcBef>
              <a:buClr>
                <a:srgbClr val="000000"/>
              </a:buClr>
              <a:buFont typeface="Arial"/>
              <a:buChar char="•"/>
            </a:pPr>
            <a:r>
              <a:rPr lang="en-GB" sz="1400" b="1" strike="noStrike" spc="-1">
                <a:solidFill>
                  <a:srgbClr val="000000"/>
                </a:solidFill>
                <a:latin typeface="Arial"/>
                <a:ea typeface="DejaVu Sans"/>
              </a:rPr>
              <a:t>Predictive ADAS</a:t>
            </a:r>
            <a:endParaRPr lang="en-US" sz="1400" b="0" strike="noStrike" spc="-1">
              <a:latin typeface="Arial"/>
            </a:endParaRPr>
          </a:p>
          <a:p>
            <a:pPr>
              <a:lnSpc>
                <a:spcPct val="100000"/>
              </a:lnSpc>
              <a:spcBef>
                <a:spcPts val="700"/>
              </a:spcBef>
              <a:buNone/>
            </a:pPr>
            <a:endParaRPr lang="en-US" sz="1400" b="0" strike="noStrike" spc="-1">
              <a:latin typeface="Arial"/>
            </a:endParaRPr>
          </a:p>
          <a:p>
            <a:pPr>
              <a:lnSpc>
                <a:spcPct val="100000"/>
              </a:lnSpc>
              <a:spcBef>
                <a:spcPts val="700"/>
              </a:spcBef>
              <a:buNone/>
            </a:pPr>
            <a:endParaRPr lang="en-US" sz="1400" b="0" strike="noStrike" spc="-1">
              <a:latin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3.0.4.565</a:t>
            </a:r>
            <a:br>
              <a:rPr sz="2400"/>
            </a:br>
            <a:r>
              <a:rPr lang="en-US" sz="1600" b="1" strike="noStrike" spc="-1">
                <a:solidFill>
                  <a:srgbClr val="990000"/>
                </a:solidFill>
                <a:latin typeface="Arial"/>
              </a:rPr>
              <a:t>2016-07-19</a:t>
            </a:r>
            <a:endParaRPr lang="en-US" sz="1600" b="0" strike="noStrike" spc="-1">
              <a:latin typeface="Arial"/>
            </a:endParaRPr>
          </a:p>
        </p:txBody>
      </p:sp>
      <p:sp>
        <p:nvSpPr>
          <p:cNvPr id="398"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Bugfixes</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AAUX HVAC Dialog does not store path to ActuationsMap and SSMSource</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GUI: check for axle loads in declaration mode renders editing dialog useless </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Vecto 2.2: Simulation aborts (Vecto terminates) when simulating EngineOnly cycles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Vecto 3: Building SimulationRun EngineOnly simulation failed</a:t>
            </a:r>
            <a:endParaRPr lang="en-US" sz="1800" b="0" strike="noStrike" spc="-1">
              <a:latin typeface="Aria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468360" y="786240"/>
            <a:ext cx="8217720" cy="48168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3.0.4.544</a:t>
            </a:r>
            <a:br>
              <a:rPr sz="2400"/>
            </a:br>
            <a:r>
              <a:rPr lang="en-US" sz="1600" b="1" strike="noStrike" spc="-1">
                <a:solidFill>
                  <a:srgbClr val="990000"/>
                </a:solidFill>
                <a:latin typeface="Arial"/>
              </a:rPr>
              <a:t>2016-06-28</a:t>
            </a:r>
            <a:endParaRPr lang="en-US" sz="1600" b="0" strike="noStrike" spc="-1">
              <a:latin typeface="Arial"/>
            </a:endParaRPr>
          </a:p>
        </p:txBody>
      </p:sp>
      <p:sp>
        <p:nvSpPr>
          <p:cNvPr id="400" name="PlaceHolder 2"/>
          <p:cNvSpPr>
            <a:spLocks noGrp="1"/>
          </p:cNvSpPr>
          <p:nvPr>
            <p:ph/>
          </p:nvPr>
        </p:nvSpPr>
        <p:spPr>
          <a:xfrm>
            <a:off x="539640" y="1628640"/>
            <a:ext cx="8064000" cy="435276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Main Updates</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New gear shift strategy according to White Book 2016</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New coasting strategy according to White Book 2016</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New input parameters (enineering mode) for coasting and gear shift behavior</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Use SI units in Advanced Auxiliaries Module and compile with strict compiler settings (no implicit casts, etc.)</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Allow efficiency for transmission losses (in engineering mode)</a:t>
            </a:r>
            <a:endParaRPr lang="en-US" sz="1800" b="0" strike="noStrike" spc="-1">
              <a:latin typeface="Arial"/>
            </a:endParaRPr>
          </a:p>
          <a:p>
            <a:pPr>
              <a:lnSpc>
                <a:spcPct val="100000"/>
              </a:lnSpc>
              <a:spcBef>
                <a:spcPts val="400"/>
              </a:spcBef>
              <a:buNone/>
            </a:pPr>
            <a:endParaRPr lang="en-US" sz="20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Bugfixes</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Auxiliary TechList not read from JSON input data</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Improvements in driver strategy</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Bugfixes in MeasuredSpeed mode</a:t>
            </a:r>
            <a:endParaRPr lang="en-US" sz="1800" b="0" strike="noStrike" spc="-1">
              <a:latin typeface="Aria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Notes for using Vecto 3.x with AAUX (1)</a:t>
            </a:r>
            <a:endParaRPr lang="en-US" sz="2400" b="0" strike="noStrike" spc="-1">
              <a:latin typeface="Arial"/>
            </a:endParaRPr>
          </a:p>
        </p:txBody>
      </p:sp>
      <p:sp>
        <p:nvSpPr>
          <p:cNvPr id="402"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The AdvancedAuxiliaries module requires the number of activations for pneumatic consumers (brakes, doors, kneeling) and the (estimated) total cycle time. This can be configured in the .APAC-file (actuations file). For standard bus/coach cycles (i.e., the cycle file contains “bus” </a:t>
            </a:r>
            <a:r>
              <a:rPr lang="en-US" sz="2000" b="1" strike="noStrike" spc="-1">
                <a:solidFill>
                  <a:srgbClr val="000000"/>
                </a:solidFill>
                <a:latin typeface="Arial"/>
              </a:rPr>
              <a:t>and</a:t>
            </a:r>
            <a:r>
              <a:rPr lang="en-US" sz="2000" b="0" strike="noStrike" spc="-1">
                <a:solidFill>
                  <a:srgbClr val="000000"/>
                </a:solidFill>
                <a:latin typeface="Arial"/>
              </a:rPr>
              <a:t> “heavy_urban” or “suburban” or “interurban” or “urban”; </a:t>
            </a:r>
            <a:r>
              <a:rPr lang="en-US" sz="2000" b="1" strike="noStrike" spc="-1">
                <a:solidFill>
                  <a:srgbClr val="000000"/>
                </a:solidFill>
                <a:latin typeface="Arial"/>
              </a:rPr>
              <a:t>or</a:t>
            </a:r>
            <a:r>
              <a:rPr lang="en-US" sz="2000" b="0" strike="noStrike" spc="-1">
                <a:solidFill>
                  <a:srgbClr val="000000"/>
                </a:solidFill>
                <a:latin typeface="Arial"/>
              </a:rPr>
              <a:t> the cycle contains “coach” (</a:t>
            </a:r>
            <a:r>
              <a:rPr lang="en-US" sz="2000" b="0" i="1" strike="noStrike" spc="-1">
                <a:solidFill>
                  <a:srgbClr val="000000"/>
                </a:solidFill>
                <a:latin typeface="Arial"/>
              </a:rPr>
              <a:t>case insensitive</a:t>
            </a:r>
            <a:r>
              <a:rPr lang="en-US" sz="2000" b="0" strike="noStrike" spc="-1">
                <a:solidFill>
                  <a:srgbClr val="000000"/>
                </a:solidFill>
                <a:latin typeface="Arial"/>
              </a:rPr>
              <a:t>)) the actuations file already contains the number of activations and the cycle time. For other cycles the filename without extension is used to lookup the activations in the .APAC file (</a:t>
            </a:r>
            <a:r>
              <a:rPr lang="en-US" sz="2000" b="0" i="1" strike="noStrike" spc="-1">
                <a:solidFill>
                  <a:srgbClr val="000000"/>
                </a:solidFill>
                <a:latin typeface="Arial"/>
              </a:rPr>
              <a:t>case sensitive</a:t>
            </a:r>
            <a:r>
              <a:rPr lang="en-US" sz="2000" b="0" strike="noStrike" spc="-1">
                <a:solidFill>
                  <a:srgbClr val="000000"/>
                </a:solidFill>
                <a:latin typeface="Arial"/>
              </a:rPr>
              <a:t>)</a:t>
            </a:r>
            <a:endParaRPr lang="en-US" sz="2000" b="0" strike="noStrike" spc="-1">
              <a:latin typeface="Aria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PlaceHolder 1"/>
          <p:cNvSpPr>
            <a:spLocks noGrp="1"/>
          </p:cNvSpPr>
          <p:nvPr>
            <p:ph type="title"/>
          </p:nvPr>
        </p:nvSpPr>
        <p:spPr>
          <a:xfrm>
            <a:off x="467640" y="548640"/>
            <a:ext cx="8217720" cy="50328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Notes for using Vecto 3.x with AAUX (2)</a:t>
            </a:r>
            <a:endParaRPr lang="en-US" sz="2400" b="0" strike="noStrike" spc="-1">
              <a:latin typeface="Arial"/>
            </a:endParaRPr>
          </a:p>
        </p:txBody>
      </p:sp>
      <p:sp>
        <p:nvSpPr>
          <p:cNvPr id="404" name="PlaceHolder 2"/>
          <p:cNvSpPr>
            <a:spLocks noGrp="1"/>
          </p:cNvSpPr>
          <p:nvPr>
            <p:ph/>
          </p:nvPr>
        </p:nvSpPr>
        <p:spPr>
          <a:xfrm>
            <a:off x="179640" y="1124640"/>
            <a:ext cx="8856360" cy="532800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Vecto 3 uses an average auxiliaries load (determined by the AAUX module depending on the settings) for the simulation. The AAUX module computes the fuel consumption in parallel to VectoCore and accounts for smart consumers (e.g., alternator, pneumatics, …).</a:t>
            </a:r>
            <a:endParaRPr lang="en-US" sz="20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Output</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The .vmod file contains both, the fuel consumption calculated by VectoCore (per simulation interval) and AAUX (accumulated and per simulation interval).</a:t>
            </a:r>
            <a:br>
              <a:rPr sz="1800"/>
            </a:br>
            <a:r>
              <a:rPr lang="en-US" sz="1800" b="0" strike="noStrike" spc="-1">
                <a:solidFill>
                  <a:srgbClr val="000000"/>
                </a:solidFill>
                <a:latin typeface="Arial"/>
              </a:rPr>
              <a:t>Columns in .vmod file:</a:t>
            </a:r>
            <a:endParaRPr lang="en-US" sz="18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AA_TotalCycleFC_Grams [g]: accumulated fuel consumption as computed by the AAUX model, considering smart consumers</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FC-Map [g/h]: fuel consumption as computed by VectoCore interpolating in the FC-Map, using an average base load of auxiliaries</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FC-AUXc [g/h]: fuel consumption corrected due to engine stop/start (currently not applicable)</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FC-WHTCc [g/h]: WHTC-corrected fuel consumption (not applicable in engineering mode)</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FC-AAUX [g/h]: fuel consumption per simulation interval, derived from AA_TotalCycleFC_Grams</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FC-Final [g/h]: final fuel consumption value with all (applicable) corrections applied (stop/start, WHTC, smart auxiliaries)</a:t>
            </a:r>
            <a:endParaRPr lang="en-US" sz="1400" b="0" strike="noStrike" spc="-1">
              <a:latin typeface="Aria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467640" y="548640"/>
            <a:ext cx="8217720" cy="50328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Notes for using Vecto 3.x with AAUX (3)</a:t>
            </a:r>
            <a:endParaRPr lang="en-US" sz="2400" b="0" strike="noStrike" spc="-1">
              <a:latin typeface="Arial"/>
            </a:endParaRPr>
          </a:p>
        </p:txBody>
      </p:sp>
      <p:sp>
        <p:nvSpPr>
          <p:cNvPr id="406" name="PlaceHolder 2"/>
          <p:cNvSpPr>
            <a:spLocks noGrp="1"/>
          </p:cNvSpPr>
          <p:nvPr>
            <p:ph/>
          </p:nvPr>
        </p:nvSpPr>
        <p:spPr>
          <a:xfrm>
            <a:off x="251640" y="1628640"/>
            <a:ext cx="8640360" cy="46076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Output .vsum</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Columns in .vsum file:</a:t>
            </a:r>
            <a:endParaRPr lang="en-US" sz="18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FC-Map: total fuel consumption as computed by VectoCore interpolating in the FC-Map, using an average base load of auxiliaries</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FC-AUXc: total fuel consumption corrected due to engine stop/start (currently not applicable)</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FC-WHTCc: WHTC-corrected fuel consumption (not applicable in engineering mode)</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FC-AAUX: fuel consumption per simulation interval, derived from AA_TotalCycleFC_Grams</a:t>
            </a:r>
            <a:endParaRPr lang="en-US" sz="1400" b="0" strike="noStrike" spc="-1">
              <a:latin typeface="Arial"/>
            </a:endParaRPr>
          </a:p>
          <a:p>
            <a:pPr marL="1143000" lvl="2" indent="-228600">
              <a:lnSpc>
                <a:spcPct val="100000"/>
              </a:lnSpc>
              <a:spcBef>
                <a:spcPts val="281"/>
              </a:spcBef>
              <a:buClr>
                <a:srgbClr val="000000"/>
              </a:buClr>
              <a:buFont typeface="Symbol"/>
              <a:buChar char=""/>
            </a:pPr>
            <a:r>
              <a:rPr lang="en-US" sz="1400" b="0" strike="noStrike" spc="-1">
                <a:solidFill>
                  <a:srgbClr val="000000"/>
                </a:solidFill>
                <a:latin typeface="Arial"/>
              </a:rPr>
              <a:t>FC-Final: final fuel consumption value with all (applicable) corrections applied (stop/start, WHTC, smart auxiliaries)</a:t>
            </a:r>
            <a:endParaRPr lang="en-US" sz="1400" b="0" strike="noStrike" spc="-1">
              <a:latin typeface="Aria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PlaceHolder 1"/>
          <p:cNvSpPr>
            <a:spLocks noGrp="1"/>
          </p:cNvSpPr>
          <p:nvPr>
            <p:ph type="title"/>
          </p:nvPr>
        </p:nvSpPr>
        <p:spPr>
          <a:xfrm>
            <a:off x="468360" y="570240"/>
            <a:ext cx="8217720" cy="48168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3.0.3.537</a:t>
            </a:r>
            <a:br>
              <a:rPr sz="2400"/>
            </a:br>
            <a:r>
              <a:rPr lang="en-US" sz="1600" b="1" strike="noStrike" spc="-1">
                <a:solidFill>
                  <a:srgbClr val="990000"/>
                </a:solidFill>
                <a:latin typeface="Arial"/>
              </a:rPr>
              <a:t>2016-06-21</a:t>
            </a:r>
            <a:endParaRPr lang="en-US" sz="1600" b="0" strike="noStrike" spc="-1">
              <a:latin typeface="Arial"/>
            </a:endParaRPr>
          </a:p>
        </p:txBody>
      </p:sp>
      <p:sp>
        <p:nvSpPr>
          <p:cNvPr id="408" name="PlaceHolder 2"/>
          <p:cNvSpPr>
            <a:spLocks noGrp="1"/>
          </p:cNvSpPr>
          <p:nvPr>
            <p:ph/>
          </p:nvPr>
        </p:nvSpPr>
        <p:spPr>
          <a:xfrm>
            <a:off x="179640" y="1124640"/>
            <a:ext cx="8784360" cy="485676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Main Updates</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Plot shift lines as computed according to WB 2016 declaration mode in GUI</a:t>
            </a:r>
            <a:endParaRPr lang="en-US" sz="18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Bugfixes</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GUI: Buttons to add/remove auxiliaries are visible again</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Error in calculation of WHTC correction factor</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Fix: consider gearbox inertia (engineering mode) for searching operating point</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Wrong output of road gradient in measured speed mode (correct gradient for simulation)</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Fuel consumption in .vsum file now accounts for AdvancedAuxiliaries model</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GraphDrawer (Vecto): handle new .vmod format of Vecto 3</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AdvancedAuxiliaries: language-settings independent input parsing</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Paux was ignored when running Vecto 2.2</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Error in massive multithreaded execution</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Fix unhandled response during simulation</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Fix output columns in .vmod</a:t>
            </a:r>
            <a:endParaRPr lang="en-US" sz="1800" b="0" strike="noStrike" spc="-1">
              <a:latin typeface="Aria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Vecto 3.0.3.495</a:t>
            </a:r>
            <a:br>
              <a:rPr sz="2400"/>
            </a:br>
            <a:r>
              <a:rPr lang="en-US" sz="1600" b="1" strike="noStrike" spc="-1">
                <a:solidFill>
                  <a:srgbClr val="990000"/>
                </a:solidFill>
                <a:latin typeface="Arial"/>
              </a:rPr>
              <a:t>2016-05-10</a:t>
            </a:r>
            <a:endParaRPr lang="en-US" sz="1600" b="0" strike="noStrike" spc="-1">
              <a:latin typeface="Arial"/>
            </a:endParaRPr>
          </a:p>
        </p:txBody>
      </p:sp>
      <p:sp>
        <p:nvSpPr>
          <p:cNvPr id="410"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Main Updates</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Support for Advanced Auxiliaries (Ricardo) in Vecto 3.0.3 and Vecto 2.2</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Performance improvements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Gearshift polygons according to WB 2016</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Revision of SUM-data file, changed order of columns, changed column headers</a:t>
            </a:r>
            <a:endParaRPr lang="en-US" sz="18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Bugfixes</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Delaunay Maps: additional check for duplicate input points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Creation of PDF Report when running multiple jobs at once</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Sanity checks for gear shift lines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Improvements DriverStrategy: handling special cases</a:t>
            </a:r>
            <a:endParaRPr lang="en-US" sz="1800" b="0" strike="noStrike" spc="-1">
              <a:latin typeface="Aria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 name="Grafik 6"/>
          <p:cNvPicPr/>
          <p:nvPr/>
        </p:nvPicPr>
        <p:blipFill>
          <a:blip r:embed="rId2"/>
          <a:stretch/>
        </p:blipFill>
        <p:spPr>
          <a:xfrm>
            <a:off x="971640" y="1049400"/>
            <a:ext cx="7488000" cy="4750200"/>
          </a:xfrm>
          <a:prstGeom prst="rect">
            <a:avLst/>
          </a:prstGeom>
          <a:ln w="0">
            <a:noFill/>
          </a:ln>
        </p:spPr>
      </p:pic>
      <p:sp>
        <p:nvSpPr>
          <p:cNvPr id="412" name="PlaceHolder 1"/>
          <p:cNvSpPr>
            <a:spLocks noGrp="1"/>
          </p:cNvSpPr>
          <p:nvPr>
            <p:ph type="title"/>
          </p:nvPr>
        </p:nvSpPr>
        <p:spPr>
          <a:xfrm>
            <a:off x="468360" y="4766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Performance Comparison</a:t>
            </a:r>
            <a:endParaRPr lang="en-US" sz="2400" b="0" strike="noStrike" spc="-1">
              <a:latin typeface="Arial"/>
            </a:endParaRPr>
          </a:p>
        </p:txBody>
      </p:sp>
      <p:sp>
        <p:nvSpPr>
          <p:cNvPr id="413" name="Textfeld 4"/>
          <p:cNvSpPr/>
          <p:nvPr/>
        </p:nvSpPr>
        <p:spPr>
          <a:xfrm rot="16200000">
            <a:off x="1162800" y="2851200"/>
            <a:ext cx="67572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100" b="0" strike="noStrike" spc="-1">
                <a:solidFill>
                  <a:srgbClr val="000000"/>
                </a:solidFill>
                <a:latin typeface="Arial"/>
                <a:ea typeface="DejaVu Sans"/>
              </a:rPr>
              <a:t>Time [s]</a:t>
            </a:r>
            <a:endParaRPr lang="en-US" sz="1100" b="0" strike="noStrike" spc="-1">
              <a:latin typeface="Arial"/>
            </a:endParaRPr>
          </a:p>
        </p:txBody>
      </p:sp>
      <p:sp>
        <p:nvSpPr>
          <p:cNvPr id="414" name="Textfeld 5"/>
          <p:cNvSpPr/>
          <p:nvPr/>
        </p:nvSpPr>
        <p:spPr>
          <a:xfrm>
            <a:off x="102240" y="5764680"/>
            <a:ext cx="8301960" cy="364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0" strike="noStrike" spc="-1">
                <a:solidFill>
                  <a:srgbClr val="000000"/>
                </a:solidFill>
                <a:latin typeface="Arial"/>
                <a:ea typeface="DejaVu Sans"/>
              </a:rPr>
              <a:t>Total execution time (15 runs in parallel):  Vecto 3.0.2: 6min 6s; </a:t>
            </a:r>
            <a:r>
              <a:rPr lang="en-US" sz="1800" b="1" strike="noStrike" spc="-1">
                <a:solidFill>
                  <a:srgbClr val="000000"/>
                </a:solidFill>
                <a:latin typeface="Arial"/>
                <a:ea typeface="DejaVu Sans"/>
              </a:rPr>
              <a:t>Vecto 3.0.3: 35s</a:t>
            </a:r>
            <a:endParaRPr lang="en-US" sz="1800" b="0" strike="noStrike" spc="-1">
              <a:latin typeface="Aria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Rectangle 3"/>
          <p:cNvSpPr/>
          <p:nvPr/>
        </p:nvSpPr>
        <p:spPr>
          <a:xfrm>
            <a:off x="0" y="778680"/>
            <a:ext cx="9143280" cy="34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noAutofit/>
          </a:bodyPr>
          <a:lstStyle/>
          <a:p>
            <a:pPr algn="ctr">
              <a:lnSpc>
                <a:spcPct val="100000"/>
              </a:lnSpc>
              <a:buNone/>
            </a:pPr>
            <a:r>
              <a:rPr lang="en-GB" sz="2800" b="1" strike="noStrike" spc="-1">
                <a:solidFill>
                  <a:srgbClr val="990000"/>
                </a:solidFill>
                <a:latin typeface="Arial"/>
                <a:ea typeface="DejaVu Sans"/>
              </a:rPr>
              <a:t>VECTO 3.0.2</a:t>
            </a:r>
            <a:br>
              <a:rPr sz="2800"/>
            </a:br>
            <a:r>
              <a:rPr lang="en-GB" sz="1600" b="1" strike="noStrike" spc="-1">
                <a:solidFill>
                  <a:srgbClr val="990000"/>
                </a:solidFill>
                <a:latin typeface="Arial"/>
                <a:ea typeface="DejaVu Sans"/>
              </a:rPr>
              <a:t>2016-03-11</a:t>
            </a:r>
            <a:endParaRPr lang="en-US" sz="1600" b="0" strike="noStrike" spc="-1">
              <a:latin typeface="Arial"/>
            </a:endParaRPr>
          </a:p>
        </p:txBody>
      </p:sp>
      <p:sp>
        <p:nvSpPr>
          <p:cNvPr id="416" name="Textfeld 5"/>
          <p:cNvSpPr/>
          <p:nvPr/>
        </p:nvSpPr>
        <p:spPr>
          <a:xfrm>
            <a:off x="251640" y="1124640"/>
            <a:ext cx="8496360" cy="514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spcBef>
                <a:spcPts val="601"/>
              </a:spcBef>
              <a:buNone/>
            </a:pPr>
            <a:r>
              <a:rPr lang="en-GB" sz="2000" b="1" strike="noStrike" spc="-1">
                <a:solidFill>
                  <a:srgbClr val="000000"/>
                </a:solidFill>
                <a:latin typeface="Arial"/>
                <a:ea typeface="DejaVu Sans"/>
              </a:rPr>
              <a:t>Main updates</a:t>
            </a:r>
            <a:endParaRPr lang="en-US" sz="2000" b="0" strike="noStrike" spc="-1">
              <a:latin typeface="Arial"/>
            </a:endParaRPr>
          </a:p>
          <a:p>
            <a:pPr marL="343080" indent="-343080">
              <a:lnSpc>
                <a:spcPct val="130000"/>
              </a:lnSpc>
              <a:spcBef>
                <a:spcPts val="601"/>
              </a:spcBef>
              <a:buClr>
                <a:srgbClr val="000000"/>
              </a:buClr>
              <a:buFont typeface="Arial"/>
              <a:buChar char="•"/>
            </a:pPr>
            <a:r>
              <a:rPr lang="en-GB" sz="1400" b="0" strike="noStrike" spc="-1">
                <a:solidFill>
                  <a:srgbClr val="000000"/>
                </a:solidFill>
                <a:latin typeface="Arial"/>
                <a:ea typeface="DejaVu Sans"/>
              </a:rPr>
              <a:t>New simulation modes: </a:t>
            </a:r>
            <a:endParaRPr lang="en-US" sz="1400" b="0" strike="noStrike" spc="-1">
              <a:latin typeface="Arial"/>
            </a:endParaRPr>
          </a:p>
          <a:p>
            <a:pPr marL="800280" lvl="1" indent="-343080">
              <a:lnSpc>
                <a:spcPct val="130000"/>
              </a:lnSpc>
              <a:spcBef>
                <a:spcPts val="300"/>
              </a:spcBef>
              <a:buClr>
                <a:srgbClr val="000000"/>
              </a:buClr>
              <a:buFont typeface="Arial"/>
              <a:buChar char="•"/>
            </a:pPr>
            <a:r>
              <a:rPr lang="en-GB" sz="1400" b="0" strike="noStrike" spc="-1">
                <a:solidFill>
                  <a:srgbClr val="000000"/>
                </a:solidFill>
                <a:latin typeface="Arial"/>
                <a:ea typeface="DejaVu Sans"/>
              </a:rPr>
              <a:t>Pwheel (SiCo), </a:t>
            </a:r>
            <a:endParaRPr lang="en-US" sz="1400" b="0" strike="noStrike" spc="-1">
              <a:latin typeface="Arial"/>
            </a:endParaRPr>
          </a:p>
          <a:p>
            <a:pPr marL="800280" lvl="1" indent="-343080">
              <a:lnSpc>
                <a:spcPct val="130000"/>
              </a:lnSpc>
              <a:spcBef>
                <a:spcPts val="300"/>
              </a:spcBef>
              <a:buClr>
                <a:srgbClr val="000000"/>
              </a:buClr>
              <a:buFont typeface="Arial"/>
              <a:buChar char="•"/>
            </a:pPr>
            <a:r>
              <a:rPr lang="en-GB" sz="1400" b="0" strike="noStrike" spc="-1">
                <a:solidFill>
                  <a:srgbClr val="000000"/>
                </a:solidFill>
                <a:latin typeface="Arial"/>
                <a:ea typeface="DejaVu Sans"/>
              </a:rPr>
              <a:t>Measured Speed (with/without gear)</a:t>
            </a:r>
            <a:endParaRPr lang="en-US" sz="1400" b="0" strike="noStrike" spc="-1">
              <a:latin typeface="Arial"/>
            </a:endParaRPr>
          </a:p>
          <a:p>
            <a:pPr marL="800280" lvl="1" indent="-343080">
              <a:lnSpc>
                <a:spcPct val="130000"/>
              </a:lnSpc>
              <a:spcBef>
                <a:spcPts val="300"/>
              </a:spcBef>
              <a:buClr>
                <a:srgbClr val="000000"/>
              </a:buClr>
              <a:buFont typeface="Arial"/>
              <a:buChar char="•"/>
            </a:pPr>
            <a:r>
              <a:rPr lang="en-GB" sz="1400" b="0" strike="noStrike" spc="-1">
                <a:solidFill>
                  <a:srgbClr val="000000"/>
                </a:solidFill>
                <a:latin typeface="Arial"/>
                <a:ea typeface="DejaVu Sans"/>
              </a:rPr>
              <a:t>v_air/beta cross-wind correction (vcdb)</a:t>
            </a:r>
            <a:endParaRPr lang="en-US" sz="1400" b="0" strike="noStrike" spc="-1">
              <a:latin typeface="Arial"/>
            </a:endParaRPr>
          </a:p>
          <a:p>
            <a:pPr marL="343080" indent="-343080">
              <a:lnSpc>
                <a:spcPct val="130000"/>
              </a:lnSpc>
              <a:spcBef>
                <a:spcPts val="601"/>
              </a:spcBef>
              <a:buClr>
                <a:srgbClr val="000000"/>
              </a:buClr>
              <a:buFont typeface="Arial"/>
              <a:buChar char="•"/>
            </a:pPr>
            <a:r>
              <a:rPr lang="en-US" sz="1400" b="0" strike="noStrike" spc="-1">
                <a:solidFill>
                  <a:srgbClr val="000000"/>
                </a:solidFill>
                <a:latin typeface="Arial"/>
                <a:ea typeface="DejaVu Sans"/>
              </a:rPr>
              <a:t>Adaptations of powertrain components architecture</a:t>
            </a:r>
            <a:endParaRPr lang="en-US" sz="1400" b="0" strike="noStrike" spc="-1">
              <a:latin typeface="Arial"/>
            </a:endParaRPr>
          </a:p>
          <a:p>
            <a:pPr marL="800280" lvl="1" indent="-343080">
              <a:lnSpc>
                <a:spcPct val="130000"/>
              </a:lnSpc>
              <a:spcBef>
                <a:spcPts val="300"/>
              </a:spcBef>
              <a:buClr>
                <a:srgbClr val="000000"/>
              </a:buClr>
              <a:buFont typeface="Arial"/>
              <a:buChar char="•"/>
            </a:pPr>
            <a:r>
              <a:rPr lang="en-US" sz="1400" b="0" strike="noStrike" spc="-1">
                <a:solidFill>
                  <a:srgbClr val="000000"/>
                </a:solidFill>
                <a:latin typeface="Arial"/>
                <a:ea typeface="DejaVu Sans"/>
              </a:rPr>
              <a:t>Move wheels inertia from vehicle to wheels</a:t>
            </a:r>
            <a:endParaRPr lang="en-US" sz="1400" b="0" strike="noStrike" spc="-1">
              <a:latin typeface="Arial"/>
            </a:endParaRPr>
          </a:p>
          <a:p>
            <a:pPr marL="800280" lvl="1" indent="-343080">
              <a:lnSpc>
                <a:spcPct val="130000"/>
              </a:lnSpc>
              <a:spcBef>
                <a:spcPts val="300"/>
              </a:spcBef>
              <a:buClr>
                <a:srgbClr val="000000"/>
              </a:buClr>
              <a:buFont typeface="Arial"/>
              <a:buChar char="•"/>
            </a:pPr>
            <a:r>
              <a:rPr lang="en-US" sz="1400" b="0" strike="noStrike" spc="-1">
                <a:solidFill>
                  <a:srgbClr val="000000"/>
                </a:solidFill>
                <a:latin typeface="Arial"/>
                <a:ea typeface="DejaVu Sans"/>
              </a:rPr>
              <a:t>Auxiliaries no longer connected via clutch to the engine but via a separate port</a:t>
            </a:r>
            <a:endParaRPr lang="en-US" sz="1400" b="0" strike="noStrike" spc="-1">
              <a:latin typeface="Arial"/>
            </a:endParaRPr>
          </a:p>
          <a:p>
            <a:pPr marL="800280" lvl="1" indent="-343080">
              <a:lnSpc>
                <a:spcPct val="130000"/>
              </a:lnSpc>
              <a:spcBef>
                <a:spcPts val="300"/>
              </a:spcBef>
              <a:buClr>
                <a:srgbClr val="000000"/>
              </a:buClr>
              <a:buFont typeface="Arial"/>
              <a:buChar char="•"/>
            </a:pPr>
            <a:r>
              <a:rPr lang="en-US" sz="1400" b="0" strike="noStrike" spc="-1">
                <a:solidFill>
                  <a:srgbClr val="000000"/>
                </a:solidFill>
                <a:latin typeface="Arial"/>
                <a:ea typeface="DejaVu Sans"/>
              </a:rPr>
              <a:t>Engine checks overload of gearbox and engine overload</a:t>
            </a:r>
            <a:endParaRPr lang="en-US" sz="1400" b="0" strike="noStrike" spc="-1">
              <a:latin typeface="Arial"/>
            </a:endParaRPr>
          </a:p>
          <a:p>
            <a:pPr marL="343080" indent="-343080">
              <a:lnSpc>
                <a:spcPct val="130000"/>
              </a:lnSpc>
              <a:spcBef>
                <a:spcPts val="601"/>
              </a:spcBef>
              <a:buClr>
                <a:srgbClr val="000000"/>
              </a:buClr>
              <a:buFont typeface="Arial"/>
              <a:buChar char="•"/>
            </a:pPr>
            <a:r>
              <a:rPr lang="en-US" sz="1400" b="0" strike="noStrike" spc="-1">
                <a:solidFill>
                  <a:srgbClr val="000000"/>
                </a:solidFill>
                <a:latin typeface="Arial"/>
                <a:ea typeface="DejaVu Sans"/>
              </a:rPr>
              <a:t>Fixed some driving behavior related issues in VectoCore:</a:t>
            </a:r>
            <a:endParaRPr lang="en-US" sz="1400" b="0" strike="noStrike" spc="-1">
              <a:latin typeface="Arial"/>
            </a:endParaRPr>
          </a:p>
          <a:p>
            <a:pPr marL="800280" lvl="1" indent="-343080">
              <a:lnSpc>
                <a:spcPct val="130000"/>
              </a:lnSpc>
              <a:spcBef>
                <a:spcPts val="300"/>
              </a:spcBef>
              <a:buClr>
                <a:srgbClr val="000000"/>
              </a:buClr>
              <a:buFont typeface="Arial"/>
              <a:buChar char="•"/>
            </a:pPr>
            <a:r>
              <a:rPr lang="en-US" sz="1400" b="0" strike="noStrike" spc="-1">
                <a:solidFill>
                  <a:srgbClr val="000000"/>
                </a:solidFill>
                <a:latin typeface="Arial"/>
                <a:ea typeface="DejaVu Sans"/>
              </a:rPr>
              <a:t>When the vehicle comes to a halt during gear shift, instead of aborting the cycle, it tries to drive away again with an appropriate gear.</a:t>
            </a:r>
            <a:endParaRPr lang="en-US" sz="1400" b="0" strike="noStrike" spc="-1">
              <a:latin typeface="Arial"/>
            </a:endParaRPr>
          </a:p>
          <a:p>
            <a:pPr marL="343080" indent="-343080">
              <a:lnSpc>
                <a:spcPct val="130000"/>
              </a:lnSpc>
              <a:spcBef>
                <a:spcPts val="601"/>
              </a:spcBef>
              <a:buClr>
                <a:srgbClr val="000000"/>
              </a:buClr>
              <a:buFont typeface="Arial"/>
              <a:buChar char="•"/>
            </a:pPr>
            <a:r>
              <a:rPr lang="en-US" sz="1400" b="0" strike="noStrike" spc="-1">
                <a:solidFill>
                  <a:srgbClr val="000000"/>
                </a:solidFill>
                <a:latin typeface="Arial"/>
                <a:ea typeface="DejaVu Sans"/>
              </a:rPr>
              <a:t>ModData Format changed for better information and clarity</a:t>
            </a:r>
            <a:endParaRPr lang="en-US" sz="1400" b="0" strike="noStrike" spc="-1">
              <a:latin typeface="Arial"/>
            </a:endParaRPr>
          </a:p>
          <a:p>
            <a:pPr marL="343080" indent="-343080">
              <a:lnSpc>
                <a:spcPct val="130000"/>
              </a:lnSpc>
              <a:spcBef>
                <a:spcPts val="601"/>
              </a:spcBef>
              <a:buClr>
                <a:srgbClr val="000000"/>
              </a:buClr>
              <a:buFont typeface="Arial"/>
              <a:buChar char="•"/>
            </a:pPr>
            <a:r>
              <a:rPr lang="en-US" sz="1400" b="0" strike="noStrike" spc="-1">
                <a:solidFill>
                  <a:srgbClr val="000000"/>
                </a:solidFill>
                <a:latin typeface="Arial"/>
                <a:ea typeface="DejaVu Sans"/>
              </a:rPr>
              <a:t>Added validation of input values (according to latest VectoInputParameters.xls)</a:t>
            </a:r>
            <a:endParaRPr lang="en-US" sz="1400" b="0" strike="noStrike" spc="-1">
              <a:latin typeface="Arial"/>
            </a:endParaRPr>
          </a:p>
          <a:p>
            <a:pPr marL="343080" indent="-343080">
              <a:lnSpc>
                <a:spcPct val="130000"/>
              </a:lnSpc>
              <a:spcBef>
                <a:spcPts val="601"/>
              </a:spcBef>
              <a:buClr>
                <a:srgbClr val="000000"/>
              </a:buClr>
              <a:buFont typeface="Arial"/>
              <a:buChar char="•"/>
            </a:pPr>
            <a:r>
              <a:rPr lang="en-US" sz="1400" b="0" strike="noStrike" spc="-1">
                <a:solidFill>
                  <a:srgbClr val="000000"/>
                </a:solidFill>
                <a:latin typeface="Arial"/>
                <a:ea typeface="DejaVu Sans"/>
              </a:rPr>
              <a:t>Various bugfixes</a:t>
            </a:r>
            <a:endParaRPr lang="en-US" sz="1400" b="0" strike="noStrike" spc="-1">
              <a:latin typeface="Arial"/>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Pwheel (SiCo) Mode</a:t>
            </a:r>
            <a:endParaRPr lang="en-US" sz="2400" b="0" strike="noStrike" spc="-1">
              <a:latin typeface="Arial"/>
            </a:endParaRPr>
          </a:p>
        </p:txBody>
      </p:sp>
      <p:sp>
        <p:nvSpPr>
          <p:cNvPr id="418"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Function as already available in Vecto 2.2 also added in Vecto 3.0.2</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Driving cycle specifies power at wheel, engine speed, gear, and auxiliary power</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No driver model in the simulation.</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The Vecto gear-shift model is overruled.</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Function used for creating reference results for SiCo tests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For details see user manual: Simulation Models / Pwheel Input (SiCo)</a:t>
            </a:r>
            <a:endParaRPr lang="en-US" sz="1800" b="0" strike="noStrike" spc="-1">
              <a:latin typeface="Arial"/>
            </a:endParaRPr>
          </a:p>
          <a:p>
            <a:pPr>
              <a:lnSpc>
                <a:spcPct val="100000"/>
              </a:lnSpc>
              <a:buNone/>
            </a:pPr>
            <a:endParaRPr lang="en-US" sz="1800" b="0" strike="noStrike" spc="-1">
              <a:latin typeface="Arial"/>
            </a:endParaRPr>
          </a:p>
          <a:p>
            <a:pPr>
              <a:lnSpc>
                <a:spcPct val="100000"/>
              </a:lnSpc>
              <a:spcBef>
                <a:spcPts val="400"/>
              </a:spcBef>
              <a:buNone/>
            </a:pPr>
            <a:endParaRPr lang="en-US" sz="2000" b="0" strike="noStrike" spc="-1">
              <a:latin typeface="Aria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Measured Speed Mode</a:t>
            </a:r>
            <a:endParaRPr lang="en-US" sz="2400" b="0" strike="noStrike" spc="-1">
              <a:latin typeface="Arial"/>
            </a:endParaRPr>
          </a:p>
        </p:txBody>
      </p:sp>
      <p:sp>
        <p:nvSpPr>
          <p:cNvPr id="420"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Functionality already available in Vecto 2.2 added in Vecto 3.0.2</a:t>
            </a:r>
            <a:endParaRPr lang="en-US" sz="20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Driving cycle not defined by target speed but by actual speed. No driver model in the simulation.</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Gear and engine speed can be specified in the driving cycle. In this case the Vecto gear-shift model is overruled.</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Function used for “proof of concept” purposes</a:t>
            </a:r>
            <a:endParaRPr lang="en-US" sz="1800" b="0" strike="noStrike" spc="-1">
              <a:latin typeface="Arial"/>
            </a:endParaRPr>
          </a:p>
          <a:p>
            <a:pPr marL="743040" lvl="1" indent="-285840">
              <a:lnSpc>
                <a:spcPct val="100000"/>
              </a:lnSpc>
              <a:spcBef>
                <a:spcPts val="360"/>
              </a:spcBef>
              <a:buClr>
                <a:srgbClr val="000000"/>
              </a:buClr>
              <a:buFont typeface="Symbol"/>
              <a:buChar char=""/>
            </a:pPr>
            <a:r>
              <a:rPr lang="en-US" sz="1800" b="0" strike="noStrike" spc="-1">
                <a:solidFill>
                  <a:srgbClr val="000000"/>
                </a:solidFill>
                <a:latin typeface="Arial"/>
              </a:rPr>
              <a:t>For details see user manual: Calculation Modes / Engineering Mode / Measured Speed</a:t>
            </a:r>
            <a:endParaRPr lang="en-US" sz="1800" b="0" strike="noStrike" spc="-1">
              <a:latin typeface="Aria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.vmod File Update</a:t>
            </a:r>
            <a:endParaRPr lang="en-US" sz="2400" b="0" strike="noStrike" spc="-1">
              <a:latin typeface="Arial"/>
            </a:endParaRPr>
          </a:p>
        </p:txBody>
      </p:sp>
      <p:sp>
        <p:nvSpPr>
          <p:cNvPr id="422"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In Vecto 3.0.2 the structure of the modal data output has been revised and re-structured. Basicaly for every powertrain component the .vmod file contains the power at the input shaft and the individual power losses for every component. For the engine the power, torque and engine speed at the output shaft is given along with the internal power and torque used for computing the fuel consumption.</a:t>
            </a:r>
            <a:endParaRPr lang="en-US" sz="2000" b="0" strike="noStrike" spc="-1">
              <a:latin typeface="Arial"/>
            </a:endParaRPr>
          </a:p>
          <a:p>
            <a:pPr marL="343080" indent="-343080">
              <a:lnSpc>
                <a:spcPct val="100000"/>
              </a:lnSpc>
              <a:spcBef>
                <a:spcPts val="400"/>
              </a:spcBef>
              <a:buClr>
                <a:srgbClr val="000000"/>
              </a:buClr>
              <a:buFont typeface="Symbol"/>
              <a:buChar char=""/>
            </a:pPr>
            <a:r>
              <a:rPr lang="en-US" sz="2000" b="0" strike="noStrike" spc="-1">
                <a:solidFill>
                  <a:srgbClr val="000000"/>
                </a:solidFill>
                <a:latin typeface="Arial"/>
              </a:rPr>
              <a:t>For details see the user manual: Input and Output / Modal Results (.vmod)</a:t>
            </a:r>
            <a:endParaRPr lang="en-US" sz="2000" b="0" strike="noStrike" spc="-1">
              <a:latin typeface="Aria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PlaceHolder 1"/>
          <p:cNvSpPr>
            <a:spLocks noGrp="1"/>
          </p:cNvSpPr>
          <p:nvPr>
            <p:ph type="title"/>
          </p:nvPr>
        </p:nvSpPr>
        <p:spPr>
          <a:xfrm>
            <a:off x="468360" y="714240"/>
            <a:ext cx="8217720" cy="680400"/>
          </a:xfrm>
          <a:prstGeom prst="rect">
            <a:avLst/>
          </a:prstGeom>
          <a:noFill/>
          <a:ln w="0">
            <a:noFill/>
          </a:ln>
        </p:spPr>
        <p:txBody>
          <a:bodyPr lIns="90000" tIns="45000" rIns="90000" bIns="45000" numCol="1" spcCol="0" anchor="ctr">
            <a:noAutofit/>
          </a:bodyPr>
          <a:lstStyle/>
          <a:p>
            <a:pPr algn="ctr">
              <a:lnSpc>
                <a:spcPct val="100000"/>
              </a:lnSpc>
              <a:buNone/>
            </a:pPr>
            <a:r>
              <a:rPr lang="en-US" sz="2400" b="1" strike="noStrike" spc="-1">
                <a:solidFill>
                  <a:srgbClr val="990000"/>
                </a:solidFill>
                <a:latin typeface="Arial"/>
              </a:rPr>
              <a:t>Changelog 3.0.2</a:t>
            </a:r>
            <a:endParaRPr lang="en-US" sz="2400" b="0" strike="noStrike" spc="-1">
              <a:latin typeface="Arial"/>
            </a:endParaRPr>
          </a:p>
        </p:txBody>
      </p:sp>
      <p:sp>
        <p:nvSpPr>
          <p:cNvPr id="424" name="PlaceHolder 2"/>
          <p:cNvSpPr>
            <a:spLocks noGrp="1"/>
          </p:cNvSpPr>
          <p:nvPr>
            <p:ph/>
          </p:nvPr>
        </p:nvSpPr>
        <p:spPr>
          <a:xfrm>
            <a:off x="468360" y="1582560"/>
            <a:ext cx="8217720" cy="4542840"/>
          </a:xfrm>
          <a:prstGeom prst="rect">
            <a:avLst/>
          </a:prstGeom>
          <a:noFill/>
          <a:ln w="0">
            <a:noFill/>
          </a:ln>
        </p:spPr>
        <p:txBody>
          <a:bodyPr lIns="90000" tIns="45000" rIns="90000" bIns="45000" numCol="1" spcCol="0" anchor="t">
            <a:noAutofit/>
          </a:bodyPr>
          <a:lstStyle/>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New simulation modes:</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Measured Speed</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Measured Speed with Gear</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Pwheel (SiCo)</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Adaptations of powertrain components architecture</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Move wheels inertia from vehicle to wheels</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Auxiliaries no longer connected via clutch to the engine but via a separate port</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Engine checks overload of gearbox and engine overload</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Fixed some driving behavior related issues in VectoCore:</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When the vehicle comes to a halt during gear shift, instead of aborting the cycle, it tries to drive away again with an appropriate gear.</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[ModData Format](#modal-results-.vmod) changed for better information and clarity</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Entries in the sum-file are sorted in the same way as in Vecto 2.2</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In engineering mode the execution mode (distance-based, time-based measured speed, time-based measured speed with gear, engine only) are detected based on the cycle</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Added validation of input values</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Gravity constant set to 9.80665 (NIST standard acceleration for gravity)</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Improved input data handling: sort input values of full-load curves (engine, gbx, retarder)</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Better Integration of VectoCore into GUI (Notifications and Messages)</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v_air/beta cross-wind correction (vcdb) impemented</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For all calculations the averaged values of the current simulation step are used for interpolations in loss-maps.</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Allow extrapolation of loss maps in engineering mode (warnings)</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Refactoring of input data handling: separate InputDataProvider interfaces for model data</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Refactoring of result handling: separate result container and output writer</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New Long-Haul driving cycle included</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User Manual updated for VECTO V3.x</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Fix: sparse representation of declaration cycles had some missing entries</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Bugfix: error in computation of engine's preferred speed </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Bugfix: wrong vehicle class lookup</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Bugfix: duplicate entries in intersected full-load curves</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Bugfix: retarder takes the retarder ratio into account for lossmap lookup</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Bugfix: use unique identifier for jobs in job list</a:t>
            </a:r>
            <a:endParaRPr lang="en-US" sz="800" b="0" strike="noStrike" spc="-1">
              <a:latin typeface="Arial"/>
            </a:endParaRPr>
          </a:p>
          <a:p>
            <a:pPr marL="343080" indent="-343080">
              <a:lnSpc>
                <a:spcPct val="100000"/>
              </a:lnSpc>
              <a:spcBef>
                <a:spcPts val="159"/>
              </a:spcBef>
              <a:buClr>
                <a:srgbClr val="000000"/>
              </a:buClr>
              <a:buFont typeface="Symbol"/>
              <a:buChar char=""/>
            </a:pPr>
            <a:r>
              <a:rPr lang="en-US" sz="800" b="0" strike="noStrike" spc="-1">
                <a:solidFill>
                  <a:srgbClr val="000000"/>
                </a:solidFill>
                <a:latin typeface="Arial"/>
              </a:rPr>
              <a:t>- Bugfix: error in triagulation of fuel consumption map</a:t>
            </a:r>
            <a:endParaRPr lang="en-US" sz="8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19595</Words>
  <Application>Microsoft Office PowerPoint</Application>
  <PresentationFormat>Bildschirmpräsentation (4:3)</PresentationFormat>
  <Paragraphs>2142</Paragraphs>
  <Slides>163</Slides>
  <Notes>0</Notes>
  <HiddenSlides>0</HiddenSlides>
  <MMClips>0</MMClips>
  <ScaleCrop>false</ScaleCrop>
  <HeadingPairs>
    <vt:vector size="6" baseType="variant">
      <vt:variant>
        <vt:lpstr>Verwendete Schriftarten</vt:lpstr>
      </vt:variant>
      <vt:variant>
        <vt:i4>10</vt:i4>
      </vt:variant>
      <vt:variant>
        <vt:lpstr>Design</vt:lpstr>
      </vt:variant>
      <vt:variant>
        <vt:i4>2</vt:i4>
      </vt:variant>
      <vt:variant>
        <vt:lpstr>Folientitel</vt:lpstr>
      </vt:variant>
      <vt:variant>
        <vt:i4>163</vt:i4>
      </vt:variant>
    </vt:vector>
  </HeadingPairs>
  <TitlesOfParts>
    <vt:vector size="175" baseType="lpstr">
      <vt:lpstr>Microsoft YaHei</vt:lpstr>
      <vt:lpstr>Arial</vt:lpstr>
      <vt:lpstr>Calibri</vt:lpstr>
      <vt:lpstr>Cambria Math</vt:lpstr>
      <vt:lpstr>Courier New</vt:lpstr>
      <vt:lpstr>DejaVu Sans</vt:lpstr>
      <vt:lpstr>Symbol</vt:lpstr>
      <vt:lpstr>Times New Roman</vt:lpstr>
      <vt:lpstr>Verdana</vt:lpstr>
      <vt:lpstr>Wingdings</vt:lpstr>
      <vt:lpstr>Office Theme</vt:lpstr>
      <vt:lpstr>Office Theme</vt:lpstr>
      <vt:lpstr>PowerPoint-Präsentation</vt:lpstr>
      <vt:lpstr>Vecto 4.0.0.xx  Development Version NOT FOR CERTIFICATION!  June 2023</vt:lpstr>
      <vt:lpstr>Updated bus auxiliary model (1/2)</vt:lpstr>
      <vt:lpstr>Updated bus auxiliary model (2/2)</vt:lpstr>
      <vt:lpstr>Updated bus auxiliary model – HVAC implementation (1/5)</vt:lpstr>
      <vt:lpstr>PowerPoint-Präsentation</vt:lpstr>
      <vt:lpstr>Updated bus auxiliary model – HVAC implementation (3/5)</vt:lpstr>
      <vt:lpstr>Updated bus auxiliary model – HVAC implementation (4/5)</vt:lpstr>
      <vt:lpstr>Updated bus auxiliary model – HVAC implementation (5/5)</vt:lpstr>
      <vt:lpstr>Factor Method – General principle</vt:lpstr>
      <vt:lpstr>Factor Method – Required number of simulations</vt:lpstr>
      <vt:lpstr>Factor Method – Generic bodies for primary xEV</vt:lpstr>
      <vt:lpstr>Factor Method – Generic masses for primary xEV</vt:lpstr>
      <vt:lpstr>Factor Method – HVAC and AUX config for primary xEV</vt:lpstr>
      <vt:lpstr>Factor Method – OVC-HEVs (1/2)</vt:lpstr>
      <vt:lpstr>Factor Method – OVC-HEVs (2/2)</vt:lpstr>
      <vt:lpstr>Results for fuel-fired heater</vt:lpstr>
      <vt:lpstr>Overview VECTO Tool Modes</vt:lpstr>
      <vt:lpstr>Known issues</vt:lpstr>
      <vt:lpstr>Vecto 0.7.10.2996  Development Version  March 2023</vt:lpstr>
      <vt:lpstr>Declaration Mode Lorries – Overview (1/2)</vt:lpstr>
      <vt:lpstr>Declaration Mode Lorries – Overview (2/2)</vt:lpstr>
      <vt:lpstr>DECL Lorries – Generic parameterisation of auxiliaries </vt:lpstr>
      <vt:lpstr>DECL Lorries – Generic parameterisation of auxiliaries </vt:lpstr>
      <vt:lpstr>DECL Lorries – Generic parameterisation of auxiliaries </vt:lpstr>
      <vt:lpstr>DECL Lorries – Generic parameterisation of auxiliaries </vt:lpstr>
      <vt:lpstr>DECL Lorries – Generic parameterisation of auxiliaries </vt:lpstr>
      <vt:lpstr>DECL Lorries – Generic parameterisation of auxiliaries </vt:lpstr>
      <vt:lpstr>DECL Lorries – Generic parameterisation of auxiliaries </vt:lpstr>
      <vt:lpstr>DECL Lorries – Generic parametrisation P-HEV strategy </vt:lpstr>
      <vt:lpstr>DECL Lorries – Generic parametrisation P-HEV strategy </vt:lpstr>
      <vt:lpstr>DECL Lorries – Generic parametrisation P-HEV strategy </vt:lpstr>
      <vt:lpstr>Updated P-HEV gear shift model (DECL + ENG) </vt:lpstr>
      <vt:lpstr>Updated P-HEV gear shift model (DECL + ENG) </vt:lpstr>
      <vt:lpstr>Updated time-based with gear mode for AT (ENG only)​</vt:lpstr>
      <vt:lpstr>DECL Lorries – Generic parametrisation usable SOC range</vt:lpstr>
      <vt:lpstr>DECL Lorries – Separate approach „CD mode“ simulation</vt:lpstr>
      <vt:lpstr>DECL Lorries – Calculation EC at “battery terminals”</vt:lpstr>
      <vt:lpstr>DECL Lorries – Calculation EC at “battery terminals”</vt:lpstr>
      <vt:lpstr>DECL Lorries – Calculation EC at “battery terminals”</vt:lpstr>
      <vt:lpstr>DECL Lorries – Calculation EC at “battery terminals”</vt:lpstr>
      <vt:lpstr>DECL Lorries – Automation of OVC-HEV simulation</vt:lpstr>
      <vt:lpstr>DECL Lorries – Automation of OVC-HEV simulation</vt:lpstr>
      <vt:lpstr>DECL Lorries – Range calculations</vt:lpstr>
      <vt:lpstr>DECL Lorries – Automation of OVC-HEV simulation</vt:lpstr>
      <vt:lpstr>DECL Lorries – Automation of OVC-HEV simulation - EX</vt:lpstr>
      <vt:lpstr>DECL Lorries – Automation of OVC-HEV simulation - EX</vt:lpstr>
      <vt:lpstr>DECL Lorries – Generic e-PTO in MUN cycle</vt:lpstr>
      <vt:lpstr>DECL Lorries – Known issues with current version</vt:lpstr>
      <vt:lpstr>DECL Lorries – Testing requests and organ. of feedback</vt:lpstr>
      <vt:lpstr>Vecto 0.7.9.2864 JRC Development Version  November 2022</vt:lpstr>
      <vt:lpstr>Vecto 0.7.9.2741 Development Version June 2022</vt:lpstr>
      <vt:lpstr>Modeling of IEPC component</vt:lpstr>
      <vt:lpstr>Peculiarities of IEPC</vt:lpstr>
      <vt:lpstr>Input data for IEPC component</vt:lpstr>
      <vt:lpstr>Input data for IEPC component</vt:lpstr>
      <vt:lpstr>Input data for IEPC component</vt:lpstr>
      <vt:lpstr>IEPC Input Form</vt:lpstr>
      <vt:lpstr>Gearbox Form for IEPC Vehicles</vt:lpstr>
      <vt:lpstr>Modeling of IHPC component</vt:lpstr>
      <vt:lpstr>Input data for IHPC component</vt:lpstr>
      <vt:lpstr>Input data for IHPC component</vt:lpstr>
      <vt:lpstr>Input data for IHPC component</vt:lpstr>
      <vt:lpstr>IHPC Input Form</vt:lpstr>
      <vt:lpstr>Adaptations Serial Hybrid Strategy  (1/3)</vt:lpstr>
      <vt:lpstr>Adaptations Serial Hybrid Strategy  (2/3)</vt:lpstr>
      <vt:lpstr>Adaptations Serial Hybrid Strategy  (3/3)</vt:lpstr>
      <vt:lpstr>SoC Correction for HEV-S</vt:lpstr>
      <vt:lpstr>Vecto 0.7.8.2679 Development Version April 2022</vt:lpstr>
      <vt:lpstr>Serial Hybrid Implementation</vt:lpstr>
      <vt:lpstr>Serial Hybrids: GenSet Pre-Processing</vt:lpstr>
      <vt:lpstr>Serial Hybrid Strategy (main principles)</vt:lpstr>
      <vt:lpstr>Serial Hybrids: GenSet</vt:lpstr>
      <vt:lpstr>Serial Hybrid Strategy Parameters</vt:lpstr>
      <vt:lpstr>PowerPoint-Präsentation</vt:lpstr>
      <vt:lpstr>EM: overload buffer calculated from both voltage levels</vt:lpstr>
      <vt:lpstr>Consider gearbox MaxTorque limits for HEV</vt:lpstr>
      <vt:lpstr>Vecto 0.7.8.xxx Development Version April 2022</vt:lpstr>
      <vt:lpstr>Vecto 0.7.8.xxx Development Version April 2022</vt:lpstr>
      <vt:lpstr>Vecto 0.7.7.2547 Development Version December 2021</vt:lpstr>
      <vt:lpstr>Vecto 0.7.7.2547 Development Version December 2021</vt:lpstr>
      <vt:lpstr>Vecto 0.7.7.2547 Development Version December 2021</vt:lpstr>
      <vt:lpstr>Vecto 0.7.7.2547 Development Version December 2021</vt:lpstr>
      <vt:lpstr>Vecto 0.7.7.2547 Development Version December 2021</vt:lpstr>
      <vt:lpstr>Vecto 0.7.7.2547 Development Version December 2021</vt:lpstr>
      <vt:lpstr>Vecto 0.7.7.2547 Development Version December 2021</vt:lpstr>
      <vt:lpstr>Vecto 0.7.6.2451 Development Version September 2021</vt:lpstr>
      <vt:lpstr>Vecto 0.7.5.2353 Development Version June 2021</vt:lpstr>
      <vt:lpstr>Vecto 0.7.3.2164 Development Version December 2020</vt:lpstr>
      <vt:lpstr>Vecto 0.7.2.2118 Development Version October 2020</vt:lpstr>
      <vt:lpstr>Vecto 0.7.1.2108 Development Version October 2020</vt:lpstr>
      <vt:lpstr>Vecto 0.7.0.2076 Development Version September 2020</vt:lpstr>
      <vt:lpstr>Vecto 0.6.1.1975 Development Version May 2020</vt:lpstr>
      <vt:lpstr>Vecto 0.6.1.1957 Development Version May 2020</vt:lpstr>
      <vt:lpstr>Vecto 0.6.1.1957 Development Version May 2020</vt:lpstr>
      <vt:lpstr>Vecto 0.6.0.1908 Development Version March. 2020</vt:lpstr>
      <vt:lpstr>Vecto 0.6.0.1884 Development Version Feb. 2020</vt:lpstr>
      <vt:lpstr>Vecto 0.5.0 Development Version Dec. 2019</vt:lpstr>
      <vt:lpstr>Vecto 3.3.10.2401 Official Release 2020-07-29</vt:lpstr>
      <vt:lpstr>Vecto 3.3.10.2373 Release Candidate 2020-07-01</vt:lpstr>
      <vt:lpstr>Vecto 3.3.10.2373 Release Candidate 2020-07-01</vt:lpstr>
      <vt:lpstr>Vecto 3.3.9.2175 Official Release 2020-12-15</vt:lpstr>
      <vt:lpstr>Vecto 3.3.9.2147 Release Candidate 2020-11-17</vt:lpstr>
      <vt:lpstr>Vecto 3.3.8.2052 Official Release 2020-08-14</vt:lpstr>
      <vt:lpstr>Vecto 3.3.8.2024 Release Candidate 2020-07-17</vt:lpstr>
      <vt:lpstr>Vecto 3.3.7.1964 Official Release 2020-05-18</vt:lpstr>
      <vt:lpstr>Vecto 3.3.6.1916 Official Release 2020-03-31</vt:lpstr>
      <vt:lpstr>Vecto 3.3.6.1898 Release Candidate 2020-03-13</vt:lpstr>
      <vt:lpstr>Vecto 3.3.5.1812 Official Release 2019-12-18</vt:lpstr>
      <vt:lpstr>Vecto 3.3.5.1783 Release Candidate 2019-11-19</vt:lpstr>
      <vt:lpstr>Vecto 3.3.4.1716 Official Release 2019-09-13</vt:lpstr>
      <vt:lpstr>Vecto 3.3.4.1686 Release Candidate 2019-08-14</vt:lpstr>
      <vt:lpstr>Vecto 3.3.3.1639 Official Release 2019-06-27</vt:lpstr>
      <vt:lpstr>Vecto 3.3.3.1609 Release Candidate 2019-05-29</vt:lpstr>
      <vt:lpstr>Vecto 3.3.2.1548 Official Release 2019-03-29</vt:lpstr>
      <vt:lpstr>Vecto 3.3.2.1519 Release Candidate 2019-03-01</vt:lpstr>
      <vt:lpstr>Vecto 3.3.2.1519 Release Candidate 2019-03-01</vt:lpstr>
      <vt:lpstr>Vecto 3.3.2.1519 Release Candidate 2019-03-01</vt:lpstr>
      <vt:lpstr>Vecto 3.3.1.1492 Official Release 2019-02-01</vt:lpstr>
      <vt:lpstr>Vecto 3.3.1.1463 Release Candidate 2019-01-03</vt:lpstr>
      <vt:lpstr>Vecto 3.3.1.1463 Release Candidate 2019-01-03</vt:lpstr>
      <vt:lpstr>Vecto 3.3.1.1463 Release Candidate 2019-01-03</vt:lpstr>
      <vt:lpstr>Vecto 3.3.1.1463 Release Candidate 2019-01-03</vt:lpstr>
      <vt:lpstr>Vecto 3.3.1.1463 Release Candidate 2019-01-03</vt:lpstr>
      <vt:lpstr>Vecto 3.3.1.1463 Release Candidate 2019-01-03</vt:lpstr>
      <vt:lpstr>Vecto 3.3.0.1433 Official Release 2018-12-04</vt:lpstr>
      <vt:lpstr>Vecto 3.3.0.1398 Release Candiate 2018-10-30</vt:lpstr>
      <vt:lpstr>Vecto 3.3.0.1250 2018-06-04</vt:lpstr>
      <vt:lpstr>Vecto 3.3.0.1250 2018-06-04</vt:lpstr>
      <vt:lpstr>Vecto 3.2.1.1133 2018-02-07</vt:lpstr>
      <vt:lpstr>Vecto 3.2.1.1079 2017-12-15</vt:lpstr>
      <vt:lpstr>Vecto 3.2.1.1054 2017-11-20</vt:lpstr>
      <vt:lpstr>VTP Simulation Mode</vt:lpstr>
      <vt:lpstr>Vecto 3.2.0.1022 2017-10-19</vt:lpstr>
      <vt:lpstr>Vecto 3.2.0.1005 2017-10-02</vt:lpstr>
      <vt:lpstr>Vecto 3.2.0.940 2017-07-28</vt:lpstr>
      <vt:lpstr>Vecto 3.2.0.925 2017-07-14</vt:lpstr>
      <vt:lpstr>Vecto 3.2.0.925 2017-07-14</vt:lpstr>
      <vt:lpstr>Vecto 3.2.0.925 2017-07-14</vt:lpstr>
      <vt:lpstr>Vecto 3.2.0.925 2017-07-14</vt:lpstr>
      <vt:lpstr>Vecto 3.1.2.810 2017-01-18</vt:lpstr>
      <vt:lpstr>Vecto 3.1.2.796 2017-03-07</vt:lpstr>
      <vt:lpstr>Vecto 3.1.1.748 2017-01-18</vt:lpstr>
      <vt:lpstr>Vecto 3.1.1.742 2017-01-12</vt:lpstr>
      <vt:lpstr>Vecto 3.1.0.683 2016-11-14</vt:lpstr>
      <vt:lpstr>PowerPoint-Präsentation</vt:lpstr>
      <vt:lpstr>Vecto 3.1.0.662 2016-10-24</vt:lpstr>
      <vt:lpstr>Vecto 3.1.0.652 2016-10-14</vt:lpstr>
      <vt:lpstr>Vecto 3.1.0.652 2016-10-14</vt:lpstr>
      <vt:lpstr>Status quo VECTO software and open issues (Oct. 2016)</vt:lpstr>
      <vt:lpstr>Vecto 3.0.4.565 2016-07-19</vt:lpstr>
      <vt:lpstr>Vecto 3.0.4.544 2016-06-28</vt:lpstr>
      <vt:lpstr>Notes for using Vecto 3.x with AAUX (1)</vt:lpstr>
      <vt:lpstr>Notes for using Vecto 3.x with AAUX (2)</vt:lpstr>
      <vt:lpstr>Notes for using Vecto 3.x with AAUX (3)</vt:lpstr>
      <vt:lpstr>Vecto 3.0.3.537 2016-06-21</vt:lpstr>
      <vt:lpstr>Vecto 3.0.3.495 2016-05-10</vt:lpstr>
      <vt:lpstr>Performance Comparison</vt:lpstr>
      <vt:lpstr>PowerPoint-Präsentation</vt:lpstr>
      <vt:lpstr>Pwheel (SiCo) Mode</vt:lpstr>
      <vt:lpstr>Measured Speed Mode</vt:lpstr>
      <vt:lpstr>.vmod File Update</vt:lpstr>
      <vt:lpstr>Changelog 3.0.2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subject/>
  <dc:creator>martinrexeis</dc:creator>
  <dc:description/>
  <cp:lastModifiedBy>Quaritsch Markus</cp:lastModifiedBy>
  <cp:revision>1316</cp:revision>
  <cp:lastPrinted>2013-01-22T12:03:30Z</cp:lastPrinted>
  <dcterms:created xsi:type="dcterms:W3CDTF">2010-01-07T15:28:02Z</dcterms:created>
  <dcterms:modified xsi:type="dcterms:W3CDTF">2023-06-06T09:33:52Z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Bildschirmpräsentation (4:3)</vt:lpwstr>
  </property>
  <property fmtid="{D5CDD505-2E9C-101B-9397-08002B2CF9AE}" pid="3" name="Slides">
    <vt:i4>113</vt:i4>
  </property>
</Properties>
</file>