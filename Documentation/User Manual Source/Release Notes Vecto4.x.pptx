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7.xml.rels" ContentType="application/vnd.openxmlformats-package.relationships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media/image1.jpeg" ContentType="image/jpeg"/>
  <Override PartName="/ppt/media/image3.png" ContentType="image/png"/>
  <Override PartName="/ppt/media/image2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</p:sld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und Inhalt (w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5B43A44-7AC0-4D1A-8D24-F1F355A7A0D7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 Slid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 Slide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 Slide__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7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Line 20"/>
          <p:cNvSpPr/>
          <p:nvPr/>
        </p:nvSpPr>
        <p:spPr>
          <a:xfrm>
            <a:off x="0" y="41580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" name="Text Box 24"/>
          <p:cNvSpPr/>
          <p:nvPr/>
        </p:nvSpPr>
        <p:spPr>
          <a:xfrm>
            <a:off x="7996320" y="6599160"/>
            <a:ext cx="91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spcBef>
                <a:spcPts val="499"/>
              </a:spcBef>
            </a:pPr>
            <a:fld id="{B09BCB07-6CA4-4DCB-99A1-7C50967375FC}" type="slidenum">
              <a:rPr b="1" lang="de-AT" sz="1000" spc="-1" strike="noStrike">
                <a:solidFill>
                  <a:srgbClr val="7d7d7d"/>
                </a:solidFill>
                <a:latin typeface="Verdana"/>
                <a:ea typeface="DejaVu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Text Box 30"/>
          <p:cNvSpPr/>
          <p:nvPr/>
        </p:nvSpPr>
        <p:spPr>
          <a:xfrm>
            <a:off x="144360" y="6627960"/>
            <a:ext cx="187524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96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550"/>
              </a:spcBef>
            </a:pPr>
            <a:r>
              <a:rPr b="0" lang="en-US" sz="1100" spc="-1" strike="noStrike">
                <a:solidFill>
                  <a:srgbClr val="000000"/>
                </a:solidFill>
                <a:latin typeface="Verdana"/>
                <a:ea typeface="DejaVu Sans"/>
              </a:rPr>
              <a:t>VECTO Release Notes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" name="Picture 2" descr=""/>
          <p:cNvPicPr/>
          <p:nvPr/>
        </p:nvPicPr>
        <p:blipFill>
          <a:blip r:embed="rId2"/>
          <a:stretch/>
        </p:blipFill>
        <p:spPr>
          <a:xfrm>
            <a:off x="7389360" y="37800"/>
            <a:ext cx="1413720" cy="345240"/>
          </a:xfrm>
          <a:prstGeom prst="rect">
            <a:avLst/>
          </a:prstGeom>
          <a:ln w="0">
            <a:noFill/>
          </a:ln>
        </p:spPr>
      </p:pic>
      <p:pic>
        <p:nvPicPr>
          <p:cNvPr id="4" name="Picture 3" descr="I:\raphaelluz\VECTO\source\VECTO\User Manual\pics\VECTO-small.PNG"/>
          <p:cNvPicPr/>
          <p:nvPr/>
        </p:nvPicPr>
        <p:blipFill>
          <a:blip r:embed="rId3"/>
          <a:stretch/>
        </p:blipFill>
        <p:spPr>
          <a:xfrm>
            <a:off x="107640" y="58680"/>
            <a:ext cx="970920" cy="324720"/>
          </a:xfrm>
          <a:prstGeom prst="rect">
            <a:avLst/>
          </a:prstGeom>
          <a:ln w="0">
            <a:noFill/>
          </a:ln>
        </p:spPr>
      </p:pic>
      <p:sp>
        <p:nvSpPr>
          <p:cNvPr id="5" name="Line 20"/>
          <p:cNvSpPr/>
          <p:nvPr/>
        </p:nvSpPr>
        <p:spPr>
          <a:xfrm>
            <a:off x="0" y="659916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ine 20"/>
          <p:cNvSpPr/>
          <p:nvPr/>
        </p:nvSpPr>
        <p:spPr>
          <a:xfrm>
            <a:off x="0" y="41580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9" name="Text Box 24"/>
          <p:cNvSpPr/>
          <p:nvPr/>
        </p:nvSpPr>
        <p:spPr>
          <a:xfrm>
            <a:off x="7996320" y="6599160"/>
            <a:ext cx="91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spcBef>
                <a:spcPts val="499"/>
              </a:spcBef>
            </a:pPr>
            <a:fld id="{E07868BC-FE73-4060-861B-D7D25CF2981A}" type="slidenum">
              <a:rPr b="1" lang="de-AT" sz="1000" spc="-1" strike="noStrike">
                <a:solidFill>
                  <a:srgbClr val="7d7d7d"/>
                </a:solidFill>
                <a:latin typeface="Verdana"/>
                <a:ea typeface="DejaVu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Text Box 30"/>
          <p:cNvSpPr/>
          <p:nvPr/>
        </p:nvSpPr>
        <p:spPr>
          <a:xfrm>
            <a:off x="144360" y="6627960"/>
            <a:ext cx="187524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96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550"/>
              </a:spcBef>
            </a:pPr>
            <a:r>
              <a:rPr b="0" lang="en-US" sz="1100" spc="-1" strike="noStrike">
                <a:solidFill>
                  <a:srgbClr val="000000"/>
                </a:solidFill>
                <a:latin typeface="Verdana"/>
                <a:ea typeface="DejaVu Sans"/>
              </a:rPr>
              <a:t>VECTO Release Notes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" name="Picture 2" descr=""/>
          <p:cNvPicPr/>
          <p:nvPr/>
        </p:nvPicPr>
        <p:blipFill>
          <a:blip r:embed="rId2"/>
          <a:stretch/>
        </p:blipFill>
        <p:spPr>
          <a:xfrm>
            <a:off x="7389360" y="37800"/>
            <a:ext cx="1413720" cy="345240"/>
          </a:xfrm>
          <a:prstGeom prst="rect">
            <a:avLst/>
          </a:prstGeom>
          <a:ln w="0">
            <a:noFill/>
          </a:ln>
        </p:spPr>
      </p:pic>
      <p:pic>
        <p:nvPicPr>
          <p:cNvPr id="12" name="Picture 3" descr="I:\raphaelluz\VECTO\source\VECTO\User Manual\pics\VECTO-small.PNG"/>
          <p:cNvPicPr/>
          <p:nvPr/>
        </p:nvPicPr>
        <p:blipFill>
          <a:blip r:embed="rId3"/>
          <a:stretch/>
        </p:blipFill>
        <p:spPr>
          <a:xfrm>
            <a:off x="107640" y="58680"/>
            <a:ext cx="970920" cy="324720"/>
          </a:xfrm>
          <a:prstGeom prst="rect">
            <a:avLst/>
          </a:prstGeom>
          <a:ln w="0">
            <a:noFill/>
          </a:ln>
        </p:spPr>
      </p:pic>
      <p:sp>
        <p:nvSpPr>
          <p:cNvPr id="13" name="Line 20"/>
          <p:cNvSpPr/>
          <p:nvPr/>
        </p:nvSpPr>
        <p:spPr>
          <a:xfrm>
            <a:off x="0" y="659916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4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Line 20"/>
          <p:cNvSpPr/>
          <p:nvPr/>
        </p:nvSpPr>
        <p:spPr>
          <a:xfrm>
            <a:off x="0" y="41580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17" name="Text Box 24"/>
          <p:cNvSpPr/>
          <p:nvPr/>
        </p:nvSpPr>
        <p:spPr>
          <a:xfrm>
            <a:off x="7996320" y="6599160"/>
            <a:ext cx="91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spcBef>
                <a:spcPts val="499"/>
              </a:spcBef>
            </a:pPr>
            <a:fld id="{FD93929F-2757-4BF8-B44A-B6741818C562}" type="slidenum">
              <a:rPr b="1" lang="de-AT" sz="1000" spc="-1" strike="noStrike">
                <a:solidFill>
                  <a:srgbClr val="7d7d7d"/>
                </a:solidFill>
                <a:latin typeface="Verdana"/>
                <a:ea typeface="DejaVu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Text Box 30"/>
          <p:cNvSpPr/>
          <p:nvPr/>
        </p:nvSpPr>
        <p:spPr>
          <a:xfrm>
            <a:off x="144360" y="6627960"/>
            <a:ext cx="187524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96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550"/>
              </a:spcBef>
            </a:pPr>
            <a:r>
              <a:rPr b="0" lang="en-US" sz="1100" spc="-1" strike="noStrike">
                <a:solidFill>
                  <a:srgbClr val="000000"/>
                </a:solidFill>
                <a:latin typeface="Verdana"/>
                <a:ea typeface="DejaVu Sans"/>
              </a:rPr>
              <a:t>VECTO Release Notes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" name="Picture 2" descr=""/>
          <p:cNvPicPr/>
          <p:nvPr/>
        </p:nvPicPr>
        <p:blipFill>
          <a:blip r:embed="rId2"/>
          <a:stretch/>
        </p:blipFill>
        <p:spPr>
          <a:xfrm>
            <a:off x="7389360" y="37800"/>
            <a:ext cx="1413720" cy="345240"/>
          </a:xfrm>
          <a:prstGeom prst="rect">
            <a:avLst/>
          </a:prstGeom>
          <a:ln w="0">
            <a:noFill/>
          </a:ln>
        </p:spPr>
      </p:pic>
      <p:pic>
        <p:nvPicPr>
          <p:cNvPr id="20" name="Picture 3" descr="I:\raphaelluz\VECTO\source\VECTO\User Manual\pics\VECTO-small.PNG"/>
          <p:cNvPicPr/>
          <p:nvPr/>
        </p:nvPicPr>
        <p:blipFill>
          <a:blip r:embed="rId3"/>
          <a:stretch/>
        </p:blipFill>
        <p:spPr>
          <a:xfrm>
            <a:off x="107640" y="58680"/>
            <a:ext cx="970920" cy="324720"/>
          </a:xfrm>
          <a:prstGeom prst="rect">
            <a:avLst/>
          </a:prstGeom>
          <a:ln w="0">
            <a:noFill/>
          </a:ln>
        </p:spPr>
      </p:pic>
      <p:sp>
        <p:nvSpPr>
          <p:cNvPr id="21" name="Line 20"/>
          <p:cNvSpPr/>
          <p:nvPr/>
        </p:nvSpPr>
        <p:spPr>
          <a:xfrm>
            <a:off x="0" y="659916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sldNum" idx="1"/>
          </p:nvPr>
        </p:nvSpPr>
        <p:spPr>
          <a:xfrm>
            <a:off x="128160" y="54180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5000" bIns="-4500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fld id="{BC6FCFC4-74FE-474A-9B7F-C6BB956A4A02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Line 20"/>
          <p:cNvSpPr/>
          <p:nvPr/>
        </p:nvSpPr>
        <p:spPr>
          <a:xfrm>
            <a:off x="0" y="41580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26" name="Text Box 24"/>
          <p:cNvSpPr/>
          <p:nvPr/>
        </p:nvSpPr>
        <p:spPr>
          <a:xfrm>
            <a:off x="7996320" y="6599160"/>
            <a:ext cx="91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spcBef>
                <a:spcPts val="499"/>
              </a:spcBef>
            </a:pPr>
            <a:fld id="{B0B8B461-286D-4913-B8A1-2684A0E14A6E}" type="slidenum">
              <a:rPr b="1" lang="de-AT" sz="1000" spc="-1" strike="noStrike">
                <a:solidFill>
                  <a:srgbClr val="7d7d7d"/>
                </a:solidFill>
                <a:latin typeface="Verdana"/>
                <a:ea typeface="DejaVu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Text Box 30"/>
          <p:cNvSpPr/>
          <p:nvPr/>
        </p:nvSpPr>
        <p:spPr>
          <a:xfrm>
            <a:off x="144360" y="6627960"/>
            <a:ext cx="187524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96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550"/>
              </a:spcBef>
            </a:pPr>
            <a:r>
              <a:rPr b="0" lang="en-US" sz="1100" spc="-1" strike="noStrike">
                <a:solidFill>
                  <a:srgbClr val="000000"/>
                </a:solidFill>
                <a:latin typeface="Verdana"/>
                <a:ea typeface="DejaVu Sans"/>
              </a:rPr>
              <a:t>VECTO Release Notes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8" name="Picture 2" descr=""/>
          <p:cNvPicPr/>
          <p:nvPr/>
        </p:nvPicPr>
        <p:blipFill>
          <a:blip r:embed="rId2"/>
          <a:stretch/>
        </p:blipFill>
        <p:spPr>
          <a:xfrm>
            <a:off x="7389360" y="37800"/>
            <a:ext cx="1413720" cy="345240"/>
          </a:xfrm>
          <a:prstGeom prst="rect">
            <a:avLst/>
          </a:prstGeom>
          <a:ln w="0">
            <a:noFill/>
          </a:ln>
        </p:spPr>
      </p:pic>
      <p:pic>
        <p:nvPicPr>
          <p:cNvPr id="29" name="Picture 3" descr="I:\raphaelluz\VECTO\source\VECTO\User Manual\pics\VECTO-small.PNG"/>
          <p:cNvPicPr/>
          <p:nvPr/>
        </p:nvPicPr>
        <p:blipFill>
          <a:blip r:embed="rId3"/>
          <a:stretch/>
        </p:blipFill>
        <p:spPr>
          <a:xfrm>
            <a:off x="107640" y="58680"/>
            <a:ext cx="970920" cy="324720"/>
          </a:xfrm>
          <a:prstGeom prst="rect">
            <a:avLst/>
          </a:prstGeom>
          <a:ln w="0">
            <a:noFill/>
          </a:ln>
        </p:spPr>
      </p:pic>
      <p:sp>
        <p:nvSpPr>
          <p:cNvPr id="30" name="Line 20"/>
          <p:cNvSpPr/>
          <p:nvPr/>
        </p:nvSpPr>
        <p:spPr>
          <a:xfrm>
            <a:off x="0" y="659916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4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Line 20"/>
          <p:cNvSpPr/>
          <p:nvPr/>
        </p:nvSpPr>
        <p:spPr>
          <a:xfrm>
            <a:off x="0" y="41580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4" name="Text Box 24"/>
          <p:cNvSpPr/>
          <p:nvPr/>
        </p:nvSpPr>
        <p:spPr>
          <a:xfrm>
            <a:off x="7996320" y="6599160"/>
            <a:ext cx="91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spcBef>
                <a:spcPts val="499"/>
              </a:spcBef>
            </a:pPr>
            <a:fld id="{1AF62546-3FF0-4FCB-841D-F738BF1DC73E}" type="slidenum">
              <a:rPr b="1" lang="de-AT" sz="1000" spc="-1" strike="noStrike">
                <a:solidFill>
                  <a:srgbClr val="7d7d7d"/>
                </a:solidFill>
                <a:latin typeface="Verdana"/>
                <a:ea typeface="DejaVu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Box 30"/>
          <p:cNvSpPr/>
          <p:nvPr/>
        </p:nvSpPr>
        <p:spPr>
          <a:xfrm>
            <a:off x="144360" y="6627960"/>
            <a:ext cx="187524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96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550"/>
              </a:spcBef>
            </a:pPr>
            <a:r>
              <a:rPr b="0" lang="en-US" sz="1100" spc="-1" strike="noStrike">
                <a:solidFill>
                  <a:srgbClr val="000000"/>
                </a:solidFill>
                <a:latin typeface="Verdana"/>
                <a:ea typeface="DejaVu Sans"/>
              </a:rPr>
              <a:t>VECTO Release Notes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" name="Picture 2" descr=""/>
          <p:cNvPicPr/>
          <p:nvPr/>
        </p:nvPicPr>
        <p:blipFill>
          <a:blip r:embed="rId2"/>
          <a:stretch/>
        </p:blipFill>
        <p:spPr>
          <a:xfrm>
            <a:off x="7389360" y="37800"/>
            <a:ext cx="1413720" cy="345240"/>
          </a:xfrm>
          <a:prstGeom prst="rect">
            <a:avLst/>
          </a:prstGeom>
          <a:ln w="0">
            <a:noFill/>
          </a:ln>
        </p:spPr>
      </p:pic>
      <p:pic>
        <p:nvPicPr>
          <p:cNvPr id="37" name="Picture 3" descr="I:\raphaelluz\VECTO\source\VECTO\User Manual\pics\VECTO-small.PNG"/>
          <p:cNvPicPr/>
          <p:nvPr/>
        </p:nvPicPr>
        <p:blipFill>
          <a:blip r:embed="rId3"/>
          <a:stretch/>
        </p:blipFill>
        <p:spPr>
          <a:xfrm>
            <a:off x="107640" y="58680"/>
            <a:ext cx="970920" cy="324720"/>
          </a:xfrm>
          <a:prstGeom prst="rect">
            <a:avLst/>
          </a:prstGeom>
          <a:ln w="0">
            <a:noFill/>
          </a:ln>
        </p:spPr>
      </p:pic>
      <p:sp>
        <p:nvSpPr>
          <p:cNvPr id="38" name="Line 20"/>
          <p:cNvSpPr/>
          <p:nvPr/>
        </p:nvSpPr>
        <p:spPr>
          <a:xfrm>
            <a:off x="0" y="659916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4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Line 20"/>
          <p:cNvSpPr/>
          <p:nvPr/>
        </p:nvSpPr>
        <p:spPr>
          <a:xfrm>
            <a:off x="0" y="41580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2" name="Text Box 24"/>
          <p:cNvSpPr/>
          <p:nvPr/>
        </p:nvSpPr>
        <p:spPr>
          <a:xfrm>
            <a:off x="7996320" y="6599160"/>
            <a:ext cx="91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spcBef>
                <a:spcPts val="499"/>
              </a:spcBef>
            </a:pPr>
            <a:fld id="{2D35608C-EF5C-4E09-A0B2-054FE90EF349}" type="slidenum">
              <a:rPr b="1" lang="de-AT" sz="1000" spc="-1" strike="noStrike">
                <a:solidFill>
                  <a:srgbClr val="7d7d7d"/>
                </a:solidFill>
                <a:latin typeface="Verdana"/>
                <a:ea typeface="DejaVu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Text Box 30"/>
          <p:cNvSpPr/>
          <p:nvPr/>
        </p:nvSpPr>
        <p:spPr>
          <a:xfrm>
            <a:off x="144360" y="6627960"/>
            <a:ext cx="187524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96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550"/>
              </a:spcBef>
            </a:pPr>
            <a:r>
              <a:rPr b="0" lang="en-US" sz="1100" spc="-1" strike="noStrike">
                <a:solidFill>
                  <a:srgbClr val="000000"/>
                </a:solidFill>
                <a:latin typeface="Verdana"/>
                <a:ea typeface="DejaVu Sans"/>
              </a:rPr>
              <a:t>VECTO Release Notes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Picture 2" descr=""/>
          <p:cNvPicPr/>
          <p:nvPr/>
        </p:nvPicPr>
        <p:blipFill>
          <a:blip r:embed="rId2"/>
          <a:stretch/>
        </p:blipFill>
        <p:spPr>
          <a:xfrm>
            <a:off x="7389360" y="37800"/>
            <a:ext cx="1413720" cy="345240"/>
          </a:xfrm>
          <a:prstGeom prst="rect">
            <a:avLst/>
          </a:prstGeom>
          <a:ln w="0">
            <a:noFill/>
          </a:ln>
        </p:spPr>
      </p:pic>
      <p:pic>
        <p:nvPicPr>
          <p:cNvPr id="45" name="Picture 3" descr="I:\raphaelluz\VECTO\source\VECTO\User Manual\pics\VECTO-small.PNG"/>
          <p:cNvPicPr/>
          <p:nvPr/>
        </p:nvPicPr>
        <p:blipFill>
          <a:blip r:embed="rId3"/>
          <a:stretch/>
        </p:blipFill>
        <p:spPr>
          <a:xfrm>
            <a:off x="107640" y="58680"/>
            <a:ext cx="970920" cy="324720"/>
          </a:xfrm>
          <a:prstGeom prst="rect">
            <a:avLst/>
          </a:prstGeom>
          <a:ln w="0">
            <a:noFill/>
          </a:ln>
        </p:spPr>
      </p:pic>
      <p:sp>
        <p:nvSpPr>
          <p:cNvPr id="46" name="Line 20"/>
          <p:cNvSpPr/>
          <p:nvPr/>
        </p:nvSpPr>
        <p:spPr>
          <a:xfrm>
            <a:off x="0" y="659916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4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Line 20"/>
          <p:cNvSpPr/>
          <p:nvPr/>
        </p:nvSpPr>
        <p:spPr>
          <a:xfrm>
            <a:off x="0" y="41580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0" name="Text Box 24"/>
          <p:cNvSpPr/>
          <p:nvPr/>
        </p:nvSpPr>
        <p:spPr>
          <a:xfrm>
            <a:off x="7996320" y="6599160"/>
            <a:ext cx="91800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r" defTabSz="914400">
              <a:lnSpc>
                <a:spcPct val="100000"/>
              </a:lnSpc>
              <a:spcBef>
                <a:spcPts val="499"/>
              </a:spcBef>
            </a:pPr>
            <a:fld id="{CECD0170-F99E-488E-A9F4-DD285341D950}" type="slidenum">
              <a:rPr b="1" lang="de-AT" sz="1000" spc="-1" strike="noStrike">
                <a:solidFill>
                  <a:srgbClr val="7d7d7d"/>
                </a:solidFill>
                <a:latin typeface="Verdana"/>
                <a:ea typeface="DejaVu Sans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Text Box 30"/>
          <p:cNvSpPr/>
          <p:nvPr/>
        </p:nvSpPr>
        <p:spPr>
          <a:xfrm>
            <a:off x="144360" y="6627960"/>
            <a:ext cx="187524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396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550"/>
              </a:spcBef>
            </a:pPr>
            <a:r>
              <a:rPr b="0" lang="en-US" sz="1100" spc="-1" strike="noStrike">
                <a:solidFill>
                  <a:srgbClr val="000000"/>
                </a:solidFill>
                <a:latin typeface="Verdana"/>
                <a:ea typeface="DejaVu Sans"/>
              </a:rPr>
              <a:t>VECTO Release Notes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2" name="Picture 2" descr=""/>
          <p:cNvPicPr/>
          <p:nvPr/>
        </p:nvPicPr>
        <p:blipFill>
          <a:blip r:embed="rId2"/>
          <a:stretch/>
        </p:blipFill>
        <p:spPr>
          <a:xfrm>
            <a:off x="7389360" y="37800"/>
            <a:ext cx="1413720" cy="345240"/>
          </a:xfrm>
          <a:prstGeom prst="rect">
            <a:avLst/>
          </a:prstGeom>
          <a:ln w="0">
            <a:noFill/>
          </a:ln>
        </p:spPr>
      </p:pic>
      <p:pic>
        <p:nvPicPr>
          <p:cNvPr id="53" name="Picture 3" descr="I:\raphaelluz\VECTO\source\VECTO\User Manual\pics\VECTO-small.PNG"/>
          <p:cNvPicPr/>
          <p:nvPr/>
        </p:nvPicPr>
        <p:blipFill>
          <a:blip r:embed="rId3"/>
          <a:stretch/>
        </p:blipFill>
        <p:spPr>
          <a:xfrm>
            <a:off x="107640" y="58680"/>
            <a:ext cx="970920" cy="324720"/>
          </a:xfrm>
          <a:prstGeom prst="rect">
            <a:avLst/>
          </a:prstGeom>
          <a:ln w="0">
            <a:noFill/>
          </a:ln>
        </p:spPr>
      </p:pic>
      <p:sp>
        <p:nvSpPr>
          <p:cNvPr id="54" name="Line 20"/>
          <p:cNvSpPr/>
          <p:nvPr/>
        </p:nvSpPr>
        <p:spPr>
          <a:xfrm>
            <a:off x="0" y="6599160"/>
            <a:ext cx="9144000" cy="360"/>
          </a:xfrm>
          <a:prstGeom prst="line">
            <a:avLst/>
          </a:prstGeom>
          <a:ln w="9525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  <a:ea typeface="DejaVu Sans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Box 94"/>
          <p:cNvSpPr/>
          <p:nvPr/>
        </p:nvSpPr>
        <p:spPr>
          <a:xfrm>
            <a:off x="539640" y="1052640"/>
            <a:ext cx="8128800" cy="39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599"/>
              </a:spcBef>
            </a:pPr>
            <a:r>
              <a:rPr b="1" lang="en-US" sz="3200" spc="-1" strike="noStrike">
                <a:solidFill>
                  <a:srgbClr val="990000"/>
                </a:solidFill>
                <a:latin typeface="Arial"/>
                <a:ea typeface="DejaVu Sans"/>
              </a:rPr>
              <a:t>VECTO 4.x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Release Notes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8" name="Picture 2" descr=""/>
          <p:cNvPicPr/>
          <p:nvPr/>
        </p:nvPicPr>
        <p:blipFill>
          <a:blip r:embed="rId1"/>
          <a:stretch/>
        </p:blipFill>
        <p:spPr>
          <a:xfrm>
            <a:off x="2483640" y="2421000"/>
            <a:ext cx="4168800" cy="162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0880" cy="673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4.2.2.3539 RELEASE CANDIDATE 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09.09.2024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323640" y="1639080"/>
            <a:ext cx="8489520" cy="4446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CodeEU-710: Hashing tool check fail with VECTO version 3330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CodeEU-711: Hashing tool check fail with VECTO 4.1.3.3415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CodeEU-712: VECTO VTP error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CodeEU-754: "Failed to find operating point"; "Failed to find mechanic power for given electric power" in E2 vehicle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CodeEU-727: Failure in simulating HEV in different VECTO versions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CodeEU-749: Double summary for electric vehicles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CodeEU-542: IVECO confidential : BUG REPORT : CRW LE T7D VOITH NXT 5.63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CodeEU-663: IHPC: Failed to find operating point 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CodeEU-634: Article 10(2) issue - VIN YS2G6X20002202570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CodeEU-671: IHPC: simulation abort due to unexpected response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0880" cy="673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4.2.1.3469 OFFICIAL RELEASE 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01.07.2024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323640" y="1639080"/>
            <a:ext cx="8489520" cy="4446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Features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CodeEU-726: Build an XML converter tool for older VECTO jobs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CodeEU-719: the six new tyre dimensions from line 126 onwards to the latest “wheels.csv” file in the VECTO repository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CodeEU-717: VECTO-4.2.0.3448-RC - Buses AMT Gearbox Type with 1% higher C02 in primary results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CodeEU-724: Error in Primary Bus Simulation: Object reference not set to an instance of an object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CodeEU-716: VECTO-4.2.0.3448-RC - Buses Result Summary section missing in RLST_Customer.xml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CodeEU-694: Primary and Completed heavybus FCV article 9 exempted hashcode mismatch.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CodeEU-735: SMT strategy different between engineering and declaration mode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CodeEU-736: Existing customer reports (CIF) fail validation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CodeEU-737: Missing data from XML report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0880" cy="673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4.2.0.3448 RELEASE CANDIDATE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10.06.2024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323640" y="1639080"/>
            <a:ext cx="8489520" cy="4446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Features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CodeEU-696: Double summary in CIF for vocationals and non vocational missions.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CodeEU-698: Incorporate missions RD, LH and EMS to class 16 vehicles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CodeEU-697: Re-evaluate subgroup allocations for Long Haul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CodeEU-676: Feature: Implement monitoring report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 (1/4)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CodeEU-471: VectoSimulationException: VF640J869RB022573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CodeEU-462: Article10-2-issue | Order-Nr 28206354 | HEV P1 Error Mercedes-Benz and Setra Hybrid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BusesCodeEU-326: Article10-2-issue | Order-Nr 28195581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CodeEU-348: Article10-2-issue | Order-Nr 28204519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CodeEU-457: Article10-2-issue | Order-Nr 28174000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CodeEU-458: Article10-2-issue | Order-Nr 28186528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CodeEU-459: Article10-2-issue | Order-Nr 28203057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CodeEU-545: IVECO confidential : BUG REPORT : HEV-P1 : UW18m C9 VOITH NXT CRU 48V mild hybrid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CodeEU-346: Article10-2-issue | Order-Nr 28202338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CodeEU-352: Article10-2-issue | Order-Nr 28202130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CodeEU-394: Article10-2-issue | Order-Nr 28204065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0880" cy="673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4.2.0.3448 RELEASE CANDIDATE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10.06.2024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323640" y="1639080"/>
            <a:ext cx="8489520" cy="4446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 (2/4)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CodeEU-433: Article10-2-issue | Order-Nr 28192321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CodeEU-451: Article10-2-issue | Order-Nr 28204280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CodeEU-452: Article10-2-issue | Order-Nr 28197394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CodeEU-453: Article10-2-issue | Order-Nr 28199435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CodeEU-454: Article10-2-issue | Order-Nr 28206982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CodeEU-655: Article10-2-issue | VECTO-4.0.3 | Order-Nr 28208126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CodeEU-660: Retarder lossmap error in completed vehicle simulation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CodeEU-662: Generic retarder map speed range insufficient in some cases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CodeEU-648: Error in Multistep Tool PEV/P-HEV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CodeEU-618: PEV vehicles simulation error depending the time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CodeEU-700: Factor Method Generic IHPC Powermap De-normaization bug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CodeEU-482: Article10-2-issue | Order-Nr 28203040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CodeEU-514: Article10-2-issue | VECTO-4.0.3 | Order-Nr 28208051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CodeEU-529: Article10-2-issue | VECTO-4.0.3 | Order-Nr 28199994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0880" cy="673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4.2.0.3448 RELEASE CANDIDATE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10.06.2024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323640" y="1639080"/>
            <a:ext cx="8489520" cy="4446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 (3/4)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CodeEU-544: IVECO confidential : BUG REPORT : HEV-P1 : CRW LE C9 VOITH NXT CRU 48V mild hybrid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CodeEU-552: Article10-2-issue | VECTO-4.0.3 | Order-Nr 28201759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CodeEU-556: Article10-2-issue | VECTO-4.0.3 | Order-Nr 28208176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CodeEU-557: Article10-2-issue | VECTO-4.0.3 | Order-Nr 28209751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CodeEU-622: Article10-2-issue | VECTO-4.0.3 | Order-Nr 28210594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CodeEU-632: Article10-2-issue | VECTO-4.0.3 | Order-Nr 28210591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CodeEU-672: Article10-2-issue | VECTO-4.1.3 | Order-Nr 28208841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CodeEU-673: Article10-2-issue | VECTO-4.1.3 | Order-Nr 28209179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CodeEU-674: Article10-2-issue | VECTO-4.1.3 | Order-Nr 28211540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0880" cy="673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4.2.0.3448 RELEASE CANDIDATE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10.06.2024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323640" y="1639080"/>
            <a:ext cx="8489520" cy="4446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 (4/4)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CodeEU-678: Article10-2-issue | VECTO-4.1.3 | Order-Nr 28192673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CodeEU-697: Article10-2-issue | VECTO-4.1.3 | Order-Nr 28209551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CodeEU-685: Article10-2-issue | VECTO-4.1.3 | Order-Nr 28200286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CodeEU-686: Article10-2-issue | VECTO-4.1.3 | Order-Nr 28201178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CodeEU-687: Article10-2-issue | VECTO-4.1.3 | Order-Nr 28209679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CodeEU-692: Article10-2-issue | VECTO-4.1.3 | Order-Nr 28209789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0880" cy="673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4.1.3.3415 OFFICIAL RELEASE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08.05.2024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323640" y="1639080"/>
            <a:ext cx="8489520" cy="4446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Hotfixes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CodeEU-638: Incorrect construction payloads for group 9 non-vocational vehicle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0880" cy="673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4.1.1.3413 OFFICIAL RELEASE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06.05.2024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323640" y="1639080"/>
            <a:ext cx="8489520" cy="4446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CodeEU-615: Multistep freezes after loading VIF chassis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CodeEU-616: Multistep tool freezes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CodeEU-619: restore wrong exempted techs in XSD for backwards compatibility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CodeEU-617: Results change depending the time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CodeEU-635: Revert multiple summary in CIF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0880" cy="673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4.1.0.3392 RELEASE CANDIDATE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15.04.2024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323640" y="1639080"/>
            <a:ext cx="8489520" cy="4446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Features</a:t>
            </a:r>
            <a:br>
              <a:rPr sz="1600"/>
            </a:br>
            <a:r>
              <a:rPr b="0" lang="en-US" sz="1200" spc="-1" strike="noStrike">
                <a:solidFill>
                  <a:schemeClr val="dk1"/>
                </a:solidFill>
                <a:latin typeface="Arial"/>
                <a:ea typeface="DejaVu Sans"/>
              </a:rPr>
              <a:t>CodeEU-577: Add missing mission profiles to vocational and non-vocational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 (1/4)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CodeEU-331: Gear 1 DrivingActionAccelerate: Fail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CodeEU-367: Gear 1 DrivingActionAccelerate: Fail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CodeEU-372: ADT Error on Bus Category Primary Vehicle Simulation on VECTO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CodeEU-373: ADT Error on Bus Category Primary Vehicle Simulation on VECTO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CodeEU-374: ADT Error on Bus Category Primary Vehicle Simulation on VECTO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CodeEU-375: ADT Error on Bus Category Primary Vehicle Simulation on VECTO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CodeEU-393: Finished Run VEH-PrimaryBus_nonSmart Interurban _P32SD_ReferenceLoad with ERROR: 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CodeEU-439: 615 (Interurban _P32DD_ReferenceLoad) - absTime: 7129.6359 [s], distance: 53875.9765 [m], dt: 0.6388 [s], v: 0.5098 [m/s], Gear: 1 | DrivingActionAccelerate: Failed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CodeEU-446: Finished Run VEH-PrimaryBus_nonSmart Interurban _P32SD_ReferenceLoad with ERROR: 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CodeEU-449: Finished Run VEH-PrimaryBus_nonSmart Interurban _P32SD_ReferenceLoad with ERROR: 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CodeEU-478: Finished Run VEH-PrimaryBus_nonSmart Urban _P31SD_ReferenceLoad with ERROR: 4 (Urban _P31SD_ReferenceLoad) - absTime: 8606.6241 [s], distance: 39112.5127 [m], dt: 1.1131 [s], v: 0.1833 [m/s], Gear: 1 | DrivingActionAccelerate: Failed to find operating poi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marL="8002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0880" cy="673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4.1.0.3392 RELEASE CANDIDATE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15.04.2024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323640" y="1459080"/>
            <a:ext cx="8489520" cy="465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 (2/4)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CodeEU-481: Finished Run VEH-PrimaryBus_nonSmart Urban _P31SD_ReferenceLoad with ERROR: 4 (Urban _P31SD_ReferenceLoad) - absTime: 8606.6241 [s], distance: 39112.5127 [m], dt: 1.1131 [s], v: 0.1833 [m/s], Gear: 1 |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CodeEU-488: Finished Run VEH-PrimaryBus_nonSmart Urban _P31SD_ReferenceLoad with ERROR: 4 (Urban _P31SD_ReferenceLoad) - absTime: 8606.6241 [s], distance: 39112.5127 [m], dt: 1.1131 [s], v: 0.1833 [m/s], Gear: 1 | DrivingActionAccelerate: Failed to find operating poi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CodeEU-494: Finished Run VEH-PrimaryBus_nonSmart Urban _P31SD_ReferenceLoad with ERROR: 26 (Urban _P31SD_ReferenceLoad) - absTime: 8606.6241 [s], distance: 39112.5127 [m], dt: 1.1131 [s], v: 0.1833 [m/s], Gear: 1 | DrivingActionAccelerate: Failed to fi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CodeEU-420: Finished Run VEH-PrimaryBus_nonSmart Interurban _P32SD_ReferenceLoad with ERROR: 16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CodeEU-573: Unhandled powertrain architecture Conventional Vehicle to calculate gradability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CodeEU-582: unhandled powertrain architecture ConventionalVehicle to calculate gradability, 11:44:36.63,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CodeEU-595: Inconsistency exempted vehicles "Fuel cell vehicle" vs. "FCV Article 9 exempted"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CodeEU-501: Help regarding VTP vdri format is not up to date in v4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CodeEU-594: inadequate validation for auxiliaries in completed vehicle XML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CodeEU-580: Potential error in XML schema v2.4 (exempted vehicles)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CodeEU-551: Article-10-2 XLRASF5E00G419905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CodeEU-547: Max ICE Off timespan for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CodeEU-583: Incorrect internal resistance for SuperCap used in factor method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0880" cy="673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4.1.0.3392 RELEASE CANDIDATE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15.04.2024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323640" y="1459080"/>
            <a:ext cx="8489520" cy="465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 (3/4)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CodeEU-571: Article10-2-issue | VECTO-4.0.3 | Order-Nr 28202896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CodeEU-526: VTP calculation aborted on fuel consumption map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CodeEU-502: Error in VECTO calculation WMA10CZZ0RF022326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CodeEU-401: Electric steering system with conventional vehicle not according to 2017/2400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CodeEU-476: Setting Initial SoC in REESS editor leads to error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CodeEU-533: Question about heavy lorry_IEPC_Gb×4speed: Failed to generate electric power map - at least two negative entries are required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CodeEU-456: Clarification Documentation official Results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CodeEU-506: Article 10(2) issue - VIN YS2P6X200R2201285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CodeEU-507: Article 10(2) issue - VIN YS2P6X20005732399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CodeEU-508: Article 10(2) issue - VIN S2P6X20005734199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CodeEU-499: Object Reference not set Error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CodeEU-546: Problem with P181 (Cooling Fan Technology) for a conventional vehicle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CodeEU-516: Article10-2-issue | VECTO-4.0.3 | Order-Nr 28208044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CodeEU-517: Article10-2-issue | VECTO-4.0.3 | Order-Nr 28208037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0880" cy="673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4.1.0.3392 RELEASE CANDIDATE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15.04.2024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323640" y="1459080"/>
            <a:ext cx="8489520" cy="465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0" defTabSz="9144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 (4/4)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CodeEU-519: Article10-2-issue | VECTO-4.0.3 | Order-Nr 10098181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CodeEU-527: Article10-2-issue | VECTO-4.0.3 | Order-Nr 28196233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CodeEU-528: Article10-2-issue | VECTO-4.0.3 | Order-Nr 28196652 | HEV P1 Error Mercedes-Benz and Setra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CodeEU-338: Eco-roll only, without engine stop, impact on CO2 emission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CodeEU-475: XML files loading in VTP Job not OK; No auxiliary data and torque curve visible, Job can't be saved in VECTO 4.0.3.3330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CodeEU-610: VTP mode is broken due to changes in the Clutch component.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0880" cy="673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4.0.3.3330 OFFICIAL RELEASE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13.02.2024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323640" y="1639080"/>
            <a:ext cx="8489520" cy="4446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CodeEU-293: DistanceRun got an unexpected response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CodeEU-298: Object reference not set to an instance of an object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CodeEU-300: Full drive torque miscalculation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CodeEU-336: Feature: Hashing tool must validate the previous step data for multi-step jobs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CodeEU-337: Electric Citybus - ERROR with "31a-Specific" bus configuration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CodeEU-343: Cannot simulate Primary Vehicle using vectocmd.exe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CodeEU-387: VECTO sometimes fails to properly read Tyre data from primary vehicle xml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CodeEU-427: Vehicle speed resulting to exceeding max gearbox speed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CodeEU-428: Remove speed safety margin for gearbox re-engaging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CodeEU-438: Mismatch XML schema vs Regulation (exempted vehicles)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CodeEU-248: Bus P2 hybrid VECTO error in urban cycle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CodeEU-278: Simulation crash when writing fuel consumption results to reports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CodeEU-284: New error message and failed simulation obtained for P2 hybrid buses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CodeEU-285: PEV vehicle error in routine to write the results with new vecto version  4.0.2.3275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CodeEU-287: PEV_IEPC error message:"can only operate on SI Objects with the same unit"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CodeEU-289: VECTO Simulation Error for bus with validated input data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0880" cy="673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4.0.2.3275 OFFICIAL RELEASE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20.12.2023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323640" y="1639080"/>
            <a:ext cx="8489520" cy="44463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Hotfix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CodeEU-273, CodeEU-274: Changes in the AMT shift strategy regarding idling speed caused simulation aborts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CodeEU-260: regression fix handling overload buffer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0880" cy="673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4.0.2.3273 OFFICIAL RELEASE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18.12.2023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323640" y="1268640"/>
            <a:ext cx="8489520" cy="4816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 (1/2)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CodeEU-94: DistanceRun got an unexpected response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CodeEU-153: DrivingActionAccelerate: Failed to find operating point after Overload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CodeEU-158: Urban RefLoad DrivingActionAccelerate: Failed to find operating point (IEPC Wheelhub 1 measured)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CodeEU-168: Vecto Declaration Simulation with P1-Hybrid shows multiple errors - Simulation Aborts!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CodeEU-191: Boosting limits HEV ovc are not working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CodeEU-202: EMS Standard Values: Continuous/Overload Torque 0 Nm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CodeEU-203: HybridStrategy error for IHPC type 1 hybrid lorry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CodeEU-206: VTP + PEMS test done by Renault Trucks France - VECTO tool errors most probably linked to automatic gearbox (with torque converter)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CodeEU-211: Hybrid P1 configurations with errors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CodeEU-215: MultiStep tool help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CodeEU-216: NrOfGears in CIF is 1 for IEPC no matter how many gears it has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CodeEU-220: Error manual transmission 2. gear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CodeEU-224: Issue with PEV complete vehicle simulation (Vecto MultiStage)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CodeEU-231: IVECO CONFIDENTIAL : hybrid buses completed simulation aborted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CodeEU-234: Error Conventional Lorry Gear: 1C DistanceRun got an unexpected response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CodeEU-235: Tyre error calculation buses "invalid xsi:type 'TyreDataDeclarationType'"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CodeEU-238: Bus VIF files not valid in Multistep VECTO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CodeEU-243: Simulation aborted: Gear 5 Lossmap not sufficiant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CodeEU-244: Signature validation fails for old (prior to v4) Manufacturer reports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0880" cy="673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4.0.2.3273 OFFICIAL RELEASE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18.12.2023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323640" y="1268640"/>
            <a:ext cx="8489520" cy="4816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Bugfixes (2/2)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CodeEU-249: Fix handling gear torque limits in case of IEPC WheelHub motor and only one side is measured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CodeEU-250: Maximum vehicle speed exceeded during pre-processing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CodeEU-253: Replace VTP HeavyBus in Generic Vehicles with VTP Truck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CodeEU-259: Inconsistent calculation of AverageRRC in CIF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CodeEU-260: Handling of overload buffer in case Continuous Torque is 0Nm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CodeEU-261: SuperCap internal resistance standard values correction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CodeEU-263: Determination of rated power for IEPCs for MRF and CIF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DejaVu Sans"/>
              </a:rPr>
              <a:t>CodeEU-266: Fix Measured Speed Testcases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68360" y="476640"/>
            <a:ext cx="8210880" cy="6735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ctr">
            <a:noAutofit/>
          </a:bodyPr>
          <a:p>
            <a:pPr indent="0" algn="ct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Vecto 4.0.1.3217 OFFICIAL RELEASE</a:t>
            </a:r>
            <a:br>
              <a:rPr sz="2400"/>
            </a:br>
            <a:r>
              <a:rPr b="1" lang="en-US" sz="1600" spc="-1" strike="noStrike">
                <a:solidFill>
                  <a:srgbClr val="990000"/>
                </a:solidFill>
                <a:latin typeface="Arial"/>
                <a:ea typeface="DejaVu Sans"/>
              </a:rPr>
              <a:t>23.10.2023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323640" y="1268640"/>
            <a:ext cx="8489520" cy="48168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0000" rIns="90000" tIns="45000" bIns="45000" anchor="t">
            <a:noAutofit/>
          </a:bodyPr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Improvements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VTP mode: create zip archive for input and output files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1" lang="en-US" sz="1600" spc="-1" strike="noStrike">
                <a:solidFill>
                  <a:srgbClr val="000000"/>
                </a:solidFill>
                <a:latin typeface="Arial"/>
                <a:ea typeface="DejaVu Sans"/>
              </a:rPr>
              <a:t>- Bugfixes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bugfix in CIF for complete(d) buses - do not write PrimaryVehicleSubgroup element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fix hybrid strategy: power comparison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fix exempted vehicles do not work (error message that XML version is not supported)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bugfix in XML schema: remove wrong PS technology entry for lorries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00280" indent="-343080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Symbol"/>
              <a:buChar char=""/>
              <a:tabLst>
                <a:tab algn="l" pos="188604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  <a:ea typeface="DejaVu Sans"/>
              </a:rPr>
              <a:t>bugfix for conditioning power demand for IHPC vehicles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Box 94"/>
          <p:cNvSpPr/>
          <p:nvPr/>
        </p:nvSpPr>
        <p:spPr>
          <a:xfrm>
            <a:off x="539640" y="1052640"/>
            <a:ext cx="8128800" cy="394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914400">
              <a:lnSpc>
                <a:spcPct val="100000"/>
              </a:lnSpc>
              <a:spcBef>
                <a:spcPts val="1599"/>
              </a:spcBef>
            </a:pPr>
            <a:r>
              <a:rPr b="1" lang="en-US" sz="3200" spc="-1" strike="noStrike">
                <a:solidFill>
                  <a:srgbClr val="990000"/>
                </a:solidFill>
                <a:latin typeface="Arial"/>
                <a:ea typeface="DejaVu Sans"/>
              </a:rPr>
              <a:t>VECTO 4.0.0.3210 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r>
              <a:rPr b="1" lang="en-US" sz="2000" spc="-1" strike="noStrike">
                <a:solidFill>
                  <a:srgbClr val="990000"/>
                </a:solidFill>
                <a:latin typeface="Arial"/>
                <a:ea typeface="DejaVu Sans"/>
              </a:rPr>
              <a:t>16.10.2023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001"/>
              </a:spcBef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spcBef>
                <a:spcPts val="1199"/>
              </a:spcBef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Release Notes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4" name="Picture 2" descr=""/>
          <p:cNvPicPr/>
          <p:nvPr/>
        </p:nvPicPr>
        <p:blipFill>
          <a:blip r:embed="rId1"/>
          <a:stretch/>
        </p:blipFill>
        <p:spPr>
          <a:xfrm>
            <a:off x="2483640" y="2421000"/>
            <a:ext cx="4168800" cy="1620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722160" y="2320200"/>
            <a:ext cx="7765560" cy="1523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4201"/>
              </a:spcBef>
              <a:buNone/>
              <a:tabLst>
                <a:tab algn="l" pos="0"/>
              </a:tabLst>
            </a:pPr>
            <a:br>
              <a:rPr sz="2400"/>
            </a:b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First official VECTO release for the 2nd Amendment </a:t>
            </a:r>
            <a:br>
              <a:rPr sz="2400"/>
            </a:b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of Regulation (EU) 2017/2400</a:t>
            </a:r>
            <a:br>
              <a:rPr sz="2800"/>
            </a:br>
            <a:br>
              <a:rPr sz="2800"/>
            </a:br>
            <a:br>
              <a:rPr sz="2400"/>
            </a:b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722160" y="4276440"/>
            <a:ext cx="7765560" cy="400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GB" sz="2000" spc="-1" strike="noStrike">
                <a:solidFill>
                  <a:schemeClr val="dk1"/>
                </a:solidFill>
                <a:latin typeface="Arial"/>
                <a:ea typeface="DejaVu Sans"/>
              </a:rPr>
              <a:t>TUG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/>
          </p:nvPr>
        </p:nvSpPr>
        <p:spPr>
          <a:xfrm>
            <a:off x="588240" y="1140480"/>
            <a:ext cx="8387640" cy="5040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4999"/>
          </a:bodyPr>
          <a:p>
            <a:pPr marL="228600" indent="-22860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DejaVu Sans"/>
              </a:rPr>
              <a:t>Declaration Mode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16040" indent="-26676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  <a:ea typeface="DejaVu Sans"/>
              </a:rPr>
              <a:t>xEV-Heavy Lorries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16040" indent="-26676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  <a:ea typeface="DejaVu Sans"/>
              </a:rPr>
              <a:t>Conventional Medium Lorries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16040" indent="-26676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  <a:ea typeface="DejaVu Sans"/>
              </a:rPr>
              <a:t>xEV Medium Lorries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16040" indent="-26676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  <a:ea typeface="DejaVu Sans"/>
              </a:rPr>
              <a:t>Conventional Buses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16040" indent="-26676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  <a:ea typeface="DejaVu Sans"/>
              </a:rPr>
              <a:t>xEV Buses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DejaVu Sans"/>
              </a:rPr>
              <a:t>Dedicated user interface for simulating buses in Declaration Mode using the multistep approach: VECTOMultistep.exe 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Arial"/>
                <a:ea typeface="DejaVu Sans"/>
              </a:rPr>
              <a:t>Engineering Mode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16040" indent="-26676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en-US" sz="1600" spc="-1" strike="noStrike">
                <a:solidFill>
                  <a:schemeClr val="dk1"/>
                </a:solidFill>
                <a:latin typeface="Arial"/>
                <a:ea typeface="DejaVu Sans"/>
              </a:rPr>
              <a:t>xEV-Vehicles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  <a:ea typeface="DejaVu Sans"/>
              </a:rPr>
              <a:t>Updated XML-Reports and Vehicle Information Files to support new Vehicle Architectures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16040" indent="-26676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1600" spc="-1" strike="noStrike">
                <a:solidFill>
                  <a:schemeClr val="dk1"/>
                </a:solidFill>
                <a:latin typeface="Arial"/>
                <a:ea typeface="DejaVu Sans"/>
              </a:rPr>
              <a:t>New Manufacturer Record File (MRF):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16040" indent="-26676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1600" spc="-1" strike="noStrike">
                <a:solidFill>
                  <a:schemeClr val="dk1"/>
                </a:solidFill>
                <a:latin typeface="Arial"/>
                <a:ea typeface="DejaVu Sans"/>
              </a:rPr>
              <a:t>New Customer Information File (CIF):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16040" indent="-26676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Wingdings" charset="2"/>
              <a:buChar char=""/>
            </a:pPr>
            <a:r>
              <a:rPr b="0" lang="pt-BR" sz="1600" spc="-1" strike="noStrike">
                <a:solidFill>
                  <a:schemeClr val="dk1"/>
                </a:solidFill>
                <a:latin typeface="Arial"/>
                <a:ea typeface="DejaVu Sans"/>
              </a:rPr>
              <a:t>Multistep Output (VIF):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  <a:ea typeface="DejaVu Sans"/>
              </a:rPr>
              <a:t>Updated simulation output (.vsum, .vmod)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  <a:ea typeface="DejaVu Sans"/>
              </a:rPr>
              <a:t>Updated Hashing Tool to handle new powertrain components (electric motor, battery, supercap ...)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12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  <a:ea typeface="DejaVu Sans"/>
              </a:rPr>
              <a:t>Supports .NET Framework 4.8 and .NET 6.0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title"/>
          </p:nvPr>
        </p:nvSpPr>
        <p:spPr>
          <a:xfrm>
            <a:off x="588240" y="453600"/>
            <a:ext cx="822240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rgbClr val="990000"/>
                </a:solidFill>
                <a:latin typeface="Arial"/>
                <a:ea typeface="DejaVu Sans"/>
              </a:rPr>
              <a:t>Features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588240" y="453600"/>
            <a:ext cx="8222400" cy="112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Features – Tool modes</a:t>
            </a:r>
            <a:br>
              <a:rPr sz="2400"/>
            </a:b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0" name="Inhaltsplatzhalter 4"/>
          <p:cNvGraphicFramePr/>
          <p:nvPr/>
        </p:nvGraphicFramePr>
        <p:xfrm>
          <a:off x="622440" y="2393280"/>
          <a:ext cx="7605360" cy="2034360"/>
        </p:xfrm>
        <a:graphic>
          <a:graphicData uri="http://schemas.openxmlformats.org/drawingml/2006/table">
            <a:tbl>
              <a:tblPr/>
              <a:tblGrid>
                <a:gridCol w="1177920"/>
                <a:gridCol w="582120"/>
                <a:gridCol w="582120"/>
                <a:gridCol w="582120"/>
                <a:gridCol w="582120"/>
                <a:gridCol w="582120"/>
                <a:gridCol w="681480"/>
                <a:gridCol w="681480"/>
                <a:gridCol w="681480"/>
                <a:gridCol w="681480"/>
                <a:gridCol w="791280"/>
              </a:tblGrid>
              <a:tr h="596880"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Medium Lorries (XML)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Heavy Lorries (XML)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Primary buses (XML)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Interim buses </a:t>
                      </a:r>
                      <a:br>
                        <a:rPr sz="900"/>
                      </a:b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(GUI)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Interim buses (XML)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Completed buses (JSON v7)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Completed buses </a:t>
                      </a:r>
                      <a:br>
                        <a:rPr sz="900"/>
                      </a:b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(GUI)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Completed buses (XML)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Complete buses (JSON v10)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Complete buses (XML)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</a:tr>
              <a:tr h="170280"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VECTO.exe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510840"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VECTOcmd.exe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40560"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VECTOMultistep.exe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2"/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1" lang="de-AT" sz="900" spc="-1" strike="noStrike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Arial"/>
                          <a:ea typeface="DejaVu Sans"/>
                        </a:rPr>
                        <a:t>X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</a:tr>
              <a:tr h="366120"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ffffff"/>
                          </a:solidFill>
                          <a:latin typeface="Arial"/>
                          <a:ea typeface="DejaVu Sans"/>
                        </a:rPr>
                        <a:t>Comments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 gridSpan="2"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function: generates updated VIF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>
                  <a:txBody>
                    <a:bodyPr lIns="8280" rIns="828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 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 gridSpan="2">
                  <a:txBody>
                    <a:bodyPr lIns="8280" rIns="8280"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</a:pPr>
                      <a:r>
                        <a:rPr b="0" lang="de-AT" sz="900" spc="-1" strike="noStrike">
                          <a:solidFill>
                            <a:srgbClr val="000000"/>
                          </a:solidFill>
                          <a:latin typeface="Arial"/>
                          <a:ea typeface="DejaVu Sans"/>
                        </a:rPr>
                        <a:t>"Single step" manufacturing process</a:t>
                      </a:r>
                      <a:endParaRPr b="0" lang="en-US" sz="9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8280" marR="828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e9ecf3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en-US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</a:tr>
            </a:tbl>
          </a:graphicData>
        </a:graphic>
      </p:graphicFrame>
      <p:sp>
        <p:nvSpPr>
          <p:cNvPr id="101" name="Textfeld 8"/>
          <p:cNvSpPr/>
          <p:nvPr/>
        </p:nvSpPr>
        <p:spPr>
          <a:xfrm>
            <a:off x="6509160" y="4789800"/>
            <a:ext cx="1996920" cy="39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de-AT" sz="1000" spc="-1" strike="noStrike">
                <a:solidFill>
                  <a:schemeClr val="accent2"/>
                </a:solidFill>
                <a:latin typeface="Arial"/>
                <a:ea typeface="DejaVu Sans"/>
              </a:rPr>
              <a:t>X</a:t>
            </a:r>
            <a:r>
              <a:rPr b="1" lang="de-AT" sz="1000" spc="-1" strike="noStrike">
                <a:solidFill>
                  <a:schemeClr val="dk1"/>
                </a:solidFill>
                <a:latin typeface="Arial"/>
                <a:ea typeface="DejaVu Sans"/>
              </a:rPr>
              <a:t> </a:t>
            </a:r>
            <a:r>
              <a:rPr b="0" lang="de-AT" sz="1000" spc="-1" strike="noStrike">
                <a:solidFill>
                  <a:schemeClr val="dk1"/>
                </a:solidFill>
                <a:latin typeface="Arial"/>
                <a:ea typeface="DejaVu Sans"/>
              </a:rPr>
              <a:t>… Simulation only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de-AT" sz="1000" spc="-1" strike="noStrike">
                <a:solidFill>
                  <a:schemeClr val="accent4">
                    <a:lumMod val="75000"/>
                  </a:schemeClr>
                </a:solidFill>
                <a:latin typeface="Arial"/>
                <a:ea typeface="DejaVu Sans"/>
              </a:rPr>
              <a:t>X</a:t>
            </a:r>
            <a:r>
              <a:rPr b="1" lang="de-AT" sz="1000" spc="-1" strike="noStrike">
                <a:solidFill>
                  <a:schemeClr val="accent4">
                    <a:lumMod val="75000"/>
                  </a:schemeClr>
                </a:solidFill>
                <a:latin typeface="Calibri"/>
                <a:ea typeface="DejaVu Sans"/>
              </a:rPr>
              <a:t> </a:t>
            </a:r>
            <a:r>
              <a:rPr b="0" lang="en-US" sz="1000" spc="-1" strike="noStrike">
                <a:solidFill>
                  <a:schemeClr val="dk1"/>
                </a:solidFill>
                <a:latin typeface="Arial"/>
                <a:ea typeface="DejaVu Sans"/>
              </a:rPr>
              <a:t>…</a:t>
            </a:r>
            <a:r>
              <a:rPr b="0" lang="de-AT" sz="1000" spc="-1" strike="noStrike">
                <a:solidFill>
                  <a:schemeClr val="dk1"/>
                </a:solidFill>
                <a:latin typeface="Arial"/>
                <a:ea typeface="DejaVu Sans"/>
              </a:rPr>
              <a:t> Simulation and editing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/>
          </p:nvPr>
        </p:nvSpPr>
        <p:spPr>
          <a:xfrm>
            <a:off x="588240" y="1299960"/>
            <a:ext cx="8387640" cy="418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228600" indent="-2286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  <a:ea typeface="DejaVu Sans"/>
              </a:rPr>
              <a:t>XML Job Files &lt; v2.4 are no longer supported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Arial"/>
                <a:ea typeface="DejaVu Sans"/>
              </a:rPr>
              <a:t>Dropped support for .NET Framework 4.5 (EOL 04/2022)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title"/>
          </p:nvPr>
        </p:nvSpPr>
        <p:spPr>
          <a:xfrm>
            <a:off x="588240" y="453600"/>
            <a:ext cx="8222400" cy="471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GB" sz="2400" spc="-1" strike="noStrike">
                <a:solidFill>
                  <a:srgbClr val="990000"/>
                </a:solidFill>
                <a:latin typeface="Arial"/>
                <a:ea typeface="DejaVu Sans"/>
              </a:rPr>
              <a:t>Changes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588240" y="453600"/>
            <a:ext cx="8222400" cy="112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Implementation of Declaration Mode for xEV-Vehicles</a:t>
            </a:r>
            <a:br>
              <a:rPr sz="2400"/>
            </a:b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feld 1"/>
          <p:cNvSpPr/>
          <p:nvPr/>
        </p:nvSpPr>
        <p:spPr>
          <a:xfrm>
            <a:off x="588240" y="1210680"/>
            <a:ext cx="7960680" cy="335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rial"/>
                <a:ea typeface="DejaVu Sans"/>
              </a:rPr>
              <a:t>Generic auxiliary parametrisation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rial"/>
                <a:ea typeface="DejaVu Sans"/>
              </a:rPr>
              <a:t>Generic parametrisation of usable SOC range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rial"/>
                <a:ea typeface="DejaVu Sans"/>
              </a:rPr>
              <a:t>Generic parametrisation of Serial/Parallel Hybrid Strategy parameters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2000" spc="-1" strike="noStrike">
                <a:solidFill>
                  <a:schemeClr val="dk1"/>
                </a:solidFill>
                <a:latin typeface="Arial"/>
                <a:ea typeface="DejaVu Sans"/>
              </a:rPr>
              <a:t>Automated simulation of OVC-HEV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Arial"/>
                <a:ea typeface="DejaVu Sans"/>
              </a:rPr>
              <a:t>Charge depleting mode (CD): The propulsion energy is provided by the electric storage only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lvl="1" marL="743040" indent="-285840" defTabSz="9144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en-GB" sz="1600" spc="-1" strike="noStrike">
                <a:solidFill>
                  <a:schemeClr val="dk1"/>
                </a:solidFill>
                <a:latin typeface="Arial"/>
                <a:ea typeface="DejaVu Sans"/>
              </a:rPr>
              <a:t>Charge sustaining mode (CS): The propulsion energy is provided by the fuel storage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588240" y="453600"/>
            <a:ext cx="8222400" cy="1121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Implementation of Declaration Mode for xEV-Lorries</a:t>
            </a:r>
            <a:br>
              <a:rPr sz="2400"/>
            </a:b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Inhaltsplatzhalter 5"/>
          <p:cNvSpPr/>
          <p:nvPr/>
        </p:nvSpPr>
        <p:spPr>
          <a:xfrm>
            <a:off x="749520" y="1085040"/>
            <a:ext cx="8387640" cy="512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/>
          </a:bodyPr>
          <a:p>
            <a:pPr defTabSz="914400">
              <a:lnSpc>
                <a:spcPct val="90000"/>
              </a:lnSpc>
              <a:spcBef>
                <a:spcPts val="1199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  <a:ea typeface="DejaVu Sans"/>
              </a:rPr>
              <a:t>Generic E-PTO for PEV and S-HEV in Declaration Mode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2000" spc="-1" strike="noStrike">
                <a:solidFill>
                  <a:schemeClr val="dk1"/>
                </a:solidFill>
                <a:latin typeface="Arial"/>
                <a:ea typeface="DejaVu Sans"/>
              </a:rPr>
              <a:t>E-PTO for PEV and S-HEV in Engineering Mode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90000"/>
              </a:lnSpc>
              <a:spcBef>
                <a:spcPts val="1199"/>
              </a:spcBef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itel 4"/>
          <p:cNvSpPr/>
          <p:nvPr/>
        </p:nvSpPr>
        <p:spPr>
          <a:xfrm>
            <a:off x="588240" y="2622240"/>
            <a:ext cx="8222400" cy="534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90000"/>
              </a:lnSpc>
            </a:pPr>
            <a:r>
              <a:rPr b="1" lang="en-US" sz="2400" spc="-1" strike="noStrike">
                <a:solidFill>
                  <a:srgbClr val="990000"/>
                </a:solidFill>
                <a:latin typeface="Arial"/>
                <a:ea typeface="DejaVu Sans"/>
              </a:rPr>
              <a:t>Implementation of Declaration Mode for Buses</a:t>
            </a:r>
            <a:br>
              <a:rPr sz="2400"/>
            </a:b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588240" y="2861280"/>
            <a:ext cx="8387640" cy="1378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000" spc="-1" strike="noStrike">
                <a:solidFill>
                  <a:schemeClr val="dk1"/>
                </a:solidFill>
                <a:latin typeface="Arial"/>
                <a:ea typeface="DejaVu Sans"/>
              </a:rPr>
              <a:t>Factor Method for conventional and xEV-Buses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de-DE" sz="2000" spc="-1" strike="noStrike">
                <a:solidFill>
                  <a:schemeClr val="dk1"/>
                </a:solidFill>
                <a:latin typeface="Arial"/>
                <a:ea typeface="DejaVu Sans"/>
              </a:rPr>
              <a:t>Updated bus auxiliary model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indent="0" defTabSz="914400">
              <a:lnSpc>
                <a:spcPct val="90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Application>LibreOffice/7.6.5.2$Windows_X86_64 LibreOffice_project/38d5f62f85355c192ef5f1dd47c5c0c0c6d6598b</Application>
  <AppVersion>15.0000</AppVersion>
  <Words>813</Words>
  <Paragraphs>158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2010-01-07T15:28:02Z</dcterms:created>
  <dc:creator>martinrexeis</dc:creator>
  <dc:description/>
  <dc:language>en-US</dc:language>
  <cp:lastModifiedBy/>
  <cp:lastPrinted>2024-06-07T10:46:04Z</cp:lastPrinted>
  <dcterms:modified xsi:type="dcterms:W3CDTF">2024-09-09T13:01:34Z</dcterms:modified>
  <cp:revision>1429</cp:revision>
  <dc:subject/>
  <dc:title>Folie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Bildschirmpräsentation (4:3)</vt:lpwstr>
  </property>
  <property fmtid="{D5CDD505-2E9C-101B-9397-08002B2CF9AE}" pid="3" name="Slides">
    <vt:i4>12</vt:i4>
  </property>
</Properties>
</file>