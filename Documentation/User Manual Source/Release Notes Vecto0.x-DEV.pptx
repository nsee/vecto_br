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media/image28.png" ContentType="image/png"/>
  <Override PartName="/ppt/media/image1.jpeg" ContentType="image/jpeg"/>
  <Override PartName="/ppt/media/image3.png" ContentType="image/png"/>
  <Override PartName="/ppt/media/image2.png" ContentType="image/png"/>
  <Override PartName="/ppt/media/image4.png" ContentType="image/png"/>
  <Override PartName="/ppt/media/image5.wmf" ContentType="image/x-wmf"/>
  <Override PartName="/ppt/media/image6.png" ContentType="image/png"/>
  <Override PartName="/ppt/media/image7.png" ContentType="image/png"/>
  <Override PartName="/ppt/media/image8.png" ContentType="image/png"/>
  <Override PartName="/ppt/media/image9.png" ContentType="image/png"/>
  <Override PartName="/ppt/media/image10.png" ContentType="image/png"/>
  <Override PartName="/ppt/media/image11.png" ContentType="image/png"/>
  <Override PartName="/ppt/media/image12.png" ContentType="image/png"/>
  <Override PartName="/ppt/media/image13.png" ContentType="image/png"/>
  <Override PartName="/ppt/media/image14.png" ContentType="image/png"/>
  <Override PartName="/ppt/media/image15.png" ContentType="image/png"/>
  <Override PartName="/ppt/media/image16.png" ContentType="image/png"/>
  <Override PartName="/ppt/media/image17.png" ContentType="image/png"/>
  <Override PartName="/ppt/media/image18.png" ContentType="image/png"/>
  <Override PartName="/ppt/media/image19.png" ContentType="image/png"/>
  <Override PartName="/ppt/media/image20.png" ContentType="image/png"/>
  <Override PartName="/ppt/media/image21.png" ContentType="image/png"/>
  <Override PartName="/ppt/media/image22.png" ContentType="image/png"/>
  <Override PartName="/ppt/media/image23.png" ContentType="image/png"/>
  <Override PartName="/ppt/media/image24.png" ContentType="image/png"/>
  <Override PartName="/ppt/media/image25.png" ContentType="image/png"/>
  <Override PartName="/ppt/media/image26.png" ContentType="image/png"/>
  <Override PartName="/ppt/media/image27.png" ContentType="image/png"/>
  <Override PartName="/ppt/media/image29.png" ContentType="image/pn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_rels/slide35.xml.rels" ContentType="application/vnd.openxmlformats-package.relationships+xml"/>
  <Override PartName="/ppt/slides/_rels/slide1.xml.rels" ContentType="application/vnd.openxmlformats-package.relationships+xml"/>
  <Override PartName="/ppt/slides/_rels/slide22.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38.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x="9144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bschnittsüberschrift">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5971997C-4930-4328-BE9B-107C92C48AC0}"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 und Inhalt (wide)">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CF57D754-5BEC-4C4E-8822-FD1FA7FA80A6}"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_">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 und Inhalt (wide)_">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p>
            <a:fld id="{BF30FF9A-F6DE-4853-888A-52ECE021FF02}"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slideLayout" Target="../slideLayouts/slideLayout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Line 20"/>
          <p:cNvSpPr/>
          <p:nvPr/>
        </p:nvSpPr>
        <p:spPr>
          <a:xfrm>
            <a:off x="0" y="415800"/>
            <a:ext cx="9144000" cy="360"/>
          </a:xfrm>
          <a:prstGeom prst="line">
            <a:avLst/>
          </a:prstGeom>
          <a:ln w="9525">
            <a:solidFill>
              <a:srgbClr val="000000"/>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1" name="Text Box 24"/>
          <p:cNvSpPr/>
          <p:nvPr/>
        </p:nvSpPr>
        <p:spPr>
          <a:xfrm>
            <a:off x="7996320" y="6599160"/>
            <a:ext cx="924480" cy="24228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spcBef>
                <a:spcPts val="499"/>
              </a:spcBef>
            </a:pPr>
            <a:fld id="{12AF33D6-42C2-49B4-A2DC-9D876BCA0CC3}" type="slidenum">
              <a:rPr b="1" lang="de-AT" sz="1000" spc="-1" strike="noStrike">
                <a:solidFill>
                  <a:srgbClr val="7d7d7d"/>
                </a:solidFill>
                <a:latin typeface="Verdana"/>
                <a:ea typeface="DejaVu Sans"/>
              </a:rPr>
              <a:t>&lt;number&gt;</a:t>
            </a:fld>
            <a:endParaRPr b="0" lang="en-US" sz="1000" spc="-1" strike="noStrike">
              <a:solidFill>
                <a:srgbClr val="000000"/>
              </a:solidFill>
              <a:latin typeface="Arial"/>
            </a:endParaRPr>
          </a:p>
        </p:txBody>
      </p:sp>
      <p:sp>
        <p:nvSpPr>
          <p:cNvPr id="2" name="Text Box 30"/>
          <p:cNvSpPr/>
          <p:nvPr/>
        </p:nvSpPr>
        <p:spPr>
          <a:xfrm>
            <a:off x="144360" y="6627960"/>
            <a:ext cx="1881720" cy="214920"/>
          </a:xfrm>
          <a:prstGeom prst="rect">
            <a:avLst/>
          </a:prstGeom>
          <a:noFill/>
          <a:ln w="0">
            <a:noFill/>
          </a:ln>
        </p:spPr>
        <p:style>
          <a:lnRef idx="0"/>
          <a:fillRef idx="0"/>
          <a:effectRef idx="0"/>
          <a:fontRef idx="minor"/>
        </p:style>
        <p:txBody>
          <a:bodyPr wrap="none" lIns="90000" rIns="90000" tIns="39600" bIns="45000" anchor="ctr">
            <a:noAutofit/>
          </a:bodyPr>
          <a:p>
            <a:pPr defTabSz="914400">
              <a:lnSpc>
                <a:spcPct val="100000"/>
              </a:lnSpc>
              <a:spcBef>
                <a:spcPts val="550"/>
              </a:spcBef>
            </a:pPr>
            <a:r>
              <a:rPr b="0" lang="en-US" sz="1100" spc="-1" strike="noStrike">
                <a:solidFill>
                  <a:srgbClr val="000000"/>
                </a:solidFill>
                <a:latin typeface="Verdana"/>
                <a:ea typeface="DejaVu Sans"/>
              </a:rPr>
              <a:t>VECTO Release Notes</a:t>
            </a:r>
            <a:endParaRPr b="0" lang="en-US" sz="1100" spc="-1" strike="noStrike">
              <a:solidFill>
                <a:srgbClr val="000000"/>
              </a:solidFill>
              <a:latin typeface="Arial"/>
            </a:endParaRPr>
          </a:p>
        </p:txBody>
      </p:sp>
      <p:pic>
        <p:nvPicPr>
          <p:cNvPr id="3" name="Picture 2" descr=""/>
          <p:cNvPicPr/>
          <p:nvPr/>
        </p:nvPicPr>
        <p:blipFill>
          <a:blip r:embed="rId2"/>
          <a:stretch/>
        </p:blipFill>
        <p:spPr>
          <a:xfrm>
            <a:off x="7389360" y="37800"/>
            <a:ext cx="1420200" cy="351720"/>
          </a:xfrm>
          <a:prstGeom prst="rect">
            <a:avLst/>
          </a:prstGeom>
          <a:ln w="0">
            <a:noFill/>
          </a:ln>
        </p:spPr>
      </p:pic>
      <p:pic>
        <p:nvPicPr>
          <p:cNvPr id="4" name="Picture 3" descr="I:\raphaelluz\VECTO\source\VECTO\User Manual\pics\VECTO-small.PNG"/>
          <p:cNvPicPr/>
          <p:nvPr/>
        </p:nvPicPr>
        <p:blipFill>
          <a:blip r:embed="rId3"/>
          <a:stretch/>
        </p:blipFill>
        <p:spPr>
          <a:xfrm>
            <a:off x="107640" y="58680"/>
            <a:ext cx="977400" cy="331200"/>
          </a:xfrm>
          <a:prstGeom prst="rect">
            <a:avLst/>
          </a:prstGeom>
          <a:ln w="0">
            <a:noFill/>
          </a:ln>
        </p:spPr>
      </p:pic>
      <p:sp>
        <p:nvSpPr>
          <p:cNvPr id="5" name="Line 20"/>
          <p:cNvSpPr/>
          <p:nvPr/>
        </p:nvSpPr>
        <p:spPr>
          <a:xfrm>
            <a:off x="0" y="6599160"/>
            <a:ext cx="9144000" cy="360"/>
          </a:xfrm>
          <a:prstGeom prst="line">
            <a:avLst/>
          </a:prstGeom>
          <a:ln w="9525">
            <a:solidFill>
              <a:srgbClr val="000000"/>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defTabSz="914400">
              <a:lnSpc>
                <a:spcPct val="90000"/>
              </a:lnSpc>
              <a:buNone/>
            </a:pPr>
            <a:r>
              <a:rPr b="1" lang="de-DE" sz="2400" spc="-1" strike="noStrike">
                <a:solidFill>
                  <a:srgbClr val="990000"/>
                </a:solidFill>
                <a:latin typeface="Arial"/>
                <a:ea typeface="DejaVu Sans"/>
              </a:rPr>
              <a:t>Mastertitelformat bearbeiten</a:t>
            </a:r>
            <a:endParaRPr b="0" lang="de-DE" sz="2400" spc="-1" strike="noStrike">
              <a:solidFill>
                <a:schemeClr val="dk1"/>
              </a:solidFill>
              <a:latin typeface="Arial"/>
            </a:endParaRPr>
          </a:p>
        </p:txBody>
      </p:sp>
      <p:sp>
        <p:nvSpPr>
          <p:cNvPr id="7"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de-DE" sz="2800" spc="-1" strike="noStrike">
                <a:solidFill>
                  <a:schemeClr val="dk1"/>
                </a:solidFill>
                <a:latin typeface="Arial"/>
              </a:rPr>
              <a:t>Click to edit the outline text format</a:t>
            </a:r>
            <a:endParaRPr b="0" lang="de-DE" sz="2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de-DE" sz="2000" spc="-1" strike="noStrike">
                <a:solidFill>
                  <a:schemeClr val="dk1"/>
                </a:solidFill>
                <a:latin typeface="Arial"/>
              </a:rPr>
              <a:t>Second Outline Level</a:t>
            </a:r>
            <a:endParaRPr b="0" lang="de-DE" sz="20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de-DE" sz="1800" spc="-1" strike="noStrike">
                <a:solidFill>
                  <a:schemeClr val="dk1"/>
                </a:solidFill>
                <a:latin typeface="Arial"/>
              </a:rPr>
              <a:t>Third Outline Level</a:t>
            </a:r>
            <a:endParaRPr b="0" lang="de-DE"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de-DE" sz="1800" spc="-1" strike="noStrike">
                <a:solidFill>
                  <a:schemeClr val="dk1"/>
                </a:solidFill>
                <a:latin typeface="Arial"/>
              </a:rPr>
              <a:t>Fourth Outline Level</a:t>
            </a:r>
            <a:endParaRPr b="0" lang="de-DE"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de-DE" sz="2000" spc="-1" strike="noStrike">
                <a:solidFill>
                  <a:schemeClr val="dk1"/>
                </a:solidFill>
                <a:latin typeface="Arial"/>
              </a:rPr>
              <a:t>Fifth Outline Level</a:t>
            </a:r>
            <a:endParaRPr b="0" lang="de-DE" sz="20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de-DE" sz="2000" spc="-1" strike="noStrike">
                <a:solidFill>
                  <a:schemeClr val="dk1"/>
                </a:solidFill>
                <a:latin typeface="Arial"/>
              </a:rPr>
              <a:t>Sixth Outline Level</a:t>
            </a:r>
            <a:endParaRPr b="0" lang="de-DE" sz="20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de-DE" sz="2000" spc="-1" strike="noStrike">
                <a:solidFill>
                  <a:schemeClr val="dk1"/>
                </a:solidFill>
                <a:latin typeface="Arial"/>
              </a:rPr>
              <a:t>Seventh Outline Level</a:t>
            </a:r>
            <a:endParaRPr b="0" lang="de-DE" sz="2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49" r:id="rId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 name="Line 20"/>
          <p:cNvSpPr/>
          <p:nvPr/>
        </p:nvSpPr>
        <p:spPr>
          <a:xfrm>
            <a:off x="0" y="415800"/>
            <a:ext cx="9144000" cy="360"/>
          </a:xfrm>
          <a:prstGeom prst="line">
            <a:avLst/>
          </a:prstGeom>
          <a:ln w="9525">
            <a:solidFill>
              <a:srgbClr val="000000"/>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9" name="Text Box 24"/>
          <p:cNvSpPr/>
          <p:nvPr/>
        </p:nvSpPr>
        <p:spPr>
          <a:xfrm>
            <a:off x="7996320" y="6599160"/>
            <a:ext cx="924480" cy="24228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spcBef>
                <a:spcPts val="499"/>
              </a:spcBef>
            </a:pPr>
            <a:fld id="{23094B41-C8A6-4EE3-9FEA-E4C7B3C47D2D}" type="slidenum">
              <a:rPr b="1" lang="de-AT" sz="1000" spc="-1" strike="noStrike">
                <a:solidFill>
                  <a:srgbClr val="7d7d7d"/>
                </a:solidFill>
                <a:latin typeface="Verdana"/>
                <a:ea typeface="DejaVu Sans"/>
              </a:rPr>
              <a:t>&lt;number&gt;</a:t>
            </a:fld>
            <a:endParaRPr b="0" lang="en-US" sz="1000" spc="-1" strike="noStrike">
              <a:solidFill>
                <a:srgbClr val="000000"/>
              </a:solidFill>
              <a:latin typeface="Arial"/>
            </a:endParaRPr>
          </a:p>
        </p:txBody>
      </p:sp>
      <p:sp>
        <p:nvSpPr>
          <p:cNvPr id="10" name="Text Box 30"/>
          <p:cNvSpPr/>
          <p:nvPr/>
        </p:nvSpPr>
        <p:spPr>
          <a:xfrm>
            <a:off x="144360" y="6627960"/>
            <a:ext cx="1881720" cy="214920"/>
          </a:xfrm>
          <a:prstGeom prst="rect">
            <a:avLst/>
          </a:prstGeom>
          <a:noFill/>
          <a:ln w="0">
            <a:noFill/>
          </a:ln>
        </p:spPr>
        <p:style>
          <a:lnRef idx="0"/>
          <a:fillRef idx="0"/>
          <a:effectRef idx="0"/>
          <a:fontRef idx="minor"/>
        </p:style>
        <p:txBody>
          <a:bodyPr wrap="none" lIns="90000" rIns="90000" tIns="39600" bIns="45000" anchor="ctr">
            <a:noAutofit/>
          </a:bodyPr>
          <a:p>
            <a:pPr defTabSz="914400">
              <a:lnSpc>
                <a:spcPct val="100000"/>
              </a:lnSpc>
              <a:spcBef>
                <a:spcPts val="550"/>
              </a:spcBef>
            </a:pPr>
            <a:r>
              <a:rPr b="0" lang="en-US" sz="1100" spc="-1" strike="noStrike">
                <a:solidFill>
                  <a:srgbClr val="000000"/>
                </a:solidFill>
                <a:latin typeface="Verdana"/>
                <a:ea typeface="DejaVu Sans"/>
              </a:rPr>
              <a:t>VECTO Release Notes</a:t>
            </a:r>
            <a:endParaRPr b="0" lang="en-US" sz="1100" spc="-1" strike="noStrike">
              <a:solidFill>
                <a:srgbClr val="000000"/>
              </a:solidFill>
              <a:latin typeface="Arial"/>
            </a:endParaRPr>
          </a:p>
        </p:txBody>
      </p:sp>
      <p:pic>
        <p:nvPicPr>
          <p:cNvPr id="11" name="Picture 2" descr=""/>
          <p:cNvPicPr/>
          <p:nvPr/>
        </p:nvPicPr>
        <p:blipFill>
          <a:blip r:embed="rId2"/>
          <a:stretch/>
        </p:blipFill>
        <p:spPr>
          <a:xfrm>
            <a:off x="7389360" y="37800"/>
            <a:ext cx="1420200" cy="351720"/>
          </a:xfrm>
          <a:prstGeom prst="rect">
            <a:avLst/>
          </a:prstGeom>
          <a:ln w="0">
            <a:noFill/>
          </a:ln>
        </p:spPr>
      </p:pic>
      <p:pic>
        <p:nvPicPr>
          <p:cNvPr id="12" name="Picture 3" descr="I:\raphaelluz\VECTO\source\VECTO\User Manual\pics\VECTO-small.PNG"/>
          <p:cNvPicPr/>
          <p:nvPr/>
        </p:nvPicPr>
        <p:blipFill>
          <a:blip r:embed="rId3"/>
          <a:stretch/>
        </p:blipFill>
        <p:spPr>
          <a:xfrm>
            <a:off x="107640" y="58680"/>
            <a:ext cx="977400" cy="331200"/>
          </a:xfrm>
          <a:prstGeom prst="rect">
            <a:avLst/>
          </a:prstGeom>
          <a:ln w="0">
            <a:noFill/>
          </a:ln>
        </p:spPr>
      </p:pic>
      <p:sp>
        <p:nvSpPr>
          <p:cNvPr id="13" name="Line 20"/>
          <p:cNvSpPr/>
          <p:nvPr/>
        </p:nvSpPr>
        <p:spPr>
          <a:xfrm>
            <a:off x="0" y="6599160"/>
            <a:ext cx="9144000" cy="360"/>
          </a:xfrm>
          <a:prstGeom prst="line">
            <a:avLst/>
          </a:prstGeom>
          <a:ln w="9525">
            <a:solidFill>
              <a:srgbClr val="000000"/>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14" name="PlaceHolder 1"/>
          <p:cNvSpPr>
            <a:spLocks noGrp="1"/>
          </p:cNvSpPr>
          <p:nvPr>
            <p:ph type="title"/>
          </p:nvPr>
        </p:nvSpPr>
        <p:spPr>
          <a:xfrm>
            <a:off x="722160" y="1950840"/>
            <a:ext cx="7772040" cy="1361880"/>
          </a:xfrm>
          <a:prstGeom prst="rect">
            <a:avLst/>
          </a:prstGeom>
          <a:noFill/>
          <a:ln w="0">
            <a:noFill/>
          </a:ln>
        </p:spPr>
        <p:txBody>
          <a:bodyPr lIns="0" rIns="0" tIns="0" bIns="0" anchor="b">
            <a:noAutofit/>
          </a:bodyPr>
          <a:p>
            <a:pPr indent="0" algn="ctr" defTabSz="914400">
              <a:lnSpc>
                <a:spcPct val="90000"/>
              </a:lnSpc>
              <a:buNone/>
            </a:pPr>
            <a:r>
              <a:rPr b="1" lang="en-US" sz="2400" spc="-1" strike="noStrike">
                <a:solidFill>
                  <a:srgbClr val="990000"/>
                </a:solidFill>
                <a:latin typeface="Arial"/>
                <a:ea typeface="DejaVu Sans"/>
              </a:rPr>
              <a:t>Click to add Title</a:t>
            </a:r>
            <a:endParaRPr b="0" lang="de-DE" sz="2400" spc="-1" strike="noStrike">
              <a:solidFill>
                <a:schemeClr val="dk1"/>
              </a:solidFill>
              <a:latin typeface="Arial"/>
            </a:endParaRPr>
          </a:p>
        </p:txBody>
      </p:sp>
      <p:sp>
        <p:nvSpPr>
          <p:cNvPr id="15" name="PlaceHolder 2"/>
          <p:cNvSpPr>
            <a:spLocks noGrp="1"/>
          </p:cNvSpPr>
          <p:nvPr>
            <p:ph type="body"/>
          </p:nvPr>
        </p:nvSpPr>
        <p:spPr>
          <a:xfrm>
            <a:off x="722160" y="3602160"/>
            <a:ext cx="7772040" cy="1499760"/>
          </a:xfrm>
          <a:prstGeom prst="rect">
            <a:avLst/>
          </a:prstGeom>
          <a:noFill/>
          <a:ln w="0">
            <a:noFill/>
          </a:ln>
        </p:spPr>
        <p:txBody>
          <a:bodyPr lIns="0" rIns="0" tIns="0" bIns="0" anchor="t">
            <a:noAutofit/>
          </a:bodyPr>
          <a:p>
            <a:pPr indent="0" algn="ctr" defTabSz="914400">
              <a:lnSpc>
                <a:spcPct val="90000"/>
              </a:lnSpc>
              <a:spcBef>
                <a:spcPts val="1001"/>
              </a:spcBef>
              <a:buNone/>
              <a:tabLst>
                <a:tab algn="l" pos="0"/>
              </a:tabLst>
            </a:pPr>
            <a:r>
              <a:rPr b="0" lang="en-US" sz="2000" spc="-1" strike="noStrike">
                <a:solidFill>
                  <a:schemeClr val="dk1"/>
                </a:solidFill>
                <a:latin typeface="Arial"/>
                <a:ea typeface="DejaVu Sans"/>
              </a:rPr>
              <a:t>Click to add Text</a:t>
            </a:r>
            <a:endParaRPr b="0" lang="de-DE" sz="2000" spc="-1" strike="noStrike">
              <a:solidFill>
                <a:schemeClr val="dk1"/>
              </a:solidFill>
              <a:latin typeface="Arial"/>
            </a:endParaRPr>
          </a:p>
        </p:txBody>
      </p:sp>
      <p:sp>
        <p:nvSpPr>
          <p:cNvPr id="16" name="PlaceHolder 3"/>
          <p:cNvSpPr>
            <a:spLocks noGrp="1"/>
          </p:cNvSpPr>
          <p:nvPr>
            <p:ph type="sldNum" idx="1"/>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de-DE" sz="1800" spc="-1" strike="noStrike">
                <a:solidFill>
                  <a:schemeClr val="dk1"/>
                </a:solidFill>
                <a:latin typeface="Arial"/>
                <a:ea typeface="DejaVu Sans"/>
              </a:defRPr>
            </a:lvl1pPr>
          </a:lstStyle>
          <a:p>
            <a:pPr indent="0" defTabSz="914400">
              <a:lnSpc>
                <a:spcPct val="100000"/>
              </a:lnSpc>
              <a:buNone/>
            </a:pPr>
            <a:fld id="{F7A0D8F5-A426-459C-9A86-D20A379F3D9D}" type="slidenum">
              <a:rPr b="0" lang="de-DE" sz="1800" spc="-1" strike="noStrike">
                <a:solidFill>
                  <a:schemeClr val="dk1"/>
                </a:solidFill>
                <a:latin typeface="Arial"/>
                <a:ea typeface="DejaVu Sans"/>
              </a:rPr>
              <a:t>&lt;number&gt;</a:t>
            </a:fld>
            <a:endParaRPr b="0" lang="en-US" sz="1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 name="Line 20"/>
          <p:cNvSpPr/>
          <p:nvPr/>
        </p:nvSpPr>
        <p:spPr>
          <a:xfrm>
            <a:off x="0" y="415800"/>
            <a:ext cx="9144000" cy="360"/>
          </a:xfrm>
          <a:prstGeom prst="line">
            <a:avLst/>
          </a:prstGeom>
          <a:ln w="9525">
            <a:solidFill>
              <a:srgbClr val="000000"/>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18" name="Text Box 24"/>
          <p:cNvSpPr/>
          <p:nvPr/>
        </p:nvSpPr>
        <p:spPr>
          <a:xfrm>
            <a:off x="7996320" y="6599160"/>
            <a:ext cx="924480" cy="24228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spcBef>
                <a:spcPts val="499"/>
              </a:spcBef>
            </a:pPr>
            <a:fld id="{CDF7E884-FE17-486C-802D-F71A8FB4AC12}" type="slidenum">
              <a:rPr b="1" lang="de-AT" sz="1000" spc="-1" strike="noStrike">
                <a:solidFill>
                  <a:srgbClr val="7d7d7d"/>
                </a:solidFill>
                <a:latin typeface="Verdana"/>
                <a:ea typeface="DejaVu Sans"/>
              </a:rPr>
              <a:t>&lt;number&gt;</a:t>
            </a:fld>
            <a:endParaRPr b="0" lang="en-US" sz="1000" spc="-1" strike="noStrike">
              <a:solidFill>
                <a:srgbClr val="000000"/>
              </a:solidFill>
              <a:latin typeface="Arial"/>
            </a:endParaRPr>
          </a:p>
        </p:txBody>
      </p:sp>
      <p:sp>
        <p:nvSpPr>
          <p:cNvPr id="19" name="Text Box 30"/>
          <p:cNvSpPr/>
          <p:nvPr/>
        </p:nvSpPr>
        <p:spPr>
          <a:xfrm>
            <a:off x="144360" y="6627960"/>
            <a:ext cx="1881720" cy="214920"/>
          </a:xfrm>
          <a:prstGeom prst="rect">
            <a:avLst/>
          </a:prstGeom>
          <a:noFill/>
          <a:ln w="0">
            <a:noFill/>
          </a:ln>
        </p:spPr>
        <p:style>
          <a:lnRef idx="0"/>
          <a:fillRef idx="0"/>
          <a:effectRef idx="0"/>
          <a:fontRef idx="minor"/>
        </p:style>
        <p:txBody>
          <a:bodyPr wrap="none" lIns="90000" rIns="90000" tIns="39600" bIns="45000" anchor="ctr">
            <a:noAutofit/>
          </a:bodyPr>
          <a:p>
            <a:pPr defTabSz="914400">
              <a:lnSpc>
                <a:spcPct val="100000"/>
              </a:lnSpc>
              <a:spcBef>
                <a:spcPts val="550"/>
              </a:spcBef>
            </a:pPr>
            <a:r>
              <a:rPr b="0" lang="en-US" sz="1100" spc="-1" strike="noStrike">
                <a:solidFill>
                  <a:srgbClr val="000000"/>
                </a:solidFill>
                <a:latin typeface="Verdana"/>
                <a:ea typeface="DejaVu Sans"/>
              </a:rPr>
              <a:t>VECTO Release Notes</a:t>
            </a:r>
            <a:endParaRPr b="0" lang="en-US" sz="1100" spc="-1" strike="noStrike">
              <a:solidFill>
                <a:srgbClr val="000000"/>
              </a:solidFill>
              <a:latin typeface="Arial"/>
            </a:endParaRPr>
          </a:p>
        </p:txBody>
      </p:sp>
      <p:pic>
        <p:nvPicPr>
          <p:cNvPr id="20" name="Picture 2" descr=""/>
          <p:cNvPicPr/>
          <p:nvPr/>
        </p:nvPicPr>
        <p:blipFill>
          <a:blip r:embed="rId2"/>
          <a:stretch/>
        </p:blipFill>
        <p:spPr>
          <a:xfrm>
            <a:off x="7389360" y="37800"/>
            <a:ext cx="1420200" cy="351720"/>
          </a:xfrm>
          <a:prstGeom prst="rect">
            <a:avLst/>
          </a:prstGeom>
          <a:ln w="0">
            <a:noFill/>
          </a:ln>
        </p:spPr>
      </p:pic>
      <p:pic>
        <p:nvPicPr>
          <p:cNvPr id="21" name="Picture 3" descr="I:\raphaelluz\VECTO\source\VECTO\User Manual\pics\VECTO-small.PNG"/>
          <p:cNvPicPr/>
          <p:nvPr/>
        </p:nvPicPr>
        <p:blipFill>
          <a:blip r:embed="rId3"/>
          <a:stretch/>
        </p:blipFill>
        <p:spPr>
          <a:xfrm>
            <a:off x="107640" y="58680"/>
            <a:ext cx="977400" cy="331200"/>
          </a:xfrm>
          <a:prstGeom prst="rect">
            <a:avLst/>
          </a:prstGeom>
          <a:ln w="0">
            <a:noFill/>
          </a:ln>
        </p:spPr>
      </p:pic>
      <p:sp>
        <p:nvSpPr>
          <p:cNvPr id="22" name="Line 20"/>
          <p:cNvSpPr/>
          <p:nvPr/>
        </p:nvSpPr>
        <p:spPr>
          <a:xfrm>
            <a:off x="0" y="6599160"/>
            <a:ext cx="9144000" cy="360"/>
          </a:xfrm>
          <a:prstGeom prst="line">
            <a:avLst/>
          </a:prstGeom>
          <a:ln w="9525">
            <a:solidFill>
              <a:srgbClr val="000000"/>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23" name="PlaceHolder 1"/>
          <p:cNvSpPr>
            <a:spLocks noGrp="1"/>
          </p:cNvSpPr>
          <p:nvPr>
            <p:ph type="body"/>
          </p:nvPr>
        </p:nvSpPr>
        <p:spPr>
          <a:xfrm>
            <a:off x="585360" y="2146320"/>
            <a:ext cx="8228880" cy="3976920"/>
          </a:xfrm>
          <a:prstGeom prst="rect">
            <a:avLst/>
          </a:prstGeom>
          <a:noFill/>
          <a:ln w="0">
            <a:noFill/>
          </a:ln>
        </p:spPr>
        <p:txBody>
          <a:bodyPr lIns="0" rIns="0" tIns="0" bIns="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Arial"/>
                <a:ea typeface="DejaVu Sans"/>
              </a:rPr>
              <a:t>Main items</a:t>
            </a:r>
            <a:endParaRPr b="0" lang="de-DE" sz="2800" spc="-1" strike="noStrike">
              <a:solidFill>
                <a:schemeClr val="dk1"/>
              </a:solidFill>
              <a:latin typeface="Arial"/>
            </a:endParaRPr>
          </a:p>
          <a:p>
            <a:pPr lvl="1" marL="716040" indent="-266760" defTabSz="914400">
              <a:lnSpc>
                <a:spcPct val="90000"/>
              </a:lnSpc>
              <a:spcBef>
                <a:spcPts val="499"/>
              </a:spcBef>
              <a:buClr>
                <a:srgbClr val="000000"/>
              </a:buClr>
              <a:buFont typeface="Wingdings" charset="2"/>
              <a:buChar char=""/>
            </a:pPr>
            <a:r>
              <a:rPr b="0" lang="en-US" sz="2400" spc="-1" strike="noStrike">
                <a:solidFill>
                  <a:schemeClr val="dk1"/>
                </a:solidFill>
                <a:latin typeface="Arial"/>
                <a:ea typeface="DejaVu Sans"/>
              </a:rPr>
              <a:t>Sub-items</a:t>
            </a:r>
            <a:endParaRPr b="0" lang="de-DE" sz="2400" spc="-1" strike="noStrike">
              <a:solidFill>
                <a:schemeClr val="dk1"/>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chemeClr val="dk1"/>
                </a:solidFill>
                <a:latin typeface="Arial"/>
                <a:ea typeface="DejaVu Sans"/>
              </a:rPr>
              <a:t>Third layer</a:t>
            </a:r>
            <a:endParaRPr b="0" lang="de-DE" sz="2000" spc="-1" strike="noStrike">
              <a:solidFill>
                <a:schemeClr val="dk1"/>
              </a:solidFill>
              <a:latin typeface="Arial"/>
            </a:endParaRPr>
          </a:p>
          <a:p>
            <a:pPr lvl="3" marL="1600200" indent="-228600" defTabSz="914400">
              <a:lnSpc>
                <a:spcPct val="90000"/>
              </a:lnSpc>
              <a:spcBef>
                <a:spcPts val="499"/>
              </a:spcBef>
              <a:buClr>
                <a:srgbClr val="000000"/>
              </a:buClr>
              <a:buFont typeface="Arial"/>
              <a:buChar char="•"/>
            </a:pPr>
            <a:r>
              <a:rPr b="0" lang="en-US" sz="1800" spc="-1" strike="noStrike">
                <a:solidFill>
                  <a:schemeClr val="dk1"/>
                </a:solidFill>
                <a:latin typeface="Arial"/>
                <a:ea typeface="DejaVu Sans"/>
              </a:rPr>
              <a:t>Fourth layer</a:t>
            </a:r>
            <a:endParaRPr b="0" lang="de-DE" sz="1800" spc="-1" strike="noStrike">
              <a:solidFill>
                <a:schemeClr val="dk1"/>
              </a:solidFill>
              <a:latin typeface="Arial"/>
            </a:endParaRPr>
          </a:p>
          <a:p>
            <a:pPr lvl="4" marL="2057400" indent="-228600" defTabSz="914400">
              <a:lnSpc>
                <a:spcPct val="90000"/>
              </a:lnSpc>
              <a:spcBef>
                <a:spcPts val="499"/>
              </a:spcBef>
              <a:buClr>
                <a:srgbClr val="000000"/>
              </a:buClr>
              <a:buFont typeface="Arial"/>
              <a:buChar char="•"/>
            </a:pPr>
            <a:r>
              <a:rPr b="0" lang="en-US" sz="1800" spc="-1" strike="noStrike">
                <a:solidFill>
                  <a:schemeClr val="dk1"/>
                </a:solidFill>
                <a:latin typeface="Arial"/>
                <a:ea typeface="DejaVu Sans"/>
              </a:rPr>
              <a:t>Fifth layer</a:t>
            </a:r>
            <a:endParaRPr b="0" lang="de-DE" sz="1800" spc="-1" strike="noStrike">
              <a:solidFill>
                <a:schemeClr val="dk1"/>
              </a:solidFill>
              <a:latin typeface="Arial"/>
            </a:endParaRPr>
          </a:p>
        </p:txBody>
      </p:sp>
      <p:sp>
        <p:nvSpPr>
          <p:cNvPr id="24" name="PlaceHolder 2"/>
          <p:cNvSpPr>
            <a:spLocks noGrp="1"/>
          </p:cNvSpPr>
          <p:nvPr>
            <p:ph type="sldNum" idx="2"/>
          </p:nvPr>
        </p:nvSpPr>
        <p:spPr>
          <a:xfrm>
            <a:off x="128160" y="541800"/>
            <a:ext cx="0" cy="0"/>
          </a:xfrm>
          <a:prstGeom prst="rect">
            <a:avLst/>
          </a:prstGeom>
          <a:noFill/>
          <a:ln w="0">
            <a:noFill/>
          </a:ln>
        </p:spPr>
        <p:txBody>
          <a:bodyPr lIns="90000" rIns="90000" tIns="-45000" bIns="-45000" anchor="t">
            <a:noAutofit/>
          </a:bodyPr>
          <a:p>
            <a:pPr indent="0">
              <a:buNone/>
            </a:pPr>
            <a:endParaRPr b="0" lang="en-US" sz="100" spc="-1" strike="noStrike">
              <a:solidFill>
                <a:srgbClr val="000000"/>
              </a:solidFill>
              <a:latin typeface="Times New Roman"/>
            </a:endParaRPr>
          </a:p>
        </p:txBody>
      </p:sp>
      <p:sp>
        <p:nvSpPr>
          <p:cNvPr id="25" name="PlaceHolder 3"/>
          <p:cNvSpPr>
            <a:spLocks noGrp="1"/>
          </p:cNvSpPr>
          <p:nvPr>
            <p:ph type="title"/>
          </p:nvPr>
        </p:nvSpPr>
        <p:spPr>
          <a:xfrm>
            <a:off x="585360" y="850320"/>
            <a:ext cx="8228880" cy="1144440"/>
          </a:xfrm>
          <a:prstGeom prst="rect">
            <a:avLst/>
          </a:prstGeom>
          <a:noFill/>
          <a:ln w="0">
            <a:noFill/>
          </a:ln>
        </p:spPr>
        <p:txBody>
          <a:bodyPr lIns="0" rIns="0" tIns="0" bIns="0" anchor="ctr">
            <a:noAutofit/>
          </a:bodyPr>
          <a:p>
            <a:pPr indent="0" defTabSz="914400">
              <a:lnSpc>
                <a:spcPct val="90000"/>
              </a:lnSpc>
              <a:buNone/>
            </a:pPr>
            <a:r>
              <a:rPr b="1" lang="de-DE" sz="2400" spc="-1" strike="noStrike">
                <a:solidFill>
                  <a:srgbClr val="990000"/>
                </a:solidFill>
                <a:latin typeface="Arial"/>
                <a:ea typeface="DejaVu Sans"/>
              </a:rPr>
              <a:t>Mastertitelformat bearbeiten</a:t>
            </a:r>
            <a:endParaRPr b="0" lang="de-DE" sz="24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53" r:id="rId4"/>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 name="Line 20"/>
          <p:cNvSpPr/>
          <p:nvPr/>
        </p:nvSpPr>
        <p:spPr>
          <a:xfrm>
            <a:off x="0" y="415800"/>
            <a:ext cx="9144000" cy="360"/>
          </a:xfrm>
          <a:prstGeom prst="line">
            <a:avLst/>
          </a:prstGeom>
          <a:ln w="9525">
            <a:solidFill>
              <a:srgbClr val="000000"/>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27" name="Text Box 24"/>
          <p:cNvSpPr/>
          <p:nvPr/>
        </p:nvSpPr>
        <p:spPr>
          <a:xfrm>
            <a:off x="7996320" y="6599160"/>
            <a:ext cx="924480" cy="24228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spcBef>
                <a:spcPts val="499"/>
              </a:spcBef>
            </a:pPr>
            <a:fld id="{032076D0-E593-4FF1-9031-EC24F6DA8FE9}" type="slidenum">
              <a:rPr b="1" lang="de-AT" sz="1000" spc="-1" strike="noStrike">
                <a:solidFill>
                  <a:srgbClr val="7d7d7d"/>
                </a:solidFill>
                <a:latin typeface="Verdana"/>
                <a:ea typeface="DejaVu Sans"/>
              </a:rPr>
              <a:t>&lt;number&gt;</a:t>
            </a:fld>
            <a:endParaRPr b="0" lang="en-US" sz="1000" spc="-1" strike="noStrike">
              <a:solidFill>
                <a:srgbClr val="000000"/>
              </a:solidFill>
              <a:latin typeface="Arial"/>
            </a:endParaRPr>
          </a:p>
        </p:txBody>
      </p:sp>
      <p:sp>
        <p:nvSpPr>
          <p:cNvPr id="28" name="Text Box 30"/>
          <p:cNvSpPr/>
          <p:nvPr/>
        </p:nvSpPr>
        <p:spPr>
          <a:xfrm>
            <a:off x="144360" y="6627960"/>
            <a:ext cx="1881720" cy="214920"/>
          </a:xfrm>
          <a:prstGeom prst="rect">
            <a:avLst/>
          </a:prstGeom>
          <a:noFill/>
          <a:ln w="0">
            <a:noFill/>
          </a:ln>
        </p:spPr>
        <p:style>
          <a:lnRef idx="0"/>
          <a:fillRef idx="0"/>
          <a:effectRef idx="0"/>
          <a:fontRef idx="minor"/>
        </p:style>
        <p:txBody>
          <a:bodyPr wrap="none" lIns="90000" rIns="90000" tIns="39600" bIns="45000" anchor="ctr">
            <a:noAutofit/>
          </a:bodyPr>
          <a:p>
            <a:pPr defTabSz="914400">
              <a:lnSpc>
                <a:spcPct val="100000"/>
              </a:lnSpc>
              <a:spcBef>
                <a:spcPts val="550"/>
              </a:spcBef>
            </a:pPr>
            <a:r>
              <a:rPr b="0" lang="en-US" sz="1100" spc="-1" strike="noStrike">
                <a:solidFill>
                  <a:srgbClr val="000000"/>
                </a:solidFill>
                <a:latin typeface="Verdana"/>
                <a:ea typeface="DejaVu Sans"/>
              </a:rPr>
              <a:t>VECTO Release Notes</a:t>
            </a:r>
            <a:endParaRPr b="0" lang="en-US" sz="1100" spc="-1" strike="noStrike">
              <a:solidFill>
                <a:srgbClr val="000000"/>
              </a:solidFill>
              <a:latin typeface="Arial"/>
            </a:endParaRPr>
          </a:p>
        </p:txBody>
      </p:sp>
      <p:pic>
        <p:nvPicPr>
          <p:cNvPr id="29" name="Picture 2" descr=""/>
          <p:cNvPicPr/>
          <p:nvPr/>
        </p:nvPicPr>
        <p:blipFill>
          <a:blip r:embed="rId2"/>
          <a:stretch/>
        </p:blipFill>
        <p:spPr>
          <a:xfrm>
            <a:off x="7389360" y="37800"/>
            <a:ext cx="1420200" cy="351720"/>
          </a:xfrm>
          <a:prstGeom prst="rect">
            <a:avLst/>
          </a:prstGeom>
          <a:ln w="0">
            <a:noFill/>
          </a:ln>
        </p:spPr>
      </p:pic>
      <p:pic>
        <p:nvPicPr>
          <p:cNvPr id="30" name="Picture 3" descr="I:\raphaelluz\VECTO\source\VECTO\User Manual\pics\VECTO-small.PNG"/>
          <p:cNvPicPr/>
          <p:nvPr/>
        </p:nvPicPr>
        <p:blipFill>
          <a:blip r:embed="rId3"/>
          <a:stretch/>
        </p:blipFill>
        <p:spPr>
          <a:xfrm>
            <a:off x="107640" y="58680"/>
            <a:ext cx="977400" cy="331200"/>
          </a:xfrm>
          <a:prstGeom prst="rect">
            <a:avLst/>
          </a:prstGeom>
          <a:ln w="0">
            <a:noFill/>
          </a:ln>
        </p:spPr>
      </p:pic>
      <p:sp>
        <p:nvSpPr>
          <p:cNvPr id="31" name="Line 20"/>
          <p:cNvSpPr/>
          <p:nvPr/>
        </p:nvSpPr>
        <p:spPr>
          <a:xfrm>
            <a:off x="0" y="6599160"/>
            <a:ext cx="9144000" cy="360"/>
          </a:xfrm>
          <a:prstGeom prst="line">
            <a:avLst/>
          </a:prstGeom>
          <a:ln w="9525">
            <a:solidFill>
              <a:srgbClr val="000000"/>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32"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defTabSz="914400">
              <a:lnSpc>
                <a:spcPct val="90000"/>
              </a:lnSpc>
              <a:buNone/>
            </a:pPr>
            <a:r>
              <a:rPr b="1" lang="de-DE" sz="2400" spc="-1" strike="noStrike">
                <a:solidFill>
                  <a:srgbClr val="990000"/>
                </a:solidFill>
                <a:latin typeface="Arial"/>
                <a:ea typeface="DejaVu Sans"/>
              </a:rPr>
              <a:t>Mastertitelformat bearbeiten</a:t>
            </a:r>
            <a:endParaRPr b="0" lang="de-DE" sz="2400" spc="-1" strike="noStrike">
              <a:solidFill>
                <a:schemeClr val="dk1"/>
              </a:solidFill>
              <a:latin typeface="Arial"/>
            </a:endParaRPr>
          </a:p>
        </p:txBody>
      </p:sp>
      <p:sp>
        <p:nvSpPr>
          <p:cNvPr id="33"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de-DE" sz="2800" spc="-1" strike="noStrike">
                <a:solidFill>
                  <a:schemeClr val="dk1"/>
                </a:solidFill>
                <a:latin typeface="Arial"/>
              </a:rPr>
              <a:t>Click to edit the outline text format</a:t>
            </a:r>
            <a:endParaRPr b="0" lang="de-DE" sz="2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de-DE" sz="2000" spc="-1" strike="noStrike">
                <a:solidFill>
                  <a:schemeClr val="dk1"/>
                </a:solidFill>
                <a:latin typeface="Arial"/>
              </a:rPr>
              <a:t>Second Outline Level</a:t>
            </a:r>
            <a:endParaRPr b="0" lang="de-DE" sz="20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de-DE" sz="1800" spc="-1" strike="noStrike">
                <a:solidFill>
                  <a:schemeClr val="dk1"/>
                </a:solidFill>
                <a:latin typeface="Arial"/>
              </a:rPr>
              <a:t>Third Outline Level</a:t>
            </a:r>
            <a:endParaRPr b="0" lang="de-DE"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de-DE" sz="1800" spc="-1" strike="noStrike">
                <a:solidFill>
                  <a:schemeClr val="dk1"/>
                </a:solidFill>
                <a:latin typeface="Arial"/>
              </a:rPr>
              <a:t>Fourth Outline Level</a:t>
            </a:r>
            <a:endParaRPr b="0" lang="de-DE"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de-DE" sz="2000" spc="-1" strike="noStrike">
                <a:solidFill>
                  <a:schemeClr val="dk1"/>
                </a:solidFill>
                <a:latin typeface="Arial"/>
              </a:rPr>
              <a:t>Fifth Outline Level</a:t>
            </a:r>
            <a:endParaRPr b="0" lang="de-DE" sz="20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de-DE" sz="2000" spc="-1" strike="noStrike">
                <a:solidFill>
                  <a:schemeClr val="dk1"/>
                </a:solidFill>
                <a:latin typeface="Arial"/>
              </a:rPr>
              <a:t>Sixth Outline Level</a:t>
            </a:r>
            <a:endParaRPr b="0" lang="de-DE" sz="20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de-DE" sz="2000" spc="-1" strike="noStrike">
                <a:solidFill>
                  <a:schemeClr val="dk1"/>
                </a:solidFill>
                <a:latin typeface="Arial"/>
              </a:rPr>
              <a:t>Seventh Outline Level</a:t>
            </a:r>
            <a:endParaRPr b="0" lang="de-DE" sz="2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55" r:id="rId4"/>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Line 20"/>
          <p:cNvSpPr/>
          <p:nvPr/>
        </p:nvSpPr>
        <p:spPr>
          <a:xfrm>
            <a:off x="0" y="415800"/>
            <a:ext cx="9144000" cy="360"/>
          </a:xfrm>
          <a:prstGeom prst="line">
            <a:avLst/>
          </a:prstGeom>
          <a:ln w="9525">
            <a:solidFill>
              <a:srgbClr val="000000"/>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35" name="Text Box 24"/>
          <p:cNvSpPr/>
          <p:nvPr/>
        </p:nvSpPr>
        <p:spPr>
          <a:xfrm>
            <a:off x="7996320" y="6599160"/>
            <a:ext cx="924480" cy="24228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spcBef>
                <a:spcPts val="499"/>
              </a:spcBef>
            </a:pPr>
            <a:fld id="{84C26D7E-CEE5-4D3A-A24F-54470E6B4088}" type="slidenum">
              <a:rPr b="1" lang="de-AT" sz="1000" spc="-1" strike="noStrike">
                <a:solidFill>
                  <a:srgbClr val="7d7d7d"/>
                </a:solidFill>
                <a:latin typeface="Verdana"/>
                <a:ea typeface="DejaVu Sans"/>
              </a:rPr>
              <a:t>&lt;number&gt;</a:t>
            </a:fld>
            <a:endParaRPr b="0" lang="en-US" sz="1000" spc="-1" strike="noStrike">
              <a:solidFill>
                <a:srgbClr val="000000"/>
              </a:solidFill>
              <a:latin typeface="Arial"/>
            </a:endParaRPr>
          </a:p>
        </p:txBody>
      </p:sp>
      <p:sp>
        <p:nvSpPr>
          <p:cNvPr id="36" name="Text Box 30"/>
          <p:cNvSpPr/>
          <p:nvPr/>
        </p:nvSpPr>
        <p:spPr>
          <a:xfrm>
            <a:off x="144360" y="6627960"/>
            <a:ext cx="1881720" cy="214920"/>
          </a:xfrm>
          <a:prstGeom prst="rect">
            <a:avLst/>
          </a:prstGeom>
          <a:noFill/>
          <a:ln w="0">
            <a:noFill/>
          </a:ln>
        </p:spPr>
        <p:style>
          <a:lnRef idx="0"/>
          <a:fillRef idx="0"/>
          <a:effectRef idx="0"/>
          <a:fontRef idx="minor"/>
        </p:style>
        <p:txBody>
          <a:bodyPr wrap="none" lIns="90000" rIns="90000" tIns="39600" bIns="45000" anchor="ctr">
            <a:noAutofit/>
          </a:bodyPr>
          <a:p>
            <a:pPr defTabSz="914400">
              <a:lnSpc>
                <a:spcPct val="100000"/>
              </a:lnSpc>
              <a:spcBef>
                <a:spcPts val="550"/>
              </a:spcBef>
            </a:pPr>
            <a:r>
              <a:rPr b="0" lang="en-US" sz="1100" spc="-1" strike="noStrike">
                <a:solidFill>
                  <a:srgbClr val="000000"/>
                </a:solidFill>
                <a:latin typeface="Verdana"/>
                <a:ea typeface="DejaVu Sans"/>
              </a:rPr>
              <a:t>VECTO Release Notes</a:t>
            </a:r>
            <a:endParaRPr b="0" lang="en-US" sz="1100" spc="-1" strike="noStrike">
              <a:solidFill>
                <a:srgbClr val="000000"/>
              </a:solidFill>
              <a:latin typeface="Arial"/>
            </a:endParaRPr>
          </a:p>
        </p:txBody>
      </p:sp>
      <p:pic>
        <p:nvPicPr>
          <p:cNvPr id="37" name="Picture 2" descr=""/>
          <p:cNvPicPr/>
          <p:nvPr/>
        </p:nvPicPr>
        <p:blipFill>
          <a:blip r:embed="rId2"/>
          <a:stretch/>
        </p:blipFill>
        <p:spPr>
          <a:xfrm>
            <a:off x="7389360" y="37800"/>
            <a:ext cx="1420200" cy="351720"/>
          </a:xfrm>
          <a:prstGeom prst="rect">
            <a:avLst/>
          </a:prstGeom>
          <a:ln w="0">
            <a:noFill/>
          </a:ln>
        </p:spPr>
      </p:pic>
      <p:pic>
        <p:nvPicPr>
          <p:cNvPr id="38" name="Picture 3" descr="I:\raphaelluz\VECTO\source\VECTO\User Manual\pics\VECTO-small.PNG"/>
          <p:cNvPicPr/>
          <p:nvPr/>
        </p:nvPicPr>
        <p:blipFill>
          <a:blip r:embed="rId3"/>
          <a:stretch/>
        </p:blipFill>
        <p:spPr>
          <a:xfrm>
            <a:off x="107640" y="58680"/>
            <a:ext cx="977400" cy="331200"/>
          </a:xfrm>
          <a:prstGeom prst="rect">
            <a:avLst/>
          </a:prstGeom>
          <a:ln w="0">
            <a:noFill/>
          </a:ln>
        </p:spPr>
      </p:pic>
      <p:sp>
        <p:nvSpPr>
          <p:cNvPr id="39" name="Line 20"/>
          <p:cNvSpPr/>
          <p:nvPr/>
        </p:nvSpPr>
        <p:spPr>
          <a:xfrm>
            <a:off x="0" y="6599160"/>
            <a:ext cx="9144000" cy="360"/>
          </a:xfrm>
          <a:prstGeom prst="line">
            <a:avLst/>
          </a:prstGeom>
          <a:ln w="9525">
            <a:solidFill>
              <a:srgbClr val="000000"/>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40" name="PlaceHolder 1"/>
          <p:cNvSpPr>
            <a:spLocks noGrp="1"/>
          </p:cNvSpPr>
          <p:nvPr>
            <p:ph type="body"/>
          </p:nvPr>
        </p:nvSpPr>
        <p:spPr>
          <a:xfrm>
            <a:off x="585360" y="2146320"/>
            <a:ext cx="8228880" cy="3976920"/>
          </a:xfrm>
          <a:prstGeom prst="rect">
            <a:avLst/>
          </a:prstGeom>
          <a:noFill/>
          <a:ln w="0">
            <a:noFill/>
          </a:ln>
        </p:spPr>
        <p:txBody>
          <a:bodyPr lIns="0" rIns="0" tIns="0" bIns="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Arial"/>
                <a:ea typeface="DejaVu Sans"/>
              </a:rPr>
              <a:t>Main items</a:t>
            </a:r>
            <a:endParaRPr b="0" lang="de-DE" sz="2800" spc="-1" strike="noStrike">
              <a:solidFill>
                <a:schemeClr val="dk1"/>
              </a:solidFill>
              <a:latin typeface="Arial"/>
            </a:endParaRPr>
          </a:p>
          <a:p>
            <a:pPr lvl="1" marL="716040" indent="-266760" defTabSz="914400">
              <a:lnSpc>
                <a:spcPct val="90000"/>
              </a:lnSpc>
              <a:spcBef>
                <a:spcPts val="499"/>
              </a:spcBef>
              <a:buClr>
                <a:srgbClr val="000000"/>
              </a:buClr>
              <a:buFont typeface="Wingdings" charset="2"/>
              <a:buChar char=""/>
            </a:pPr>
            <a:r>
              <a:rPr b="0" lang="en-US" sz="2400" spc="-1" strike="noStrike">
                <a:solidFill>
                  <a:schemeClr val="dk1"/>
                </a:solidFill>
                <a:latin typeface="Arial"/>
                <a:ea typeface="DejaVu Sans"/>
              </a:rPr>
              <a:t>Sub-items</a:t>
            </a:r>
            <a:endParaRPr b="0" lang="de-DE" sz="2400" spc="-1" strike="noStrike">
              <a:solidFill>
                <a:schemeClr val="dk1"/>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chemeClr val="dk1"/>
                </a:solidFill>
                <a:latin typeface="Arial"/>
                <a:ea typeface="DejaVu Sans"/>
              </a:rPr>
              <a:t>Third layer</a:t>
            </a:r>
            <a:endParaRPr b="0" lang="de-DE" sz="2000" spc="-1" strike="noStrike">
              <a:solidFill>
                <a:schemeClr val="dk1"/>
              </a:solidFill>
              <a:latin typeface="Arial"/>
            </a:endParaRPr>
          </a:p>
          <a:p>
            <a:pPr lvl="3" marL="1600200" indent="-228600" defTabSz="914400">
              <a:lnSpc>
                <a:spcPct val="90000"/>
              </a:lnSpc>
              <a:spcBef>
                <a:spcPts val="499"/>
              </a:spcBef>
              <a:buClr>
                <a:srgbClr val="000000"/>
              </a:buClr>
              <a:buFont typeface="Arial"/>
              <a:buChar char="•"/>
            </a:pPr>
            <a:r>
              <a:rPr b="0" lang="en-US" sz="1800" spc="-1" strike="noStrike">
                <a:solidFill>
                  <a:schemeClr val="dk1"/>
                </a:solidFill>
                <a:latin typeface="Arial"/>
                <a:ea typeface="DejaVu Sans"/>
              </a:rPr>
              <a:t>Fourth layer</a:t>
            </a:r>
            <a:endParaRPr b="0" lang="de-DE" sz="1800" spc="-1" strike="noStrike">
              <a:solidFill>
                <a:schemeClr val="dk1"/>
              </a:solidFill>
              <a:latin typeface="Arial"/>
            </a:endParaRPr>
          </a:p>
          <a:p>
            <a:pPr lvl="4" marL="2057400" indent="-228600" defTabSz="914400">
              <a:lnSpc>
                <a:spcPct val="90000"/>
              </a:lnSpc>
              <a:spcBef>
                <a:spcPts val="499"/>
              </a:spcBef>
              <a:buClr>
                <a:srgbClr val="000000"/>
              </a:buClr>
              <a:buFont typeface="Arial"/>
              <a:buChar char="•"/>
            </a:pPr>
            <a:r>
              <a:rPr b="0" lang="en-US" sz="1800" spc="-1" strike="noStrike">
                <a:solidFill>
                  <a:schemeClr val="dk1"/>
                </a:solidFill>
                <a:latin typeface="Arial"/>
                <a:ea typeface="DejaVu Sans"/>
              </a:rPr>
              <a:t>Fifth layer</a:t>
            </a:r>
            <a:endParaRPr b="0" lang="de-DE" sz="1800" spc="-1" strike="noStrike">
              <a:solidFill>
                <a:schemeClr val="dk1"/>
              </a:solidFill>
              <a:latin typeface="Arial"/>
            </a:endParaRPr>
          </a:p>
        </p:txBody>
      </p:sp>
      <p:sp>
        <p:nvSpPr>
          <p:cNvPr id="41" name="PlaceHolder 2"/>
          <p:cNvSpPr>
            <a:spLocks noGrp="1"/>
          </p:cNvSpPr>
          <p:nvPr>
            <p:ph type="sldNum" idx="3"/>
          </p:nvPr>
        </p:nvSpPr>
        <p:spPr>
          <a:xfrm>
            <a:off x="128160" y="541800"/>
            <a:ext cx="0" cy="0"/>
          </a:xfrm>
          <a:prstGeom prst="rect">
            <a:avLst/>
          </a:prstGeom>
          <a:noFill/>
          <a:ln w="0">
            <a:noFill/>
          </a:ln>
        </p:spPr>
        <p:txBody>
          <a:bodyPr lIns="90000" rIns="90000" tIns="-45000" bIns="-45000" anchor="t">
            <a:noAutofit/>
          </a:bodyPr>
          <a:p>
            <a:pPr indent="0">
              <a:buNone/>
            </a:pPr>
            <a:endParaRPr b="0" lang="en-US" sz="100" spc="-1" strike="noStrike">
              <a:solidFill>
                <a:srgbClr val="000000"/>
              </a:solidFill>
              <a:latin typeface="Times New Roman"/>
            </a:endParaRPr>
          </a:p>
        </p:txBody>
      </p:sp>
      <p:sp>
        <p:nvSpPr>
          <p:cNvPr id="42" name="PlaceHolder 3"/>
          <p:cNvSpPr>
            <a:spLocks noGrp="1"/>
          </p:cNvSpPr>
          <p:nvPr>
            <p:ph type="title"/>
          </p:nvPr>
        </p:nvSpPr>
        <p:spPr>
          <a:xfrm>
            <a:off x="585360" y="850320"/>
            <a:ext cx="8228880" cy="1144440"/>
          </a:xfrm>
          <a:prstGeom prst="rect">
            <a:avLst/>
          </a:prstGeom>
          <a:noFill/>
          <a:ln w="0">
            <a:noFill/>
          </a:ln>
        </p:spPr>
        <p:txBody>
          <a:bodyPr lIns="0" rIns="0" tIns="0" bIns="0" anchor="ctr">
            <a:noAutofit/>
          </a:bodyPr>
          <a:p>
            <a:pPr indent="0" defTabSz="914400">
              <a:lnSpc>
                <a:spcPct val="90000"/>
              </a:lnSpc>
              <a:buNone/>
            </a:pPr>
            <a:r>
              <a:rPr b="1" lang="de-DE" sz="2400" spc="-1" strike="noStrike">
                <a:solidFill>
                  <a:srgbClr val="990000"/>
                </a:solidFill>
                <a:latin typeface="Arial"/>
                <a:ea typeface="DejaVu Sans"/>
              </a:rPr>
              <a:t>Mastertitelformat bearbeiten</a:t>
            </a:r>
            <a:endParaRPr b="0" lang="de-DE" sz="24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57" r:id="rId4"/>
  </p:sldLayoutIdLst>
</p:sldMaster>
</file>

<file path=ppt/slides/_rels/slide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wmf"/><Relationship Id="rId3" Type="http://schemas.openxmlformats.org/officeDocument/2006/relationships/slideLayout" Target="../slideLayouts/slideLayout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4.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6.png"/><Relationship Id="rId3" Type="http://schemas.openxmlformats.org/officeDocument/2006/relationships/image" Target="../media/image6.png"/><Relationship Id="rId4" Type="http://schemas.openxmlformats.org/officeDocument/2006/relationships/slideLayout" Target="../slideLayouts/slideLayout3.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3.xml"/>
</Relationships>
</file>

<file path=ppt/slides/_rels/slide17.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3.xml"/>
</Relationships>
</file>

<file path=ppt/slides/_rels/slide18.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9.png"/><Relationship Id="rId3" Type="http://schemas.openxmlformats.org/officeDocument/2006/relationships/image" Target="../media/image11.png"/><Relationship Id="rId4" Type="http://schemas.openxmlformats.org/officeDocument/2006/relationships/slideLayout" Target="../slideLayouts/slideLayout3.xml"/>
</Relationships>
</file>

<file path=ppt/slides/_rels/slide19.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0.png"/><Relationship Id="rId3" Type="http://schemas.openxmlformats.org/officeDocument/2006/relationships/slideLayout" Target="../slideLayouts/slideLayout3.xml"/>
</Relationships>
</file>

<file path=ppt/slides/_rels/slide20.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3.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2.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slideLayout" Target="../slideLayouts/slideLayout3.xml"/>
</Relationships>
</file>

<file path=ppt/slides/_rels/slide23.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slideLayout" Target="../slideLayouts/slideLayout3.xml"/>
</Relationships>
</file>

<file path=ppt/slides/_rels/slide24.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slideLayout" Target="../slideLayouts/slideLayout3.xml"/>
</Relationships>
</file>

<file path=ppt/slides/_rels/slide25.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0.png"/><Relationship Id="rId3" Type="http://schemas.openxmlformats.org/officeDocument/2006/relationships/slideLayout" Target="../slideLayouts/slideLayout3.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9.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3.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1.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4.png"/><Relationship Id="rId3" Type="http://schemas.openxmlformats.org/officeDocument/2006/relationships/slideLayout" Target="../slideLayouts/slideLayout3.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3.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6.png"/><Relationship Id="rId3" Type="http://schemas.openxmlformats.org/officeDocument/2006/relationships/slideLayout" Target="../slideLayouts/slideLayout3.xml"/>
</Relationships>
</file>

<file path=ppt/slides/_rels/slide34.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3.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6.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3.xml"/>
</Relationships>
</file>

<file path=ppt/slides/_rels/slide37.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3.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Text Box 94"/>
          <p:cNvSpPr/>
          <p:nvPr/>
        </p:nvSpPr>
        <p:spPr>
          <a:xfrm>
            <a:off x="539640" y="1052640"/>
            <a:ext cx="8135280" cy="3945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spcBef>
                <a:spcPts val="1599"/>
              </a:spcBef>
            </a:pPr>
            <a:r>
              <a:rPr b="1" lang="en-US" sz="3200" spc="-1" strike="noStrike">
                <a:solidFill>
                  <a:srgbClr val="990000"/>
                </a:solidFill>
                <a:latin typeface="Arial"/>
                <a:ea typeface="DejaVu Sans"/>
              </a:rPr>
              <a:t>VECTO 4.x </a:t>
            </a:r>
            <a:endParaRPr b="0" lang="en-US" sz="3200" spc="-1" strike="noStrike">
              <a:solidFill>
                <a:srgbClr val="000000"/>
              </a:solidFill>
              <a:latin typeface="Arial"/>
            </a:endParaRPr>
          </a:p>
          <a:p>
            <a:pPr algn="ctr" defTabSz="914400">
              <a:lnSpc>
                <a:spcPct val="100000"/>
              </a:lnSpc>
              <a:spcBef>
                <a:spcPts val="1001"/>
              </a:spcBef>
            </a:pPr>
            <a:endParaRPr b="0" lang="en-US" sz="2000" spc="-1" strike="noStrike">
              <a:solidFill>
                <a:srgbClr val="000000"/>
              </a:solidFill>
              <a:latin typeface="Arial"/>
            </a:endParaRPr>
          </a:p>
          <a:p>
            <a:pPr algn="ctr" defTabSz="914400">
              <a:lnSpc>
                <a:spcPct val="100000"/>
              </a:lnSpc>
              <a:spcBef>
                <a:spcPts val="1001"/>
              </a:spcBef>
            </a:pPr>
            <a:endParaRPr b="0" lang="en-US" sz="2000" spc="-1" strike="noStrike">
              <a:solidFill>
                <a:srgbClr val="000000"/>
              </a:solidFill>
              <a:latin typeface="Arial"/>
            </a:endParaRPr>
          </a:p>
          <a:p>
            <a:pPr algn="ctr" defTabSz="914400">
              <a:lnSpc>
                <a:spcPct val="100000"/>
              </a:lnSpc>
              <a:spcBef>
                <a:spcPts val="1001"/>
              </a:spcBef>
            </a:pPr>
            <a:endParaRPr b="0" lang="en-US" sz="2000" spc="-1" strike="noStrike">
              <a:solidFill>
                <a:srgbClr val="000000"/>
              </a:solidFill>
              <a:latin typeface="Arial"/>
            </a:endParaRPr>
          </a:p>
          <a:p>
            <a:pPr algn="ctr" defTabSz="914400">
              <a:lnSpc>
                <a:spcPct val="100000"/>
              </a:lnSpc>
              <a:spcBef>
                <a:spcPts val="1199"/>
              </a:spcBef>
            </a:pPr>
            <a:endParaRPr b="0" lang="en-US" sz="2400" spc="-1" strike="noStrike">
              <a:solidFill>
                <a:srgbClr val="000000"/>
              </a:solidFill>
              <a:latin typeface="Arial"/>
            </a:endParaRPr>
          </a:p>
          <a:p>
            <a:pPr algn="ctr" defTabSz="914400">
              <a:lnSpc>
                <a:spcPct val="100000"/>
              </a:lnSpc>
              <a:spcBef>
                <a:spcPts val="1199"/>
              </a:spcBef>
            </a:pPr>
            <a:endParaRPr b="0" lang="en-US" sz="2400" spc="-1" strike="noStrike">
              <a:solidFill>
                <a:srgbClr val="000000"/>
              </a:solidFill>
              <a:latin typeface="Arial"/>
            </a:endParaRPr>
          </a:p>
          <a:p>
            <a:pPr algn="ctr" defTabSz="914400">
              <a:lnSpc>
                <a:spcPct val="100000"/>
              </a:lnSpc>
              <a:spcBef>
                <a:spcPts val="1199"/>
              </a:spcBef>
            </a:pPr>
            <a:endParaRPr b="0" lang="en-US" sz="2400" spc="-1" strike="noStrike">
              <a:solidFill>
                <a:srgbClr val="000000"/>
              </a:solidFill>
              <a:latin typeface="Arial"/>
            </a:endParaRPr>
          </a:p>
          <a:p>
            <a:pPr algn="ctr" defTabSz="914400">
              <a:lnSpc>
                <a:spcPct val="100000"/>
              </a:lnSpc>
              <a:spcBef>
                <a:spcPts val="1199"/>
              </a:spcBef>
            </a:pPr>
            <a:r>
              <a:rPr b="1" lang="en-US" sz="2400" spc="-1" strike="noStrike">
                <a:solidFill>
                  <a:srgbClr val="990000"/>
                </a:solidFill>
                <a:latin typeface="Arial"/>
                <a:ea typeface="DejaVu Sans"/>
              </a:rPr>
              <a:t>Release Notes</a:t>
            </a:r>
            <a:endParaRPr b="0" lang="en-US" sz="2400" spc="-1" strike="noStrike">
              <a:solidFill>
                <a:srgbClr val="000000"/>
              </a:solidFill>
              <a:latin typeface="Arial"/>
            </a:endParaRPr>
          </a:p>
        </p:txBody>
      </p:sp>
      <p:pic>
        <p:nvPicPr>
          <p:cNvPr id="44" name="Picture 2" descr=""/>
          <p:cNvPicPr/>
          <p:nvPr/>
        </p:nvPicPr>
        <p:blipFill>
          <a:blip r:embed="rId1"/>
          <a:stretch/>
        </p:blipFill>
        <p:spPr>
          <a:xfrm>
            <a:off x="2483640" y="2421000"/>
            <a:ext cx="4175280" cy="162648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 name="Text Box 94"/>
          <p:cNvSpPr/>
          <p:nvPr/>
        </p:nvSpPr>
        <p:spPr>
          <a:xfrm>
            <a:off x="539640" y="1052640"/>
            <a:ext cx="8135280" cy="3945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spcBef>
                <a:spcPts val="1599"/>
              </a:spcBef>
            </a:pPr>
            <a:r>
              <a:rPr b="1" lang="en-US" sz="3200" spc="-1" strike="noStrike">
                <a:solidFill>
                  <a:srgbClr val="990000"/>
                </a:solidFill>
                <a:latin typeface="Arial"/>
                <a:ea typeface="DejaVu Sans"/>
              </a:rPr>
              <a:t>VECTO 0.11.2.3456 Development Version</a:t>
            </a:r>
            <a:endParaRPr b="0" lang="en-US" sz="3200" spc="-1" strike="noStrike">
              <a:solidFill>
                <a:srgbClr val="000000"/>
              </a:solidFill>
              <a:latin typeface="Arial"/>
            </a:endParaRPr>
          </a:p>
          <a:p>
            <a:pPr algn="ctr" defTabSz="914400">
              <a:lnSpc>
                <a:spcPct val="100000"/>
              </a:lnSpc>
              <a:spcBef>
                <a:spcPts val="1001"/>
              </a:spcBef>
            </a:pPr>
            <a:r>
              <a:rPr b="1" lang="en-US" sz="2000" spc="-1" strike="noStrike">
                <a:solidFill>
                  <a:srgbClr val="990000"/>
                </a:solidFill>
                <a:latin typeface="Arial"/>
                <a:ea typeface="DejaVu Sans"/>
              </a:rPr>
              <a:t>18.06.2024</a:t>
            </a:r>
            <a:endParaRPr b="0" lang="en-US" sz="2000" spc="-1" strike="noStrike">
              <a:solidFill>
                <a:srgbClr val="000000"/>
              </a:solidFill>
              <a:latin typeface="Arial"/>
            </a:endParaRPr>
          </a:p>
          <a:p>
            <a:pPr algn="ctr" defTabSz="914400">
              <a:lnSpc>
                <a:spcPct val="100000"/>
              </a:lnSpc>
              <a:spcBef>
                <a:spcPts val="1001"/>
              </a:spcBef>
            </a:pPr>
            <a:endParaRPr b="0" lang="en-US" sz="2000" spc="-1" strike="noStrike">
              <a:solidFill>
                <a:srgbClr val="000000"/>
              </a:solidFill>
              <a:latin typeface="Arial"/>
            </a:endParaRPr>
          </a:p>
          <a:p>
            <a:pPr algn="ctr" defTabSz="914400">
              <a:lnSpc>
                <a:spcPct val="100000"/>
              </a:lnSpc>
              <a:spcBef>
                <a:spcPts val="1001"/>
              </a:spcBef>
            </a:pPr>
            <a:endParaRPr b="0" lang="en-US" sz="2000" spc="-1" strike="noStrike">
              <a:solidFill>
                <a:srgbClr val="000000"/>
              </a:solidFill>
              <a:latin typeface="Arial"/>
            </a:endParaRPr>
          </a:p>
          <a:p>
            <a:pPr algn="ctr" defTabSz="914400">
              <a:lnSpc>
                <a:spcPct val="100000"/>
              </a:lnSpc>
              <a:spcBef>
                <a:spcPts val="1199"/>
              </a:spcBef>
            </a:pPr>
            <a:endParaRPr b="0" lang="en-US" sz="2400" spc="-1" strike="noStrike">
              <a:solidFill>
                <a:srgbClr val="000000"/>
              </a:solidFill>
              <a:latin typeface="Arial"/>
            </a:endParaRPr>
          </a:p>
          <a:p>
            <a:pPr algn="ctr" defTabSz="914400">
              <a:lnSpc>
                <a:spcPct val="100000"/>
              </a:lnSpc>
              <a:spcBef>
                <a:spcPts val="1199"/>
              </a:spcBef>
            </a:pPr>
            <a:endParaRPr b="0" lang="en-US" sz="2400" spc="-1" strike="noStrike">
              <a:solidFill>
                <a:srgbClr val="000000"/>
              </a:solidFill>
              <a:latin typeface="Arial"/>
            </a:endParaRPr>
          </a:p>
          <a:p>
            <a:pPr algn="ctr" defTabSz="914400">
              <a:lnSpc>
                <a:spcPct val="100000"/>
              </a:lnSpc>
              <a:spcBef>
                <a:spcPts val="1199"/>
              </a:spcBef>
            </a:pPr>
            <a:endParaRPr b="0" lang="en-US" sz="2400" spc="-1" strike="noStrike">
              <a:solidFill>
                <a:srgbClr val="000000"/>
              </a:solidFill>
              <a:latin typeface="Arial"/>
            </a:endParaRPr>
          </a:p>
          <a:p>
            <a:pPr algn="ctr" defTabSz="914400">
              <a:lnSpc>
                <a:spcPct val="100000"/>
              </a:lnSpc>
              <a:spcBef>
                <a:spcPts val="1199"/>
              </a:spcBef>
            </a:pPr>
            <a:r>
              <a:rPr b="1" lang="en-US" sz="2400" spc="-1" strike="noStrike">
                <a:solidFill>
                  <a:srgbClr val="990000"/>
                </a:solidFill>
                <a:latin typeface="Arial"/>
                <a:ea typeface="DejaVu Sans"/>
              </a:rPr>
              <a:t>Release Notes</a:t>
            </a:r>
            <a:endParaRPr b="0" lang="en-US" sz="2400" spc="-1" strike="noStrike">
              <a:solidFill>
                <a:srgbClr val="000000"/>
              </a:solidFill>
              <a:latin typeface="Arial"/>
            </a:endParaRPr>
          </a:p>
        </p:txBody>
      </p:sp>
      <p:pic>
        <p:nvPicPr>
          <p:cNvPr id="46" name="Picture 2" descr=""/>
          <p:cNvPicPr/>
          <p:nvPr/>
        </p:nvPicPr>
        <p:blipFill>
          <a:blip r:embed="rId1"/>
          <a:stretch/>
        </p:blipFill>
        <p:spPr>
          <a:xfrm>
            <a:off x="2483640" y="2421000"/>
            <a:ext cx="4175280" cy="162648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PlaceHolder 1"/>
          <p:cNvSpPr>
            <a:spLocks noGrp="1"/>
          </p:cNvSpPr>
          <p:nvPr>
            <p:ph/>
          </p:nvPr>
        </p:nvSpPr>
        <p:spPr>
          <a:xfrm>
            <a:off x="585360" y="2146320"/>
            <a:ext cx="8228880" cy="3976920"/>
          </a:xfrm>
          <a:prstGeom prst="rect">
            <a:avLst/>
          </a:prstGeom>
          <a:noFill/>
          <a:ln w="0">
            <a:noFill/>
          </a:ln>
        </p:spPr>
        <p:txBody>
          <a:bodyPr lIns="0" rIns="0" tIns="0" bIns="0" anchor="t">
            <a:normAutofit/>
          </a:bodyPr>
          <a:p>
            <a:pPr marL="228600" indent="-228600" defTabSz="914400">
              <a:lnSpc>
                <a:spcPct val="90000"/>
              </a:lnSpc>
              <a:spcBef>
                <a:spcPts val="1001"/>
              </a:spcBef>
              <a:buClr>
                <a:srgbClr val="000000"/>
              </a:buClr>
              <a:buFont typeface="Arial"/>
              <a:buChar char="•"/>
            </a:pPr>
            <a:r>
              <a:rPr b="0" lang="en-GB" sz="1600" spc="-1" strike="noStrike">
                <a:solidFill>
                  <a:schemeClr val="dk1"/>
                </a:solidFill>
                <a:latin typeface="Arial"/>
                <a:ea typeface="DejaVu Sans"/>
              </a:rPr>
              <a:t>Features</a:t>
            </a:r>
            <a:endParaRPr b="0" lang="de-DE" sz="1600" spc="-1" strike="noStrike">
              <a:solidFill>
                <a:schemeClr val="dk1"/>
              </a:solidFill>
              <a:latin typeface="Arial"/>
            </a:endParaRPr>
          </a:p>
          <a:p>
            <a:pPr lvl="1" marL="864000" indent="-324000" defTabSz="914400">
              <a:lnSpc>
                <a:spcPct val="90000"/>
              </a:lnSpc>
              <a:spcBef>
                <a:spcPts val="1134"/>
              </a:spcBef>
              <a:buClr>
                <a:srgbClr val="000000"/>
              </a:buClr>
              <a:buSzPct val="75000"/>
              <a:buFont typeface="Symbol" charset="2"/>
              <a:buChar char=""/>
            </a:pPr>
            <a:r>
              <a:rPr b="0" lang="en-GB" sz="1400" spc="-1" strike="noStrike">
                <a:solidFill>
                  <a:schemeClr val="dk1"/>
                </a:solidFill>
                <a:latin typeface="Arial"/>
                <a:ea typeface="DejaVu Sans"/>
              </a:rPr>
              <a:t>CodeEU-196: Implement wheel bearings</a:t>
            </a:r>
            <a:endParaRPr b="0" lang="de-DE" sz="1400" spc="-1" strike="noStrike">
              <a:solidFill>
                <a:schemeClr val="dk1"/>
              </a:solidFill>
              <a:latin typeface="Arial"/>
            </a:endParaRPr>
          </a:p>
          <a:p>
            <a:pPr lvl="1" marL="864000" indent="0" defTabSz="914400">
              <a:lnSpc>
                <a:spcPct val="90000"/>
              </a:lnSpc>
              <a:spcBef>
                <a:spcPts val="1134"/>
              </a:spcBef>
              <a:buNone/>
            </a:pPr>
            <a:r>
              <a:rPr b="0" lang="en-GB" sz="1400" spc="-1" strike="noStrike">
                <a:solidFill>
                  <a:schemeClr val="dk1"/>
                </a:solidFill>
                <a:latin typeface="Arial"/>
                <a:ea typeface="DejaVu Sans"/>
              </a:rPr>
              <a:t>Input for Engineering mode is available via the GUI &amp; JSON file. In the vehicle file (.vveh) in an entry of the "Axles" array, you can add the field "WheelEndFriction" and assign it a numerical value. </a:t>
            </a:r>
            <a:br>
              <a:rPr sz="1400"/>
            </a:br>
            <a:r>
              <a:rPr b="0" lang="en-GB" sz="1400" spc="-1" strike="noStrike">
                <a:solidFill>
                  <a:schemeClr val="dk1"/>
                </a:solidFill>
                <a:latin typeface="Arial"/>
                <a:ea typeface="DejaVu Sans"/>
              </a:rPr>
              <a:t>Input for Declaration mode is available via a temporary XSD (VectoDeclarationDefinitions.DEV.2.6.xsd). Sample file in folder: Generic Vehicles\Declaration Mode\Wheel_Bearings</a:t>
            </a:r>
            <a:endParaRPr b="0" lang="de-DE" sz="1400" spc="-1" strike="noStrike">
              <a:solidFill>
                <a:schemeClr val="dk1"/>
              </a:solidFill>
              <a:latin typeface="Arial"/>
            </a:endParaRPr>
          </a:p>
          <a:p>
            <a:pPr lvl="1" marL="864000" indent="-324000" defTabSz="914400">
              <a:lnSpc>
                <a:spcPct val="90000"/>
              </a:lnSpc>
              <a:spcBef>
                <a:spcPts val="1134"/>
              </a:spcBef>
              <a:buClr>
                <a:srgbClr val="000000"/>
              </a:buClr>
              <a:buSzPct val="75000"/>
              <a:buFont typeface="Symbol" charset="2"/>
              <a:buChar char=""/>
            </a:pPr>
            <a:r>
              <a:rPr b="0" lang="en-GB" sz="1400" spc="-1" strike="noStrike">
                <a:solidFill>
                  <a:schemeClr val="dk1"/>
                </a:solidFill>
                <a:latin typeface="Arial"/>
                <a:ea typeface="DejaVu Sans"/>
              </a:rPr>
              <a:t>CodeEU-643: added support for fuel cell IEPC </a:t>
            </a:r>
            <a:endParaRPr b="0" lang="de-DE" sz="1400" spc="-1" strike="noStrike">
              <a:solidFill>
                <a:schemeClr val="dk1"/>
              </a:solidFill>
              <a:latin typeface="Arial"/>
            </a:endParaRPr>
          </a:p>
          <a:p>
            <a:pPr lvl="1" marL="864000" indent="0" defTabSz="914400">
              <a:lnSpc>
                <a:spcPct val="90000"/>
              </a:lnSpc>
              <a:spcBef>
                <a:spcPts val="1134"/>
              </a:spcBef>
              <a:buNone/>
            </a:pPr>
            <a:r>
              <a:rPr b="0" lang="en-GB" sz="1400" spc="-1" strike="noStrike">
                <a:solidFill>
                  <a:schemeClr val="dk1"/>
                </a:solidFill>
                <a:latin typeface="Arial"/>
                <a:ea typeface="DejaVu Sans"/>
              </a:rPr>
              <a:t>Added new simulation job type for IEPC vehicles with fuel cells. This feature is only supported in engineering mode. The GUI has been amended to allow the creation/modification of this new job type. A sample job has been added to the folder 'Generic Vehicles\Engineering Mode\GenericIEPC - FCHV'.</a:t>
            </a:r>
            <a:endParaRPr b="0" lang="de-DE" sz="1400" spc="-1" strike="noStrike">
              <a:solidFill>
                <a:schemeClr val="dk1"/>
              </a:solidFill>
              <a:latin typeface="Arial"/>
            </a:endParaRPr>
          </a:p>
        </p:txBody>
      </p:sp>
      <p:sp>
        <p:nvSpPr>
          <p:cNvPr id="48" name="PlaceHolder 2"/>
          <p:cNvSpPr>
            <a:spLocks noGrp="1"/>
          </p:cNvSpPr>
          <p:nvPr>
            <p:ph type="title"/>
          </p:nvPr>
        </p:nvSpPr>
        <p:spPr>
          <a:xfrm>
            <a:off x="585360" y="850320"/>
            <a:ext cx="8228880" cy="1144440"/>
          </a:xfrm>
          <a:prstGeom prst="rect">
            <a:avLst/>
          </a:prstGeom>
          <a:noFill/>
          <a:ln w="0">
            <a:noFill/>
          </a:ln>
        </p:spPr>
        <p:txBody>
          <a:bodyPr lIns="0" rIns="0" tIns="0" bIns="0" anchor="ctr">
            <a:noAutofit/>
          </a:bodyPr>
          <a:p>
            <a:pPr indent="0" defTabSz="914400">
              <a:lnSpc>
                <a:spcPct val="90000"/>
              </a:lnSpc>
              <a:buNone/>
            </a:pPr>
            <a:r>
              <a:rPr b="1" lang="en-GB" sz="2400" spc="-1" strike="noStrike">
                <a:solidFill>
                  <a:srgbClr val="990000"/>
                </a:solidFill>
                <a:latin typeface="Arial"/>
                <a:ea typeface="DejaVu Sans"/>
              </a:rPr>
              <a:t>VECTO 3</a:t>
            </a:r>
            <a:r>
              <a:rPr b="1" lang="en-GB" sz="2400" spc="-1" strike="noStrike" baseline="30000">
                <a:solidFill>
                  <a:srgbClr val="990000"/>
                </a:solidFill>
                <a:latin typeface="Arial"/>
                <a:ea typeface="DejaVu Sans"/>
              </a:rPr>
              <a:t>rd</a:t>
            </a:r>
            <a:r>
              <a:rPr b="1" lang="en-GB" sz="2400" spc="-1" strike="noStrike">
                <a:solidFill>
                  <a:srgbClr val="990000"/>
                </a:solidFill>
                <a:latin typeface="Arial"/>
                <a:ea typeface="DejaVu Sans"/>
              </a:rPr>
              <a:t> Amendment Development Version </a:t>
            </a:r>
            <a:br>
              <a:rPr sz="2400"/>
            </a:br>
            <a:r>
              <a:rPr b="1" lang="en-GB" sz="2400" spc="-1" strike="noStrike">
                <a:solidFill>
                  <a:srgbClr val="990000"/>
                </a:solidFill>
                <a:latin typeface="Arial"/>
                <a:ea typeface="DejaVu Sans"/>
              </a:rPr>
              <a:t>18.06.2024</a:t>
            </a:r>
            <a:endParaRPr b="0" lang="de-DE" sz="24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PlaceHolder 1"/>
          <p:cNvSpPr>
            <a:spLocks noGrp="1"/>
          </p:cNvSpPr>
          <p:nvPr>
            <p:ph/>
          </p:nvPr>
        </p:nvSpPr>
        <p:spPr>
          <a:xfrm>
            <a:off x="585360" y="2146320"/>
            <a:ext cx="8228880" cy="3976920"/>
          </a:xfrm>
          <a:prstGeom prst="rect">
            <a:avLst/>
          </a:prstGeom>
          <a:noFill/>
          <a:ln w="0">
            <a:noFill/>
          </a:ln>
        </p:spPr>
        <p:txBody>
          <a:bodyPr lIns="0" rIns="0" tIns="0" bIns="0" anchor="t">
            <a:normAutofit/>
          </a:bodyPr>
          <a:p>
            <a:pPr marL="228600" indent="-228600" defTabSz="914400">
              <a:lnSpc>
                <a:spcPct val="90000"/>
              </a:lnSpc>
              <a:spcBef>
                <a:spcPts val="1001"/>
              </a:spcBef>
              <a:buClr>
                <a:srgbClr val="000000"/>
              </a:buClr>
              <a:buFont typeface="Arial"/>
              <a:buChar char="•"/>
            </a:pPr>
            <a:r>
              <a:rPr b="0" lang="en-GB" sz="1600" spc="-1" strike="noStrike">
                <a:solidFill>
                  <a:schemeClr val="dk1"/>
                </a:solidFill>
                <a:latin typeface="Arial"/>
                <a:ea typeface="DejaVu Sans"/>
              </a:rPr>
              <a:t>Bugfixes</a:t>
            </a:r>
            <a:endParaRPr b="0" lang="de-DE" sz="1600" spc="-1" strike="noStrike">
              <a:solidFill>
                <a:schemeClr val="dk1"/>
              </a:solidFill>
              <a:latin typeface="Arial"/>
            </a:endParaRPr>
          </a:p>
          <a:p>
            <a:pPr lvl="1" marL="864000" indent="-324000" defTabSz="914400">
              <a:lnSpc>
                <a:spcPct val="90000"/>
              </a:lnSpc>
              <a:spcBef>
                <a:spcPts val="1134"/>
              </a:spcBef>
              <a:buClr>
                <a:srgbClr val="000000"/>
              </a:buClr>
              <a:buSzPct val="75000"/>
              <a:buFont typeface="Symbol" charset="2"/>
              <a:buChar char=""/>
            </a:pPr>
            <a:r>
              <a:rPr b="0" lang="en-GB" sz="1400" spc="-1" strike="noStrike">
                <a:solidFill>
                  <a:schemeClr val="dk1"/>
                </a:solidFill>
                <a:latin typeface="Arial"/>
                <a:ea typeface="DejaVu Sans"/>
              </a:rPr>
              <a:t>CodeEU-236: Fuel Cell Simulation Aborts when Charging Power of Battery is too low</a:t>
            </a:r>
            <a:endParaRPr b="0" lang="de-DE" sz="1400" spc="-1" strike="noStrike">
              <a:solidFill>
                <a:schemeClr val="dk1"/>
              </a:solidFill>
              <a:latin typeface="Arial"/>
            </a:endParaRPr>
          </a:p>
          <a:p>
            <a:pPr lvl="1" marL="864000" indent="-324000" defTabSz="914400">
              <a:lnSpc>
                <a:spcPct val="90000"/>
              </a:lnSpc>
              <a:spcBef>
                <a:spcPts val="1134"/>
              </a:spcBef>
              <a:buClr>
                <a:srgbClr val="000000"/>
              </a:buClr>
              <a:buSzPct val="75000"/>
              <a:buFont typeface="Symbol" charset="2"/>
              <a:buChar char=""/>
            </a:pPr>
            <a:r>
              <a:rPr b="0" lang="en-GB" sz="1400" spc="-1" strike="noStrike">
                <a:solidFill>
                  <a:schemeClr val="dk1"/>
                </a:solidFill>
                <a:latin typeface="Arial"/>
                <a:ea typeface="DejaVu Sans"/>
              </a:rPr>
              <a:t>CodeEU-209: VECTO-0.11.1.3228-DEV crash in declaration mode</a:t>
            </a:r>
            <a:endParaRPr b="0" lang="de-DE" sz="1400" spc="-1" strike="noStrike">
              <a:solidFill>
                <a:schemeClr val="dk1"/>
              </a:solidFill>
              <a:latin typeface="Arial"/>
            </a:endParaRPr>
          </a:p>
          <a:p>
            <a:pPr lvl="1" marL="864000" indent="-324000" defTabSz="914400">
              <a:lnSpc>
                <a:spcPct val="90000"/>
              </a:lnSpc>
              <a:spcBef>
                <a:spcPts val="1134"/>
              </a:spcBef>
              <a:buClr>
                <a:srgbClr val="000000"/>
              </a:buClr>
              <a:buSzPct val="75000"/>
              <a:buFont typeface="Symbol" charset="2"/>
              <a:buChar char=""/>
            </a:pPr>
            <a:r>
              <a:rPr b="0" lang="en-GB" sz="1400" spc="-1" strike="noStrike">
                <a:solidFill>
                  <a:schemeClr val="dk1"/>
                </a:solidFill>
                <a:latin typeface="Arial"/>
                <a:ea typeface="DejaVu Sans"/>
              </a:rPr>
              <a:t>CodeEU-207: Writing XML Reports fails for vehicles without battery </a:t>
            </a:r>
            <a:endParaRPr b="0" lang="de-DE" sz="1400" spc="-1" strike="noStrike">
              <a:solidFill>
                <a:schemeClr val="dk1"/>
              </a:solidFill>
              <a:latin typeface="Arial"/>
            </a:endParaRPr>
          </a:p>
        </p:txBody>
      </p:sp>
      <p:sp>
        <p:nvSpPr>
          <p:cNvPr id="50" name="PlaceHolder 2"/>
          <p:cNvSpPr>
            <a:spLocks noGrp="1"/>
          </p:cNvSpPr>
          <p:nvPr>
            <p:ph type="title"/>
          </p:nvPr>
        </p:nvSpPr>
        <p:spPr>
          <a:xfrm>
            <a:off x="585360" y="850320"/>
            <a:ext cx="8228880" cy="1144440"/>
          </a:xfrm>
          <a:prstGeom prst="rect">
            <a:avLst/>
          </a:prstGeom>
          <a:noFill/>
          <a:ln w="0">
            <a:noFill/>
          </a:ln>
        </p:spPr>
        <p:txBody>
          <a:bodyPr lIns="0" rIns="0" tIns="0" bIns="0" anchor="ctr">
            <a:noAutofit/>
          </a:bodyPr>
          <a:p>
            <a:pPr indent="0" defTabSz="914400">
              <a:lnSpc>
                <a:spcPct val="90000"/>
              </a:lnSpc>
              <a:buNone/>
            </a:pPr>
            <a:r>
              <a:rPr b="1" lang="en-GB" sz="2400" spc="-1" strike="noStrike">
                <a:solidFill>
                  <a:srgbClr val="990000"/>
                </a:solidFill>
                <a:latin typeface="Arial"/>
                <a:ea typeface="DejaVu Sans"/>
              </a:rPr>
              <a:t>VECTO 3</a:t>
            </a:r>
            <a:r>
              <a:rPr b="1" lang="en-GB" sz="2400" spc="-1" strike="noStrike" baseline="30000">
                <a:solidFill>
                  <a:srgbClr val="990000"/>
                </a:solidFill>
                <a:latin typeface="Arial"/>
                <a:ea typeface="DejaVu Sans"/>
              </a:rPr>
              <a:t>rd</a:t>
            </a:r>
            <a:r>
              <a:rPr b="1" lang="en-GB" sz="2400" spc="-1" strike="noStrike">
                <a:solidFill>
                  <a:srgbClr val="990000"/>
                </a:solidFill>
                <a:latin typeface="Arial"/>
                <a:ea typeface="DejaVu Sans"/>
              </a:rPr>
              <a:t> Amendment Development Version </a:t>
            </a:r>
            <a:br>
              <a:rPr sz="2400"/>
            </a:br>
            <a:r>
              <a:rPr b="1" lang="en-GB" sz="2400" spc="-1" strike="noStrike">
                <a:solidFill>
                  <a:srgbClr val="990000"/>
                </a:solidFill>
                <a:latin typeface="Arial"/>
                <a:ea typeface="DejaVu Sans"/>
              </a:rPr>
              <a:t>18.06.2024</a:t>
            </a:r>
            <a:endParaRPr b="0" lang="de-DE" sz="24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Text Box 1"/>
          <p:cNvSpPr/>
          <p:nvPr/>
        </p:nvSpPr>
        <p:spPr>
          <a:xfrm>
            <a:off x="539640" y="1052640"/>
            <a:ext cx="8135280" cy="3945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spcBef>
                <a:spcPts val="1599"/>
              </a:spcBef>
            </a:pPr>
            <a:r>
              <a:rPr b="1" lang="en-US" sz="3200" spc="-1" strike="noStrike">
                <a:solidFill>
                  <a:srgbClr val="990000"/>
                </a:solidFill>
                <a:latin typeface="Arial"/>
                <a:ea typeface="DejaVu Sans"/>
              </a:rPr>
              <a:t>VECTO 0.11.1.3382 Development Version</a:t>
            </a:r>
            <a:endParaRPr b="0" lang="en-US" sz="3200" spc="-1" strike="noStrike">
              <a:solidFill>
                <a:srgbClr val="000000"/>
              </a:solidFill>
              <a:latin typeface="Arial"/>
            </a:endParaRPr>
          </a:p>
          <a:p>
            <a:pPr algn="ctr" defTabSz="914400">
              <a:lnSpc>
                <a:spcPct val="100000"/>
              </a:lnSpc>
              <a:spcBef>
                <a:spcPts val="1001"/>
              </a:spcBef>
            </a:pPr>
            <a:r>
              <a:rPr b="1" lang="en-US" sz="2000" spc="-1" strike="noStrike">
                <a:solidFill>
                  <a:srgbClr val="990000"/>
                </a:solidFill>
                <a:latin typeface="Arial"/>
                <a:ea typeface="DejaVu Sans"/>
              </a:rPr>
              <a:t>03.11.2023</a:t>
            </a:r>
            <a:endParaRPr b="0" lang="en-US" sz="2000" spc="-1" strike="noStrike">
              <a:solidFill>
                <a:srgbClr val="000000"/>
              </a:solidFill>
              <a:latin typeface="Arial"/>
            </a:endParaRPr>
          </a:p>
          <a:p>
            <a:pPr algn="ctr" defTabSz="914400">
              <a:lnSpc>
                <a:spcPct val="100000"/>
              </a:lnSpc>
              <a:spcBef>
                <a:spcPts val="1001"/>
              </a:spcBef>
            </a:pPr>
            <a:endParaRPr b="0" lang="en-US" sz="2000" spc="-1" strike="noStrike">
              <a:solidFill>
                <a:srgbClr val="000000"/>
              </a:solidFill>
              <a:latin typeface="Arial"/>
            </a:endParaRPr>
          </a:p>
          <a:p>
            <a:pPr algn="ctr" defTabSz="914400">
              <a:lnSpc>
                <a:spcPct val="100000"/>
              </a:lnSpc>
              <a:spcBef>
                <a:spcPts val="1001"/>
              </a:spcBef>
            </a:pPr>
            <a:endParaRPr b="0" lang="en-US" sz="2000" spc="-1" strike="noStrike">
              <a:solidFill>
                <a:srgbClr val="000000"/>
              </a:solidFill>
              <a:latin typeface="Arial"/>
            </a:endParaRPr>
          </a:p>
          <a:p>
            <a:pPr algn="ctr" defTabSz="914400">
              <a:lnSpc>
                <a:spcPct val="100000"/>
              </a:lnSpc>
              <a:spcBef>
                <a:spcPts val="1199"/>
              </a:spcBef>
            </a:pPr>
            <a:endParaRPr b="0" lang="en-US" sz="2400" spc="-1" strike="noStrike">
              <a:solidFill>
                <a:srgbClr val="000000"/>
              </a:solidFill>
              <a:latin typeface="Arial"/>
            </a:endParaRPr>
          </a:p>
          <a:p>
            <a:pPr algn="ctr" defTabSz="914400">
              <a:lnSpc>
                <a:spcPct val="100000"/>
              </a:lnSpc>
              <a:spcBef>
                <a:spcPts val="1199"/>
              </a:spcBef>
            </a:pPr>
            <a:endParaRPr b="0" lang="en-US" sz="2400" spc="-1" strike="noStrike">
              <a:solidFill>
                <a:srgbClr val="000000"/>
              </a:solidFill>
              <a:latin typeface="Arial"/>
            </a:endParaRPr>
          </a:p>
          <a:p>
            <a:pPr algn="ctr" defTabSz="914400">
              <a:lnSpc>
                <a:spcPct val="100000"/>
              </a:lnSpc>
              <a:spcBef>
                <a:spcPts val="1199"/>
              </a:spcBef>
            </a:pPr>
            <a:endParaRPr b="0" lang="en-US" sz="2400" spc="-1" strike="noStrike">
              <a:solidFill>
                <a:srgbClr val="000000"/>
              </a:solidFill>
              <a:latin typeface="Arial"/>
            </a:endParaRPr>
          </a:p>
          <a:p>
            <a:pPr algn="ctr" defTabSz="914400">
              <a:lnSpc>
                <a:spcPct val="100000"/>
              </a:lnSpc>
              <a:spcBef>
                <a:spcPts val="1199"/>
              </a:spcBef>
            </a:pPr>
            <a:r>
              <a:rPr b="1" lang="en-US" sz="2400" spc="-1" strike="noStrike">
                <a:solidFill>
                  <a:srgbClr val="990000"/>
                </a:solidFill>
                <a:latin typeface="Arial"/>
                <a:ea typeface="DejaVu Sans"/>
              </a:rPr>
              <a:t>Release Notes</a:t>
            </a:r>
            <a:endParaRPr b="0" lang="en-US" sz="2400" spc="-1" strike="noStrike">
              <a:solidFill>
                <a:srgbClr val="000000"/>
              </a:solidFill>
              <a:latin typeface="Arial"/>
            </a:endParaRPr>
          </a:p>
        </p:txBody>
      </p:sp>
      <p:pic>
        <p:nvPicPr>
          <p:cNvPr id="52" name="Picture 3" descr=""/>
          <p:cNvPicPr/>
          <p:nvPr/>
        </p:nvPicPr>
        <p:blipFill>
          <a:blip r:embed="rId1"/>
          <a:stretch/>
        </p:blipFill>
        <p:spPr>
          <a:xfrm>
            <a:off x="2483640" y="2421000"/>
            <a:ext cx="4175280" cy="162648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PlaceHolder 1"/>
          <p:cNvSpPr>
            <a:spLocks noGrp="1"/>
          </p:cNvSpPr>
          <p:nvPr>
            <p:ph/>
          </p:nvPr>
        </p:nvSpPr>
        <p:spPr>
          <a:xfrm>
            <a:off x="585360" y="2146320"/>
            <a:ext cx="8228880" cy="3976920"/>
          </a:xfrm>
          <a:prstGeom prst="rect">
            <a:avLst/>
          </a:prstGeom>
          <a:noFill/>
          <a:ln w="0">
            <a:noFill/>
          </a:ln>
        </p:spPr>
        <p:txBody>
          <a:bodyPr lIns="0" rIns="0" tIns="0" bIns="0" anchor="t">
            <a:normAutofit fontScale="63914"/>
          </a:bodyPr>
          <a:p>
            <a:pPr marL="228600" indent="-228600" defTabSz="914400">
              <a:lnSpc>
                <a:spcPct val="90000"/>
              </a:lnSpc>
              <a:spcBef>
                <a:spcPts val="1001"/>
              </a:spcBef>
              <a:buClr>
                <a:srgbClr val="000000"/>
              </a:buClr>
              <a:buFont typeface="Arial"/>
              <a:buChar char="•"/>
            </a:pPr>
            <a:r>
              <a:rPr b="0" lang="en-GB" sz="2800" spc="-1" strike="noStrike">
                <a:solidFill>
                  <a:schemeClr val="dk1"/>
                </a:solidFill>
                <a:latin typeface="Arial"/>
                <a:ea typeface="DejaVu Sans"/>
              </a:rPr>
              <a:t>Changes</a:t>
            </a:r>
            <a:endParaRPr b="0" lang="de-DE" sz="2800" spc="-1" strike="noStrike">
              <a:solidFill>
                <a:schemeClr val="dk1"/>
              </a:solidFill>
              <a:latin typeface="Arial"/>
            </a:endParaRPr>
          </a:p>
          <a:p>
            <a:pPr lvl="1" marL="716040" indent="-266760" defTabSz="914400">
              <a:lnSpc>
                <a:spcPct val="90000"/>
              </a:lnSpc>
              <a:spcBef>
                <a:spcPts val="499"/>
              </a:spcBef>
              <a:buClr>
                <a:srgbClr val="000000"/>
              </a:buClr>
              <a:buFont typeface="Wingdings" charset="2"/>
              <a:buChar char=""/>
            </a:pPr>
            <a:r>
              <a:rPr b="0" lang="en-GB" sz="2400" spc="-1" strike="noStrike">
                <a:solidFill>
                  <a:schemeClr val="dk1"/>
                </a:solidFill>
                <a:latin typeface="Arial"/>
                <a:ea typeface="DejaVu Sans"/>
              </a:rPr>
              <a:t>Enabled the usage of multiple Fuel Cell Systems (FCS)</a:t>
            </a:r>
            <a:endParaRPr b="0" lang="de-DE" sz="2400" spc="-1" strike="noStrike">
              <a:solidFill>
                <a:schemeClr val="dk1"/>
              </a:solidFill>
              <a:latin typeface="Arial"/>
            </a:endParaRPr>
          </a:p>
          <a:p>
            <a:pPr lvl="2" marL="1143000" indent="-228600" defTabSz="914400">
              <a:lnSpc>
                <a:spcPct val="90000"/>
              </a:lnSpc>
              <a:spcBef>
                <a:spcPts val="499"/>
              </a:spcBef>
              <a:buClr>
                <a:srgbClr val="000000"/>
              </a:buClr>
              <a:buFont typeface="Arial"/>
              <a:buChar char="•"/>
            </a:pPr>
            <a:r>
              <a:rPr b="0" lang="en-GB" sz="2000" spc="-1" strike="noStrike">
                <a:solidFill>
                  <a:schemeClr val="dk1"/>
                </a:solidFill>
                <a:latin typeface="Arial"/>
                <a:ea typeface="DejaVu Sans"/>
              </a:rPr>
              <a:t>Up to two FCS Strings</a:t>
            </a:r>
            <a:endParaRPr b="0" lang="de-DE" sz="2000" spc="-1" strike="noStrike">
              <a:solidFill>
                <a:schemeClr val="dk1"/>
              </a:solidFill>
              <a:latin typeface="Arial"/>
            </a:endParaRPr>
          </a:p>
          <a:p>
            <a:pPr lvl="2" marL="1143000" indent="-228600" defTabSz="914400">
              <a:lnSpc>
                <a:spcPct val="90000"/>
              </a:lnSpc>
              <a:spcBef>
                <a:spcPts val="499"/>
              </a:spcBef>
              <a:buClr>
                <a:srgbClr val="000000"/>
              </a:buClr>
              <a:buFont typeface="Arial"/>
              <a:buChar char="•"/>
            </a:pPr>
            <a:r>
              <a:rPr b="0" lang="en-GB" sz="2000" spc="-1" strike="noStrike">
                <a:solidFill>
                  <a:schemeClr val="dk1"/>
                </a:solidFill>
                <a:latin typeface="Arial"/>
                <a:ea typeface="DejaVu Sans"/>
              </a:rPr>
              <a:t>Up to three FCS in each FCS String</a:t>
            </a:r>
            <a:endParaRPr b="0" lang="de-DE" sz="2000" spc="-1" strike="noStrike">
              <a:solidFill>
                <a:schemeClr val="dk1"/>
              </a:solidFill>
              <a:latin typeface="Arial"/>
            </a:endParaRPr>
          </a:p>
          <a:p>
            <a:pPr lvl="1" marL="716040" indent="-266760" defTabSz="914400">
              <a:lnSpc>
                <a:spcPct val="90000"/>
              </a:lnSpc>
              <a:spcBef>
                <a:spcPts val="499"/>
              </a:spcBef>
              <a:buClr>
                <a:srgbClr val="000000"/>
              </a:buClr>
              <a:buFont typeface="Wingdings" charset="2"/>
              <a:buChar char=""/>
            </a:pPr>
            <a:r>
              <a:rPr b="0" lang="en-GB" sz="2400" spc="-1" strike="noStrike">
                <a:solidFill>
                  <a:schemeClr val="dk1"/>
                </a:solidFill>
                <a:latin typeface="Arial"/>
                <a:ea typeface="DejaVu Sans"/>
              </a:rPr>
              <a:t>New naming convention:</a:t>
            </a:r>
            <a:endParaRPr b="0" lang="de-DE" sz="2400" spc="-1" strike="noStrike">
              <a:solidFill>
                <a:schemeClr val="dk1"/>
              </a:solidFill>
              <a:latin typeface="Arial"/>
            </a:endParaRPr>
          </a:p>
          <a:p>
            <a:pPr lvl="2" marL="1143000" indent="-228600" defTabSz="914400">
              <a:lnSpc>
                <a:spcPct val="90000"/>
              </a:lnSpc>
              <a:spcBef>
                <a:spcPts val="499"/>
              </a:spcBef>
              <a:buClr>
                <a:srgbClr val="000000"/>
              </a:buClr>
              <a:buFont typeface="Arial"/>
              <a:buChar char="•"/>
            </a:pPr>
            <a:r>
              <a:rPr b="0" lang="en-GB" sz="2000" spc="-1" strike="noStrike">
                <a:solidFill>
                  <a:schemeClr val="dk1"/>
                </a:solidFill>
                <a:latin typeface="Arial"/>
                <a:ea typeface="DejaVu Sans"/>
              </a:rPr>
              <a:t>FCS: Single Fuel Cell System, described with MassFlowMap (.vfcm) and power limits container in the Fuel Cell System File (.vfcc).</a:t>
            </a:r>
            <a:endParaRPr b="0" lang="de-DE" sz="2000" spc="-1" strike="noStrike">
              <a:solidFill>
                <a:schemeClr val="dk1"/>
              </a:solidFill>
              <a:latin typeface="Arial"/>
            </a:endParaRPr>
          </a:p>
          <a:p>
            <a:pPr lvl="2" marL="1143000" indent="-228600" defTabSz="914400">
              <a:lnSpc>
                <a:spcPct val="90000"/>
              </a:lnSpc>
              <a:spcBef>
                <a:spcPts val="499"/>
              </a:spcBef>
              <a:buClr>
                <a:srgbClr val="000000"/>
              </a:buClr>
              <a:buFont typeface="Arial"/>
              <a:buChar char="•"/>
            </a:pPr>
            <a:r>
              <a:rPr b="0" lang="en-GB" sz="2000" spc="-1" strike="noStrike">
                <a:solidFill>
                  <a:schemeClr val="dk1"/>
                </a:solidFill>
                <a:latin typeface="Arial"/>
                <a:ea typeface="DejaVu Sans"/>
              </a:rPr>
              <a:t>FCS String: Defined in the .vveh file, can contain up to three identical FCS</a:t>
            </a:r>
            <a:endParaRPr b="0" lang="de-DE" sz="2000" spc="-1" strike="noStrike">
              <a:solidFill>
                <a:schemeClr val="dk1"/>
              </a:solidFill>
              <a:latin typeface="Arial"/>
            </a:endParaRPr>
          </a:p>
          <a:p>
            <a:pPr lvl="2" marL="1143000" indent="-228600" defTabSz="914400">
              <a:lnSpc>
                <a:spcPct val="90000"/>
              </a:lnSpc>
              <a:spcBef>
                <a:spcPts val="499"/>
              </a:spcBef>
              <a:buClr>
                <a:srgbClr val="000000"/>
              </a:buClr>
              <a:buFont typeface="Arial"/>
              <a:buChar char="•"/>
            </a:pPr>
            <a:r>
              <a:rPr b="0" lang="en-GB" sz="2000" spc="-1" strike="noStrike">
                <a:solidFill>
                  <a:schemeClr val="dk1"/>
                </a:solidFill>
                <a:latin typeface="Arial"/>
                <a:ea typeface="DejaVu Sans"/>
              </a:rPr>
              <a:t>CFCS: Composite Fuel Cell System, a virtual fuel cell system containing up to two FCS String. </a:t>
            </a:r>
            <a:r>
              <a:rPr b="0" lang="en-GB" sz="2000" spc="-1" strike="noStrike">
                <a:solidFill>
                  <a:schemeClr val="dk1"/>
                </a:solidFill>
                <a:latin typeface="Arial"/>
                <a:ea typeface="DejaVu Sans"/>
              </a:rPr>
              <a:t>	</a:t>
            </a:r>
            <a:endParaRPr b="0" lang="de-DE" sz="2000" spc="-1" strike="noStrike">
              <a:solidFill>
                <a:schemeClr val="dk1"/>
              </a:solidFill>
              <a:latin typeface="Arial"/>
            </a:endParaRPr>
          </a:p>
          <a:p>
            <a:pPr lvl="1" marL="716040" indent="-266760" defTabSz="914400">
              <a:lnSpc>
                <a:spcPct val="90000"/>
              </a:lnSpc>
              <a:spcBef>
                <a:spcPts val="499"/>
              </a:spcBef>
              <a:buClr>
                <a:srgbClr val="000000"/>
              </a:buClr>
              <a:buFont typeface="Wingdings" charset="2"/>
              <a:buChar char=""/>
            </a:pPr>
            <a:r>
              <a:rPr b="0" lang="en-GB" sz="2400" spc="-1" strike="noStrike">
                <a:solidFill>
                  <a:schemeClr val="dk1"/>
                </a:solidFill>
                <a:latin typeface="Arial"/>
                <a:ea typeface="DejaVu Sans"/>
              </a:rPr>
              <a:t>Changes in input files due to new naming convention</a:t>
            </a:r>
            <a:endParaRPr b="0" lang="de-DE" sz="2400" spc="-1" strike="noStrike">
              <a:solidFill>
                <a:schemeClr val="dk1"/>
              </a:solidFill>
              <a:latin typeface="Arial"/>
            </a:endParaRPr>
          </a:p>
          <a:p>
            <a:pPr lvl="1" marL="716040" indent="-266760" defTabSz="914400">
              <a:lnSpc>
                <a:spcPct val="90000"/>
              </a:lnSpc>
              <a:spcBef>
                <a:spcPts val="499"/>
              </a:spcBef>
              <a:buClr>
                <a:srgbClr val="000000"/>
              </a:buClr>
              <a:buFont typeface="Wingdings" charset="2"/>
              <a:buChar char=""/>
            </a:pPr>
            <a:r>
              <a:rPr b="0" lang="en-GB" sz="2400" spc="-1" strike="noStrike">
                <a:solidFill>
                  <a:schemeClr val="dk1"/>
                </a:solidFill>
                <a:latin typeface="Arial"/>
                <a:ea typeface="DejaVu Sans"/>
              </a:rPr>
              <a:t>Optimized power distribution among FCS Strings and between individual FCS inside a string.(Explained in more detail in the user manual)</a:t>
            </a:r>
            <a:endParaRPr b="0" lang="de-DE" sz="2400" spc="-1" strike="noStrike">
              <a:solidFill>
                <a:schemeClr val="dk1"/>
              </a:solidFill>
              <a:latin typeface="Arial"/>
            </a:endParaRPr>
          </a:p>
          <a:p>
            <a:pPr lvl="1" marL="716040" indent="-266760" defTabSz="914400">
              <a:lnSpc>
                <a:spcPct val="90000"/>
              </a:lnSpc>
              <a:spcBef>
                <a:spcPts val="499"/>
              </a:spcBef>
              <a:buClr>
                <a:srgbClr val="000000"/>
              </a:buClr>
              <a:buFont typeface="Wingdings" charset="2"/>
              <a:buChar char=""/>
            </a:pPr>
            <a:r>
              <a:rPr b="0" lang="en-GB" sz="2400" spc="-1" strike="noStrike">
                <a:solidFill>
                  <a:schemeClr val="dk1"/>
                </a:solidFill>
                <a:latin typeface="Arial"/>
                <a:ea typeface="DejaVu Sans"/>
              </a:rPr>
              <a:t>Allow operating a FCS below its minimum power via time splitting</a:t>
            </a:r>
            <a:endParaRPr b="0" lang="de-DE" sz="2400" spc="-1" strike="noStrike">
              <a:solidFill>
                <a:schemeClr val="dk1"/>
              </a:solidFill>
              <a:latin typeface="Arial"/>
            </a:endParaRPr>
          </a:p>
          <a:p>
            <a:pPr lvl="1" marL="716040" indent="-266760" defTabSz="914400">
              <a:lnSpc>
                <a:spcPct val="90000"/>
              </a:lnSpc>
              <a:spcBef>
                <a:spcPts val="499"/>
              </a:spcBef>
              <a:buClr>
                <a:srgbClr val="000000"/>
              </a:buClr>
              <a:buFont typeface="Wingdings" charset="2"/>
              <a:buChar char=""/>
            </a:pPr>
            <a:r>
              <a:rPr b="0" lang="en-GB" sz="2400" spc="-1" strike="noStrike">
                <a:solidFill>
                  <a:schemeClr val="dk1"/>
                </a:solidFill>
                <a:latin typeface="Arial"/>
                <a:ea typeface="DejaVu Sans"/>
              </a:rPr>
              <a:t>Removed On/Off – Hysteresis</a:t>
            </a:r>
            <a:endParaRPr b="0" lang="de-DE" sz="2400" spc="-1" strike="noStrike">
              <a:solidFill>
                <a:schemeClr val="dk1"/>
              </a:solidFill>
              <a:latin typeface="Arial"/>
            </a:endParaRPr>
          </a:p>
          <a:p>
            <a:pPr lvl="1" marL="716040" indent="-266760" defTabSz="914400">
              <a:lnSpc>
                <a:spcPct val="90000"/>
              </a:lnSpc>
              <a:spcBef>
                <a:spcPts val="499"/>
              </a:spcBef>
              <a:buClr>
                <a:srgbClr val="000000"/>
              </a:buClr>
              <a:buFont typeface="Wingdings" charset="2"/>
              <a:buChar char=""/>
            </a:pPr>
            <a:r>
              <a:rPr b="0" lang="en-GB" sz="2400" spc="-1" strike="noStrike">
                <a:solidFill>
                  <a:schemeClr val="dk1"/>
                </a:solidFill>
                <a:latin typeface="Arial"/>
                <a:ea typeface="DejaVu Sans"/>
              </a:rPr>
              <a:t>Removed Gradient Power Change </a:t>
            </a:r>
            <a:endParaRPr b="0" lang="de-DE" sz="2400" spc="-1" strike="noStrike">
              <a:solidFill>
                <a:schemeClr val="dk1"/>
              </a:solidFill>
              <a:latin typeface="Arial"/>
            </a:endParaRPr>
          </a:p>
        </p:txBody>
      </p:sp>
      <p:sp>
        <p:nvSpPr>
          <p:cNvPr id="54" name="PlaceHolder 2"/>
          <p:cNvSpPr>
            <a:spLocks noGrp="1"/>
          </p:cNvSpPr>
          <p:nvPr>
            <p:ph type="title"/>
          </p:nvPr>
        </p:nvSpPr>
        <p:spPr>
          <a:xfrm>
            <a:off x="585360" y="850320"/>
            <a:ext cx="8228880" cy="1144440"/>
          </a:xfrm>
          <a:prstGeom prst="rect">
            <a:avLst/>
          </a:prstGeom>
          <a:noFill/>
          <a:ln w="0">
            <a:noFill/>
          </a:ln>
        </p:spPr>
        <p:txBody>
          <a:bodyPr lIns="0" rIns="0" tIns="0" bIns="0" anchor="ctr">
            <a:noAutofit/>
          </a:bodyPr>
          <a:p>
            <a:pPr indent="0" defTabSz="914400">
              <a:lnSpc>
                <a:spcPct val="90000"/>
              </a:lnSpc>
              <a:buNone/>
            </a:pPr>
            <a:r>
              <a:rPr b="1" lang="en-GB" sz="2400" spc="-1" strike="noStrike">
                <a:solidFill>
                  <a:srgbClr val="990000"/>
                </a:solidFill>
                <a:latin typeface="Arial"/>
                <a:ea typeface="DejaVu Sans"/>
              </a:rPr>
              <a:t>VECTO 3</a:t>
            </a:r>
            <a:r>
              <a:rPr b="1" lang="en-GB" sz="2400" spc="-1" strike="noStrike" baseline="30000">
                <a:solidFill>
                  <a:srgbClr val="990000"/>
                </a:solidFill>
                <a:latin typeface="Arial"/>
                <a:ea typeface="DejaVu Sans"/>
              </a:rPr>
              <a:t>rd</a:t>
            </a:r>
            <a:r>
              <a:rPr b="1" lang="en-GB" sz="2400" spc="-1" strike="noStrike">
                <a:solidFill>
                  <a:srgbClr val="990000"/>
                </a:solidFill>
                <a:latin typeface="Arial"/>
                <a:ea typeface="DejaVu Sans"/>
              </a:rPr>
              <a:t> Amendment Development Version </a:t>
            </a:r>
            <a:br>
              <a:rPr sz="2400"/>
            </a:br>
            <a:r>
              <a:rPr b="1" lang="en-GB" sz="2400" spc="-1" strike="noStrike">
                <a:solidFill>
                  <a:srgbClr val="990000"/>
                </a:solidFill>
                <a:latin typeface="Arial"/>
                <a:ea typeface="DejaVu Sans"/>
              </a:rPr>
              <a:t>03.11.2023</a:t>
            </a:r>
            <a:endParaRPr b="0" lang="de-DE" sz="24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Text Box 94"/>
          <p:cNvSpPr/>
          <p:nvPr/>
        </p:nvSpPr>
        <p:spPr>
          <a:xfrm>
            <a:off x="539640" y="1052640"/>
            <a:ext cx="8135280" cy="3945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spcBef>
                <a:spcPts val="1599"/>
              </a:spcBef>
            </a:pPr>
            <a:r>
              <a:rPr b="1" lang="en-US" sz="3200" spc="-1" strike="noStrike">
                <a:solidFill>
                  <a:srgbClr val="990000"/>
                </a:solidFill>
                <a:latin typeface="Arial"/>
                <a:ea typeface="DejaVu Sans"/>
              </a:rPr>
              <a:t>VECTO 0.11.0.3193 Development Version</a:t>
            </a:r>
            <a:endParaRPr b="0" lang="en-US" sz="3200" spc="-1" strike="noStrike">
              <a:solidFill>
                <a:srgbClr val="000000"/>
              </a:solidFill>
              <a:latin typeface="Arial"/>
            </a:endParaRPr>
          </a:p>
          <a:p>
            <a:pPr algn="ctr" defTabSz="914400">
              <a:lnSpc>
                <a:spcPct val="100000"/>
              </a:lnSpc>
              <a:spcBef>
                <a:spcPts val="1001"/>
              </a:spcBef>
            </a:pPr>
            <a:r>
              <a:rPr b="1" lang="en-US" sz="2000" spc="-1" strike="noStrike">
                <a:solidFill>
                  <a:srgbClr val="990000"/>
                </a:solidFill>
                <a:latin typeface="Arial"/>
                <a:ea typeface="DejaVu Sans"/>
              </a:rPr>
              <a:t>29.09.2023</a:t>
            </a:r>
            <a:endParaRPr b="0" lang="en-US" sz="2000" spc="-1" strike="noStrike">
              <a:solidFill>
                <a:srgbClr val="000000"/>
              </a:solidFill>
              <a:latin typeface="Arial"/>
            </a:endParaRPr>
          </a:p>
          <a:p>
            <a:pPr algn="ctr" defTabSz="914400">
              <a:lnSpc>
                <a:spcPct val="100000"/>
              </a:lnSpc>
              <a:spcBef>
                <a:spcPts val="1001"/>
              </a:spcBef>
            </a:pPr>
            <a:endParaRPr b="0" lang="en-US" sz="2000" spc="-1" strike="noStrike">
              <a:solidFill>
                <a:srgbClr val="000000"/>
              </a:solidFill>
              <a:latin typeface="Arial"/>
            </a:endParaRPr>
          </a:p>
          <a:p>
            <a:pPr algn="ctr" defTabSz="914400">
              <a:lnSpc>
                <a:spcPct val="100000"/>
              </a:lnSpc>
              <a:spcBef>
                <a:spcPts val="1001"/>
              </a:spcBef>
            </a:pPr>
            <a:endParaRPr b="0" lang="en-US" sz="2000" spc="-1" strike="noStrike">
              <a:solidFill>
                <a:srgbClr val="000000"/>
              </a:solidFill>
              <a:latin typeface="Arial"/>
            </a:endParaRPr>
          </a:p>
          <a:p>
            <a:pPr algn="ctr" defTabSz="914400">
              <a:lnSpc>
                <a:spcPct val="100000"/>
              </a:lnSpc>
              <a:spcBef>
                <a:spcPts val="1199"/>
              </a:spcBef>
            </a:pPr>
            <a:endParaRPr b="0" lang="en-US" sz="2400" spc="-1" strike="noStrike">
              <a:solidFill>
                <a:srgbClr val="000000"/>
              </a:solidFill>
              <a:latin typeface="Arial"/>
            </a:endParaRPr>
          </a:p>
          <a:p>
            <a:pPr algn="ctr" defTabSz="914400">
              <a:lnSpc>
                <a:spcPct val="100000"/>
              </a:lnSpc>
              <a:spcBef>
                <a:spcPts val="1199"/>
              </a:spcBef>
            </a:pPr>
            <a:endParaRPr b="0" lang="en-US" sz="2400" spc="-1" strike="noStrike">
              <a:solidFill>
                <a:srgbClr val="000000"/>
              </a:solidFill>
              <a:latin typeface="Arial"/>
            </a:endParaRPr>
          </a:p>
          <a:p>
            <a:pPr algn="ctr" defTabSz="914400">
              <a:lnSpc>
                <a:spcPct val="100000"/>
              </a:lnSpc>
              <a:spcBef>
                <a:spcPts val="1199"/>
              </a:spcBef>
            </a:pPr>
            <a:endParaRPr b="0" lang="en-US" sz="2400" spc="-1" strike="noStrike">
              <a:solidFill>
                <a:srgbClr val="000000"/>
              </a:solidFill>
              <a:latin typeface="Arial"/>
            </a:endParaRPr>
          </a:p>
          <a:p>
            <a:pPr algn="ctr" defTabSz="914400">
              <a:lnSpc>
                <a:spcPct val="100000"/>
              </a:lnSpc>
              <a:spcBef>
                <a:spcPts val="1199"/>
              </a:spcBef>
            </a:pPr>
            <a:r>
              <a:rPr b="1" lang="en-US" sz="2400" spc="-1" strike="noStrike">
                <a:solidFill>
                  <a:srgbClr val="990000"/>
                </a:solidFill>
                <a:latin typeface="Arial"/>
                <a:ea typeface="DejaVu Sans"/>
              </a:rPr>
              <a:t>Release Notes</a:t>
            </a:r>
            <a:endParaRPr b="0" lang="en-US" sz="2400" spc="-1" strike="noStrike">
              <a:solidFill>
                <a:srgbClr val="000000"/>
              </a:solidFill>
              <a:latin typeface="Arial"/>
            </a:endParaRPr>
          </a:p>
        </p:txBody>
      </p:sp>
      <p:pic>
        <p:nvPicPr>
          <p:cNvPr id="56" name="Picture 2" descr=""/>
          <p:cNvPicPr/>
          <p:nvPr/>
        </p:nvPicPr>
        <p:blipFill>
          <a:blip r:embed="rId1"/>
          <a:stretch/>
        </p:blipFill>
        <p:spPr>
          <a:xfrm>
            <a:off x="2483640" y="2421000"/>
            <a:ext cx="4175280" cy="162648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PlaceHolder 1"/>
          <p:cNvSpPr>
            <a:spLocks noGrp="1"/>
          </p:cNvSpPr>
          <p:nvPr>
            <p:ph type="title"/>
          </p:nvPr>
        </p:nvSpPr>
        <p:spPr>
          <a:xfrm>
            <a:off x="722160" y="2320200"/>
            <a:ext cx="7772040" cy="1529640"/>
          </a:xfrm>
          <a:prstGeom prst="rect">
            <a:avLst/>
          </a:prstGeom>
          <a:noFill/>
          <a:ln w="0">
            <a:noFill/>
          </a:ln>
        </p:spPr>
        <p:txBody>
          <a:bodyPr lIns="0" rIns="0" tIns="0" bIns="0" anchor="ctr">
            <a:noAutofit/>
          </a:bodyPr>
          <a:p>
            <a:pPr indent="0" algn="ctr" defTabSz="914400">
              <a:lnSpc>
                <a:spcPct val="90000"/>
              </a:lnSpc>
              <a:spcBef>
                <a:spcPts val="4201"/>
              </a:spcBef>
              <a:buNone/>
            </a:pPr>
            <a:br>
              <a:rPr sz="2400"/>
            </a:br>
            <a:r>
              <a:rPr b="1" lang="en-US" sz="2400" spc="-1" strike="noStrike">
                <a:solidFill>
                  <a:srgbClr val="990000"/>
                </a:solidFill>
                <a:latin typeface="Arial"/>
                <a:ea typeface="DejaVu Sans"/>
              </a:rPr>
              <a:t>First VECTO beta release for the 3rd Amendment </a:t>
            </a:r>
            <a:br>
              <a:rPr sz="2800"/>
            </a:br>
            <a:br>
              <a:rPr sz="2800"/>
            </a:br>
            <a:r>
              <a:rPr b="1" lang="en-US" sz="2000" spc="-1" strike="noStrike">
                <a:solidFill>
                  <a:srgbClr val="990000"/>
                </a:solidFill>
                <a:latin typeface="Arial"/>
                <a:ea typeface="DejaVu Sans"/>
              </a:rPr>
              <a:t>H2 Internal Combustion Engines </a:t>
            </a:r>
            <a:br>
              <a:rPr sz="1600"/>
            </a:br>
            <a:endParaRPr b="0" lang="de-DE" sz="2000" spc="-1" strike="noStrike">
              <a:solidFill>
                <a:schemeClr val="dk1"/>
              </a:solidFill>
              <a:latin typeface="Arial"/>
            </a:endParaRPr>
          </a:p>
        </p:txBody>
      </p:sp>
      <p:sp>
        <p:nvSpPr>
          <p:cNvPr id="58" name="PlaceHolder 2"/>
          <p:cNvSpPr>
            <a:spLocks noGrp="1"/>
          </p:cNvSpPr>
          <p:nvPr>
            <p:ph/>
          </p:nvPr>
        </p:nvSpPr>
        <p:spPr>
          <a:xfrm>
            <a:off x="722160" y="4276440"/>
            <a:ext cx="7772040" cy="407160"/>
          </a:xfrm>
          <a:prstGeom prst="rect">
            <a:avLst/>
          </a:prstGeom>
          <a:noFill/>
          <a:ln w="0">
            <a:noFill/>
          </a:ln>
        </p:spPr>
        <p:txBody>
          <a:bodyPr lIns="0" rIns="0" tIns="0" bIns="0" anchor="ctr">
            <a:noAutofit/>
          </a:bodyPr>
          <a:p>
            <a:pPr indent="0" algn="ctr" defTabSz="914400">
              <a:lnSpc>
                <a:spcPct val="90000"/>
              </a:lnSpc>
              <a:spcBef>
                <a:spcPts val="1001"/>
              </a:spcBef>
              <a:buNone/>
              <a:tabLst>
                <a:tab algn="l" pos="0"/>
              </a:tabLst>
            </a:pPr>
            <a:r>
              <a:rPr b="0" lang="en-GB" sz="2000" spc="-1" strike="noStrike">
                <a:solidFill>
                  <a:schemeClr val="dk1"/>
                </a:solidFill>
                <a:latin typeface="Arial"/>
                <a:ea typeface="DejaVu Sans"/>
              </a:rPr>
              <a:t>TUG</a:t>
            </a:r>
            <a:endParaRPr b="0" lang="de-DE" sz="2000" spc="-1" strike="noStrike">
              <a:solidFill>
                <a:schemeClr val="dk1"/>
              </a:solidFill>
              <a:latin typeface="Arial"/>
            </a:endParaRPr>
          </a:p>
        </p:txBody>
      </p:sp>
      <p:sp>
        <p:nvSpPr>
          <p:cNvPr id="4" name="PlaceHolder 3"/>
          <p:cNvSpPr>
            <a:spLocks noGrp="1"/>
          </p:cNvSpPr>
          <p:nvPr>
            <p:ph type="sldNum" idx="1"/>
          </p:nvPr>
        </p:nvSpPr>
        <p:spPr/>
        <p:txBody>
          <a:bodyPr/>
          <a:p>
            <a:fld id="{22FE14EE-4937-4C07-980C-FDC213C78A15}" type="slidenum">
              <a:t>8</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PlaceHolder 1"/>
          <p:cNvSpPr>
            <a:spLocks noGrp="1"/>
          </p:cNvSpPr>
          <p:nvPr>
            <p:ph/>
          </p:nvPr>
        </p:nvSpPr>
        <p:spPr>
          <a:xfrm>
            <a:off x="622440" y="2137320"/>
            <a:ext cx="8394120" cy="1116720"/>
          </a:xfrm>
          <a:prstGeom prst="rect">
            <a:avLst/>
          </a:prstGeom>
          <a:noFill/>
          <a:ln w="0">
            <a:noFill/>
          </a:ln>
        </p:spPr>
        <p:txBody>
          <a:bodyPr lIns="0" rIns="0" tIns="0" bIns="0" anchor="t">
            <a:noAutofit/>
          </a:bodyPr>
          <a:p>
            <a:pPr marL="228600" indent="-228600" defTabSz="914400">
              <a:lnSpc>
                <a:spcPct val="90000"/>
              </a:lnSpc>
              <a:spcBef>
                <a:spcPts val="1199"/>
              </a:spcBef>
              <a:buClr>
                <a:srgbClr val="000000"/>
              </a:buClr>
              <a:buFont typeface="Arial"/>
              <a:buChar char="•"/>
            </a:pPr>
            <a:r>
              <a:rPr b="0" lang="en-US" sz="1800" spc="-1" strike="noStrike">
                <a:solidFill>
                  <a:schemeClr val="dk1"/>
                </a:solidFill>
                <a:latin typeface="Arial"/>
                <a:ea typeface="DejaVu Sans"/>
              </a:rPr>
              <a:t>New fuel types implemented </a:t>
            </a:r>
            <a:r>
              <a:rPr b="0" lang="pt-BR" sz="1800" spc="-1" strike="noStrike">
                <a:solidFill>
                  <a:schemeClr val="dk1"/>
                </a:solidFill>
                <a:latin typeface="Arial"/>
                <a:ea typeface="DejaVu Sans"/>
              </a:rPr>
              <a:t>„H2 PI“ and „H2 CI“ (i.e. H2-Diesel dual-fuel)</a:t>
            </a:r>
            <a:endParaRPr b="0" lang="de-DE" sz="1800" spc="-1" strike="noStrike">
              <a:solidFill>
                <a:schemeClr val="dk1"/>
              </a:solidFill>
              <a:latin typeface="Arial"/>
            </a:endParaRPr>
          </a:p>
          <a:p>
            <a:pPr marL="228600" indent="-228600" defTabSz="914400">
              <a:lnSpc>
                <a:spcPct val="90000"/>
              </a:lnSpc>
              <a:spcBef>
                <a:spcPts val="1199"/>
              </a:spcBef>
              <a:buClr>
                <a:srgbClr val="000000"/>
              </a:buClr>
              <a:buFont typeface="Arial"/>
              <a:buChar char="•"/>
            </a:pPr>
            <a:r>
              <a:rPr b="0" lang="pt-BR" sz="1800" spc="-1" strike="noStrike">
                <a:solidFill>
                  <a:schemeClr val="dk1"/>
                </a:solidFill>
                <a:latin typeface="Arial"/>
                <a:ea typeface="DejaVu Sans"/>
              </a:rPr>
              <a:t>Well-known ICE input data structure unchanged, no new elements</a:t>
            </a:r>
            <a:endParaRPr b="0" lang="de-DE" sz="1800" spc="-1" strike="noStrike">
              <a:solidFill>
                <a:schemeClr val="dk1"/>
              </a:solidFill>
              <a:latin typeface="Arial"/>
            </a:endParaRPr>
          </a:p>
        </p:txBody>
      </p:sp>
      <p:sp>
        <p:nvSpPr>
          <p:cNvPr id="60" name="PlaceHolder 2"/>
          <p:cNvSpPr>
            <a:spLocks noGrp="1"/>
          </p:cNvSpPr>
          <p:nvPr>
            <p:ph type="title"/>
          </p:nvPr>
        </p:nvSpPr>
        <p:spPr>
          <a:xfrm>
            <a:off x="585360" y="850320"/>
            <a:ext cx="8228880" cy="1144440"/>
          </a:xfrm>
          <a:prstGeom prst="rect">
            <a:avLst/>
          </a:prstGeom>
          <a:noFill/>
          <a:ln w="0">
            <a:noFill/>
          </a:ln>
        </p:spPr>
        <p:txBody>
          <a:bodyPr lIns="0" rIns="0" tIns="0" bIns="0" anchor="ctr">
            <a:noAutofit/>
          </a:bodyPr>
          <a:p>
            <a:pPr indent="0" defTabSz="914400">
              <a:lnSpc>
                <a:spcPct val="90000"/>
              </a:lnSpc>
              <a:buNone/>
            </a:pPr>
            <a:r>
              <a:rPr b="1" lang="en-GB" sz="2400" spc="-1" strike="noStrike">
                <a:solidFill>
                  <a:srgbClr val="990000"/>
                </a:solidFill>
                <a:latin typeface="Arial"/>
                <a:ea typeface="DejaVu Sans"/>
              </a:rPr>
              <a:t>H2 ICE</a:t>
            </a:r>
            <a:endParaRPr b="0" lang="de-DE" sz="2400" spc="-1" strike="noStrike">
              <a:solidFill>
                <a:schemeClr val="dk1"/>
              </a:solidFill>
              <a:latin typeface="Arial"/>
            </a:endParaRPr>
          </a:p>
        </p:txBody>
      </p:sp>
      <p:pic>
        <p:nvPicPr>
          <p:cNvPr id="61" name="Grafik 2" descr=""/>
          <p:cNvPicPr/>
          <p:nvPr/>
        </p:nvPicPr>
        <p:blipFill>
          <a:blip r:embed="rId1"/>
          <a:stretch/>
        </p:blipFill>
        <p:spPr>
          <a:xfrm>
            <a:off x="622440" y="3073680"/>
            <a:ext cx="4626000" cy="2908800"/>
          </a:xfrm>
          <a:prstGeom prst="rect">
            <a:avLst/>
          </a:prstGeom>
          <a:ln w="0">
            <a:noFill/>
          </a:ln>
        </p:spPr>
      </p:pic>
      <p:pic>
        <p:nvPicPr>
          <p:cNvPr id="62" name="Grafik 6" descr=""/>
          <p:cNvPicPr/>
          <p:nvPr/>
        </p:nvPicPr>
        <p:blipFill>
          <a:blip r:embed="rId2"/>
          <a:stretch/>
        </p:blipFill>
        <p:spPr>
          <a:xfrm>
            <a:off x="5448240" y="3706920"/>
            <a:ext cx="3368880" cy="783360"/>
          </a:xfrm>
          <a:prstGeom prst="rect">
            <a:avLst/>
          </a:prstGeom>
          <a:ln w="0">
            <a:noFill/>
          </a:ln>
        </p:spPr>
      </p:pic>
      <p:sp>
        <p:nvSpPr>
          <p:cNvPr id="63" name="Textfeld 7"/>
          <p:cNvSpPr/>
          <p:nvPr/>
        </p:nvSpPr>
        <p:spPr>
          <a:xfrm>
            <a:off x="5780520" y="3301560"/>
            <a:ext cx="2704680" cy="3639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GB" sz="1800" spc="-1" strike="noStrike">
                <a:solidFill>
                  <a:schemeClr val="dk1"/>
                </a:solidFill>
                <a:latin typeface="Arial"/>
                <a:ea typeface="DejaVu Sans"/>
              </a:rPr>
              <a:t>Fuel characteristics used</a:t>
            </a:r>
            <a:endParaRPr b="0" lang="en-US" sz="1800" spc="-1" strike="noStrike">
              <a:solidFill>
                <a:srgbClr val="000000"/>
              </a:solidFill>
              <a:latin typeface="Arial"/>
            </a:endParaRPr>
          </a:p>
        </p:txBody>
      </p:sp>
      <p:sp>
        <p:nvSpPr>
          <p:cNvPr id="64" name="Ellipse 8"/>
          <p:cNvSpPr/>
          <p:nvPr/>
        </p:nvSpPr>
        <p:spPr>
          <a:xfrm>
            <a:off x="598680" y="4327920"/>
            <a:ext cx="899640" cy="519120"/>
          </a:xfrm>
          <a:prstGeom prst="ellipse">
            <a:avLst/>
          </a:prstGeom>
          <a:noFill/>
          <a:ln w="19050">
            <a:solidFill>
              <a:srgbClr val="ff0000"/>
            </a:solidFill>
            <a:round/>
          </a:ln>
        </p:spPr>
        <p:style>
          <a:lnRef idx="0"/>
          <a:fillRef idx="0"/>
          <a:effectRef idx="0"/>
          <a:fontRef idx="minor"/>
        </p:style>
        <p:txBody>
          <a:bodyPr numCol="1" spcCol="0" anchor="ctr">
            <a:spAutoFit/>
          </a:bodyPr>
          <a:p>
            <a:pPr algn="ctr" defTabSz="914400">
              <a:lnSpc>
                <a:spcPct val="100000"/>
              </a:lnSpc>
              <a:spcBef>
                <a:spcPts val="541"/>
              </a:spcBef>
            </a:pPr>
            <a:endParaRPr b="0" lang="de-AT" sz="1800" spc="-1" strike="noStrike">
              <a:solidFill>
                <a:schemeClr val="dk1"/>
              </a:solidFill>
              <a:latin typeface="Arial"/>
              <a:ea typeface="DejaVu Sans"/>
            </a:endParaRPr>
          </a:p>
        </p:txBody>
      </p:sp>
      <p:sp>
        <p:nvSpPr>
          <p:cNvPr id="65" name="Ellipse 9"/>
          <p:cNvSpPr/>
          <p:nvPr/>
        </p:nvSpPr>
        <p:spPr>
          <a:xfrm>
            <a:off x="681480" y="3730680"/>
            <a:ext cx="739080" cy="519120"/>
          </a:xfrm>
          <a:prstGeom prst="ellipse">
            <a:avLst/>
          </a:prstGeom>
          <a:noFill/>
          <a:ln w="19050">
            <a:solidFill>
              <a:srgbClr val="ff0000"/>
            </a:solidFill>
            <a:round/>
          </a:ln>
        </p:spPr>
        <p:style>
          <a:lnRef idx="0"/>
          <a:fillRef idx="0"/>
          <a:effectRef idx="0"/>
          <a:fontRef idx="minor"/>
        </p:style>
        <p:txBody>
          <a:bodyPr numCol="1" spcCol="0" anchor="ctr">
            <a:spAutoFit/>
          </a:bodyPr>
          <a:p>
            <a:pPr algn="ctr" defTabSz="914400">
              <a:lnSpc>
                <a:spcPct val="100000"/>
              </a:lnSpc>
              <a:spcBef>
                <a:spcPts val="541"/>
              </a:spcBef>
            </a:pPr>
            <a:endParaRPr b="0" lang="de-AT" sz="1800" spc="-1" strike="noStrike">
              <a:solidFill>
                <a:schemeClr val="dk1"/>
              </a:solidFill>
              <a:latin typeface="Arial"/>
              <a:ea typeface="DejaVu Sans"/>
            </a:endParaRPr>
          </a:p>
        </p:txBody>
      </p:sp>
      <p:sp>
        <p:nvSpPr>
          <p:cNvPr id="66" name="Pfeil nach rechts 10"/>
          <p:cNvSpPr/>
          <p:nvPr/>
        </p:nvSpPr>
        <p:spPr>
          <a:xfrm>
            <a:off x="424800" y="5119920"/>
            <a:ext cx="549360" cy="272160"/>
          </a:xfrm>
          <a:prstGeom prst="rightArrow">
            <a:avLst>
              <a:gd name="adj1" fmla="val 50000"/>
              <a:gd name="adj2" fmla="val 50000"/>
            </a:avLst>
          </a:prstGeom>
          <a:gradFill rotWithShape="0">
            <a:gsLst>
              <a:gs pos="0">
                <a:srgbClr val="2e5f99"/>
              </a:gs>
              <a:gs pos="80000">
                <a:srgbClr val="3c7ac7"/>
              </a:gs>
              <a:gs pos="100000">
                <a:srgbClr val="397bca"/>
              </a:gs>
            </a:gsLst>
            <a:lin ang="16200000"/>
          </a:gradFill>
          <a:ln>
            <a:solidFill>
              <a:srgbClr val="4a7ebb"/>
            </a:solid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de-AT" sz="1800" spc="-1" strike="noStrike">
              <a:solidFill>
                <a:schemeClr val="lt1"/>
              </a:solidFill>
              <a:latin typeface="Arial"/>
              <a:ea typeface="DejaVu Sans"/>
            </a:endParaRPr>
          </a:p>
        </p:txBody>
      </p:sp>
      <p:sp>
        <p:nvSpPr>
          <p:cNvPr id="67" name="Ellipse 11"/>
          <p:cNvSpPr/>
          <p:nvPr/>
        </p:nvSpPr>
        <p:spPr>
          <a:xfrm>
            <a:off x="974520" y="5002920"/>
            <a:ext cx="251640" cy="519120"/>
          </a:xfrm>
          <a:prstGeom prst="ellipse">
            <a:avLst/>
          </a:prstGeom>
          <a:noFill/>
          <a:ln w="19050">
            <a:solidFill>
              <a:srgbClr val="ff0000"/>
            </a:solidFill>
            <a:round/>
          </a:ln>
        </p:spPr>
        <p:style>
          <a:lnRef idx="0"/>
          <a:fillRef idx="0"/>
          <a:effectRef idx="0"/>
          <a:fontRef idx="minor"/>
        </p:style>
        <p:txBody>
          <a:bodyPr numCol="1" spcCol="0" anchor="ctr">
            <a:spAutoFit/>
          </a:bodyPr>
          <a:p>
            <a:pPr algn="ctr" defTabSz="914400">
              <a:lnSpc>
                <a:spcPct val="100000"/>
              </a:lnSpc>
              <a:spcBef>
                <a:spcPts val="541"/>
              </a:spcBef>
            </a:pPr>
            <a:endParaRPr b="0" lang="de-AT" sz="1800" spc="-1" strike="noStrike">
              <a:solidFill>
                <a:schemeClr val="dk1"/>
              </a:solidFill>
              <a:latin typeface="Arial"/>
              <a:ea typeface="DejaVu Sans"/>
            </a:endParaRPr>
          </a:p>
        </p:txBody>
      </p:sp>
      <p:sp>
        <p:nvSpPr>
          <p:cNvPr id="4" name="PlaceHolder 3"/>
          <p:cNvSpPr>
            <a:spLocks noGrp="1"/>
          </p:cNvSpPr>
          <p:nvPr>
            <p:ph type="sldNum" idx="2"/>
          </p:nvPr>
        </p:nvSpPr>
        <p:spPr/>
        <p:txBody>
          <a:bodyPr/>
          <a:p>
            <a:fld id="{8BF0BC37-CCEF-49F0-8888-74F5CC8C68A1}"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722160" y="2320200"/>
            <a:ext cx="7772040" cy="1529640"/>
          </a:xfrm>
          <a:prstGeom prst="rect">
            <a:avLst/>
          </a:prstGeom>
          <a:noFill/>
          <a:ln w="0">
            <a:noFill/>
          </a:ln>
        </p:spPr>
        <p:txBody>
          <a:bodyPr lIns="0" rIns="0" tIns="0" bIns="0" anchor="ctr">
            <a:noAutofit/>
          </a:bodyPr>
          <a:p>
            <a:pPr indent="0" algn="ctr" defTabSz="914400">
              <a:lnSpc>
                <a:spcPct val="90000"/>
              </a:lnSpc>
              <a:spcBef>
                <a:spcPts val="4201"/>
              </a:spcBef>
              <a:buNone/>
            </a:pPr>
            <a:br>
              <a:rPr sz="2400"/>
            </a:br>
            <a:r>
              <a:rPr b="1" lang="en-US" sz="2400" spc="-1" strike="noStrike">
                <a:solidFill>
                  <a:srgbClr val="990000"/>
                </a:solidFill>
                <a:latin typeface="Arial"/>
                <a:ea typeface="DejaVu Sans"/>
              </a:rPr>
              <a:t>First VECTO beta release for the 3rd Amendment </a:t>
            </a:r>
            <a:br>
              <a:rPr sz="2800"/>
            </a:br>
            <a:br>
              <a:rPr sz="2800"/>
            </a:br>
            <a:r>
              <a:rPr b="1" lang="en-US" sz="2000" spc="-1" strike="noStrike">
                <a:solidFill>
                  <a:srgbClr val="990000"/>
                </a:solidFill>
                <a:latin typeface="Arial"/>
                <a:ea typeface="DejaVu Sans"/>
              </a:rPr>
              <a:t>Fuel Cell Hybrid Vehicles (FCHV)</a:t>
            </a:r>
            <a:br>
              <a:rPr sz="1600"/>
            </a:br>
            <a:endParaRPr b="0" lang="de-DE" sz="2000" spc="-1" strike="noStrike">
              <a:solidFill>
                <a:schemeClr val="dk1"/>
              </a:solidFill>
              <a:latin typeface="Arial"/>
            </a:endParaRPr>
          </a:p>
        </p:txBody>
      </p:sp>
      <p:sp>
        <p:nvSpPr>
          <p:cNvPr id="69" name="PlaceHolder 2"/>
          <p:cNvSpPr>
            <a:spLocks noGrp="1"/>
          </p:cNvSpPr>
          <p:nvPr>
            <p:ph/>
          </p:nvPr>
        </p:nvSpPr>
        <p:spPr>
          <a:xfrm>
            <a:off x="722160" y="4276440"/>
            <a:ext cx="7772040" cy="407160"/>
          </a:xfrm>
          <a:prstGeom prst="rect">
            <a:avLst/>
          </a:prstGeom>
          <a:noFill/>
          <a:ln w="0">
            <a:noFill/>
          </a:ln>
        </p:spPr>
        <p:txBody>
          <a:bodyPr lIns="0" rIns="0" tIns="0" bIns="0" anchor="ctr">
            <a:noAutofit/>
          </a:bodyPr>
          <a:p>
            <a:pPr indent="0" algn="ctr" defTabSz="914400">
              <a:lnSpc>
                <a:spcPct val="90000"/>
              </a:lnSpc>
              <a:spcBef>
                <a:spcPts val="1001"/>
              </a:spcBef>
              <a:buNone/>
              <a:tabLst>
                <a:tab algn="l" pos="0"/>
              </a:tabLst>
            </a:pPr>
            <a:r>
              <a:rPr b="0" lang="en-GB" sz="2000" spc="-1" strike="noStrike">
                <a:solidFill>
                  <a:schemeClr val="dk1"/>
                </a:solidFill>
                <a:latin typeface="Arial"/>
                <a:ea typeface="DejaVu Sans"/>
              </a:rPr>
              <a:t>TUG</a:t>
            </a:r>
            <a:endParaRPr b="0" lang="de-DE" sz="20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p:nvPr>
        </p:nvSpPr>
        <p:spPr>
          <a:xfrm>
            <a:off x="622440" y="2137320"/>
            <a:ext cx="8521200" cy="2072160"/>
          </a:xfrm>
          <a:prstGeom prst="rect">
            <a:avLst/>
          </a:prstGeom>
          <a:noFill/>
          <a:ln w="0">
            <a:noFill/>
          </a:ln>
        </p:spPr>
        <p:txBody>
          <a:bodyPr lIns="0" rIns="0" tIns="0" bIns="0" anchor="t">
            <a:normAutofit fontScale="96763"/>
          </a:bodyPr>
          <a:p>
            <a:pPr marL="228600" indent="-228600" defTabSz="914400">
              <a:lnSpc>
                <a:spcPct val="90000"/>
              </a:lnSpc>
              <a:spcBef>
                <a:spcPts val="1199"/>
              </a:spcBef>
              <a:buClr>
                <a:srgbClr val="000000"/>
              </a:buClr>
              <a:buFont typeface="Arial"/>
              <a:buChar char="•"/>
            </a:pPr>
            <a:r>
              <a:rPr b="0" lang="en-US" sz="1800" spc="-1" strike="noStrike">
                <a:solidFill>
                  <a:schemeClr val="dk1"/>
                </a:solidFill>
                <a:latin typeface="Arial"/>
                <a:ea typeface="DejaVu Sans"/>
              </a:rPr>
              <a:t>FCHV generic operation strategy (Charge Sustaining Mode) implemented as presented in TF FCS #15 with following basic principle:</a:t>
            </a:r>
            <a:endParaRPr b="0" lang="de-DE" sz="1800" spc="-1" strike="noStrike">
              <a:solidFill>
                <a:schemeClr val="dk1"/>
              </a:solidFill>
              <a:latin typeface="Arial"/>
            </a:endParaRPr>
          </a:p>
          <a:p>
            <a:pPr lvl="1" marL="716040" indent="-266760" defTabSz="914400">
              <a:lnSpc>
                <a:spcPct val="90000"/>
              </a:lnSpc>
              <a:spcBef>
                <a:spcPts val="1199"/>
              </a:spcBef>
              <a:buClr>
                <a:srgbClr val="000000"/>
              </a:buClr>
              <a:buFont typeface="Wingdings" charset="2"/>
              <a:buChar char=""/>
            </a:pPr>
            <a:r>
              <a:rPr b="0" lang="en-US" sz="1400" spc="-1" strike="noStrike">
                <a:solidFill>
                  <a:schemeClr val="dk1"/>
                </a:solidFill>
                <a:latin typeface="Arial"/>
                <a:ea typeface="DejaVu Sans"/>
              </a:rPr>
              <a:t>Maximum phlegmatisation of FCS by operation strategy</a:t>
            </a:r>
            <a:endParaRPr b="0" lang="de-DE" sz="1400" spc="-1" strike="noStrike">
              <a:solidFill>
                <a:schemeClr val="dk1"/>
              </a:solidFill>
              <a:latin typeface="Arial"/>
            </a:endParaRPr>
          </a:p>
          <a:p>
            <a:pPr lvl="1" marL="716040" indent="-266760" defTabSz="914400">
              <a:lnSpc>
                <a:spcPct val="90000"/>
              </a:lnSpc>
              <a:spcBef>
                <a:spcPts val="1199"/>
              </a:spcBef>
              <a:buClr>
                <a:srgbClr val="000000"/>
              </a:buClr>
              <a:buFont typeface="Wingdings" charset="2"/>
              <a:buChar char=""/>
            </a:pPr>
            <a:r>
              <a:rPr b="0" lang="en-US" sz="1400" spc="-1" strike="noStrike">
                <a:solidFill>
                  <a:schemeClr val="dk1"/>
                </a:solidFill>
                <a:latin typeface="Arial"/>
                <a:ea typeface="DejaVu Sans"/>
              </a:rPr>
              <a:t>FCS needs to provide average electric power demand over longer horizon</a:t>
            </a:r>
            <a:endParaRPr b="0" lang="de-DE" sz="1400" spc="-1" strike="noStrike">
              <a:solidFill>
                <a:schemeClr val="dk1"/>
              </a:solidFill>
              <a:latin typeface="Arial"/>
            </a:endParaRPr>
          </a:p>
          <a:p>
            <a:pPr lvl="1" marL="716040" indent="-266760" defTabSz="914400">
              <a:lnSpc>
                <a:spcPct val="90000"/>
              </a:lnSpc>
              <a:spcBef>
                <a:spcPts val="1199"/>
              </a:spcBef>
              <a:buClr>
                <a:srgbClr val="000000"/>
              </a:buClr>
              <a:buFont typeface="Wingdings" charset="2"/>
              <a:buChar char=""/>
            </a:pPr>
            <a:r>
              <a:rPr b="0" lang="en-US" sz="1400" spc="-1" strike="noStrike">
                <a:solidFill>
                  <a:schemeClr val="dk1"/>
                </a:solidFill>
                <a:latin typeface="Arial"/>
                <a:ea typeface="DejaVu Sans"/>
              </a:rPr>
              <a:t>Longest possible averaging horizon depends on battery size</a:t>
            </a:r>
            <a:br>
              <a:rPr sz="1400"/>
            </a:br>
            <a:r>
              <a:rPr b="0" lang="en-US" sz="1400" spc="-1" strike="noStrike">
                <a:solidFill>
                  <a:schemeClr val="dk1"/>
                </a:solidFill>
                <a:latin typeface="Arial"/>
                <a:ea typeface="DejaVu Sans"/>
              </a:rPr>
              <a:t>and specific vehicle-cycle combination</a:t>
            </a:r>
            <a:br>
              <a:rPr sz="1400"/>
            </a:br>
            <a:r>
              <a:rPr b="0" i="1" lang="en-US" sz="1400" spc="-1" strike="noStrike">
                <a:solidFill>
                  <a:schemeClr val="dk1"/>
                </a:solidFill>
                <a:latin typeface="Wingdings"/>
                <a:ea typeface="DejaVu Sans"/>
              </a:rPr>
              <a:t></a:t>
            </a:r>
            <a:r>
              <a:rPr b="0" i="1" lang="en-US" sz="1400" spc="-1" strike="noStrike">
                <a:solidFill>
                  <a:schemeClr val="dk1"/>
                </a:solidFill>
                <a:latin typeface="Arial"/>
                <a:ea typeface="DejaVu Sans"/>
              </a:rPr>
              <a:t> The smaller the battery or the greater the electric energy demand of the vehicle,</a:t>
            </a:r>
            <a:br>
              <a:rPr sz="1400"/>
            </a:br>
            <a:r>
              <a:rPr b="0" i="1" lang="en-US" sz="1400" spc="-1" strike="noStrike">
                <a:solidFill>
                  <a:schemeClr val="dk1"/>
                </a:solidFill>
                <a:latin typeface="Arial"/>
                <a:ea typeface="DejaVu Sans"/>
              </a:rPr>
              <a:t>the smaller the averaging horizon will get leading to a more dynamic operation of the FCS.</a:t>
            </a:r>
            <a:endParaRPr b="0" lang="de-DE" sz="1400" spc="-1" strike="noStrike">
              <a:solidFill>
                <a:schemeClr val="dk1"/>
              </a:solidFill>
              <a:latin typeface="Arial"/>
            </a:endParaRPr>
          </a:p>
          <a:p>
            <a:pPr indent="0" defTabSz="914400">
              <a:lnSpc>
                <a:spcPct val="90000"/>
              </a:lnSpc>
              <a:spcBef>
                <a:spcPts val="1199"/>
              </a:spcBef>
              <a:buNone/>
            </a:pPr>
            <a:endParaRPr b="0" lang="de-DE" sz="1400" spc="-1" strike="noStrike">
              <a:solidFill>
                <a:schemeClr val="dk1"/>
              </a:solidFill>
              <a:latin typeface="Arial"/>
            </a:endParaRPr>
          </a:p>
        </p:txBody>
      </p:sp>
      <p:sp>
        <p:nvSpPr>
          <p:cNvPr id="71" name="PlaceHolder 2"/>
          <p:cNvSpPr>
            <a:spLocks noGrp="1"/>
          </p:cNvSpPr>
          <p:nvPr>
            <p:ph type="title"/>
          </p:nvPr>
        </p:nvSpPr>
        <p:spPr>
          <a:xfrm>
            <a:off x="585360" y="850320"/>
            <a:ext cx="8228880" cy="1144440"/>
          </a:xfrm>
          <a:prstGeom prst="rect">
            <a:avLst/>
          </a:prstGeom>
          <a:noFill/>
          <a:ln w="0">
            <a:noFill/>
          </a:ln>
        </p:spPr>
        <p:txBody>
          <a:bodyPr lIns="0" rIns="0" tIns="0" bIns="0" anchor="ctr">
            <a:noAutofit/>
          </a:bodyPr>
          <a:p>
            <a:pPr indent="0" defTabSz="914400">
              <a:lnSpc>
                <a:spcPct val="90000"/>
              </a:lnSpc>
              <a:buNone/>
            </a:pPr>
            <a:r>
              <a:rPr b="1" lang="en-GB" sz="2400" spc="-1" strike="noStrike">
                <a:solidFill>
                  <a:srgbClr val="990000"/>
                </a:solidFill>
                <a:latin typeface="Arial"/>
                <a:ea typeface="DejaVu Sans"/>
              </a:rPr>
              <a:t>Fuel cell hybrid vehicles (FCHV) – Op. strategy (1/5)</a:t>
            </a:r>
            <a:endParaRPr b="0" lang="de-DE" sz="2400" spc="-1" strike="noStrike">
              <a:solidFill>
                <a:schemeClr val="dk1"/>
              </a:solidFill>
              <a:latin typeface="Arial"/>
            </a:endParaRPr>
          </a:p>
        </p:txBody>
      </p:sp>
      <p:sp>
        <p:nvSpPr>
          <p:cNvPr id="4" name="PlaceHolder 3"/>
          <p:cNvSpPr>
            <a:spLocks noGrp="1"/>
          </p:cNvSpPr>
          <p:nvPr>
            <p:ph type="sldNum" idx="2"/>
          </p:nvPr>
        </p:nvSpPr>
        <p:spPr/>
        <p:txBody>
          <a:bodyPr/>
          <a:p>
            <a:fld id="{3EB1C5F3-F7BA-4A4E-A212-FA069E0EA72B}" type="slidenum">
              <a:t>11</a:t>
            </a:fld>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p:nvPr>
        </p:nvSpPr>
        <p:spPr>
          <a:xfrm>
            <a:off x="622440" y="2137320"/>
            <a:ext cx="8521200" cy="2072160"/>
          </a:xfrm>
          <a:prstGeom prst="rect">
            <a:avLst/>
          </a:prstGeom>
          <a:noFill/>
          <a:ln w="0">
            <a:noFill/>
          </a:ln>
        </p:spPr>
        <p:txBody>
          <a:bodyPr lIns="0" rIns="0" tIns="0" bIns="0" anchor="t">
            <a:normAutofit fontScale="56058" lnSpcReduction="10000"/>
          </a:bodyPr>
          <a:p>
            <a:pPr marL="228600" indent="-228600" defTabSz="914400">
              <a:lnSpc>
                <a:spcPct val="90000"/>
              </a:lnSpc>
              <a:spcBef>
                <a:spcPts val="601"/>
              </a:spcBef>
              <a:buClr>
                <a:srgbClr val="000000"/>
              </a:buClr>
              <a:buFont typeface="Arial"/>
              <a:buChar char="•"/>
            </a:pPr>
            <a:r>
              <a:rPr b="1" lang="en-GB" sz="1600" spc="-1" strike="noStrike">
                <a:solidFill>
                  <a:schemeClr val="dk1"/>
                </a:solidFill>
                <a:latin typeface="Arial"/>
                <a:ea typeface="DejaVu Sans"/>
              </a:rPr>
              <a:t>Basic approach for implementation of FCS operation in “CS” Mode in 4 steps</a:t>
            </a:r>
            <a:endParaRPr b="0" lang="de-DE" sz="1600" spc="-1" strike="noStrike">
              <a:solidFill>
                <a:schemeClr val="dk1"/>
              </a:solidFill>
              <a:latin typeface="Arial"/>
            </a:endParaRPr>
          </a:p>
          <a:p>
            <a:pPr lvl="1" marL="792000" indent="-343080" defTabSz="914400">
              <a:lnSpc>
                <a:spcPct val="90000"/>
              </a:lnSpc>
              <a:spcBef>
                <a:spcPts val="601"/>
              </a:spcBef>
              <a:buClr>
                <a:srgbClr val="000000"/>
              </a:buClr>
              <a:buFont typeface="Arial"/>
              <a:buAutoNum type="arabicPeriod"/>
            </a:pPr>
            <a:r>
              <a:rPr b="0" lang="en-GB" sz="1400" spc="-1" strike="noStrike">
                <a:solidFill>
                  <a:schemeClr val="dk1"/>
                </a:solidFill>
                <a:latin typeface="Arial"/>
                <a:ea typeface="DejaVu Sans"/>
              </a:rPr>
              <a:t>Pre-simulation run as PEV to determine electric power demand for propulsion and auxiliaries</a:t>
            </a:r>
            <a:endParaRPr b="0" lang="de-DE" sz="1400" spc="-1" strike="noStrike">
              <a:solidFill>
                <a:schemeClr val="dk1"/>
              </a:solidFill>
              <a:latin typeface="Arial"/>
            </a:endParaRPr>
          </a:p>
          <a:p>
            <a:pPr lvl="2" marL="1143000" indent="-228600" defTabSz="914400">
              <a:lnSpc>
                <a:spcPct val="90000"/>
              </a:lnSpc>
              <a:spcBef>
                <a:spcPts val="601"/>
              </a:spcBef>
              <a:buClr>
                <a:srgbClr val="000000"/>
              </a:buClr>
              <a:buFont typeface="Arial"/>
              <a:buAutoNum type="alphaLcParenR"/>
            </a:pPr>
            <a:r>
              <a:rPr b="0" lang="en-GB" sz="1200" spc="-1" strike="noStrike">
                <a:solidFill>
                  <a:schemeClr val="dk1"/>
                </a:solidFill>
                <a:latin typeface="Arial"/>
                <a:ea typeface="DejaVu Sans"/>
              </a:rPr>
              <a:t>Power limit of “special” battery defined as sum of respective maximum powers (BAT + FCS)</a:t>
            </a:r>
            <a:br>
              <a:rPr sz="900"/>
            </a:br>
            <a:r>
              <a:rPr b="0" lang="en-GB" sz="900" spc="-1" strike="noStrike">
                <a:solidFill>
                  <a:schemeClr val="dk1"/>
                </a:solidFill>
                <a:latin typeface="Arial"/>
              </a:rPr>
              <a:t> </a:t>
            </a:r>
            <a:endParaRPr b="0" lang="de-DE" sz="900" spc="-1" strike="noStrike">
              <a:solidFill>
                <a:schemeClr val="dk1"/>
              </a:solidFill>
              <a:latin typeface="Arial"/>
            </a:endParaRPr>
          </a:p>
          <a:p>
            <a:pPr lvl="1" marL="792000" indent="-343080" defTabSz="914400">
              <a:lnSpc>
                <a:spcPct val="90000"/>
              </a:lnSpc>
              <a:spcBef>
                <a:spcPts val="601"/>
              </a:spcBef>
              <a:buClr>
                <a:srgbClr val="000000"/>
              </a:buClr>
              <a:buFont typeface="Arial"/>
              <a:buAutoNum type="arabicPeriod"/>
            </a:pPr>
            <a:r>
              <a:rPr b="0" lang="en-GB" sz="1400" spc="-1" strike="noStrike">
                <a:solidFill>
                  <a:schemeClr val="dk1"/>
                </a:solidFill>
                <a:latin typeface="Arial"/>
                <a:ea typeface="DejaVu Sans"/>
              </a:rPr>
              <a:t>Resulting total electric power from step 1 will be averaged over a certain </a:t>
            </a:r>
            <a:r>
              <a:rPr b="1" lang="en-GB" sz="1400" spc="-1" strike="noStrike" u="sng">
                <a:solidFill>
                  <a:schemeClr val="dk1"/>
                </a:solidFill>
                <a:uFillTx/>
                <a:latin typeface="Arial"/>
                <a:ea typeface="DejaVu Sans"/>
              </a:rPr>
              <a:t>fixed</a:t>
            </a:r>
            <a:r>
              <a:rPr b="0" lang="en-GB" sz="1400" spc="-1" strike="noStrike">
                <a:solidFill>
                  <a:schemeClr val="dk1"/>
                </a:solidFill>
                <a:latin typeface="Arial"/>
                <a:ea typeface="DejaVu Sans"/>
              </a:rPr>
              <a:t> window size</a:t>
            </a:r>
            <a:br>
              <a:rPr sz="1400"/>
            </a:br>
            <a:r>
              <a:rPr b="0" lang="en-GB" sz="1400" spc="-1" strike="noStrike">
                <a:solidFill>
                  <a:schemeClr val="dk1"/>
                </a:solidFill>
                <a:latin typeface="Arial"/>
                <a:ea typeface="DejaVu Sans"/>
              </a:rPr>
              <a:t>which is distance based (details next slide)</a:t>
            </a:r>
            <a:endParaRPr b="0" lang="de-DE" sz="1400" spc="-1" strike="noStrike">
              <a:solidFill>
                <a:schemeClr val="dk1"/>
              </a:solidFill>
              <a:latin typeface="Arial"/>
            </a:endParaRPr>
          </a:p>
          <a:p>
            <a:pPr lvl="2" marL="1143000" indent="-228600" defTabSz="914400">
              <a:lnSpc>
                <a:spcPct val="90000"/>
              </a:lnSpc>
              <a:spcBef>
                <a:spcPts val="601"/>
              </a:spcBef>
              <a:buClr>
                <a:srgbClr val="000000"/>
              </a:buClr>
              <a:buFont typeface="Arial"/>
              <a:buAutoNum type="alphaLcParenR"/>
            </a:pPr>
            <a:r>
              <a:rPr b="0" lang="en-GB" sz="1200" spc="-1" strike="noStrike">
                <a:solidFill>
                  <a:schemeClr val="dk1"/>
                </a:solidFill>
                <a:latin typeface="Arial"/>
                <a:ea typeface="DejaVu Sans"/>
              </a:rPr>
              <a:t>Buffering of energy is limited by battery size, SOC limits min/max are not allowed to be exceeded</a:t>
            </a:r>
            <a:endParaRPr b="0" lang="de-DE" sz="1200" spc="-1" strike="noStrike">
              <a:solidFill>
                <a:schemeClr val="dk1"/>
              </a:solidFill>
              <a:latin typeface="Arial"/>
            </a:endParaRPr>
          </a:p>
          <a:p>
            <a:pPr lvl="2" marL="1143000" indent="-228600" defTabSz="914400">
              <a:lnSpc>
                <a:spcPct val="90000"/>
              </a:lnSpc>
              <a:spcBef>
                <a:spcPts val="601"/>
              </a:spcBef>
              <a:buClr>
                <a:srgbClr val="000000"/>
              </a:buClr>
              <a:buFont typeface="Arial"/>
              <a:buAutoNum type="alphaLcParenR"/>
            </a:pPr>
            <a:r>
              <a:rPr b="0" lang="en-GB" sz="1200" spc="-1" strike="noStrike">
                <a:solidFill>
                  <a:schemeClr val="dk1"/>
                </a:solidFill>
                <a:latin typeface="Arial"/>
                <a:ea typeface="DejaVu Sans"/>
              </a:rPr>
              <a:t>Using largest possible window size without violating SOC limits in any window</a:t>
            </a:r>
            <a:endParaRPr b="0" lang="de-DE" sz="1200" spc="-1" strike="noStrike">
              <a:solidFill>
                <a:schemeClr val="dk1"/>
              </a:solidFill>
              <a:latin typeface="Arial"/>
            </a:endParaRPr>
          </a:p>
          <a:p>
            <a:pPr lvl="2" marL="1143000" indent="-228600" defTabSz="914400">
              <a:lnSpc>
                <a:spcPct val="90000"/>
              </a:lnSpc>
              <a:spcBef>
                <a:spcPts val="601"/>
              </a:spcBef>
              <a:buClr>
                <a:srgbClr val="000000"/>
              </a:buClr>
              <a:buFont typeface="Arial"/>
              <a:buAutoNum type="alphaLcParenR"/>
            </a:pPr>
            <a:r>
              <a:rPr b="0" lang="en-GB" sz="1200" spc="-1" strike="noStrike">
                <a:solidFill>
                  <a:schemeClr val="dk1"/>
                </a:solidFill>
                <a:latin typeface="Arial"/>
                <a:ea typeface="DejaVu Sans"/>
              </a:rPr>
              <a:t>Adaption of start SOC to specific mission in order to maximize usage of battery as buffer</a:t>
            </a:r>
            <a:br>
              <a:rPr sz="900"/>
            </a:br>
            <a:r>
              <a:rPr b="0" lang="en-GB" sz="900" spc="-1" strike="noStrike">
                <a:solidFill>
                  <a:schemeClr val="dk1"/>
                </a:solidFill>
                <a:latin typeface="Arial"/>
              </a:rPr>
              <a:t> </a:t>
            </a:r>
            <a:endParaRPr b="0" lang="de-DE" sz="900" spc="-1" strike="noStrike">
              <a:solidFill>
                <a:schemeClr val="dk1"/>
              </a:solidFill>
              <a:latin typeface="Arial"/>
            </a:endParaRPr>
          </a:p>
          <a:p>
            <a:pPr lvl="1" marL="792000" indent="-343080" defTabSz="914400">
              <a:lnSpc>
                <a:spcPct val="90000"/>
              </a:lnSpc>
              <a:spcBef>
                <a:spcPts val="601"/>
              </a:spcBef>
              <a:buClr>
                <a:srgbClr val="000000"/>
              </a:buClr>
              <a:buFont typeface="Arial"/>
              <a:buAutoNum type="arabicPeriod"/>
            </a:pPr>
            <a:r>
              <a:rPr b="0" lang="en-GB" sz="1400" spc="-1" strike="noStrike">
                <a:solidFill>
                  <a:schemeClr val="dk1"/>
                </a:solidFill>
                <a:latin typeface="Arial"/>
                <a:ea typeface="DejaVu Sans"/>
              </a:rPr>
              <a:t>Actual simulation run as FCHV in-the-loop where FCS is operated following a fixed power trace</a:t>
            </a:r>
            <a:br>
              <a:rPr sz="1400"/>
            </a:br>
            <a:r>
              <a:rPr b="0" lang="en-GB" sz="1400" spc="-1" strike="noStrike">
                <a:solidFill>
                  <a:schemeClr val="dk1"/>
                </a:solidFill>
                <a:latin typeface="Arial"/>
                <a:ea typeface="DejaVu Sans"/>
              </a:rPr>
              <a:t>to cover average electric power demand determined from pre-processing in step 2</a:t>
            </a:r>
            <a:br>
              <a:rPr sz="1400"/>
            </a:br>
            <a:r>
              <a:rPr b="0" lang="en-GB" sz="1400" spc="-1" strike="noStrike">
                <a:solidFill>
                  <a:schemeClr val="dk1"/>
                </a:solidFill>
                <a:latin typeface="Arial"/>
                <a:ea typeface="DejaVu Sans"/>
              </a:rPr>
              <a:t>(battery covers instantaneous deviations from average electric power demand)</a:t>
            </a:r>
            <a:br>
              <a:rPr sz="900"/>
            </a:br>
            <a:r>
              <a:rPr b="0" lang="en-GB" sz="900" spc="-1" strike="noStrike">
                <a:solidFill>
                  <a:schemeClr val="dk1"/>
                </a:solidFill>
                <a:latin typeface="Arial"/>
              </a:rPr>
              <a:t> </a:t>
            </a:r>
            <a:endParaRPr b="0" lang="de-DE" sz="900" spc="-1" strike="noStrike">
              <a:solidFill>
                <a:schemeClr val="dk1"/>
              </a:solidFill>
              <a:latin typeface="Arial"/>
            </a:endParaRPr>
          </a:p>
          <a:p>
            <a:pPr lvl="1" marL="792000" indent="-343080" defTabSz="914400">
              <a:lnSpc>
                <a:spcPct val="90000"/>
              </a:lnSpc>
              <a:spcBef>
                <a:spcPts val="601"/>
              </a:spcBef>
              <a:buClr>
                <a:srgbClr val="000000"/>
              </a:buClr>
              <a:buFont typeface="Arial"/>
              <a:buAutoNum type="arabicPeriod"/>
            </a:pPr>
            <a:r>
              <a:rPr b="0" lang="el-GR" sz="1400" spc="-1" strike="noStrike">
                <a:solidFill>
                  <a:schemeClr val="dk1"/>
                </a:solidFill>
                <a:latin typeface="Arial"/>
                <a:ea typeface="DejaVu Sans"/>
              </a:rPr>
              <a:t>Δ</a:t>
            </a:r>
            <a:r>
              <a:rPr b="0" lang="en-GB" sz="1400" spc="-1" strike="noStrike">
                <a:solidFill>
                  <a:schemeClr val="dk1"/>
                </a:solidFill>
                <a:latin typeface="Arial"/>
                <a:ea typeface="DejaVu Sans"/>
              </a:rPr>
              <a:t>SOC correction in post-processing to account for small deviations from neutral SOC behaviour over cycle (e.g. variations in auxiliary power, small deviations in battery losses etc.)</a:t>
            </a:r>
            <a:endParaRPr b="0" lang="de-DE" sz="1400" spc="-1" strike="noStrike">
              <a:solidFill>
                <a:schemeClr val="dk1"/>
              </a:solidFill>
              <a:latin typeface="Arial"/>
            </a:endParaRPr>
          </a:p>
        </p:txBody>
      </p:sp>
      <p:sp>
        <p:nvSpPr>
          <p:cNvPr id="73" name="PlaceHolder 2"/>
          <p:cNvSpPr>
            <a:spLocks noGrp="1"/>
          </p:cNvSpPr>
          <p:nvPr>
            <p:ph type="title"/>
          </p:nvPr>
        </p:nvSpPr>
        <p:spPr>
          <a:xfrm>
            <a:off x="585360" y="850320"/>
            <a:ext cx="8228880" cy="1144440"/>
          </a:xfrm>
          <a:prstGeom prst="rect">
            <a:avLst/>
          </a:prstGeom>
          <a:noFill/>
          <a:ln w="0">
            <a:noFill/>
          </a:ln>
        </p:spPr>
        <p:txBody>
          <a:bodyPr lIns="0" rIns="0" tIns="0" bIns="0" anchor="ctr">
            <a:noAutofit/>
          </a:bodyPr>
          <a:p>
            <a:pPr indent="0" defTabSz="914400">
              <a:lnSpc>
                <a:spcPct val="90000"/>
              </a:lnSpc>
              <a:buNone/>
            </a:pPr>
            <a:r>
              <a:rPr b="1" lang="en-GB" sz="2400" spc="-1" strike="noStrike">
                <a:solidFill>
                  <a:srgbClr val="990000"/>
                </a:solidFill>
                <a:latin typeface="Arial"/>
                <a:ea typeface="DejaVu Sans"/>
              </a:rPr>
              <a:t>Fuel cell hybrid vehicles (FCHV) – Op. strategy (2/5)</a:t>
            </a:r>
            <a:endParaRPr b="0" lang="de-DE" sz="2400" spc="-1" strike="noStrike">
              <a:solidFill>
                <a:schemeClr val="dk1"/>
              </a:solidFill>
              <a:latin typeface="Arial"/>
            </a:endParaRPr>
          </a:p>
        </p:txBody>
      </p:sp>
      <p:sp>
        <p:nvSpPr>
          <p:cNvPr id="4" name="PlaceHolder 3"/>
          <p:cNvSpPr>
            <a:spLocks noGrp="1"/>
          </p:cNvSpPr>
          <p:nvPr>
            <p:ph type="sldNum" idx="2"/>
          </p:nvPr>
        </p:nvSpPr>
        <p:spPr/>
        <p:txBody>
          <a:bodyPr/>
          <a:p>
            <a:fld id="{11A0F6D0-C8B0-40C7-BAE1-30042E5AC9D8}" type="slidenum">
              <a:t>12</a:t>
            </a:fld>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p:nvPr>
        </p:nvSpPr>
        <p:spPr>
          <a:xfrm>
            <a:off x="622440" y="2137320"/>
            <a:ext cx="8521200" cy="1140120"/>
          </a:xfrm>
          <a:prstGeom prst="rect">
            <a:avLst/>
          </a:prstGeom>
          <a:noFill/>
          <a:ln w="0">
            <a:noFill/>
          </a:ln>
        </p:spPr>
        <p:txBody>
          <a:bodyPr lIns="0" rIns="0" tIns="0" bIns="0" anchor="t">
            <a:noAutofit/>
          </a:bodyPr>
          <a:p>
            <a:pPr marL="228600" indent="-228600" defTabSz="914400">
              <a:lnSpc>
                <a:spcPct val="90000"/>
              </a:lnSpc>
              <a:spcBef>
                <a:spcPts val="601"/>
              </a:spcBef>
              <a:buClr>
                <a:srgbClr val="000000"/>
              </a:buClr>
              <a:buFont typeface="Arial"/>
              <a:buChar char="•"/>
            </a:pPr>
            <a:r>
              <a:rPr b="1" lang="en-US" sz="1600" spc="-1" strike="noStrike">
                <a:solidFill>
                  <a:schemeClr val="dk1"/>
                </a:solidFill>
                <a:latin typeface="Arial"/>
                <a:ea typeface="DejaVu Sans"/>
              </a:rPr>
              <a:t>Averaging and window size explained (1/2)</a:t>
            </a:r>
            <a:endParaRPr b="0" lang="de-DE" sz="1600" spc="-1" strike="noStrike">
              <a:solidFill>
                <a:schemeClr val="dk1"/>
              </a:solidFill>
              <a:latin typeface="Arial"/>
            </a:endParaRPr>
          </a:p>
          <a:p>
            <a:pPr lvl="1" marL="716040" indent="-266760" defTabSz="914400">
              <a:lnSpc>
                <a:spcPct val="90000"/>
              </a:lnSpc>
              <a:spcBef>
                <a:spcPts val="601"/>
              </a:spcBef>
              <a:buClr>
                <a:srgbClr val="000000"/>
              </a:buClr>
              <a:buFont typeface="Wingdings" charset="2"/>
              <a:buChar char=""/>
            </a:pPr>
            <a:r>
              <a:rPr b="0" lang="en-US" sz="1400" spc="-1" strike="noStrike">
                <a:solidFill>
                  <a:schemeClr val="dk1"/>
                </a:solidFill>
                <a:latin typeface="Arial"/>
                <a:ea typeface="DejaVu Sans"/>
              </a:rPr>
              <a:t>The averaging window is placed distance-symmetrically over each actual time step from the pre-simulation</a:t>
            </a:r>
            <a:endParaRPr b="0" lang="de-DE" sz="1400" spc="-1" strike="noStrike">
              <a:solidFill>
                <a:schemeClr val="dk1"/>
              </a:solidFill>
              <a:latin typeface="Arial"/>
            </a:endParaRPr>
          </a:p>
          <a:p>
            <a:pPr lvl="1" marL="716040" indent="-266760" defTabSz="914400">
              <a:lnSpc>
                <a:spcPct val="90000"/>
              </a:lnSpc>
              <a:spcBef>
                <a:spcPts val="601"/>
              </a:spcBef>
              <a:buClr>
                <a:srgbClr val="000000"/>
              </a:buClr>
              <a:buFont typeface="Wingdings" charset="2"/>
              <a:buChar char=""/>
            </a:pPr>
            <a:r>
              <a:rPr b="0" lang="en-US" sz="1400" spc="-1" strike="noStrike">
                <a:solidFill>
                  <a:schemeClr val="dk1"/>
                </a:solidFill>
                <a:latin typeface="Arial"/>
                <a:ea typeface="DejaVu Sans"/>
              </a:rPr>
              <a:t>Window size is determined by total distance within window</a:t>
            </a:r>
            <a:br>
              <a:rPr sz="1400"/>
            </a:br>
            <a:r>
              <a:rPr b="0" lang="en-US" sz="1400" spc="-1" strike="noStrike">
                <a:solidFill>
                  <a:schemeClr val="dk1"/>
                </a:solidFill>
                <a:latin typeface="Arial"/>
              </a:rPr>
              <a:t> </a:t>
            </a:r>
            <a:endParaRPr b="0" lang="de-DE" sz="1400" spc="-1" strike="noStrike">
              <a:solidFill>
                <a:schemeClr val="dk1"/>
              </a:solidFill>
              <a:latin typeface="Arial"/>
            </a:endParaRPr>
          </a:p>
        </p:txBody>
      </p:sp>
      <p:sp>
        <p:nvSpPr>
          <p:cNvPr id="75" name="PlaceHolder 2"/>
          <p:cNvSpPr>
            <a:spLocks noGrp="1"/>
          </p:cNvSpPr>
          <p:nvPr>
            <p:ph type="title"/>
          </p:nvPr>
        </p:nvSpPr>
        <p:spPr>
          <a:xfrm>
            <a:off x="585360" y="850320"/>
            <a:ext cx="8228880" cy="1144440"/>
          </a:xfrm>
          <a:prstGeom prst="rect">
            <a:avLst/>
          </a:prstGeom>
          <a:noFill/>
          <a:ln w="0">
            <a:noFill/>
          </a:ln>
        </p:spPr>
        <p:txBody>
          <a:bodyPr lIns="0" rIns="0" tIns="0" bIns="0" anchor="ctr">
            <a:noAutofit/>
          </a:bodyPr>
          <a:p>
            <a:pPr indent="0" defTabSz="914400">
              <a:lnSpc>
                <a:spcPct val="90000"/>
              </a:lnSpc>
              <a:buNone/>
            </a:pPr>
            <a:r>
              <a:rPr b="1" lang="en-GB" sz="2400" spc="-1" strike="noStrike">
                <a:solidFill>
                  <a:srgbClr val="990000"/>
                </a:solidFill>
                <a:latin typeface="Arial"/>
                <a:ea typeface="DejaVu Sans"/>
              </a:rPr>
              <a:t>Fuel cell hybrid vehicles (FCHV) – Op. strategy (3/5)</a:t>
            </a:r>
            <a:endParaRPr b="0" lang="de-DE" sz="2400" spc="-1" strike="noStrike">
              <a:solidFill>
                <a:schemeClr val="dk1"/>
              </a:solidFill>
              <a:latin typeface="Arial"/>
            </a:endParaRPr>
          </a:p>
        </p:txBody>
      </p:sp>
      <p:sp>
        <p:nvSpPr>
          <p:cNvPr id="76" name="Textfeld 6"/>
          <p:cNvSpPr/>
          <p:nvPr/>
        </p:nvSpPr>
        <p:spPr>
          <a:xfrm>
            <a:off x="5638680" y="3531240"/>
            <a:ext cx="839880" cy="54684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de-DE" sz="1200" spc="-1" strike="noStrike">
                <a:solidFill>
                  <a:srgbClr val="e31e4d"/>
                </a:solidFill>
                <a:latin typeface="Arial"/>
                <a:ea typeface="DejaVu Sans"/>
              </a:rPr>
              <a:t>distance</a:t>
            </a:r>
            <a:endParaRPr b="0" lang="en-US" sz="1200" spc="-1" strike="noStrike">
              <a:solidFill>
                <a:srgbClr val="000000"/>
              </a:solidFill>
              <a:latin typeface="Arial"/>
            </a:endParaRPr>
          </a:p>
          <a:p>
            <a:pPr algn="ctr" defTabSz="914400">
              <a:lnSpc>
                <a:spcPct val="100000"/>
              </a:lnSpc>
            </a:pPr>
            <a:r>
              <a:rPr b="0" lang="de-DE" sz="1800" spc="-1" strike="noStrike">
                <a:solidFill>
                  <a:srgbClr val="e31e4d"/>
                </a:solidFill>
                <a:latin typeface="Arial"/>
                <a:ea typeface="DejaVu Sans"/>
              </a:rPr>
              <a:t>=</a:t>
            </a:r>
            <a:endParaRPr b="0" lang="en-US" sz="1800" spc="-1" strike="noStrike">
              <a:solidFill>
                <a:srgbClr val="000000"/>
              </a:solidFill>
              <a:latin typeface="Arial"/>
            </a:endParaRPr>
          </a:p>
        </p:txBody>
      </p:sp>
      <p:cxnSp>
        <p:nvCxnSpPr>
          <p:cNvPr id="77" name="Gerade Verbindung mit Pfeil 7"/>
          <p:cNvCxnSpPr/>
          <p:nvPr/>
        </p:nvCxnSpPr>
        <p:spPr>
          <a:xfrm>
            <a:off x="1051920" y="5218920"/>
            <a:ext cx="6634080" cy="360"/>
          </a:xfrm>
          <a:prstGeom prst="straightConnector1">
            <a:avLst/>
          </a:prstGeom>
          <a:ln>
            <a:solidFill>
              <a:srgbClr val="4f81bd"/>
            </a:solidFill>
            <a:tailEnd len="med" type="triangle" w="med"/>
          </a:ln>
        </p:spPr>
      </p:cxnSp>
      <p:cxnSp>
        <p:nvCxnSpPr>
          <p:cNvPr id="78" name="Gerade Verbindung mit Pfeil 8"/>
          <p:cNvCxnSpPr/>
          <p:nvPr/>
        </p:nvCxnSpPr>
        <p:spPr>
          <a:xfrm flipV="1">
            <a:off x="1063080" y="4540680"/>
            <a:ext cx="360" cy="678600"/>
          </a:xfrm>
          <a:prstGeom prst="straightConnector1">
            <a:avLst/>
          </a:prstGeom>
          <a:ln>
            <a:solidFill>
              <a:srgbClr val="4f81bd"/>
            </a:solidFill>
            <a:tailEnd len="med" type="triangle" w="med"/>
          </a:ln>
        </p:spPr>
      </p:cxnSp>
      <p:sp>
        <p:nvSpPr>
          <p:cNvPr id="79" name="Textfeld 9"/>
          <p:cNvSpPr/>
          <p:nvPr/>
        </p:nvSpPr>
        <p:spPr>
          <a:xfrm>
            <a:off x="7652880" y="5087880"/>
            <a:ext cx="837360" cy="257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de-AT" sz="1100" spc="-1" strike="noStrike">
                <a:solidFill>
                  <a:schemeClr val="dk1"/>
                </a:solidFill>
                <a:latin typeface="Arial"/>
                <a:ea typeface="DejaVu Sans"/>
              </a:rPr>
              <a:t>time</a:t>
            </a:r>
            <a:endParaRPr b="0" lang="en-US" sz="1100" spc="-1" strike="noStrike">
              <a:solidFill>
                <a:srgbClr val="000000"/>
              </a:solidFill>
              <a:latin typeface="Arial"/>
            </a:endParaRPr>
          </a:p>
        </p:txBody>
      </p:sp>
      <p:cxnSp>
        <p:nvCxnSpPr>
          <p:cNvPr id="80" name="Gerader Verbinder 10"/>
          <p:cNvCxnSpPr/>
          <p:nvPr/>
        </p:nvCxnSpPr>
        <p:spPr>
          <a:xfrm>
            <a:off x="1819800" y="5099760"/>
            <a:ext cx="360" cy="260280"/>
          </a:xfrm>
          <a:prstGeom prst="straightConnector1">
            <a:avLst/>
          </a:prstGeom>
          <a:ln w="12700">
            <a:solidFill>
              <a:srgbClr val="000000"/>
            </a:solidFill>
          </a:ln>
        </p:spPr>
      </p:cxnSp>
      <p:cxnSp>
        <p:nvCxnSpPr>
          <p:cNvPr id="81" name="Gerader Verbinder 11"/>
          <p:cNvCxnSpPr/>
          <p:nvPr/>
        </p:nvCxnSpPr>
        <p:spPr>
          <a:xfrm>
            <a:off x="2325240" y="5099760"/>
            <a:ext cx="360" cy="260280"/>
          </a:xfrm>
          <a:prstGeom prst="straightConnector1">
            <a:avLst/>
          </a:prstGeom>
          <a:ln w="12700">
            <a:solidFill>
              <a:srgbClr val="000000"/>
            </a:solidFill>
          </a:ln>
        </p:spPr>
      </p:cxnSp>
      <p:cxnSp>
        <p:nvCxnSpPr>
          <p:cNvPr id="82" name="Gerader Verbinder 12"/>
          <p:cNvCxnSpPr/>
          <p:nvPr/>
        </p:nvCxnSpPr>
        <p:spPr>
          <a:xfrm>
            <a:off x="3852720" y="5099760"/>
            <a:ext cx="360" cy="260280"/>
          </a:xfrm>
          <a:prstGeom prst="straightConnector1">
            <a:avLst/>
          </a:prstGeom>
          <a:ln w="12700">
            <a:solidFill>
              <a:srgbClr val="000000"/>
            </a:solidFill>
          </a:ln>
        </p:spPr>
      </p:cxnSp>
      <p:cxnSp>
        <p:nvCxnSpPr>
          <p:cNvPr id="83" name="Gerader Verbinder 13"/>
          <p:cNvCxnSpPr/>
          <p:nvPr/>
        </p:nvCxnSpPr>
        <p:spPr>
          <a:xfrm>
            <a:off x="4488840" y="5099760"/>
            <a:ext cx="360" cy="260280"/>
          </a:xfrm>
          <a:prstGeom prst="straightConnector1">
            <a:avLst/>
          </a:prstGeom>
          <a:ln w="12700">
            <a:solidFill>
              <a:srgbClr val="000000"/>
            </a:solidFill>
          </a:ln>
        </p:spPr>
      </p:cxnSp>
      <p:cxnSp>
        <p:nvCxnSpPr>
          <p:cNvPr id="84" name="Gerader Verbinder 14"/>
          <p:cNvCxnSpPr/>
          <p:nvPr/>
        </p:nvCxnSpPr>
        <p:spPr>
          <a:xfrm>
            <a:off x="5102280" y="5099760"/>
            <a:ext cx="360" cy="260280"/>
          </a:xfrm>
          <a:prstGeom prst="straightConnector1">
            <a:avLst/>
          </a:prstGeom>
          <a:ln w="12700">
            <a:solidFill>
              <a:srgbClr val="000000"/>
            </a:solidFill>
          </a:ln>
        </p:spPr>
      </p:cxnSp>
      <p:cxnSp>
        <p:nvCxnSpPr>
          <p:cNvPr id="85" name="Gerader Verbinder 15"/>
          <p:cNvCxnSpPr/>
          <p:nvPr/>
        </p:nvCxnSpPr>
        <p:spPr>
          <a:xfrm>
            <a:off x="5897520" y="5099760"/>
            <a:ext cx="360" cy="260280"/>
          </a:xfrm>
          <a:prstGeom prst="straightConnector1">
            <a:avLst/>
          </a:prstGeom>
          <a:ln w="12700">
            <a:solidFill>
              <a:srgbClr val="000000"/>
            </a:solidFill>
          </a:ln>
        </p:spPr>
      </p:cxnSp>
      <p:cxnSp>
        <p:nvCxnSpPr>
          <p:cNvPr id="86" name="Gerader Verbinder 16"/>
          <p:cNvCxnSpPr/>
          <p:nvPr/>
        </p:nvCxnSpPr>
        <p:spPr>
          <a:xfrm>
            <a:off x="6664320" y="5099760"/>
            <a:ext cx="360" cy="260280"/>
          </a:xfrm>
          <a:prstGeom prst="straightConnector1">
            <a:avLst/>
          </a:prstGeom>
          <a:ln w="12700">
            <a:solidFill>
              <a:srgbClr val="000000"/>
            </a:solidFill>
          </a:ln>
        </p:spPr>
      </p:cxnSp>
      <p:cxnSp>
        <p:nvCxnSpPr>
          <p:cNvPr id="87" name="Gerader Verbinder 17"/>
          <p:cNvCxnSpPr/>
          <p:nvPr/>
        </p:nvCxnSpPr>
        <p:spPr>
          <a:xfrm>
            <a:off x="7004880" y="5099760"/>
            <a:ext cx="360" cy="260280"/>
          </a:xfrm>
          <a:prstGeom prst="straightConnector1">
            <a:avLst/>
          </a:prstGeom>
          <a:ln w="12700">
            <a:solidFill>
              <a:srgbClr val="000000"/>
            </a:solidFill>
          </a:ln>
        </p:spPr>
      </p:cxnSp>
      <p:sp>
        <p:nvSpPr>
          <p:cNvPr id="88" name="Textfeld 18"/>
          <p:cNvSpPr/>
          <p:nvPr/>
        </p:nvSpPr>
        <p:spPr>
          <a:xfrm>
            <a:off x="3743640" y="5360040"/>
            <a:ext cx="212040" cy="2725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de-DE" sz="1200" spc="-1" strike="noStrike">
                <a:solidFill>
                  <a:schemeClr val="dk1"/>
                </a:solidFill>
                <a:latin typeface="Arial"/>
                <a:ea typeface="DejaVu Sans"/>
              </a:rPr>
              <a:t>t</a:t>
            </a:r>
            <a:endParaRPr b="0" lang="en-US" sz="1200" spc="-1" strike="noStrike">
              <a:solidFill>
                <a:srgbClr val="000000"/>
              </a:solidFill>
              <a:latin typeface="Arial"/>
            </a:endParaRPr>
          </a:p>
        </p:txBody>
      </p:sp>
      <p:sp>
        <p:nvSpPr>
          <p:cNvPr id="89" name="Textfeld 19"/>
          <p:cNvSpPr/>
          <p:nvPr/>
        </p:nvSpPr>
        <p:spPr>
          <a:xfrm>
            <a:off x="4265280" y="5360040"/>
            <a:ext cx="444240" cy="2725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de-AT" sz="1200" spc="-1" strike="noStrike">
                <a:solidFill>
                  <a:schemeClr val="dk1"/>
                </a:solidFill>
                <a:latin typeface="Arial"/>
                <a:ea typeface="DejaVu Sans"/>
              </a:rPr>
              <a:t>t+1</a:t>
            </a:r>
            <a:endParaRPr b="0" lang="en-US" sz="1200" spc="-1" strike="noStrike">
              <a:solidFill>
                <a:srgbClr val="000000"/>
              </a:solidFill>
              <a:latin typeface="Arial"/>
            </a:endParaRPr>
          </a:p>
        </p:txBody>
      </p:sp>
      <p:sp>
        <p:nvSpPr>
          <p:cNvPr id="90" name="Textfeld 20"/>
          <p:cNvSpPr/>
          <p:nvPr/>
        </p:nvSpPr>
        <p:spPr>
          <a:xfrm>
            <a:off x="2031480" y="5360040"/>
            <a:ext cx="587880" cy="2725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de-AT" sz="1200" spc="-1" strike="noStrike">
                <a:solidFill>
                  <a:schemeClr val="dk1"/>
                </a:solidFill>
                <a:latin typeface="Arial"/>
                <a:ea typeface="DejaVu Sans"/>
              </a:rPr>
              <a:t>t+1-j</a:t>
            </a:r>
            <a:endParaRPr b="0" lang="en-US" sz="1200" spc="-1" strike="noStrike">
              <a:solidFill>
                <a:srgbClr val="000000"/>
              </a:solidFill>
              <a:latin typeface="Arial"/>
            </a:endParaRPr>
          </a:p>
        </p:txBody>
      </p:sp>
      <p:sp>
        <p:nvSpPr>
          <p:cNvPr id="91" name="Textfeld 21"/>
          <p:cNvSpPr/>
          <p:nvPr/>
        </p:nvSpPr>
        <p:spPr>
          <a:xfrm>
            <a:off x="1594080" y="5360040"/>
            <a:ext cx="444240" cy="2725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de-AT" sz="1200" spc="-1" strike="noStrike">
                <a:solidFill>
                  <a:schemeClr val="dk1"/>
                </a:solidFill>
                <a:latin typeface="Arial"/>
                <a:ea typeface="DejaVu Sans"/>
              </a:rPr>
              <a:t>t-i</a:t>
            </a:r>
            <a:endParaRPr b="0" lang="en-US" sz="1200" spc="-1" strike="noStrike">
              <a:solidFill>
                <a:srgbClr val="000000"/>
              </a:solidFill>
              <a:latin typeface="Arial"/>
            </a:endParaRPr>
          </a:p>
        </p:txBody>
      </p:sp>
      <p:sp>
        <p:nvSpPr>
          <p:cNvPr id="92" name="Textfeld 22"/>
          <p:cNvSpPr/>
          <p:nvPr/>
        </p:nvSpPr>
        <p:spPr>
          <a:xfrm>
            <a:off x="4880160" y="5360040"/>
            <a:ext cx="444240" cy="2725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de-AT" sz="1200" spc="-1" strike="noStrike">
                <a:solidFill>
                  <a:schemeClr val="dk1"/>
                </a:solidFill>
                <a:latin typeface="Arial"/>
                <a:ea typeface="DejaVu Sans"/>
              </a:rPr>
              <a:t>t+2</a:t>
            </a:r>
            <a:endParaRPr b="0" lang="en-US" sz="1200" spc="-1" strike="noStrike">
              <a:solidFill>
                <a:srgbClr val="000000"/>
              </a:solidFill>
              <a:latin typeface="Arial"/>
            </a:endParaRPr>
          </a:p>
        </p:txBody>
      </p:sp>
      <p:sp>
        <p:nvSpPr>
          <p:cNvPr id="93" name="Textfeld 23"/>
          <p:cNvSpPr/>
          <p:nvPr/>
        </p:nvSpPr>
        <p:spPr>
          <a:xfrm>
            <a:off x="5675400" y="5360040"/>
            <a:ext cx="444240" cy="2725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de-AT" sz="1200" spc="-1" strike="noStrike">
                <a:solidFill>
                  <a:schemeClr val="dk1"/>
                </a:solidFill>
                <a:latin typeface="Arial"/>
                <a:ea typeface="DejaVu Sans"/>
              </a:rPr>
              <a:t>t+i</a:t>
            </a:r>
            <a:endParaRPr b="0" lang="en-US" sz="1200" spc="-1" strike="noStrike">
              <a:solidFill>
                <a:srgbClr val="000000"/>
              </a:solidFill>
              <a:latin typeface="Arial"/>
            </a:endParaRPr>
          </a:p>
        </p:txBody>
      </p:sp>
      <p:sp>
        <p:nvSpPr>
          <p:cNvPr id="94" name="Textfeld 24"/>
          <p:cNvSpPr/>
          <p:nvPr/>
        </p:nvSpPr>
        <p:spPr>
          <a:xfrm>
            <a:off x="6351120" y="5360040"/>
            <a:ext cx="624960" cy="2725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de-AT" sz="1200" spc="-1" strike="noStrike">
                <a:solidFill>
                  <a:schemeClr val="dk1"/>
                </a:solidFill>
                <a:latin typeface="Arial"/>
                <a:ea typeface="DejaVu Sans"/>
              </a:rPr>
              <a:t>t+1+j</a:t>
            </a:r>
            <a:endParaRPr b="0" lang="en-US" sz="1200" spc="-1" strike="noStrike">
              <a:solidFill>
                <a:srgbClr val="000000"/>
              </a:solidFill>
              <a:latin typeface="Arial"/>
            </a:endParaRPr>
          </a:p>
        </p:txBody>
      </p:sp>
      <p:sp>
        <p:nvSpPr>
          <p:cNvPr id="95" name="Rechteck 25"/>
          <p:cNvSpPr/>
          <p:nvPr/>
        </p:nvSpPr>
        <p:spPr>
          <a:xfrm>
            <a:off x="1825560" y="4797000"/>
            <a:ext cx="4067640" cy="177480"/>
          </a:xfrm>
          <a:prstGeom prst="rect">
            <a:avLst/>
          </a:prstGeom>
          <a:solidFill>
            <a:srgbClr val="92d050"/>
          </a:solidFill>
          <a:ln>
            <a:solidFill>
              <a:srgbClr val="189e05"/>
            </a:solid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de-DE" sz="1200" spc="-1" strike="noStrike">
                <a:solidFill>
                  <a:schemeClr val="lt1"/>
                </a:solidFill>
                <a:latin typeface="Arial"/>
                <a:ea typeface="DejaVu Sans"/>
              </a:rPr>
              <a:t>window @ t</a:t>
            </a:r>
            <a:endParaRPr b="0" lang="en-US" sz="1200" spc="-1" strike="noStrike">
              <a:solidFill>
                <a:srgbClr val="000000"/>
              </a:solidFill>
              <a:latin typeface="Arial"/>
            </a:endParaRPr>
          </a:p>
        </p:txBody>
      </p:sp>
      <p:sp>
        <p:nvSpPr>
          <p:cNvPr id="96" name="Rechteck 26"/>
          <p:cNvSpPr/>
          <p:nvPr/>
        </p:nvSpPr>
        <p:spPr>
          <a:xfrm>
            <a:off x="2325240" y="4483080"/>
            <a:ext cx="4319640" cy="177480"/>
          </a:xfrm>
          <a:prstGeom prst="rect">
            <a:avLst/>
          </a:prstGeom>
          <a:solidFill>
            <a:schemeClr val="accent1">
              <a:lumMod val="40000"/>
              <a:lumOff val="60000"/>
            </a:schemeClr>
          </a:solidFill>
          <a:ln>
            <a:solidFill>
              <a:srgbClr val="4f81bd"/>
            </a:solid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de-DE" sz="1200" spc="-1" strike="noStrike">
                <a:solidFill>
                  <a:schemeClr val="lt1"/>
                </a:solidFill>
                <a:latin typeface="Arial"/>
                <a:ea typeface="DejaVu Sans"/>
              </a:rPr>
              <a:t>window @ t+1</a:t>
            </a:r>
            <a:endParaRPr b="0" lang="en-US" sz="1200" spc="-1" strike="noStrike">
              <a:solidFill>
                <a:srgbClr val="000000"/>
              </a:solidFill>
              <a:latin typeface="Arial"/>
            </a:endParaRPr>
          </a:p>
        </p:txBody>
      </p:sp>
      <p:sp>
        <p:nvSpPr>
          <p:cNvPr id="97" name="Rechteck 27"/>
          <p:cNvSpPr/>
          <p:nvPr/>
        </p:nvSpPr>
        <p:spPr>
          <a:xfrm>
            <a:off x="3188160" y="4164840"/>
            <a:ext cx="3815640" cy="177480"/>
          </a:xfrm>
          <a:prstGeom prst="rect">
            <a:avLst/>
          </a:prstGeom>
          <a:solidFill>
            <a:schemeClr val="accent2">
              <a:lumMod val="40000"/>
              <a:lumOff val="60000"/>
            </a:schemeClr>
          </a:solidFill>
          <a:ln>
            <a:solidFill>
              <a:srgbClr val="c0504d">
                <a:lumMod val="75000"/>
              </a:srgbClr>
            </a:solid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de-DE" sz="1200" spc="-1" strike="noStrike">
                <a:solidFill>
                  <a:schemeClr val="lt1"/>
                </a:solidFill>
                <a:latin typeface="Arial"/>
                <a:ea typeface="DejaVu Sans"/>
              </a:rPr>
              <a:t>window @ t+2</a:t>
            </a:r>
            <a:endParaRPr b="0" lang="en-US" sz="1200" spc="-1" strike="noStrike">
              <a:solidFill>
                <a:srgbClr val="000000"/>
              </a:solidFill>
              <a:latin typeface="Arial"/>
            </a:endParaRPr>
          </a:p>
        </p:txBody>
      </p:sp>
      <p:sp>
        <p:nvSpPr>
          <p:cNvPr id="98" name="Textfeld 28"/>
          <p:cNvSpPr/>
          <p:nvPr/>
        </p:nvSpPr>
        <p:spPr>
          <a:xfrm>
            <a:off x="6913800" y="5360040"/>
            <a:ext cx="624960" cy="2725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de-AT" sz="1200" spc="-1" strike="noStrike">
                <a:solidFill>
                  <a:schemeClr val="dk1"/>
                </a:solidFill>
                <a:latin typeface="Arial"/>
                <a:ea typeface="DejaVu Sans"/>
              </a:rPr>
              <a:t>t+2+k</a:t>
            </a:r>
            <a:endParaRPr b="0" lang="en-US" sz="1200" spc="-1" strike="noStrike">
              <a:solidFill>
                <a:srgbClr val="000000"/>
              </a:solidFill>
              <a:latin typeface="Arial"/>
            </a:endParaRPr>
          </a:p>
        </p:txBody>
      </p:sp>
      <p:sp>
        <p:nvSpPr>
          <p:cNvPr id="99" name="Gewitterblitz 29"/>
          <p:cNvSpPr/>
          <p:nvPr/>
        </p:nvSpPr>
        <p:spPr>
          <a:xfrm rot="2700000">
            <a:off x="6662160" y="5068800"/>
            <a:ext cx="359640" cy="251640"/>
          </a:xfrm>
          <a:prstGeom prst="lightningBolt">
            <a:avLst/>
          </a:prstGeom>
          <a:solidFill>
            <a:schemeClr val="bg1"/>
          </a:solidFill>
          <a:ln>
            <a:solidFill>
              <a:srgbClr val="000000"/>
            </a:solid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4560" bIns="34560" anchor="ctr">
            <a:noAutofit/>
          </a:bodyPr>
          <a:p>
            <a:pPr algn="ctr" defTabSz="914400">
              <a:lnSpc>
                <a:spcPct val="100000"/>
              </a:lnSpc>
            </a:pPr>
            <a:endParaRPr b="0" lang="de-AT" sz="1800" spc="-1" strike="noStrike">
              <a:solidFill>
                <a:schemeClr val="lt1"/>
              </a:solidFill>
              <a:latin typeface="Arial"/>
              <a:ea typeface="DejaVu Sans"/>
            </a:endParaRPr>
          </a:p>
        </p:txBody>
      </p:sp>
      <p:cxnSp>
        <p:nvCxnSpPr>
          <p:cNvPr id="100" name="Gerader Verbinder 30"/>
          <p:cNvCxnSpPr/>
          <p:nvPr/>
        </p:nvCxnSpPr>
        <p:spPr>
          <a:xfrm>
            <a:off x="3199320" y="5099760"/>
            <a:ext cx="360" cy="260280"/>
          </a:xfrm>
          <a:prstGeom prst="straightConnector1">
            <a:avLst/>
          </a:prstGeom>
          <a:ln w="12700">
            <a:solidFill>
              <a:srgbClr val="000000"/>
            </a:solidFill>
          </a:ln>
        </p:spPr>
      </p:cxnSp>
      <p:sp>
        <p:nvSpPr>
          <p:cNvPr id="101" name="Textfeld 31"/>
          <p:cNvSpPr/>
          <p:nvPr/>
        </p:nvSpPr>
        <p:spPr>
          <a:xfrm>
            <a:off x="2886840" y="5360040"/>
            <a:ext cx="624960" cy="2725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de-AT" sz="1200" spc="-1" strike="noStrike">
                <a:solidFill>
                  <a:schemeClr val="dk1"/>
                </a:solidFill>
                <a:latin typeface="Arial"/>
                <a:ea typeface="DejaVu Sans"/>
              </a:rPr>
              <a:t>t+2+k</a:t>
            </a:r>
            <a:endParaRPr b="0" lang="en-US" sz="1200" spc="-1" strike="noStrike">
              <a:solidFill>
                <a:srgbClr val="000000"/>
              </a:solidFill>
              <a:latin typeface="Arial"/>
            </a:endParaRPr>
          </a:p>
        </p:txBody>
      </p:sp>
      <p:sp>
        <p:nvSpPr>
          <p:cNvPr id="102" name="Gewitterblitz 32"/>
          <p:cNvSpPr/>
          <p:nvPr/>
        </p:nvSpPr>
        <p:spPr>
          <a:xfrm rot="2700000">
            <a:off x="6110280" y="5068800"/>
            <a:ext cx="359640" cy="251640"/>
          </a:xfrm>
          <a:prstGeom prst="lightningBolt">
            <a:avLst/>
          </a:prstGeom>
          <a:solidFill>
            <a:schemeClr val="bg1"/>
          </a:solidFill>
          <a:ln>
            <a:solidFill>
              <a:srgbClr val="000000"/>
            </a:solid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4560" bIns="34560" anchor="ctr">
            <a:noAutofit/>
          </a:bodyPr>
          <a:p>
            <a:pPr algn="ctr" defTabSz="914400">
              <a:lnSpc>
                <a:spcPct val="100000"/>
              </a:lnSpc>
            </a:pPr>
            <a:endParaRPr b="0" lang="de-AT" sz="1800" spc="-1" strike="noStrike">
              <a:solidFill>
                <a:schemeClr val="lt1"/>
              </a:solidFill>
              <a:latin typeface="Arial"/>
              <a:ea typeface="DejaVu Sans"/>
            </a:endParaRPr>
          </a:p>
        </p:txBody>
      </p:sp>
      <p:sp>
        <p:nvSpPr>
          <p:cNvPr id="103" name="Gewitterblitz 33"/>
          <p:cNvSpPr/>
          <p:nvPr/>
        </p:nvSpPr>
        <p:spPr>
          <a:xfrm rot="2700000">
            <a:off x="5308200" y="5068800"/>
            <a:ext cx="359640" cy="251640"/>
          </a:xfrm>
          <a:prstGeom prst="lightningBolt">
            <a:avLst/>
          </a:prstGeom>
          <a:solidFill>
            <a:schemeClr val="bg1"/>
          </a:solidFill>
          <a:ln>
            <a:solidFill>
              <a:srgbClr val="000000"/>
            </a:solid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4560" bIns="34560" anchor="ctr">
            <a:noAutofit/>
          </a:bodyPr>
          <a:p>
            <a:pPr algn="ctr" defTabSz="914400">
              <a:lnSpc>
                <a:spcPct val="100000"/>
              </a:lnSpc>
            </a:pPr>
            <a:endParaRPr b="0" lang="de-AT" sz="1800" spc="-1" strike="noStrike">
              <a:solidFill>
                <a:schemeClr val="lt1"/>
              </a:solidFill>
              <a:latin typeface="Arial"/>
              <a:ea typeface="DejaVu Sans"/>
            </a:endParaRPr>
          </a:p>
        </p:txBody>
      </p:sp>
      <p:sp>
        <p:nvSpPr>
          <p:cNvPr id="104" name="Gewitterblitz 34"/>
          <p:cNvSpPr/>
          <p:nvPr/>
        </p:nvSpPr>
        <p:spPr>
          <a:xfrm rot="2700000">
            <a:off x="3250800" y="5068800"/>
            <a:ext cx="359640" cy="251640"/>
          </a:xfrm>
          <a:prstGeom prst="lightningBolt">
            <a:avLst/>
          </a:prstGeom>
          <a:solidFill>
            <a:schemeClr val="bg1"/>
          </a:solidFill>
          <a:ln>
            <a:solidFill>
              <a:srgbClr val="000000"/>
            </a:solid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4560" bIns="34560" anchor="ctr">
            <a:noAutofit/>
          </a:bodyPr>
          <a:p>
            <a:pPr algn="ctr" defTabSz="914400">
              <a:lnSpc>
                <a:spcPct val="100000"/>
              </a:lnSpc>
            </a:pPr>
            <a:endParaRPr b="0" lang="de-AT" sz="1800" spc="-1" strike="noStrike">
              <a:solidFill>
                <a:schemeClr val="lt1"/>
              </a:solidFill>
              <a:latin typeface="Arial"/>
              <a:ea typeface="DejaVu Sans"/>
            </a:endParaRPr>
          </a:p>
        </p:txBody>
      </p:sp>
      <p:sp>
        <p:nvSpPr>
          <p:cNvPr id="105" name="Gewitterblitz 35"/>
          <p:cNvSpPr/>
          <p:nvPr/>
        </p:nvSpPr>
        <p:spPr>
          <a:xfrm rot="2700000">
            <a:off x="2585520" y="5068800"/>
            <a:ext cx="359640" cy="251640"/>
          </a:xfrm>
          <a:prstGeom prst="lightningBolt">
            <a:avLst/>
          </a:prstGeom>
          <a:solidFill>
            <a:schemeClr val="bg1"/>
          </a:solidFill>
          <a:ln>
            <a:solidFill>
              <a:srgbClr val="000000"/>
            </a:solid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4560" bIns="34560" anchor="ctr">
            <a:noAutofit/>
          </a:bodyPr>
          <a:p>
            <a:pPr algn="ctr" defTabSz="914400">
              <a:lnSpc>
                <a:spcPct val="100000"/>
              </a:lnSpc>
            </a:pPr>
            <a:endParaRPr b="0" lang="de-AT" sz="1800" spc="-1" strike="noStrike">
              <a:solidFill>
                <a:schemeClr val="lt1"/>
              </a:solidFill>
              <a:latin typeface="Arial"/>
              <a:ea typeface="DejaVu Sans"/>
            </a:endParaRPr>
          </a:p>
        </p:txBody>
      </p:sp>
      <p:sp>
        <p:nvSpPr>
          <p:cNvPr id="106" name="Gewitterblitz 36"/>
          <p:cNvSpPr/>
          <p:nvPr/>
        </p:nvSpPr>
        <p:spPr>
          <a:xfrm rot="2700000">
            <a:off x="1852560" y="5068800"/>
            <a:ext cx="359640" cy="251640"/>
          </a:xfrm>
          <a:prstGeom prst="lightningBolt">
            <a:avLst/>
          </a:prstGeom>
          <a:solidFill>
            <a:schemeClr val="bg1"/>
          </a:solidFill>
          <a:ln>
            <a:solidFill>
              <a:srgbClr val="000000"/>
            </a:solid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4560" bIns="34560" anchor="ctr">
            <a:noAutofit/>
          </a:bodyPr>
          <a:p>
            <a:pPr algn="ctr" defTabSz="914400">
              <a:lnSpc>
                <a:spcPct val="100000"/>
              </a:lnSpc>
            </a:pPr>
            <a:endParaRPr b="0" lang="de-AT" sz="1800" spc="-1" strike="noStrike">
              <a:solidFill>
                <a:schemeClr val="lt1"/>
              </a:solidFill>
              <a:latin typeface="Arial"/>
              <a:ea typeface="DejaVu Sans"/>
            </a:endParaRPr>
          </a:p>
        </p:txBody>
      </p:sp>
      <p:cxnSp>
        <p:nvCxnSpPr>
          <p:cNvPr id="107" name="Gerader Verbinder 37"/>
          <p:cNvCxnSpPr/>
          <p:nvPr/>
        </p:nvCxnSpPr>
        <p:spPr>
          <a:xfrm>
            <a:off x="5108040" y="3716280"/>
            <a:ext cx="360" cy="1330920"/>
          </a:xfrm>
          <a:prstGeom prst="straightConnector1">
            <a:avLst/>
          </a:prstGeom>
          <a:ln w="12700">
            <a:solidFill>
              <a:srgbClr val="4f81bd"/>
            </a:solidFill>
            <a:prstDash val="dash"/>
          </a:ln>
        </p:spPr>
      </p:cxnSp>
      <p:sp>
        <p:nvSpPr>
          <p:cNvPr id="108" name="Pfeil nach links und rechts 38"/>
          <p:cNvSpPr/>
          <p:nvPr/>
        </p:nvSpPr>
        <p:spPr>
          <a:xfrm>
            <a:off x="5108040" y="3931560"/>
            <a:ext cx="1895400" cy="169920"/>
          </a:xfrm>
          <a:prstGeom prst="leftRightArrow">
            <a:avLst>
              <a:gd name="adj1" fmla="val 50000"/>
              <a:gd name="adj2" fmla="val 50000"/>
            </a:avLst>
          </a:prstGeom>
          <a:gradFill rotWithShape="0">
            <a:gsLst>
              <a:gs pos="0">
                <a:srgbClr val="2e5f99"/>
              </a:gs>
              <a:gs pos="80000">
                <a:srgbClr val="3c7ac7"/>
              </a:gs>
              <a:gs pos="100000">
                <a:srgbClr val="397bca"/>
              </a:gs>
            </a:gsLst>
            <a:lin ang="16200000"/>
          </a:gradFill>
          <a:ln>
            <a:solidFill>
              <a:srgbClr val="4a7ebb"/>
            </a:solid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960" bIns="39960" anchor="ctr">
            <a:noAutofit/>
          </a:bodyPr>
          <a:p>
            <a:pPr algn="ctr" defTabSz="914400">
              <a:lnSpc>
                <a:spcPct val="100000"/>
              </a:lnSpc>
            </a:pPr>
            <a:endParaRPr b="0" lang="de-AT" sz="1800" spc="-1" strike="noStrike">
              <a:solidFill>
                <a:schemeClr val="lt1"/>
              </a:solidFill>
              <a:latin typeface="Arial"/>
              <a:ea typeface="DejaVu Sans"/>
            </a:endParaRPr>
          </a:p>
        </p:txBody>
      </p:sp>
      <p:sp>
        <p:nvSpPr>
          <p:cNvPr id="109" name="Pfeil nach links und rechts 39"/>
          <p:cNvSpPr/>
          <p:nvPr/>
        </p:nvSpPr>
        <p:spPr>
          <a:xfrm>
            <a:off x="3188160" y="3931560"/>
            <a:ext cx="1895400" cy="169920"/>
          </a:xfrm>
          <a:prstGeom prst="leftRightArrow">
            <a:avLst>
              <a:gd name="adj1" fmla="val 50000"/>
              <a:gd name="adj2" fmla="val 50000"/>
            </a:avLst>
          </a:prstGeom>
          <a:gradFill rotWithShape="0">
            <a:gsLst>
              <a:gs pos="0">
                <a:srgbClr val="2e5f99"/>
              </a:gs>
              <a:gs pos="80000">
                <a:srgbClr val="3c7ac7"/>
              </a:gs>
              <a:gs pos="100000">
                <a:srgbClr val="397bca"/>
              </a:gs>
            </a:gsLst>
            <a:lin ang="16200000"/>
          </a:gradFill>
          <a:ln>
            <a:solidFill>
              <a:srgbClr val="4a7ebb"/>
            </a:solid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960" bIns="39960" anchor="ctr">
            <a:noAutofit/>
          </a:bodyPr>
          <a:p>
            <a:pPr algn="ctr" defTabSz="914400">
              <a:lnSpc>
                <a:spcPct val="100000"/>
              </a:lnSpc>
            </a:pPr>
            <a:endParaRPr b="0" lang="de-AT" sz="1800" spc="-1" strike="noStrike">
              <a:solidFill>
                <a:schemeClr val="lt1"/>
              </a:solidFill>
              <a:latin typeface="Arial"/>
              <a:ea typeface="DejaVu Sans"/>
            </a:endParaRPr>
          </a:p>
        </p:txBody>
      </p:sp>
      <p:sp>
        <p:nvSpPr>
          <p:cNvPr id="110" name="Textfeld 40"/>
          <p:cNvSpPr/>
          <p:nvPr/>
        </p:nvSpPr>
        <p:spPr>
          <a:xfrm>
            <a:off x="3739320" y="3527280"/>
            <a:ext cx="839880" cy="54684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de-DE" sz="1200" spc="-1" strike="noStrike">
                <a:solidFill>
                  <a:srgbClr val="e31e4d"/>
                </a:solidFill>
                <a:latin typeface="Arial"/>
                <a:ea typeface="DejaVu Sans"/>
              </a:rPr>
              <a:t>distance</a:t>
            </a:r>
            <a:endParaRPr b="0" lang="en-US" sz="1200" spc="-1" strike="noStrike">
              <a:solidFill>
                <a:srgbClr val="000000"/>
              </a:solidFill>
              <a:latin typeface="Arial"/>
            </a:endParaRPr>
          </a:p>
          <a:p>
            <a:pPr algn="ctr" defTabSz="914400">
              <a:lnSpc>
                <a:spcPct val="100000"/>
              </a:lnSpc>
            </a:pPr>
            <a:r>
              <a:rPr b="0" lang="de-DE" sz="1800" spc="-1" strike="noStrike">
                <a:solidFill>
                  <a:srgbClr val="e31e4d"/>
                </a:solidFill>
                <a:latin typeface="Arial"/>
                <a:ea typeface="DejaVu Sans"/>
              </a:rPr>
              <a:t>=</a:t>
            </a:r>
            <a:endParaRPr b="0" lang="en-US" sz="1800" spc="-1" strike="noStrike">
              <a:solidFill>
                <a:srgbClr val="000000"/>
              </a:solidFill>
              <a:latin typeface="Arial"/>
            </a:endParaRPr>
          </a:p>
        </p:txBody>
      </p:sp>
      <p:sp>
        <p:nvSpPr>
          <p:cNvPr id="4" name="PlaceHolder 3"/>
          <p:cNvSpPr>
            <a:spLocks noGrp="1"/>
          </p:cNvSpPr>
          <p:nvPr>
            <p:ph type="sldNum" idx="2"/>
          </p:nvPr>
        </p:nvSpPr>
        <p:spPr/>
        <p:txBody>
          <a:bodyPr/>
          <a:p>
            <a:fld id="{BA24D4E2-E736-4756-AA1F-53F8EA1A0E36}" type="slidenum">
              <a:t>13</a:t>
            </a:fld>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p:nvPr>
        </p:nvSpPr>
        <p:spPr>
          <a:xfrm>
            <a:off x="622440" y="2137320"/>
            <a:ext cx="8521200" cy="1140120"/>
          </a:xfrm>
          <a:prstGeom prst="rect">
            <a:avLst/>
          </a:prstGeom>
          <a:noFill/>
          <a:ln w="0">
            <a:noFill/>
          </a:ln>
        </p:spPr>
        <p:txBody>
          <a:bodyPr lIns="0" rIns="0" tIns="0" bIns="0" anchor="t">
            <a:noAutofit/>
          </a:bodyPr>
          <a:p>
            <a:pPr marL="228600" indent="-228600" defTabSz="914400">
              <a:lnSpc>
                <a:spcPct val="90000"/>
              </a:lnSpc>
              <a:spcBef>
                <a:spcPts val="601"/>
              </a:spcBef>
              <a:buClr>
                <a:srgbClr val="000000"/>
              </a:buClr>
              <a:buFont typeface="Arial"/>
              <a:buChar char="•"/>
            </a:pPr>
            <a:r>
              <a:rPr b="1" lang="en-US" sz="1600" spc="-1" strike="noStrike">
                <a:solidFill>
                  <a:schemeClr val="dk1"/>
                </a:solidFill>
                <a:latin typeface="Arial"/>
                <a:ea typeface="DejaVu Sans"/>
              </a:rPr>
              <a:t>Averaging and window size explained (2/2)</a:t>
            </a:r>
            <a:endParaRPr b="0" lang="de-DE" sz="1600" spc="-1" strike="noStrike">
              <a:solidFill>
                <a:schemeClr val="dk1"/>
              </a:solidFill>
              <a:latin typeface="Arial"/>
            </a:endParaRPr>
          </a:p>
          <a:p>
            <a:pPr lvl="1" marL="716040" indent="-266760" defTabSz="914400">
              <a:lnSpc>
                <a:spcPct val="90000"/>
              </a:lnSpc>
              <a:spcBef>
                <a:spcPts val="601"/>
              </a:spcBef>
              <a:buClr>
                <a:srgbClr val="000000"/>
              </a:buClr>
              <a:buFont typeface="Wingdings" charset="2"/>
              <a:buChar char=""/>
            </a:pPr>
            <a:r>
              <a:rPr b="0" lang="en-US" sz="1400" spc="-1" strike="noStrike">
                <a:solidFill>
                  <a:schemeClr val="dk1"/>
                </a:solidFill>
                <a:latin typeface="Arial"/>
                <a:ea typeface="DejaVu Sans"/>
              </a:rPr>
              <a:t>Maximum window size is given by complete cycle, thus cycle is concatenated 3 times in a row</a:t>
            </a:r>
            <a:endParaRPr b="0" lang="de-DE" sz="1400" spc="-1" strike="noStrike">
              <a:solidFill>
                <a:schemeClr val="dk1"/>
              </a:solidFill>
              <a:latin typeface="Arial"/>
            </a:endParaRPr>
          </a:p>
          <a:p>
            <a:pPr lvl="1" marL="716040" indent="-266760" defTabSz="914400">
              <a:lnSpc>
                <a:spcPct val="90000"/>
              </a:lnSpc>
              <a:spcBef>
                <a:spcPts val="601"/>
              </a:spcBef>
              <a:buClr>
                <a:srgbClr val="000000"/>
              </a:buClr>
              <a:buFont typeface="Wingdings" charset="2"/>
              <a:buChar char=""/>
            </a:pPr>
            <a:r>
              <a:rPr b="0" lang="en-US" sz="1400" spc="-1" strike="noStrike">
                <a:solidFill>
                  <a:schemeClr val="dk1"/>
                </a:solidFill>
                <a:latin typeface="Arial"/>
                <a:ea typeface="DejaVu Sans"/>
              </a:rPr>
              <a:t>For time steps near the beginning or end of the cycle, the windows expand over the actual cycle and continue at the adjacent parts at the end or beginning.</a:t>
            </a:r>
            <a:br>
              <a:rPr sz="1400"/>
            </a:br>
            <a:r>
              <a:rPr b="0" lang="en-US" sz="1400" spc="-1" strike="noStrike">
                <a:solidFill>
                  <a:schemeClr val="dk1"/>
                </a:solidFill>
                <a:latin typeface="Arial"/>
              </a:rPr>
              <a:t> </a:t>
            </a:r>
            <a:endParaRPr b="0" lang="de-DE" sz="1400" spc="-1" strike="noStrike">
              <a:solidFill>
                <a:schemeClr val="dk1"/>
              </a:solidFill>
              <a:latin typeface="Arial"/>
            </a:endParaRPr>
          </a:p>
        </p:txBody>
      </p:sp>
      <p:sp>
        <p:nvSpPr>
          <p:cNvPr id="112" name="PlaceHolder 2"/>
          <p:cNvSpPr>
            <a:spLocks noGrp="1"/>
          </p:cNvSpPr>
          <p:nvPr>
            <p:ph type="title"/>
          </p:nvPr>
        </p:nvSpPr>
        <p:spPr>
          <a:xfrm>
            <a:off x="585360" y="850320"/>
            <a:ext cx="8228880" cy="1144440"/>
          </a:xfrm>
          <a:prstGeom prst="rect">
            <a:avLst/>
          </a:prstGeom>
          <a:noFill/>
          <a:ln w="0">
            <a:noFill/>
          </a:ln>
        </p:spPr>
        <p:txBody>
          <a:bodyPr lIns="0" rIns="0" tIns="0" bIns="0" anchor="ctr">
            <a:noAutofit/>
          </a:bodyPr>
          <a:p>
            <a:pPr indent="0" defTabSz="914400">
              <a:lnSpc>
                <a:spcPct val="90000"/>
              </a:lnSpc>
              <a:buNone/>
            </a:pPr>
            <a:r>
              <a:rPr b="1" lang="en-GB" sz="2400" spc="-1" strike="noStrike">
                <a:solidFill>
                  <a:srgbClr val="990000"/>
                </a:solidFill>
                <a:latin typeface="Arial"/>
                <a:ea typeface="DejaVu Sans"/>
              </a:rPr>
              <a:t>Fuel cell hybrid vehicles (FCHV) – Op. strategy (4/5)</a:t>
            </a:r>
            <a:endParaRPr b="0" lang="de-DE" sz="2400" spc="-1" strike="noStrike">
              <a:solidFill>
                <a:schemeClr val="dk1"/>
              </a:solidFill>
              <a:latin typeface="Arial"/>
            </a:endParaRPr>
          </a:p>
        </p:txBody>
      </p:sp>
      <p:sp>
        <p:nvSpPr>
          <p:cNvPr id="113" name="Textfeld 41"/>
          <p:cNvSpPr/>
          <p:nvPr/>
        </p:nvSpPr>
        <p:spPr>
          <a:xfrm>
            <a:off x="8098920" y="5230440"/>
            <a:ext cx="525960" cy="257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de-AT" sz="1100" spc="-1" strike="noStrike">
                <a:solidFill>
                  <a:schemeClr val="dk1"/>
                </a:solidFill>
                <a:latin typeface="Arial"/>
                <a:ea typeface="DejaVu Sans"/>
              </a:rPr>
              <a:t>time</a:t>
            </a:r>
            <a:endParaRPr b="0" lang="en-US" sz="1100" spc="-1" strike="noStrike">
              <a:solidFill>
                <a:srgbClr val="000000"/>
              </a:solidFill>
              <a:latin typeface="Arial"/>
            </a:endParaRPr>
          </a:p>
        </p:txBody>
      </p:sp>
      <p:pic>
        <p:nvPicPr>
          <p:cNvPr id="114" name="Grafik 42" descr=""/>
          <p:cNvPicPr/>
          <p:nvPr/>
        </p:nvPicPr>
        <p:blipFill>
          <a:blip r:embed="rId1"/>
          <a:srcRect l="7446" t="8899" r="23874" b="8543"/>
          <a:stretch/>
        </p:blipFill>
        <p:spPr>
          <a:xfrm>
            <a:off x="3148560" y="4045320"/>
            <a:ext cx="2326320" cy="1434600"/>
          </a:xfrm>
          <a:prstGeom prst="rect">
            <a:avLst/>
          </a:prstGeom>
          <a:ln w="0">
            <a:noFill/>
          </a:ln>
        </p:spPr>
      </p:pic>
      <p:pic>
        <p:nvPicPr>
          <p:cNvPr id="115" name="Grafik 43" descr=""/>
          <p:cNvPicPr/>
          <p:nvPr/>
        </p:nvPicPr>
        <p:blipFill>
          <a:blip r:embed="rId2"/>
          <a:srcRect l="7446" t="8899" r="23874" b="8543"/>
          <a:stretch/>
        </p:blipFill>
        <p:spPr>
          <a:xfrm>
            <a:off x="5474880" y="4045320"/>
            <a:ext cx="2326320" cy="1434600"/>
          </a:xfrm>
          <a:prstGeom prst="rect">
            <a:avLst/>
          </a:prstGeom>
          <a:ln w="0">
            <a:noFill/>
          </a:ln>
        </p:spPr>
      </p:pic>
      <p:pic>
        <p:nvPicPr>
          <p:cNvPr id="116" name="Grafik 44" descr=""/>
          <p:cNvPicPr/>
          <p:nvPr/>
        </p:nvPicPr>
        <p:blipFill>
          <a:blip r:embed="rId3"/>
          <a:srcRect l="7446" t="8899" r="23874" b="8543"/>
          <a:stretch/>
        </p:blipFill>
        <p:spPr>
          <a:xfrm>
            <a:off x="821880" y="4045320"/>
            <a:ext cx="2326320" cy="1434600"/>
          </a:xfrm>
          <a:prstGeom prst="rect">
            <a:avLst/>
          </a:prstGeom>
          <a:ln w="0">
            <a:noFill/>
          </a:ln>
        </p:spPr>
      </p:pic>
      <p:cxnSp>
        <p:nvCxnSpPr>
          <p:cNvPr id="117" name="Gerade Verbindung mit Pfeil 45"/>
          <p:cNvCxnSpPr/>
          <p:nvPr/>
        </p:nvCxnSpPr>
        <p:spPr>
          <a:xfrm>
            <a:off x="802080" y="5361120"/>
            <a:ext cx="7297200" cy="360"/>
          </a:xfrm>
          <a:prstGeom prst="straightConnector1">
            <a:avLst/>
          </a:prstGeom>
          <a:ln>
            <a:solidFill>
              <a:srgbClr val="4f81bd"/>
            </a:solidFill>
            <a:tailEnd len="med" type="triangle" w="med"/>
          </a:ln>
        </p:spPr>
      </p:cxnSp>
      <p:cxnSp>
        <p:nvCxnSpPr>
          <p:cNvPr id="118" name="Gerade Verbindung mit Pfeil 46"/>
          <p:cNvCxnSpPr/>
          <p:nvPr/>
        </p:nvCxnSpPr>
        <p:spPr>
          <a:xfrm flipV="1">
            <a:off x="813240" y="3645720"/>
            <a:ext cx="360" cy="1715760"/>
          </a:xfrm>
          <a:prstGeom prst="straightConnector1">
            <a:avLst/>
          </a:prstGeom>
          <a:ln>
            <a:solidFill>
              <a:srgbClr val="4f81bd"/>
            </a:solidFill>
            <a:tailEnd len="med" type="triangle" w="med"/>
          </a:ln>
        </p:spPr>
      </p:cxnSp>
      <p:cxnSp>
        <p:nvCxnSpPr>
          <p:cNvPr id="119" name="Gerader Verbinder 47"/>
          <p:cNvCxnSpPr/>
          <p:nvPr/>
        </p:nvCxnSpPr>
        <p:spPr>
          <a:xfrm>
            <a:off x="3148200" y="3947040"/>
            <a:ext cx="360" cy="1620360"/>
          </a:xfrm>
          <a:prstGeom prst="straightConnector1">
            <a:avLst/>
          </a:prstGeom>
          <a:ln w="28575">
            <a:solidFill>
              <a:srgbClr val="ff0000"/>
            </a:solidFill>
            <a:prstDash val="sysDash"/>
          </a:ln>
        </p:spPr>
      </p:cxnSp>
      <p:cxnSp>
        <p:nvCxnSpPr>
          <p:cNvPr id="120" name="Gerader Verbinder 48"/>
          <p:cNvCxnSpPr/>
          <p:nvPr/>
        </p:nvCxnSpPr>
        <p:spPr>
          <a:xfrm>
            <a:off x="5474880" y="5298480"/>
            <a:ext cx="360" cy="260280"/>
          </a:xfrm>
          <a:prstGeom prst="straightConnector1">
            <a:avLst/>
          </a:prstGeom>
          <a:ln w="12700">
            <a:solidFill>
              <a:srgbClr val="000000"/>
            </a:solidFill>
          </a:ln>
        </p:spPr>
      </p:cxnSp>
      <p:cxnSp>
        <p:nvCxnSpPr>
          <p:cNvPr id="121" name="Gerader Verbinder 49"/>
          <p:cNvCxnSpPr/>
          <p:nvPr/>
        </p:nvCxnSpPr>
        <p:spPr>
          <a:xfrm>
            <a:off x="7801560" y="5298480"/>
            <a:ext cx="360" cy="260280"/>
          </a:xfrm>
          <a:prstGeom prst="straightConnector1">
            <a:avLst/>
          </a:prstGeom>
          <a:ln w="12700">
            <a:solidFill>
              <a:srgbClr val="000000"/>
            </a:solidFill>
          </a:ln>
        </p:spPr>
      </p:cxnSp>
      <p:cxnSp>
        <p:nvCxnSpPr>
          <p:cNvPr id="122" name="Gerader Verbinder 50"/>
          <p:cNvCxnSpPr/>
          <p:nvPr/>
        </p:nvCxnSpPr>
        <p:spPr>
          <a:xfrm>
            <a:off x="821520" y="5298480"/>
            <a:ext cx="360" cy="260280"/>
          </a:xfrm>
          <a:prstGeom prst="straightConnector1">
            <a:avLst/>
          </a:prstGeom>
          <a:ln w="12700">
            <a:solidFill>
              <a:srgbClr val="000000"/>
            </a:solidFill>
          </a:ln>
        </p:spPr>
      </p:cxnSp>
      <p:sp>
        <p:nvSpPr>
          <p:cNvPr id="123" name="Pfeil nach links und rechts 51"/>
          <p:cNvSpPr/>
          <p:nvPr/>
        </p:nvSpPr>
        <p:spPr>
          <a:xfrm>
            <a:off x="821880" y="5440320"/>
            <a:ext cx="2326320" cy="263880"/>
          </a:xfrm>
          <a:prstGeom prst="leftRightArrow">
            <a:avLst>
              <a:gd name="adj1" fmla="val 64382"/>
              <a:gd name="adj2" fmla="val 50000"/>
            </a:avLst>
          </a:prstGeom>
          <a:gradFill rotWithShape="0">
            <a:gsLst>
              <a:gs pos="0">
                <a:srgbClr val="2e5f99"/>
              </a:gs>
              <a:gs pos="80000">
                <a:srgbClr val="3c7ac7"/>
              </a:gs>
              <a:gs pos="100000">
                <a:srgbClr val="397bca"/>
              </a:gs>
            </a:gsLst>
            <a:lin ang="16200000"/>
          </a:gradFill>
          <a:ln>
            <a:solidFill>
              <a:srgbClr val="4a7ebb"/>
            </a:solid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de-DE" sz="1200" spc="-1" strike="noStrike">
                <a:solidFill>
                  <a:schemeClr val="lt1"/>
                </a:solidFill>
                <a:latin typeface="Arial"/>
                <a:ea typeface="DejaVu Sans"/>
              </a:rPr>
              <a:t>previous copy of cycle</a:t>
            </a:r>
            <a:endParaRPr b="0" lang="en-US" sz="1200" spc="-1" strike="noStrike">
              <a:solidFill>
                <a:srgbClr val="000000"/>
              </a:solidFill>
              <a:latin typeface="Arial"/>
            </a:endParaRPr>
          </a:p>
        </p:txBody>
      </p:sp>
      <p:sp>
        <p:nvSpPr>
          <p:cNvPr id="124" name="Pfeil nach links und rechts 52"/>
          <p:cNvSpPr/>
          <p:nvPr/>
        </p:nvSpPr>
        <p:spPr>
          <a:xfrm>
            <a:off x="3148560" y="5440320"/>
            <a:ext cx="2326320" cy="263880"/>
          </a:xfrm>
          <a:prstGeom prst="leftRightArrow">
            <a:avLst>
              <a:gd name="adj1" fmla="val 64382"/>
              <a:gd name="adj2" fmla="val 50000"/>
            </a:avLst>
          </a:prstGeom>
          <a:gradFill rotWithShape="0">
            <a:gsLst>
              <a:gs pos="0">
                <a:srgbClr val="2e5f99"/>
              </a:gs>
              <a:gs pos="80000">
                <a:srgbClr val="3c7ac7"/>
              </a:gs>
              <a:gs pos="100000">
                <a:srgbClr val="397bca"/>
              </a:gs>
            </a:gsLst>
            <a:lin ang="16200000"/>
          </a:gradFill>
          <a:ln>
            <a:solidFill>
              <a:srgbClr val="4a7ebb"/>
            </a:solid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de-DE" sz="1200" spc="-1" strike="noStrike">
                <a:solidFill>
                  <a:schemeClr val="lt1"/>
                </a:solidFill>
                <a:latin typeface="Arial"/>
                <a:ea typeface="DejaVu Sans"/>
              </a:rPr>
              <a:t>actual cycle</a:t>
            </a:r>
            <a:endParaRPr b="0" lang="en-US" sz="1200" spc="-1" strike="noStrike">
              <a:solidFill>
                <a:srgbClr val="000000"/>
              </a:solidFill>
              <a:latin typeface="Arial"/>
            </a:endParaRPr>
          </a:p>
        </p:txBody>
      </p:sp>
      <p:sp>
        <p:nvSpPr>
          <p:cNvPr id="125" name="Pfeil nach links und rechts 53"/>
          <p:cNvSpPr/>
          <p:nvPr/>
        </p:nvSpPr>
        <p:spPr>
          <a:xfrm>
            <a:off x="5474880" y="5440320"/>
            <a:ext cx="2326320" cy="263880"/>
          </a:xfrm>
          <a:prstGeom prst="leftRightArrow">
            <a:avLst>
              <a:gd name="adj1" fmla="val 64382"/>
              <a:gd name="adj2" fmla="val 50000"/>
            </a:avLst>
          </a:prstGeom>
          <a:gradFill rotWithShape="0">
            <a:gsLst>
              <a:gs pos="0">
                <a:srgbClr val="2e5f99"/>
              </a:gs>
              <a:gs pos="80000">
                <a:srgbClr val="3c7ac7"/>
              </a:gs>
              <a:gs pos="100000">
                <a:srgbClr val="397bca"/>
              </a:gs>
            </a:gsLst>
            <a:lin ang="16200000"/>
          </a:gradFill>
          <a:ln>
            <a:solidFill>
              <a:srgbClr val="4a7ebb"/>
            </a:solid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de-DE" sz="1200" spc="-1" strike="noStrike">
                <a:solidFill>
                  <a:schemeClr val="lt1"/>
                </a:solidFill>
                <a:latin typeface="Arial"/>
                <a:ea typeface="DejaVu Sans"/>
              </a:rPr>
              <a:t>subsequent copy of cycle</a:t>
            </a:r>
            <a:endParaRPr b="0" lang="en-US" sz="1200" spc="-1" strike="noStrike">
              <a:solidFill>
                <a:srgbClr val="000000"/>
              </a:solidFill>
              <a:latin typeface="Arial"/>
            </a:endParaRPr>
          </a:p>
        </p:txBody>
      </p:sp>
      <p:sp>
        <p:nvSpPr>
          <p:cNvPr id="126" name="Textfeld 54"/>
          <p:cNvSpPr/>
          <p:nvPr/>
        </p:nvSpPr>
        <p:spPr>
          <a:xfrm>
            <a:off x="528120" y="3369240"/>
            <a:ext cx="564480" cy="2574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de-AT" sz="1100" spc="-1" strike="noStrike">
                <a:solidFill>
                  <a:schemeClr val="dk1"/>
                </a:solidFill>
                <a:latin typeface="Arial"/>
                <a:ea typeface="DejaVu Sans"/>
              </a:rPr>
              <a:t>speed</a:t>
            </a:r>
            <a:endParaRPr b="0" lang="en-US" sz="1100" spc="-1" strike="noStrike">
              <a:solidFill>
                <a:srgbClr val="000000"/>
              </a:solidFill>
              <a:latin typeface="Arial"/>
            </a:endParaRPr>
          </a:p>
        </p:txBody>
      </p:sp>
      <p:sp>
        <p:nvSpPr>
          <p:cNvPr id="127" name="Rechteck 55"/>
          <p:cNvSpPr/>
          <p:nvPr/>
        </p:nvSpPr>
        <p:spPr>
          <a:xfrm>
            <a:off x="3859920" y="3954240"/>
            <a:ext cx="827640" cy="1393920"/>
          </a:xfrm>
          <a:prstGeom prst="rect">
            <a:avLst/>
          </a:prstGeom>
          <a:solidFill>
            <a:schemeClr val="accent4">
              <a:alpha val="30000"/>
            </a:schemeClr>
          </a:solidFill>
          <a:ln>
            <a:solidFill>
              <a:srgbClr val="8064a2">
                <a:lumMod val="50000"/>
              </a:srgbClr>
            </a:solid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de-AT" sz="1800" spc="-1" strike="noStrike">
              <a:solidFill>
                <a:schemeClr val="lt1"/>
              </a:solidFill>
              <a:latin typeface="Arial"/>
              <a:ea typeface="DejaVu Sans"/>
            </a:endParaRPr>
          </a:p>
        </p:txBody>
      </p:sp>
      <p:sp>
        <p:nvSpPr>
          <p:cNvPr id="128" name="Rechteck 56"/>
          <p:cNvSpPr/>
          <p:nvPr/>
        </p:nvSpPr>
        <p:spPr>
          <a:xfrm>
            <a:off x="5040720" y="3954240"/>
            <a:ext cx="827640" cy="1393920"/>
          </a:xfrm>
          <a:prstGeom prst="rect">
            <a:avLst/>
          </a:prstGeom>
          <a:solidFill>
            <a:schemeClr val="accent2">
              <a:lumMod val="40000"/>
              <a:lumOff val="60000"/>
              <a:alpha val="30000"/>
            </a:schemeClr>
          </a:solidFill>
          <a:ln>
            <a:solidFill>
              <a:srgbClr val="c0504d"/>
            </a:solid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de-AT" sz="1800" spc="-1" strike="noStrike">
              <a:solidFill>
                <a:schemeClr val="lt1"/>
              </a:solidFill>
              <a:latin typeface="Arial"/>
              <a:ea typeface="DejaVu Sans"/>
            </a:endParaRPr>
          </a:p>
        </p:txBody>
      </p:sp>
      <p:sp>
        <p:nvSpPr>
          <p:cNvPr id="129" name="Rechteck 57"/>
          <p:cNvSpPr/>
          <p:nvPr/>
        </p:nvSpPr>
        <p:spPr>
          <a:xfrm>
            <a:off x="2742840" y="3954240"/>
            <a:ext cx="827640" cy="1393920"/>
          </a:xfrm>
          <a:prstGeom prst="rect">
            <a:avLst/>
          </a:prstGeom>
          <a:solidFill>
            <a:schemeClr val="accent1">
              <a:lumMod val="40000"/>
              <a:lumOff val="60000"/>
              <a:alpha val="30000"/>
            </a:schemeClr>
          </a:solidFill>
          <a:ln>
            <a:solidFill>
              <a:srgbClr val="4f81bd"/>
            </a:solid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de-AT" sz="1800" spc="-1" strike="noStrike">
              <a:solidFill>
                <a:schemeClr val="lt1"/>
              </a:solidFill>
              <a:latin typeface="Arial"/>
              <a:ea typeface="DejaVu Sans"/>
            </a:endParaRPr>
          </a:p>
        </p:txBody>
      </p:sp>
      <p:sp>
        <p:nvSpPr>
          <p:cNvPr id="130" name="Textfeld 58"/>
          <p:cNvSpPr/>
          <p:nvPr/>
        </p:nvSpPr>
        <p:spPr>
          <a:xfrm>
            <a:off x="2218320" y="3498120"/>
            <a:ext cx="1442160" cy="45540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0" lang="de-DE" sz="1200" spc="-1" strike="noStrike">
                <a:solidFill>
                  <a:schemeClr val="accent1"/>
                </a:solidFill>
                <a:latin typeface="Arial"/>
                <a:ea typeface="DejaVu Sans"/>
              </a:rPr>
              <a:t>window at beginning of cycle</a:t>
            </a:r>
            <a:endParaRPr b="0" lang="en-US" sz="1200" spc="-1" strike="noStrike">
              <a:solidFill>
                <a:srgbClr val="000000"/>
              </a:solidFill>
              <a:latin typeface="Arial"/>
            </a:endParaRPr>
          </a:p>
        </p:txBody>
      </p:sp>
      <p:sp>
        <p:nvSpPr>
          <p:cNvPr id="131" name="Textfeld 59"/>
          <p:cNvSpPr/>
          <p:nvPr/>
        </p:nvSpPr>
        <p:spPr>
          <a:xfrm>
            <a:off x="3660840" y="3498120"/>
            <a:ext cx="1225440" cy="4554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de-DE" sz="1200" spc="-1" strike="noStrike">
                <a:solidFill>
                  <a:schemeClr val="accent4"/>
                </a:solidFill>
                <a:latin typeface="Arial"/>
                <a:ea typeface="DejaVu Sans"/>
              </a:rPr>
              <a:t>window in the middle of cycle</a:t>
            </a:r>
            <a:endParaRPr b="0" lang="en-US" sz="1200" spc="-1" strike="noStrike">
              <a:solidFill>
                <a:srgbClr val="000000"/>
              </a:solidFill>
              <a:latin typeface="Arial"/>
            </a:endParaRPr>
          </a:p>
        </p:txBody>
      </p:sp>
      <p:sp>
        <p:nvSpPr>
          <p:cNvPr id="132" name="Textfeld 60"/>
          <p:cNvSpPr/>
          <p:nvPr/>
        </p:nvSpPr>
        <p:spPr>
          <a:xfrm>
            <a:off x="4977000" y="3498120"/>
            <a:ext cx="1173600" cy="455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de-DE" sz="1200" spc="-1" strike="noStrike">
                <a:solidFill>
                  <a:schemeClr val="accent2"/>
                </a:solidFill>
                <a:latin typeface="Arial"/>
                <a:ea typeface="DejaVu Sans"/>
              </a:rPr>
              <a:t>window at end</a:t>
            </a:r>
            <a:br>
              <a:rPr sz="1200"/>
            </a:br>
            <a:r>
              <a:rPr b="0" lang="de-DE" sz="1200" spc="-1" strike="noStrike">
                <a:solidFill>
                  <a:schemeClr val="accent2"/>
                </a:solidFill>
                <a:latin typeface="Arial"/>
                <a:ea typeface="DejaVu Sans"/>
              </a:rPr>
              <a:t>of cycle</a:t>
            </a:r>
            <a:endParaRPr b="0" lang="en-US" sz="1200" spc="-1" strike="noStrike">
              <a:solidFill>
                <a:srgbClr val="000000"/>
              </a:solidFill>
              <a:latin typeface="Arial"/>
            </a:endParaRPr>
          </a:p>
        </p:txBody>
      </p:sp>
      <p:cxnSp>
        <p:nvCxnSpPr>
          <p:cNvPr id="133" name="Gerader Verbinder 61"/>
          <p:cNvCxnSpPr/>
          <p:nvPr/>
        </p:nvCxnSpPr>
        <p:spPr>
          <a:xfrm>
            <a:off x="5474880" y="3947040"/>
            <a:ext cx="360" cy="1620360"/>
          </a:xfrm>
          <a:prstGeom prst="straightConnector1">
            <a:avLst/>
          </a:prstGeom>
          <a:ln w="28575">
            <a:solidFill>
              <a:srgbClr val="ff0000"/>
            </a:solidFill>
            <a:prstDash val="sysDash"/>
          </a:ln>
        </p:spPr>
      </p:cxnSp>
      <p:sp>
        <p:nvSpPr>
          <p:cNvPr id="4" name="PlaceHolder 3"/>
          <p:cNvSpPr>
            <a:spLocks noGrp="1"/>
          </p:cNvSpPr>
          <p:nvPr>
            <p:ph type="sldNum" idx="2"/>
          </p:nvPr>
        </p:nvSpPr>
        <p:spPr/>
        <p:txBody>
          <a:bodyPr/>
          <a:p>
            <a:fld id="{F466896A-6A95-4A76-AFC4-8824DBC6F736}" type="slidenum">
              <a:t>14</a:t>
            </a:fld>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p:nvPr>
        </p:nvSpPr>
        <p:spPr>
          <a:xfrm>
            <a:off x="622440" y="2137320"/>
            <a:ext cx="8521200" cy="1140120"/>
          </a:xfrm>
          <a:prstGeom prst="rect">
            <a:avLst/>
          </a:prstGeom>
          <a:noFill/>
          <a:ln w="0">
            <a:noFill/>
          </a:ln>
        </p:spPr>
        <p:txBody>
          <a:bodyPr lIns="0" rIns="0" tIns="0" bIns="0" anchor="t">
            <a:normAutofit fontScale="56058"/>
          </a:bodyPr>
          <a:p>
            <a:pPr marL="228600" indent="-228600" defTabSz="914400">
              <a:lnSpc>
                <a:spcPct val="90000"/>
              </a:lnSpc>
              <a:spcBef>
                <a:spcPts val="601"/>
              </a:spcBef>
              <a:buClr>
                <a:srgbClr val="000000"/>
              </a:buClr>
              <a:buFont typeface="Arial"/>
              <a:buChar char="•"/>
            </a:pPr>
            <a:r>
              <a:rPr b="1" lang="en-US" sz="1600" spc="-1" strike="noStrike">
                <a:solidFill>
                  <a:schemeClr val="dk1"/>
                </a:solidFill>
                <a:latin typeface="Arial"/>
                <a:ea typeface="DejaVu Sans"/>
              </a:rPr>
              <a:t>Actual simulation run as FCHV and applicable boundary conditions</a:t>
            </a:r>
            <a:endParaRPr b="0" lang="de-DE" sz="1600" spc="-1" strike="noStrike">
              <a:solidFill>
                <a:schemeClr val="dk1"/>
              </a:solidFill>
              <a:latin typeface="Arial"/>
            </a:endParaRPr>
          </a:p>
          <a:p>
            <a:pPr lvl="1" marL="716040" indent="-266760" defTabSz="914400">
              <a:lnSpc>
                <a:spcPct val="90000"/>
              </a:lnSpc>
              <a:spcBef>
                <a:spcPts val="601"/>
              </a:spcBef>
              <a:buClr>
                <a:srgbClr val="000000"/>
              </a:buClr>
              <a:buFont typeface="Wingdings" charset="2"/>
              <a:buChar char=""/>
            </a:pPr>
            <a:r>
              <a:rPr b="0" lang="en-US" sz="1600" spc="-1" strike="noStrike">
                <a:solidFill>
                  <a:schemeClr val="dk1"/>
                </a:solidFill>
                <a:latin typeface="Arial"/>
                <a:ea typeface="DejaVu Sans"/>
              </a:rPr>
              <a:t>In case average power demand over total cycle is higher than FCS maximum power:</a:t>
            </a:r>
            <a:br>
              <a:rPr sz="1600"/>
            </a:br>
            <a:r>
              <a:rPr b="0" lang="en-US" sz="1600" spc="-1" strike="noStrike">
                <a:solidFill>
                  <a:schemeClr val="dk1"/>
                </a:solidFill>
                <a:latin typeface="Wingdings"/>
                <a:ea typeface="DejaVu Sans"/>
              </a:rPr>
              <a:t></a:t>
            </a:r>
            <a:r>
              <a:rPr b="0" lang="en-US" sz="1600" spc="-1" strike="noStrike">
                <a:solidFill>
                  <a:schemeClr val="dk1"/>
                </a:solidFill>
                <a:latin typeface="Arial"/>
                <a:ea typeface="DejaVu Sans"/>
              </a:rPr>
              <a:t> defined error message and simulation is aborted</a:t>
            </a:r>
            <a:br>
              <a:rPr sz="1600"/>
            </a:br>
            <a:r>
              <a:rPr b="0" lang="en-US" sz="1600" spc="-1" strike="noStrike">
                <a:solidFill>
                  <a:schemeClr val="dk1"/>
                </a:solidFill>
                <a:latin typeface="Arial"/>
                <a:ea typeface="DejaVu Sans"/>
              </a:rPr>
              <a:t>(vehicle configuration not reasonable for this mission, should not occur in practice)</a:t>
            </a:r>
            <a:br>
              <a:rPr sz="1600"/>
            </a:br>
            <a:r>
              <a:rPr b="0" lang="en-US" sz="1600" spc="-1" strike="noStrike">
                <a:solidFill>
                  <a:schemeClr val="dk1"/>
                </a:solidFill>
                <a:latin typeface="Arial"/>
              </a:rPr>
              <a:t> </a:t>
            </a:r>
            <a:endParaRPr b="0" lang="de-DE" sz="1600" spc="-1" strike="noStrike">
              <a:solidFill>
                <a:schemeClr val="dk1"/>
              </a:solidFill>
              <a:latin typeface="Arial"/>
            </a:endParaRPr>
          </a:p>
          <a:p>
            <a:pPr lvl="1" marL="716040" indent="-266760" defTabSz="914400">
              <a:lnSpc>
                <a:spcPct val="90000"/>
              </a:lnSpc>
              <a:spcBef>
                <a:spcPts val="601"/>
              </a:spcBef>
              <a:buClr>
                <a:srgbClr val="000000"/>
              </a:buClr>
              <a:buFont typeface="Wingdings" charset="2"/>
              <a:buChar char=""/>
            </a:pPr>
            <a:r>
              <a:rPr b="0" lang="en-US" sz="1600" spc="-1" strike="noStrike">
                <a:solidFill>
                  <a:schemeClr val="dk1"/>
                </a:solidFill>
                <a:latin typeface="Arial"/>
                <a:ea typeface="DejaVu Sans"/>
              </a:rPr>
              <a:t>In case average power in a certain timestep is lower than FCS minimum power:</a:t>
            </a:r>
            <a:br>
              <a:rPr sz="1600"/>
            </a:br>
            <a:r>
              <a:rPr b="0" lang="en-US" sz="1600" spc="-1" strike="noStrike">
                <a:solidFill>
                  <a:schemeClr val="dk1"/>
                </a:solidFill>
                <a:latin typeface="Wingdings"/>
                <a:ea typeface="DejaVu Sans"/>
              </a:rPr>
              <a:t></a:t>
            </a:r>
            <a:r>
              <a:rPr b="0" lang="en-US" sz="1600" spc="-1" strike="noStrike">
                <a:solidFill>
                  <a:schemeClr val="dk1"/>
                </a:solidFill>
                <a:latin typeface="Arial"/>
                <a:ea typeface="DejaVu Sans"/>
              </a:rPr>
              <a:t> FCS is switched off</a:t>
            </a:r>
            <a:br>
              <a:rPr sz="1600"/>
            </a:br>
            <a:r>
              <a:rPr b="0" lang="en-US" sz="1600" spc="-1" strike="noStrike">
                <a:solidFill>
                  <a:schemeClr val="dk1"/>
                </a:solidFill>
                <a:latin typeface="Wingdings"/>
                <a:ea typeface="DejaVu Sans"/>
              </a:rPr>
              <a:t></a:t>
            </a:r>
            <a:r>
              <a:rPr b="0" lang="en-US" sz="1600" spc="-1" strike="noStrike">
                <a:solidFill>
                  <a:schemeClr val="dk1"/>
                </a:solidFill>
                <a:latin typeface="Arial"/>
                <a:ea typeface="DejaVu Sans"/>
              </a:rPr>
              <a:t> missing energy from FCS for those timesteps will be accounted for in post-processing via </a:t>
            </a:r>
            <a:r>
              <a:rPr b="0" lang="el-GR" sz="1600" spc="-1" strike="noStrike">
                <a:solidFill>
                  <a:schemeClr val="dk1"/>
                </a:solidFill>
                <a:latin typeface="Arial"/>
                <a:ea typeface="DejaVu Sans"/>
              </a:rPr>
              <a:t>Δ</a:t>
            </a:r>
            <a:r>
              <a:rPr b="0" lang="en-GB" sz="1600" spc="-1" strike="noStrike">
                <a:solidFill>
                  <a:schemeClr val="dk1"/>
                </a:solidFill>
                <a:latin typeface="Arial"/>
                <a:ea typeface="DejaVu Sans"/>
              </a:rPr>
              <a:t>SOC correction </a:t>
            </a:r>
            <a:endParaRPr b="0" lang="de-DE" sz="1600" spc="-1" strike="noStrike">
              <a:solidFill>
                <a:schemeClr val="dk1"/>
              </a:solidFill>
              <a:latin typeface="Arial"/>
            </a:endParaRPr>
          </a:p>
          <a:p>
            <a:pPr indent="0" defTabSz="914400">
              <a:lnSpc>
                <a:spcPct val="90000"/>
              </a:lnSpc>
              <a:spcBef>
                <a:spcPts val="1001"/>
              </a:spcBef>
              <a:buNone/>
            </a:pPr>
            <a:endParaRPr b="0" lang="de-DE" sz="1800" spc="-1" strike="noStrike">
              <a:solidFill>
                <a:schemeClr val="dk1"/>
              </a:solidFill>
              <a:latin typeface="Arial"/>
            </a:endParaRPr>
          </a:p>
        </p:txBody>
      </p:sp>
      <p:sp>
        <p:nvSpPr>
          <p:cNvPr id="135" name="PlaceHolder 2"/>
          <p:cNvSpPr>
            <a:spLocks noGrp="1"/>
          </p:cNvSpPr>
          <p:nvPr>
            <p:ph type="title"/>
          </p:nvPr>
        </p:nvSpPr>
        <p:spPr>
          <a:xfrm>
            <a:off x="585360" y="850320"/>
            <a:ext cx="8228880" cy="1144440"/>
          </a:xfrm>
          <a:prstGeom prst="rect">
            <a:avLst/>
          </a:prstGeom>
          <a:noFill/>
          <a:ln w="0">
            <a:noFill/>
          </a:ln>
        </p:spPr>
        <p:txBody>
          <a:bodyPr lIns="0" rIns="0" tIns="0" bIns="0" anchor="ctr">
            <a:noAutofit/>
          </a:bodyPr>
          <a:p>
            <a:pPr indent="0" defTabSz="914400">
              <a:lnSpc>
                <a:spcPct val="90000"/>
              </a:lnSpc>
              <a:buNone/>
            </a:pPr>
            <a:r>
              <a:rPr b="1" lang="en-GB" sz="2400" spc="-1" strike="noStrike">
                <a:solidFill>
                  <a:srgbClr val="990000"/>
                </a:solidFill>
                <a:latin typeface="Arial"/>
                <a:ea typeface="DejaVu Sans"/>
              </a:rPr>
              <a:t>Fuel cell hybrid vehicles (FCHV) – Op. strategy (5/5)</a:t>
            </a:r>
            <a:endParaRPr b="0" lang="de-DE" sz="2400" spc="-1" strike="noStrike">
              <a:solidFill>
                <a:schemeClr val="dk1"/>
              </a:solidFill>
              <a:latin typeface="Arial"/>
            </a:endParaRPr>
          </a:p>
        </p:txBody>
      </p:sp>
      <p:sp>
        <p:nvSpPr>
          <p:cNvPr id="4" name="PlaceHolder 3"/>
          <p:cNvSpPr>
            <a:spLocks noGrp="1"/>
          </p:cNvSpPr>
          <p:nvPr>
            <p:ph type="sldNum" idx="2"/>
          </p:nvPr>
        </p:nvSpPr>
        <p:spPr/>
        <p:txBody>
          <a:bodyPr/>
          <a:p>
            <a:fld id="{F8E491CF-878A-438F-A930-E1941F67966F}" type="slidenum">
              <a:t>15</a:t>
            </a:fld>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p:nvPr>
        </p:nvSpPr>
        <p:spPr>
          <a:xfrm>
            <a:off x="622440" y="2137320"/>
            <a:ext cx="8394120" cy="2072160"/>
          </a:xfrm>
          <a:prstGeom prst="rect">
            <a:avLst/>
          </a:prstGeom>
          <a:noFill/>
          <a:ln w="0">
            <a:noFill/>
          </a:ln>
        </p:spPr>
        <p:txBody>
          <a:bodyPr lIns="0" rIns="0" tIns="0" bIns="0" anchor="t">
            <a:noAutofit/>
          </a:bodyPr>
          <a:p>
            <a:pPr marL="228600" indent="-228600" defTabSz="914400">
              <a:lnSpc>
                <a:spcPct val="90000"/>
              </a:lnSpc>
              <a:spcBef>
                <a:spcPts val="1199"/>
              </a:spcBef>
              <a:buClr>
                <a:srgbClr val="000000"/>
              </a:buClr>
              <a:buFont typeface="Arial"/>
              <a:buChar char="•"/>
            </a:pPr>
            <a:r>
              <a:rPr b="0" lang="en-US" sz="1800" spc="-1" strike="noStrike">
                <a:solidFill>
                  <a:schemeClr val="dk1"/>
                </a:solidFill>
                <a:latin typeface="Arial"/>
                <a:ea typeface="DejaVu Sans"/>
              </a:rPr>
              <a:t>New powertrain type of FCHV added</a:t>
            </a:r>
            <a:r>
              <a:rPr b="0" lang="en-GB" sz="1800" spc="-1" strike="noStrike">
                <a:solidFill>
                  <a:schemeClr val="dk1"/>
                </a:solidFill>
                <a:latin typeface="Arial"/>
                <a:ea typeface="DejaVu Sans"/>
              </a:rPr>
              <a:t> to Job Editor</a:t>
            </a:r>
            <a:endParaRPr b="0" lang="de-DE" sz="1800" spc="-1" strike="noStrike">
              <a:solidFill>
                <a:schemeClr val="dk1"/>
              </a:solidFill>
              <a:latin typeface="Arial"/>
            </a:endParaRPr>
          </a:p>
        </p:txBody>
      </p:sp>
      <p:sp>
        <p:nvSpPr>
          <p:cNvPr id="137" name="PlaceHolder 2"/>
          <p:cNvSpPr>
            <a:spLocks noGrp="1"/>
          </p:cNvSpPr>
          <p:nvPr>
            <p:ph type="title"/>
          </p:nvPr>
        </p:nvSpPr>
        <p:spPr>
          <a:xfrm>
            <a:off x="585360" y="850320"/>
            <a:ext cx="8228880" cy="1144440"/>
          </a:xfrm>
          <a:prstGeom prst="rect">
            <a:avLst/>
          </a:prstGeom>
          <a:noFill/>
          <a:ln w="0">
            <a:noFill/>
          </a:ln>
        </p:spPr>
        <p:txBody>
          <a:bodyPr lIns="0" rIns="0" tIns="0" bIns="0" anchor="ctr">
            <a:noAutofit/>
          </a:bodyPr>
          <a:p>
            <a:pPr indent="0" defTabSz="914400">
              <a:lnSpc>
                <a:spcPct val="90000"/>
              </a:lnSpc>
              <a:buNone/>
            </a:pPr>
            <a:r>
              <a:rPr b="1" lang="en-GB" sz="2400" spc="-1" strike="noStrike">
                <a:solidFill>
                  <a:srgbClr val="990000"/>
                </a:solidFill>
                <a:latin typeface="Arial"/>
                <a:ea typeface="DejaVu Sans"/>
              </a:rPr>
              <a:t>Fuel cell hybrid vehicles (FCHV) – VECTO features (1/5)</a:t>
            </a:r>
            <a:endParaRPr b="0" lang="de-DE" sz="2400" spc="-1" strike="noStrike">
              <a:solidFill>
                <a:schemeClr val="dk1"/>
              </a:solidFill>
              <a:latin typeface="Arial"/>
            </a:endParaRPr>
          </a:p>
        </p:txBody>
      </p:sp>
      <p:pic>
        <p:nvPicPr>
          <p:cNvPr id="138" name="Grafik 1" descr=""/>
          <p:cNvPicPr/>
          <p:nvPr/>
        </p:nvPicPr>
        <p:blipFill>
          <a:blip r:embed="rId1"/>
          <a:srcRect l="0" t="0" r="0" b="36433"/>
          <a:stretch/>
        </p:blipFill>
        <p:spPr>
          <a:xfrm>
            <a:off x="622440" y="2639520"/>
            <a:ext cx="8377200" cy="3216960"/>
          </a:xfrm>
          <a:prstGeom prst="rect">
            <a:avLst/>
          </a:prstGeom>
          <a:ln w="0">
            <a:noFill/>
          </a:ln>
        </p:spPr>
      </p:pic>
      <p:sp>
        <p:nvSpPr>
          <p:cNvPr id="139" name="Rechteck 6"/>
          <p:cNvSpPr/>
          <p:nvPr/>
        </p:nvSpPr>
        <p:spPr>
          <a:xfrm>
            <a:off x="885240" y="3746520"/>
            <a:ext cx="931680" cy="179640"/>
          </a:xfrm>
          <a:prstGeom prst="rect">
            <a:avLst/>
          </a:prstGeom>
          <a:noFill/>
          <a:ln w="28575">
            <a:solidFill>
              <a:srgbClr val="ff0000"/>
            </a:solid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de-AT" sz="1800" spc="-1" strike="noStrike">
              <a:solidFill>
                <a:schemeClr val="lt1"/>
              </a:solidFill>
              <a:latin typeface="Arial"/>
              <a:ea typeface="DejaVu Sans"/>
            </a:endParaRPr>
          </a:p>
        </p:txBody>
      </p:sp>
      <p:sp>
        <p:nvSpPr>
          <p:cNvPr id="4" name="PlaceHolder 3"/>
          <p:cNvSpPr>
            <a:spLocks noGrp="1"/>
          </p:cNvSpPr>
          <p:nvPr>
            <p:ph type="sldNum" idx="2"/>
          </p:nvPr>
        </p:nvSpPr>
        <p:spPr/>
        <p:txBody>
          <a:bodyPr/>
          <a:p>
            <a:fld id="{F93D3FAE-5213-401B-BBC2-062A1851EB45}" type="slidenum">
              <a:t>16</a:t>
            </a:fld>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p:nvPr>
        </p:nvSpPr>
        <p:spPr>
          <a:xfrm>
            <a:off x="622440" y="2137320"/>
            <a:ext cx="8394120" cy="2072160"/>
          </a:xfrm>
          <a:prstGeom prst="rect">
            <a:avLst/>
          </a:prstGeom>
          <a:noFill/>
          <a:ln w="0">
            <a:noFill/>
          </a:ln>
        </p:spPr>
        <p:txBody>
          <a:bodyPr lIns="0" rIns="0" tIns="0" bIns="0" anchor="t">
            <a:noAutofit/>
          </a:bodyPr>
          <a:p>
            <a:pPr marL="228600" indent="-228600" defTabSz="914400">
              <a:lnSpc>
                <a:spcPct val="90000"/>
              </a:lnSpc>
              <a:spcBef>
                <a:spcPts val="1199"/>
              </a:spcBef>
              <a:buClr>
                <a:srgbClr val="000000"/>
              </a:buClr>
              <a:buFont typeface="Arial"/>
              <a:buChar char="•"/>
            </a:pPr>
            <a:r>
              <a:rPr b="0" lang="en-US" sz="1800" spc="-1" strike="noStrike">
                <a:solidFill>
                  <a:schemeClr val="dk1"/>
                </a:solidFill>
                <a:latin typeface="Arial"/>
                <a:ea typeface="DejaVu Sans"/>
              </a:rPr>
              <a:t>FCS to be parameterized </a:t>
            </a:r>
            <a:r>
              <a:rPr b="0" lang="de-AT" sz="1800" spc="-1" strike="noStrike">
                <a:solidFill>
                  <a:schemeClr val="dk1"/>
                </a:solidFill>
                <a:latin typeface="Arial"/>
                <a:ea typeface="DejaVu Sans"/>
              </a:rPr>
              <a:t>via specific „Fuel Cell System“ tab in „Vehicle“ editor</a:t>
            </a:r>
            <a:endParaRPr b="0" lang="de-DE" sz="1800" spc="-1" strike="noStrike">
              <a:solidFill>
                <a:schemeClr val="dk1"/>
              </a:solidFill>
              <a:latin typeface="Arial"/>
            </a:endParaRPr>
          </a:p>
        </p:txBody>
      </p:sp>
      <p:sp>
        <p:nvSpPr>
          <p:cNvPr id="141" name="PlaceHolder 2"/>
          <p:cNvSpPr>
            <a:spLocks noGrp="1"/>
          </p:cNvSpPr>
          <p:nvPr>
            <p:ph type="title"/>
          </p:nvPr>
        </p:nvSpPr>
        <p:spPr>
          <a:xfrm>
            <a:off x="585360" y="850320"/>
            <a:ext cx="8228880" cy="1144440"/>
          </a:xfrm>
          <a:prstGeom prst="rect">
            <a:avLst/>
          </a:prstGeom>
          <a:noFill/>
          <a:ln w="0">
            <a:noFill/>
          </a:ln>
        </p:spPr>
        <p:txBody>
          <a:bodyPr lIns="0" rIns="0" tIns="0" bIns="0" anchor="ctr">
            <a:noAutofit/>
          </a:bodyPr>
          <a:p>
            <a:pPr indent="0" defTabSz="914400">
              <a:lnSpc>
                <a:spcPct val="90000"/>
              </a:lnSpc>
              <a:buNone/>
            </a:pPr>
            <a:r>
              <a:rPr b="1" lang="en-GB" sz="2400" spc="-1" strike="noStrike">
                <a:solidFill>
                  <a:srgbClr val="990000"/>
                </a:solidFill>
                <a:latin typeface="Arial"/>
                <a:ea typeface="DejaVu Sans"/>
              </a:rPr>
              <a:t>Fuel cell hybrid vehicles (FCHV) – VECTO features (2/5)</a:t>
            </a:r>
            <a:endParaRPr b="0" lang="de-DE" sz="2400" spc="-1" strike="noStrike">
              <a:solidFill>
                <a:schemeClr val="dk1"/>
              </a:solidFill>
              <a:latin typeface="Arial"/>
            </a:endParaRPr>
          </a:p>
        </p:txBody>
      </p:sp>
      <p:pic>
        <p:nvPicPr>
          <p:cNvPr id="142" name="Grafik 2" descr=""/>
          <p:cNvPicPr/>
          <p:nvPr/>
        </p:nvPicPr>
        <p:blipFill>
          <a:blip r:embed="rId1"/>
          <a:stretch/>
        </p:blipFill>
        <p:spPr>
          <a:xfrm>
            <a:off x="622440" y="2522160"/>
            <a:ext cx="4852080" cy="3400560"/>
          </a:xfrm>
          <a:prstGeom prst="rect">
            <a:avLst/>
          </a:prstGeom>
          <a:ln w="0">
            <a:noFill/>
          </a:ln>
        </p:spPr>
      </p:pic>
      <p:sp>
        <p:nvSpPr>
          <p:cNvPr id="143" name="Ellipse 8"/>
          <p:cNvSpPr/>
          <p:nvPr/>
        </p:nvSpPr>
        <p:spPr>
          <a:xfrm>
            <a:off x="622440" y="3035160"/>
            <a:ext cx="519840" cy="519120"/>
          </a:xfrm>
          <a:prstGeom prst="ellipse">
            <a:avLst/>
          </a:prstGeom>
          <a:noFill/>
          <a:ln w="19050">
            <a:solidFill>
              <a:srgbClr val="ff0000"/>
            </a:solidFill>
            <a:round/>
          </a:ln>
        </p:spPr>
        <p:style>
          <a:lnRef idx="0"/>
          <a:fillRef idx="0"/>
          <a:effectRef idx="0"/>
          <a:fontRef idx="minor"/>
        </p:style>
        <p:txBody>
          <a:bodyPr numCol="1" spcCol="0" anchor="ctr">
            <a:spAutoFit/>
          </a:bodyPr>
          <a:p>
            <a:pPr algn="ctr" defTabSz="914400">
              <a:lnSpc>
                <a:spcPct val="100000"/>
              </a:lnSpc>
              <a:spcBef>
                <a:spcPts val="541"/>
              </a:spcBef>
            </a:pPr>
            <a:endParaRPr b="0" lang="de-AT" sz="1800" spc="-1" strike="noStrike">
              <a:solidFill>
                <a:schemeClr val="dk1"/>
              </a:solidFill>
              <a:latin typeface="Arial"/>
              <a:ea typeface="DejaVu Sans"/>
            </a:endParaRPr>
          </a:p>
        </p:txBody>
      </p:sp>
      <p:pic>
        <p:nvPicPr>
          <p:cNvPr id="144" name="Grafik 10" descr=""/>
          <p:cNvPicPr/>
          <p:nvPr/>
        </p:nvPicPr>
        <p:blipFill>
          <a:blip r:embed="rId2"/>
          <a:stretch/>
        </p:blipFill>
        <p:spPr>
          <a:xfrm>
            <a:off x="2988360" y="2522160"/>
            <a:ext cx="3457440" cy="3400560"/>
          </a:xfrm>
          <a:prstGeom prst="rect">
            <a:avLst/>
          </a:prstGeom>
          <a:ln w="0">
            <a:noFill/>
          </a:ln>
        </p:spPr>
      </p:pic>
      <p:sp>
        <p:nvSpPr>
          <p:cNvPr id="145" name="Ellipse 9"/>
          <p:cNvSpPr/>
          <p:nvPr/>
        </p:nvSpPr>
        <p:spPr>
          <a:xfrm>
            <a:off x="4237560" y="3368520"/>
            <a:ext cx="647640" cy="519120"/>
          </a:xfrm>
          <a:prstGeom prst="ellipse">
            <a:avLst/>
          </a:prstGeom>
          <a:noFill/>
          <a:ln w="19050">
            <a:solidFill>
              <a:srgbClr val="ff0000"/>
            </a:solidFill>
            <a:round/>
          </a:ln>
        </p:spPr>
        <p:style>
          <a:lnRef idx="0"/>
          <a:fillRef idx="0"/>
          <a:effectRef idx="0"/>
          <a:fontRef idx="minor"/>
        </p:style>
        <p:txBody>
          <a:bodyPr numCol="1" spcCol="0" anchor="ctr">
            <a:spAutoFit/>
          </a:bodyPr>
          <a:p>
            <a:pPr algn="ctr" defTabSz="914400">
              <a:lnSpc>
                <a:spcPct val="100000"/>
              </a:lnSpc>
              <a:spcBef>
                <a:spcPts val="541"/>
              </a:spcBef>
            </a:pPr>
            <a:endParaRPr b="0" lang="de-AT" sz="1800" spc="-1" strike="noStrike">
              <a:solidFill>
                <a:schemeClr val="dk1"/>
              </a:solidFill>
              <a:latin typeface="Arial"/>
              <a:ea typeface="DejaVu Sans"/>
            </a:endParaRPr>
          </a:p>
        </p:txBody>
      </p:sp>
      <p:sp>
        <p:nvSpPr>
          <p:cNvPr id="146" name="Textfeld 11"/>
          <p:cNvSpPr/>
          <p:nvPr/>
        </p:nvSpPr>
        <p:spPr>
          <a:xfrm>
            <a:off x="6670440" y="2522160"/>
            <a:ext cx="2203560" cy="3291840"/>
          </a:xfrm>
          <a:prstGeom prst="rect">
            <a:avLst/>
          </a:prstGeom>
          <a:noFill/>
          <a:ln w="0">
            <a:noFill/>
          </a:ln>
        </p:spPr>
        <p:style>
          <a:lnRef idx="0"/>
          <a:fillRef idx="0"/>
          <a:effectRef idx="0"/>
          <a:fontRef idx="minor"/>
        </p:style>
        <p:txBody>
          <a:bodyPr lIns="90000" rIns="90000" tIns="45000" bIns="45000" anchor="t">
            <a:spAutoFit/>
          </a:bodyPr>
          <a:p>
            <a:pPr marL="285840" indent="-285840" defTabSz="914400">
              <a:lnSpc>
                <a:spcPct val="100000"/>
              </a:lnSpc>
              <a:buClr>
                <a:srgbClr val="000000"/>
              </a:buClr>
              <a:buFont typeface="Wingdings" charset="2"/>
              <a:buChar char=""/>
            </a:pPr>
            <a:r>
              <a:rPr b="0" lang="de-AT" sz="1400" spc="-1" strike="noStrike">
                <a:solidFill>
                  <a:schemeClr val="dk1"/>
                </a:solidFill>
                <a:latin typeface="Arial"/>
                <a:ea typeface="DejaVu Sans"/>
              </a:rPr>
              <a:t>Power gradient limits change in FCS power over time</a:t>
            </a:r>
            <a:br>
              <a:rPr sz="1400"/>
            </a:br>
            <a:r>
              <a:rPr b="0" lang="de-AT" sz="1400" spc="-1" strike="noStrike">
                <a:solidFill>
                  <a:schemeClr val="dk1"/>
                </a:solidFill>
                <a:latin typeface="Arial"/>
              </a:rPr>
              <a:t> </a:t>
            </a:r>
            <a:endParaRPr b="0" lang="en-US" sz="1400" spc="-1" strike="noStrike">
              <a:solidFill>
                <a:srgbClr val="000000"/>
              </a:solidFill>
              <a:latin typeface="Arial"/>
            </a:endParaRPr>
          </a:p>
          <a:p>
            <a:pPr marL="285840" indent="-285840" defTabSz="914400">
              <a:lnSpc>
                <a:spcPct val="100000"/>
              </a:lnSpc>
              <a:buClr>
                <a:srgbClr val="000000"/>
              </a:buClr>
              <a:buFont typeface="Wingdings" charset="2"/>
              <a:buChar char=""/>
            </a:pPr>
            <a:r>
              <a:rPr b="0" lang="de-AT" sz="1400" spc="-1" strike="noStrike">
                <a:solidFill>
                  <a:schemeClr val="dk1"/>
                </a:solidFill>
                <a:latin typeface="Arial"/>
                <a:ea typeface="DejaVu Sans"/>
              </a:rPr>
              <a:t>On/off-Hysteresis is minimum time that FCS stays off or on after state change occurs</a:t>
            </a:r>
            <a:br>
              <a:rPr sz="1400"/>
            </a:br>
            <a:r>
              <a:rPr b="1" i="1" lang="de-AT" sz="1400" spc="-1" strike="noStrike">
                <a:solidFill>
                  <a:srgbClr val="ff0000"/>
                </a:solidFill>
                <a:latin typeface="Wingdings"/>
                <a:ea typeface="DejaVu Sans"/>
              </a:rPr>
              <a:t></a:t>
            </a:r>
            <a:r>
              <a:rPr b="1" i="1" lang="de-AT" sz="1400" spc="-1" strike="noStrike">
                <a:solidFill>
                  <a:srgbClr val="ff0000"/>
                </a:solidFill>
                <a:latin typeface="Arial"/>
                <a:ea typeface="DejaVu Sans"/>
              </a:rPr>
              <a:t> not required anymore after insights gained during work on implementation of multiple FCS</a:t>
            </a:r>
            <a:endParaRPr b="0" lang="en-US" sz="1400" spc="-1" strike="noStrike">
              <a:solidFill>
                <a:srgbClr val="000000"/>
              </a:solidFill>
              <a:latin typeface="Arial"/>
            </a:endParaRPr>
          </a:p>
        </p:txBody>
      </p:sp>
      <p:cxnSp>
        <p:nvCxnSpPr>
          <p:cNvPr id="147" name="Gewinkelter Verbinder 13"/>
          <p:cNvCxnSpPr/>
          <p:nvPr/>
        </p:nvCxnSpPr>
        <p:spPr>
          <a:xfrm flipV="1" rot="10800000">
            <a:off x="4735440" y="2662560"/>
            <a:ext cx="1988640" cy="1213560"/>
          </a:xfrm>
          <a:prstGeom prst="bentConnector2">
            <a:avLst/>
          </a:prstGeom>
          <a:ln>
            <a:solidFill>
              <a:srgbClr val="4f81bd"/>
            </a:solidFill>
            <a:tailEnd len="med" type="triangle" w="med"/>
          </a:ln>
        </p:spPr>
      </p:cxnSp>
      <p:cxnSp>
        <p:nvCxnSpPr>
          <p:cNvPr id="148" name="Gewinkelter Verbinder 14"/>
          <p:cNvCxnSpPr/>
          <p:nvPr/>
        </p:nvCxnSpPr>
        <p:spPr>
          <a:xfrm flipV="1" rot="10800000">
            <a:off x="4735440" y="3521520"/>
            <a:ext cx="2005200" cy="524520"/>
          </a:xfrm>
          <a:prstGeom prst="bentConnector2">
            <a:avLst/>
          </a:prstGeom>
          <a:ln>
            <a:solidFill>
              <a:srgbClr val="4f81bd"/>
            </a:solidFill>
            <a:tailEnd len="med" type="triangle" w="med"/>
          </a:ln>
        </p:spPr>
      </p:cxnSp>
      <p:cxnSp>
        <p:nvCxnSpPr>
          <p:cNvPr id="149" name="Gerader Verbinder 7"/>
          <p:cNvCxnSpPr/>
          <p:nvPr/>
        </p:nvCxnSpPr>
        <p:spPr>
          <a:xfrm>
            <a:off x="3095280" y="4014720"/>
            <a:ext cx="1622160" cy="70560"/>
          </a:xfrm>
          <a:prstGeom prst="straightConnector1">
            <a:avLst/>
          </a:prstGeom>
          <a:ln>
            <a:solidFill>
              <a:srgbClr val="ff0000"/>
            </a:solidFill>
          </a:ln>
        </p:spPr>
      </p:cxnSp>
      <p:cxnSp>
        <p:nvCxnSpPr>
          <p:cNvPr id="150" name="Gerader Verbinder 17"/>
          <p:cNvCxnSpPr/>
          <p:nvPr/>
        </p:nvCxnSpPr>
        <p:spPr>
          <a:xfrm flipV="1">
            <a:off x="3095280" y="4011120"/>
            <a:ext cx="1622160" cy="55080"/>
          </a:xfrm>
          <a:prstGeom prst="straightConnector1">
            <a:avLst/>
          </a:prstGeom>
          <a:ln>
            <a:solidFill>
              <a:srgbClr val="ff0000"/>
            </a:solidFill>
          </a:ln>
        </p:spPr>
      </p:cxnSp>
      <p:cxnSp>
        <p:nvCxnSpPr>
          <p:cNvPr id="151" name="Gerader Verbinder 19"/>
          <p:cNvCxnSpPr/>
          <p:nvPr/>
        </p:nvCxnSpPr>
        <p:spPr>
          <a:xfrm>
            <a:off x="6987960" y="3447000"/>
            <a:ext cx="1710000" cy="1079280"/>
          </a:xfrm>
          <a:prstGeom prst="straightConnector1">
            <a:avLst/>
          </a:prstGeom>
          <a:ln>
            <a:solidFill>
              <a:srgbClr val="ff0000"/>
            </a:solidFill>
          </a:ln>
        </p:spPr>
      </p:cxnSp>
      <p:cxnSp>
        <p:nvCxnSpPr>
          <p:cNvPr id="152" name="Gerader Verbinder 22"/>
          <p:cNvCxnSpPr/>
          <p:nvPr/>
        </p:nvCxnSpPr>
        <p:spPr>
          <a:xfrm flipV="1">
            <a:off x="7004880" y="3447000"/>
            <a:ext cx="1616760" cy="991800"/>
          </a:xfrm>
          <a:prstGeom prst="straightConnector1">
            <a:avLst/>
          </a:prstGeom>
          <a:ln>
            <a:solidFill>
              <a:srgbClr val="ff0000"/>
            </a:solidFill>
          </a:ln>
        </p:spPr>
      </p:cxnSp>
      <p:sp>
        <p:nvSpPr>
          <p:cNvPr id="4" name="PlaceHolder 3"/>
          <p:cNvSpPr>
            <a:spLocks noGrp="1"/>
          </p:cNvSpPr>
          <p:nvPr>
            <p:ph type="sldNum" idx="2"/>
          </p:nvPr>
        </p:nvSpPr>
        <p:spPr/>
        <p:txBody>
          <a:bodyPr/>
          <a:p>
            <a:fld id="{B65A354E-DC9D-45C3-804C-DE80B59AEE3B}" type="slidenum">
              <a:t>17</a:t>
            </a:fld>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PlaceHolder 1"/>
          <p:cNvSpPr>
            <a:spLocks noGrp="1"/>
          </p:cNvSpPr>
          <p:nvPr>
            <p:ph/>
          </p:nvPr>
        </p:nvSpPr>
        <p:spPr>
          <a:xfrm>
            <a:off x="622440" y="2137320"/>
            <a:ext cx="8394120" cy="2072160"/>
          </a:xfrm>
          <a:prstGeom prst="rect">
            <a:avLst/>
          </a:prstGeom>
          <a:noFill/>
          <a:ln w="0">
            <a:noFill/>
          </a:ln>
        </p:spPr>
        <p:txBody>
          <a:bodyPr lIns="0" rIns="0" tIns="0" bIns="0" anchor="t">
            <a:noAutofit/>
          </a:bodyPr>
          <a:p>
            <a:pPr marL="228600" indent="-228600" defTabSz="914400">
              <a:lnSpc>
                <a:spcPct val="90000"/>
              </a:lnSpc>
              <a:spcBef>
                <a:spcPts val="1199"/>
              </a:spcBef>
              <a:buClr>
                <a:srgbClr val="000000"/>
              </a:buClr>
              <a:buFont typeface="Arial"/>
              <a:buChar char="•"/>
            </a:pPr>
            <a:r>
              <a:rPr b="0" lang="en-US" sz="1800" spc="-1" strike="noStrike">
                <a:solidFill>
                  <a:schemeClr val="dk1"/>
                </a:solidFill>
                <a:latin typeface="Arial"/>
                <a:ea typeface="DejaVu Sans"/>
              </a:rPr>
              <a:t>FCS to be parameterized </a:t>
            </a:r>
            <a:r>
              <a:rPr b="0" lang="de-AT" sz="1800" spc="-1" strike="noStrike">
                <a:solidFill>
                  <a:schemeClr val="dk1"/>
                </a:solidFill>
                <a:latin typeface="Arial"/>
                <a:ea typeface="DejaVu Sans"/>
              </a:rPr>
              <a:t>via specific „Fuel Cell System“ tab in „Vehicle“ editor</a:t>
            </a:r>
            <a:endParaRPr b="0" lang="de-DE" sz="1800" spc="-1" strike="noStrike">
              <a:solidFill>
                <a:schemeClr val="dk1"/>
              </a:solidFill>
              <a:latin typeface="Arial"/>
            </a:endParaRPr>
          </a:p>
        </p:txBody>
      </p:sp>
      <p:sp>
        <p:nvSpPr>
          <p:cNvPr id="154" name="PlaceHolder 2"/>
          <p:cNvSpPr>
            <a:spLocks noGrp="1"/>
          </p:cNvSpPr>
          <p:nvPr>
            <p:ph type="title"/>
          </p:nvPr>
        </p:nvSpPr>
        <p:spPr>
          <a:xfrm>
            <a:off x="585360" y="850320"/>
            <a:ext cx="8228880" cy="1144440"/>
          </a:xfrm>
          <a:prstGeom prst="rect">
            <a:avLst/>
          </a:prstGeom>
          <a:noFill/>
          <a:ln w="0">
            <a:noFill/>
          </a:ln>
        </p:spPr>
        <p:txBody>
          <a:bodyPr lIns="0" rIns="0" tIns="0" bIns="0" anchor="ctr">
            <a:noAutofit/>
          </a:bodyPr>
          <a:p>
            <a:pPr indent="0" defTabSz="914400">
              <a:lnSpc>
                <a:spcPct val="90000"/>
              </a:lnSpc>
              <a:buNone/>
            </a:pPr>
            <a:r>
              <a:rPr b="1" lang="en-GB" sz="2400" spc="-1" strike="noStrike">
                <a:solidFill>
                  <a:srgbClr val="990000"/>
                </a:solidFill>
                <a:latin typeface="Arial"/>
                <a:ea typeface="DejaVu Sans"/>
              </a:rPr>
              <a:t>Fuel cell hybrid vehicles (FCHV) – VECTO features (3/5)</a:t>
            </a:r>
            <a:endParaRPr b="0" lang="de-DE" sz="2400" spc="-1" strike="noStrike">
              <a:solidFill>
                <a:schemeClr val="dk1"/>
              </a:solidFill>
              <a:latin typeface="Arial"/>
            </a:endParaRPr>
          </a:p>
        </p:txBody>
      </p:sp>
      <p:pic>
        <p:nvPicPr>
          <p:cNvPr id="155" name="Grafik 6" descr=""/>
          <p:cNvPicPr/>
          <p:nvPr/>
        </p:nvPicPr>
        <p:blipFill>
          <a:blip r:embed="rId1"/>
          <a:stretch/>
        </p:blipFill>
        <p:spPr>
          <a:xfrm>
            <a:off x="5185080" y="2522160"/>
            <a:ext cx="3831480" cy="1805760"/>
          </a:xfrm>
          <a:prstGeom prst="rect">
            <a:avLst/>
          </a:prstGeom>
          <a:ln w="0">
            <a:noFill/>
          </a:ln>
        </p:spPr>
      </p:pic>
      <p:pic>
        <p:nvPicPr>
          <p:cNvPr id="156" name="Grafik 15" descr=""/>
          <p:cNvPicPr/>
          <p:nvPr/>
        </p:nvPicPr>
        <p:blipFill>
          <a:blip r:embed="rId2"/>
          <a:srcRect l="0" t="0" r="0" b="27104"/>
          <a:stretch/>
        </p:blipFill>
        <p:spPr>
          <a:xfrm>
            <a:off x="622440" y="2522160"/>
            <a:ext cx="3457440" cy="2478960"/>
          </a:xfrm>
          <a:prstGeom prst="rect">
            <a:avLst/>
          </a:prstGeom>
          <a:ln w="0">
            <a:noFill/>
          </a:ln>
        </p:spPr>
      </p:pic>
      <p:pic>
        <p:nvPicPr>
          <p:cNvPr id="157" name="Grafik 1" descr=""/>
          <p:cNvPicPr/>
          <p:nvPr/>
        </p:nvPicPr>
        <p:blipFill>
          <a:blip r:embed="rId3"/>
          <a:stretch/>
        </p:blipFill>
        <p:spPr>
          <a:xfrm>
            <a:off x="1124640" y="4647600"/>
            <a:ext cx="3329640" cy="1100160"/>
          </a:xfrm>
          <a:prstGeom prst="rect">
            <a:avLst/>
          </a:prstGeom>
          <a:ln w="0">
            <a:noFill/>
          </a:ln>
        </p:spPr>
      </p:pic>
      <p:sp>
        <p:nvSpPr>
          <p:cNvPr id="158" name="Rechteck 16"/>
          <p:cNvSpPr/>
          <p:nvPr/>
        </p:nvSpPr>
        <p:spPr>
          <a:xfrm>
            <a:off x="709200" y="4231080"/>
            <a:ext cx="2379600" cy="143640"/>
          </a:xfrm>
          <a:prstGeom prst="rect">
            <a:avLst/>
          </a:prstGeom>
          <a:noFill/>
          <a:ln w="28575">
            <a:solidFill>
              <a:srgbClr val="ff0000"/>
            </a:solid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de-AT" sz="1800" spc="-1" strike="noStrike">
              <a:solidFill>
                <a:schemeClr val="lt1"/>
              </a:solidFill>
              <a:latin typeface="Arial"/>
              <a:ea typeface="DejaVu Sans"/>
            </a:endParaRPr>
          </a:p>
        </p:txBody>
      </p:sp>
      <p:cxnSp>
        <p:nvCxnSpPr>
          <p:cNvPr id="159" name="Gewinkelter Verbinder 20"/>
          <p:cNvCxnSpPr>
            <a:stCxn id="158" idx="1"/>
            <a:endCxn id="157" idx="1"/>
          </p:cNvCxnSpPr>
          <p:nvPr/>
        </p:nvCxnSpPr>
        <p:spPr>
          <a:xfrm flipH="1" flipV="1" rot="10800000">
            <a:off x="709200" y="4302720"/>
            <a:ext cx="415800" cy="895320"/>
          </a:xfrm>
          <a:prstGeom prst="bentConnector3">
            <a:avLst>
              <a:gd name="adj1" fmla="val -54939"/>
            </a:avLst>
          </a:prstGeom>
          <a:ln>
            <a:solidFill>
              <a:srgbClr val="4f81bd"/>
            </a:solidFill>
            <a:tailEnd len="med" type="triangle" w="med"/>
          </a:ln>
        </p:spPr>
      </p:cxnSp>
      <p:sp>
        <p:nvSpPr>
          <p:cNvPr id="160" name="Textfeld 21"/>
          <p:cNvSpPr/>
          <p:nvPr/>
        </p:nvSpPr>
        <p:spPr>
          <a:xfrm rot="16200000">
            <a:off x="-302040" y="4555440"/>
            <a:ext cx="1175760" cy="4251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de-AT" sz="1100" spc="-1" strike="noStrike">
                <a:solidFill>
                  <a:srgbClr val="ff0000"/>
                </a:solidFill>
                <a:latin typeface="Arial"/>
                <a:ea typeface="DejaVu Sans"/>
              </a:rPr>
              <a:t>Double-click or „+“</a:t>
            </a:r>
            <a:endParaRPr b="0" lang="en-US" sz="1100" spc="-1" strike="noStrike">
              <a:solidFill>
                <a:srgbClr val="000000"/>
              </a:solidFill>
              <a:latin typeface="Arial"/>
            </a:endParaRPr>
          </a:p>
        </p:txBody>
      </p:sp>
      <p:sp>
        <p:nvSpPr>
          <p:cNvPr id="161" name="Rechteck 22"/>
          <p:cNvSpPr/>
          <p:nvPr/>
        </p:nvSpPr>
        <p:spPr>
          <a:xfrm>
            <a:off x="1168560" y="4852440"/>
            <a:ext cx="719640" cy="179640"/>
          </a:xfrm>
          <a:prstGeom prst="rect">
            <a:avLst/>
          </a:prstGeom>
          <a:noFill/>
          <a:ln w="28575">
            <a:solidFill>
              <a:srgbClr val="ff0000"/>
            </a:solid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de-AT" sz="1800" spc="-1" strike="noStrike">
              <a:solidFill>
                <a:schemeClr val="lt1"/>
              </a:solidFill>
              <a:latin typeface="Arial"/>
              <a:ea typeface="DejaVu Sans"/>
            </a:endParaRPr>
          </a:p>
        </p:txBody>
      </p:sp>
      <p:cxnSp>
        <p:nvCxnSpPr>
          <p:cNvPr id="162" name="Gewinkelter Verbinder 24"/>
          <p:cNvCxnSpPr>
            <a:stCxn id="161" idx="3"/>
            <a:endCxn id="155" idx="1"/>
          </p:cNvCxnSpPr>
          <p:nvPr/>
        </p:nvCxnSpPr>
        <p:spPr>
          <a:xfrm flipV="1">
            <a:off x="1888200" y="3425040"/>
            <a:ext cx="3297240" cy="1517400"/>
          </a:xfrm>
          <a:prstGeom prst="bentConnector3">
            <a:avLst>
              <a:gd name="adj1" fmla="val 83424"/>
            </a:avLst>
          </a:prstGeom>
          <a:ln>
            <a:solidFill>
              <a:srgbClr val="4f81bd"/>
            </a:solidFill>
            <a:tailEnd len="med" type="triangle" w="med"/>
          </a:ln>
        </p:spPr>
      </p:cxnSp>
      <p:sp>
        <p:nvSpPr>
          <p:cNvPr id="163" name="Ellipse 26"/>
          <p:cNvSpPr/>
          <p:nvPr/>
        </p:nvSpPr>
        <p:spPr>
          <a:xfrm>
            <a:off x="1836720" y="4906440"/>
            <a:ext cx="624600" cy="519120"/>
          </a:xfrm>
          <a:prstGeom prst="ellipse">
            <a:avLst/>
          </a:prstGeom>
          <a:noFill/>
          <a:ln w="19050">
            <a:solidFill>
              <a:srgbClr val="ff0000"/>
            </a:solidFill>
            <a:round/>
          </a:ln>
        </p:spPr>
        <p:style>
          <a:lnRef idx="0"/>
          <a:fillRef idx="0"/>
          <a:effectRef idx="0"/>
          <a:fontRef idx="minor"/>
        </p:style>
        <p:txBody>
          <a:bodyPr numCol="1" spcCol="0" anchor="ctr">
            <a:spAutoFit/>
          </a:bodyPr>
          <a:p>
            <a:pPr algn="ctr" defTabSz="914400">
              <a:lnSpc>
                <a:spcPct val="100000"/>
              </a:lnSpc>
              <a:spcBef>
                <a:spcPts val="541"/>
              </a:spcBef>
            </a:pPr>
            <a:endParaRPr b="0" lang="de-AT" sz="1800" spc="-1" strike="noStrike">
              <a:solidFill>
                <a:schemeClr val="dk1"/>
              </a:solidFill>
              <a:latin typeface="Arial"/>
              <a:ea typeface="DejaVu Sans"/>
            </a:endParaRPr>
          </a:p>
        </p:txBody>
      </p:sp>
      <p:sp>
        <p:nvSpPr>
          <p:cNvPr id="164" name="Textfeld 27"/>
          <p:cNvSpPr/>
          <p:nvPr/>
        </p:nvSpPr>
        <p:spPr>
          <a:xfrm>
            <a:off x="1561320" y="5253840"/>
            <a:ext cx="1175760" cy="5929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de-AT" sz="1100" spc="-1" strike="noStrike">
                <a:solidFill>
                  <a:srgbClr val="ff0000"/>
                </a:solidFill>
                <a:latin typeface="Arial"/>
                <a:ea typeface="DejaVu Sans"/>
              </a:rPr>
              <a:t>Limited to 1</a:t>
            </a:r>
            <a:endParaRPr b="0" lang="en-US" sz="1100" spc="-1" strike="noStrike">
              <a:solidFill>
                <a:srgbClr val="000000"/>
              </a:solidFill>
              <a:latin typeface="Arial"/>
            </a:endParaRPr>
          </a:p>
          <a:p>
            <a:pPr algn="ctr" defTabSz="914400">
              <a:lnSpc>
                <a:spcPct val="100000"/>
              </a:lnSpc>
            </a:pPr>
            <a:r>
              <a:rPr b="1" lang="de-AT" sz="1100" spc="-1" strike="noStrike">
                <a:solidFill>
                  <a:srgbClr val="ff0000"/>
                </a:solidFill>
                <a:latin typeface="Arial"/>
                <a:ea typeface="DejaVu Sans"/>
              </a:rPr>
              <a:t>for this release</a:t>
            </a:r>
            <a:endParaRPr b="0" lang="en-US" sz="1100" spc="-1" strike="noStrike">
              <a:solidFill>
                <a:srgbClr val="000000"/>
              </a:solidFill>
              <a:latin typeface="Arial"/>
            </a:endParaRPr>
          </a:p>
        </p:txBody>
      </p:sp>
      <p:sp>
        <p:nvSpPr>
          <p:cNvPr id="165" name="Textfeld 28"/>
          <p:cNvSpPr/>
          <p:nvPr/>
        </p:nvSpPr>
        <p:spPr>
          <a:xfrm>
            <a:off x="5167080" y="4438800"/>
            <a:ext cx="3849840" cy="1157040"/>
          </a:xfrm>
          <a:prstGeom prst="rect">
            <a:avLst/>
          </a:prstGeom>
          <a:noFill/>
          <a:ln w="0">
            <a:noFill/>
          </a:ln>
        </p:spPr>
        <p:style>
          <a:lnRef idx="0"/>
          <a:fillRef idx="0"/>
          <a:effectRef idx="0"/>
          <a:fontRef idx="minor"/>
        </p:style>
        <p:txBody>
          <a:bodyPr lIns="90000" rIns="90000" tIns="45000" bIns="45000" anchor="t">
            <a:spAutoFit/>
          </a:bodyPr>
          <a:p>
            <a:pPr marL="285840" indent="-285840" defTabSz="914400">
              <a:lnSpc>
                <a:spcPct val="100000"/>
              </a:lnSpc>
              <a:buClr>
                <a:srgbClr val="000000"/>
              </a:buClr>
              <a:buFont typeface="Wingdings" charset="2"/>
              <a:buChar char=""/>
            </a:pPr>
            <a:r>
              <a:rPr b="0" lang="en-GB" sz="1400" spc="-1" strike="noStrike">
                <a:solidFill>
                  <a:schemeClr val="dk1"/>
                </a:solidFill>
                <a:latin typeface="Arial"/>
                <a:ea typeface="DejaVu Sans"/>
              </a:rPr>
              <a:t>Max / min power limits operation range of FCS component</a:t>
            </a:r>
            <a:br>
              <a:rPr sz="1400"/>
            </a:br>
            <a:r>
              <a:rPr b="0" lang="en-GB" sz="1400" spc="-1" strike="noStrike">
                <a:solidFill>
                  <a:schemeClr val="dk1"/>
                </a:solidFill>
                <a:latin typeface="Arial"/>
              </a:rPr>
              <a:t> </a:t>
            </a:r>
            <a:endParaRPr b="0" lang="en-US" sz="1400" spc="-1" strike="noStrike">
              <a:solidFill>
                <a:srgbClr val="000000"/>
              </a:solidFill>
              <a:latin typeface="Arial"/>
            </a:endParaRPr>
          </a:p>
          <a:p>
            <a:pPr marL="285840" indent="-285840" defTabSz="914400">
              <a:lnSpc>
                <a:spcPct val="100000"/>
              </a:lnSpc>
              <a:buClr>
                <a:srgbClr val="000000"/>
              </a:buClr>
              <a:buFont typeface="Wingdings" charset="2"/>
              <a:buChar char=""/>
            </a:pPr>
            <a:r>
              <a:rPr b="0" lang="en-GB" sz="1400" spc="-1" strike="noStrike">
                <a:solidFill>
                  <a:schemeClr val="dk1"/>
                </a:solidFill>
                <a:latin typeface="Arial"/>
                <a:ea typeface="DejaVu Sans"/>
              </a:rPr>
              <a:t>FCS mass flow map needs to cover the indicated range</a:t>
            </a:r>
            <a:endParaRPr b="0" lang="en-US" sz="1400" spc="-1" strike="noStrike">
              <a:solidFill>
                <a:srgbClr val="000000"/>
              </a:solidFill>
              <a:latin typeface="Arial"/>
            </a:endParaRPr>
          </a:p>
        </p:txBody>
      </p:sp>
      <p:sp>
        <p:nvSpPr>
          <p:cNvPr id="4" name="PlaceHolder 3"/>
          <p:cNvSpPr>
            <a:spLocks noGrp="1"/>
          </p:cNvSpPr>
          <p:nvPr>
            <p:ph type="sldNum" idx="2"/>
          </p:nvPr>
        </p:nvSpPr>
        <p:spPr/>
        <p:txBody>
          <a:bodyPr/>
          <a:p>
            <a:fld id="{39B244E2-9A55-4BD0-AC88-63BAEFAA30FB}" type="slidenum">
              <a:t>18</a:t>
            </a:fld>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p:nvPr>
        </p:nvSpPr>
        <p:spPr>
          <a:xfrm>
            <a:off x="622440" y="2137320"/>
            <a:ext cx="8394120" cy="2072160"/>
          </a:xfrm>
          <a:prstGeom prst="rect">
            <a:avLst/>
          </a:prstGeom>
          <a:noFill/>
          <a:ln w="0">
            <a:noFill/>
          </a:ln>
        </p:spPr>
        <p:txBody>
          <a:bodyPr lIns="0" rIns="0" tIns="0" bIns="0" anchor="t">
            <a:noAutofit/>
          </a:bodyPr>
          <a:p>
            <a:pPr marL="228600" indent="-228600" defTabSz="914400">
              <a:lnSpc>
                <a:spcPct val="90000"/>
              </a:lnSpc>
              <a:spcBef>
                <a:spcPts val="1199"/>
              </a:spcBef>
              <a:buClr>
                <a:srgbClr val="000000"/>
              </a:buClr>
              <a:buFont typeface="Arial"/>
              <a:buChar char="•"/>
            </a:pPr>
            <a:r>
              <a:rPr b="0" lang="en-US" sz="1800" spc="-1" strike="noStrike">
                <a:solidFill>
                  <a:schemeClr val="dk1"/>
                </a:solidFill>
                <a:latin typeface="Arial"/>
                <a:ea typeface="DejaVu Sans"/>
              </a:rPr>
              <a:t>FCS to be parameterized </a:t>
            </a:r>
            <a:r>
              <a:rPr b="0" lang="de-AT" sz="1800" spc="-1" strike="noStrike">
                <a:solidFill>
                  <a:schemeClr val="dk1"/>
                </a:solidFill>
                <a:latin typeface="Arial"/>
                <a:ea typeface="DejaVu Sans"/>
              </a:rPr>
              <a:t>via specific „Fuel Cell System“ tab in „Vehicle“ editor</a:t>
            </a:r>
            <a:endParaRPr b="0" lang="de-DE" sz="1800" spc="-1" strike="noStrike">
              <a:solidFill>
                <a:schemeClr val="dk1"/>
              </a:solidFill>
              <a:latin typeface="Arial"/>
            </a:endParaRPr>
          </a:p>
        </p:txBody>
      </p:sp>
      <p:sp>
        <p:nvSpPr>
          <p:cNvPr id="167" name="PlaceHolder 2"/>
          <p:cNvSpPr>
            <a:spLocks noGrp="1"/>
          </p:cNvSpPr>
          <p:nvPr>
            <p:ph type="title"/>
          </p:nvPr>
        </p:nvSpPr>
        <p:spPr>
          <a:xfrm>
            <a:off x="585360" y="850320"/>
            <a:ext cx="8228880" cy="1144440"/>
          </a:xfrm>
          <a:prstGeom prst="rect">
            <a:avLst/>
          </a:prstGeom>
          <a:noFill/>
          <a:ln w="0">
            <a:noFill/>
          </a:ln>
        </p:spPr>
        <p:txBody>
          <a:bodyPr lIns="0" rIns="0" tIns="0" bIns="0" anchor="ctr">
            <a:noAutofit/>
          </a:bodyPr>
          <a:p>
            <a:pPr indent="0" defTabSz="914400">
              <a:lnSpc>
                <a:spcPct val="90000"/>
              </a:lnSpc>
              <a:buNone/>
            </a:pPr>
            <a:r>
              <a:rPr b="1" lang="en-GB" sz="2400" spc="-1" strike="noStrike">
                <a:solidFill>
                  <a:srgbClr val="990000"/>
                </a:solidFill>
                <a:latin typeface="Arial"/>
                <a:ea typeface="DejaVu Sans"/>
              </a:rPr>
              <a:t>Fuel cell hybrid vehicles (FCHV) – VECTO features (4/5)</a:t>
            </a:r>
            <a:endParaRPr b="0" lang="de-DE" sz="2400" spc="-1" strike="noStrike">
              <a:solidFill>
                <a:schemeClr val="dk1"/>
              </a:solidFill>
              <a:latin typeface="Arial"/>
            </a:endParaRPr>
          </a:p>
        </p:txBody>
      </p:sp>
      <p:pic>
        <p:nvPicPr>
          <p:cNvPr id="168" name="Grafik 2" descr=""/>
          <p:cNvPicPr/>
          <p:nvPr/>
        </p:nvPicPr>
        <p:blipFill>
          <a:blip r:embed="rId1"/>
          <a:stretch/>
        </p:blipFill>
        <p:spPr>
          <a:xfrm>
            <a:off x="5879160" y="4552560"/>
            <a:ext cx="2266560" cy="1332360"/>
          </a:xfrm>
          <a:prstGeom prst="rect">
            <a:avLst/>
          </a:prstGeom>
          <a:ln w="0">
            <a:noFill/>
          </a:ln>
        </p:spPr>
      </p:pic>
      <p:pic>
        <p:nvPicPr>
          <p:cNvPr id="169" name="Grafik 17" descr=""/>
          <p:cNvPicPr/>
          <p:nvPr/>
        </p:nvPicPr>
        <p:blipFill>
          <a:blip r:embed="rId2"/>
          <a:stretch/>
        </p:blipFill>
        <p:spPr>
          <a:xfrm>
            <a:off x="622440" y="2632680"/>
            <a:ext cx="3831480" cy="1805760"/>
          </a:xfrm>
          <a:prstGeom prst="rect">
            <a:avLst/>
          </a:prstGeom>
          <a:ln w="0">
            <a:noFill/>
          </a:ln>
        </p:spPr>
      </p:pic>
      <p:sp>
        <p:nvSpPr>
          <p:cNvPr id="170" name="Rechteck 18"/>
          <p:cNvSpPr/>
          <p:nvPr/>
        </p:nvSpPr>
        <p:spPr>
          <a:xfrm>
            <a:off x="652320" y="3741120"/>
            <a:ext cx="1881360" cy="143640"/>
          </a:xfrm>
          <a:prstGeom prst="rect">
            <a:avLst/>
          </a:prstGeom>
          <a:noFill/>
          <a:ln w="28575">
            <a:solidFill>
              <a:srgbClr val="ff0000"/>
            </a:solid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de-AT" sz="1800" spc="-1" strike="noStrike">
              <a:solidFill>
                <a:schemeClr val="lt1"/>
              </a:solidFill>
              <a:latin typeface="Arial"/>
              <a:ea typeface="DejaVu Sans"/>
            </a:endParaRPr>
          </a:p>
        </p:txBody>
      </p:sp>
      <p:cxnSp>
        <p:nvCxnSpPr>
          <p:cNvPr id="171" name="Gewinkelter Verbinder 8"/>
          <p:cNvCxnSpPr>
            <a:stCxn id="170" idx="2"/>
            <a:endCxn id="168" idx="1"/>
          </p:cNvCxnSpPr>
          <p:nvPr/>
        </p:nvCxnSpPr>
        <p:spPr>
          <a:xfrm flipH="1" rot="16200000">
            <a:off x="3069360" y="2408400"/>
            <a:ext cx="1334160" cy="4286520"/>
          </a:xfrm>
          <a:prstGeom prst="bentConnector2">
            <a:avLst/>
          </a:prstGeom>
          <a:ln>
            <a:solidFill>
              <a:srgbClr val="4f81bd"/>
            </a:solidFill>
            <a:tailEnd len="med" type="triangle" w="med"/>
          </a:ln>
        </p:spPr>
      </p:cxnSp>
      <p:sp>
        <p:nvSpPr>
          <p:cNvPr id="172" name="Textfeld 25"/>
          <p:cNvSpPr/>
          <p:nvPr/>
        </p:nvSpPr>
        <p:spPr>
          <a:xfrm>
            <a:off x="4642200" y="2697120"/>
            <a:ext cx="4501440" cy="1796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GB" sz="1400" spc="-1" strike="noStrike">
                <a:solidFill>
                  <a:schemeClr val="dk1"/>
                </a:solidFill>
                <a:latin typeface="Arial"/>
                <a:ea typeface="DejaVu Sans"/>
              </a:rPr>
              <a:t>Input data structure for FCS H2 mass flow map</a:t>
            </a:r>
            <a:br>
              <a:rPr sz="800"/>
            </a:br>
            <a:endParaRPr b="0" lang="en-US" sz="1400" spc="-1" strike="noStrike">
              <a:solidFill>
                <a:srgbClr val="000000"/>
              </a:solidFill>
              <a:latin typeface="Arial"/>
            </a:endParaRPr>
          </a:p>
          <a:p>
            <a:pPr marL="285840" indent="-285840" defTabSz="914400">
              <a:lnSpc>
                <a:spcPct val="150000"/>
              </a:lnSpc>
              <a:buClr>
                <a:srgbClr val="000000"/>
              </a:buClr>
              <a:buFont typeface="Wingdings" charset="2"/>
              <a:buChar char=""/>
            </a:pPr>
            <a:r>
              <a:rPr b="0" lang="en-GB" sz="1400" spc="-1" strike="noStrike">
                <a:solidFill>
                  <a:schemeClr val="dk1"/>
                </a:solidFill>
                <a:latin typeface="Arial"/>
                <a:ea typeface="DejaVu Sans"/>
              </a:rPr>
              <a:t>CSV file format</a:t>
            </a:r>
            <a:endParaRPr b="0" lang="en-US" sz="1400" spc="-1" strike="noStrike">
              <a:solidFill>
                <a:srgbClr val="000000"/>
              </a:solidFill>
              <a:latin typeface="Arial"/>
            </a:endParaRPr>
          </a:p>
          <a:p>
            <a:pPr lvl="1" marL="743040" indent="-285840" defTabSz="914400">
              <a:lnSpc>
                <a:spcPct val="150000"/>
              </a:lnSpc>
              <a:buClr>
                <a:srgbClr val="000000"/>
              </a:buClr>
              <a:buFont typeface="Wingdings" charset="2"/>
              <a:buChar char=""/>
            </a:pPr>
            <a:r>
              <a:rPr b="0" lang="en-GB" sz="1200" spc="-1" strike="noStrike">
                <a:solidFill>
                  <a:schemeClr val="dk1"/>
                </a:solidFill>
                <a:latin typeface="Arial"/>
                <a:ea typeface="DejaVu Sans"/>
              </a:rPr>
              <a:t>1</a:t>
            </a:r>
            <a:r>
              <a:rPr b="0" lang="en-GB" sz="1200" spc="-1" strike="noStrike" baseline="30000">
                <a:solidFill>
                  <a:schemeClr val="dk1"/>
                </a:solidFill>
                <a:latin typeface="Arial"/>
                <a:ea typeface="DejaVu Sans"/>
              </a:rPr>
              <a:t>st</a:t>
            </a:r>
            <a:r>
              <a:rPr b="0" lang="en-GB" sz="1200" spc="-1" strike="noStrike">
                <a:solidFill>
                  <a:schemeClr val="dk1"/>
                </a:solidFill>
                <a:latin typeface="Arial"/>
                <a:ea typeface="DejaVu Sans"/>
              </a:rPr>
              <a:t> column: Electric power output of FCS in [kW]</a:t>
            </a:r>
            <a:endParaRPr b="0" lang="en-US" sz="1200" spc="-1" strike="noStrike">
              <a:solidFill>
                <a:srgbClr val="000000"/>
              </a:solidFill>
              <a:latin typeface="Arial"/>
            </a:endParaRPr>
          </a:p>
          <a:p>
            <a:pPr lvl="1" marL="743040" indent="-285840" defTabSz="914400">
              <a:lnSpc>
                <a:spcPct val="150000"/>
              </a:lnSpc>
              <a:buClr>
                <a:srgbClr val="000000"/>
              </a:buClr>
              <a:buFont typeface="Wingdings" charset="2"/>
              <a:buChar char=""/>
            </a:pPr>
            <a:r>
              <a:rPr b="0" lang="en-GB" sz="1200" spc="-1" strike="noStrike">
                <a:solidFill>
                  <a:schemeClr val="dk1"/>
                </a:solidFill>
                <a:latin typeface="Arial"/>
                <a:ea typeface="DejaVu Sans"/>
              </a:rPr>
              <a:t>2</a:t>
            </a:r>
            <a:r>
              <a:rPr b="0" lang="en-GB" sz="1200" spc="-1" strike="noStrike" baseline="30000">
                <a:solidFill>
                  <a:schemeClr val="dk1"/>
                </a:solidFill>
                <a:latin typeface="Arial"/>
                <a:ea typeface="DejaVu Sans"/>
              </a:rPr>
              <a:t>nd</a:t>
            </a:r>
            <a:r>
              <a:rPr b="0" lang="en-GB" sz="1200" spc="-1" strike="noStrike">
                <a:solidFill>
                  <a:schemeClr val="dk1"/>
                </a:solidFill>
                <a:latin typeface="Arial"/>
                <a:ea typeface="DejaVu Sans"/>
              </a:rPr>
              <a:t> column: H2 mass flow in [g/h]</a:t>
            </a:r>
            <a:br>
              <a:rPr sz="600"/>
            </a:br>
            <a:r>
              <a:rPr b="0" lang="en-GB" sz="600" spc="-1" strike="noStrike">
                <a:solidFill>
                  <a:schemeClr val="dk1"/>
                </a:solidFill>
                <a:latin typeface="Arial"/>
              </a:rPr>
              <a:t> </a:t>
            </a:r>
            <a:endParaRPr b="0" lang="en-US" sz="600" spc="-1" strike="noStrike">
              <a:solidFill>
                <a:srgbClr val="000000"/>
              </a:solidFill>
              <a:latin typeface="Arial"/>
            </a:endParaRPr>
          </a:p>
          <a:p>
            <a:pPr marL="285840" indent="-285840" defTabSz="914400">
              <a:lnSpc>
                <a:spcPct val="100000"/>
              </a:lnSpc>
              <a:buClr>
                <a:srgbClr val="000000"/>
              </a:buClr>
              <a:buFont typeface="Wingdings" charset="2"/>
              <a:buChar char=""/>
            </a:pPr>
            <a:r>
              <a:rPr b="1" i="1" lang="en-GB" sz="1200" spc="-1" strike="noStrike">
                <a:solidFill>
                  <a:schemeClr val="dk1"/>
                </a:solidFill>
                <a:latin typeface="Arial"/>
                <a:ea typeface="DejaVu Sans"/>
              </a:rPr>
              <a:t>FCS component efficiency should also include DC/DC converter (as this is part of component test procedure)!</a:t>
            </a:r>
            <a:endParaRPr b="0" lang="en-US" sz="1200" spc="-1" strike="noStrike">
              <a:solidFill>
                <a:srgbClr val="000000"/>
              </a:solidFill>
              <a:latin typeface="Arial"/>
            </a:endParaRPr>
          </a:p>
        </p:txBody>
      </p:sp>
      <p:sp>
        <p:nvSpPr>
          <p:cNvPr id="173" name="Textfeld 10"/>
          <p:cNvSpPr/>
          <p:nvPr/>
        </p:nvSpPr>
        <p:spPr>
          <a:xfrm rot="20188200">
            <a:off x="5930640" y="5049720"/>
            <a:ext cx="1921680" cy="3333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de-AT" sz="1600" spc="-1" strike="noStrike">
                <a:solidFill>
                  <a:schemeClr val="accent1">
                    <a:lumMod val="60000"/>
                    <a:lumOff val="40000"/>
                  </a:schemeClr>
                </a:solidFill>
                <a:latin typeface="Arial"/>
                <a:ea typeface="DejaVu Sans"/>
              </a:rPr>
              <a:t>Example data</a:t>
            </a:r>
            <a:endParaRPr b="0" lang="en-US" sz="1600" spc="-1" strike="noStrike">
              <a:solidFill>
                <a:srgbClr val="000000"/>
              </a:solidFill>
              <a:latin typeface="Arial"/>
            </a:endParaRPr>
          </a:p>
        </p:txBody>
      </p:sp>
      <p:sp>
        <p:nvSpPr>
          <p:cNvPr id="4" name="PlaceHolder 3"/>
          <p:cNvSpPr>
            <a:spLocks noGrp="1"/>
          </p:cNvSpPr>
          <p:nvPr>
            <p:ph type="sldNum" idx="2"/>
          </p:nvPr>
        </p:nvSpPr>
        <p:spPr/>
        <p:txBody>
          <a:bodyPr/>
          <a:p>
            <a:fld id="{EABC8ABD-5FD2-4FDF-BD62-12AEA4595566}" type="slidenum">
              <a:t>19</a:t>
            </a:fld>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p:nvPr>
        </p:nvSpPr>
        <p:spPr>
          <a:xfrm>
            <a:off x="622440" y="2137320"/>
            <a:ext cx="8394120" cy="1017360"/>
          </a:xfrm>
          <a:prstGeom prst="rect">
            <a:avLst/>
          </a:prstGeom>
          <a:noFill/>
          <a:ln w="0">
            <a:noFill/>
          </a:ln>
        </p:spPr>
        <p:txBody>
          <a:bodyPr lIns="0" rIns="0" tIns="0" bIns="0" anchor="t">
            <a:noAutofit/>
          </a:bodyPr>
          <a:p>
            <a:pPr marL="228600" indent="-228600" defTabSz="914400">
              <a:lnSpc>
                <a:spcPct val="90000"/>
              </a:lnSpc>
              <a:spcBef>
                <a:spcPts val="1001"/>
              </a:spcBef>
              <a:buClr>
                <a:srgbClr val="000000"/>
              </a:buClr>
              <a:buFont typeface="Arial"/>
              <a:buChar char="•"/>
              <a:tabLst>
                <a:tab algn="l" pos="1886040"/>
              </a:tabLst>
            </a:pPr>
            <a:r>
              <a:rPr b="0" lang="en-US" sz="1800" spc="-1" strike="noStrike">
                <a:solidFill>
                  <a:schemeClr val="dk1"/>
                </a:solidFill>
                <a:latin typeface="Arial"/>
                <a:ea typeface="DejaVu Sans"/>
              </a:rPr>
              <a:t>Parameterization of auxiliaries for FCHV</a:t>
            </a:r>
            <a:endParaRPr b="0" lang="de-DE" sz="1800" spc="-1" strike="noStrike">
              <a:solidFill>
                <a:schemeClr val="dk1"/>
              </a:solidFill>
              <a:latin typeface="Arial"/>
            </a:endParaRPr>
          </a:p>
          <a:p>
            <a:pPr lvl="1" marL="716040" indent="-266760" defTabSz="914400">
              <a:lnSpc>
                <a:spcPct val="90000"/>
              </a:lnSpc>
              <a:spcBef>
                <a:spcPts val="499"/>
              </a:spcBef>
              <a:buClr>
                <a:srgbClr val="000000"/>
              </a:buClr>
              <a:buFont typeface="Wingdings" charset="2"/>
              <a:buChar char=""/>
              <a:tabLst>
                <a:tab algn="l" pos="1886040"/>
              </a:tabLst>
            </a:pPr>
            <a:r>
              <a:rPr b="0" lang="en-US" sz="1600" spc="-1" strike="noStrike">
                <a:solidFill>
                  <a:schemeClr val="dk1"/>
                </a:solidFill>
                <a:latin typeface="Arial"/>
                <a:ea typeface="DejaVu Sans"/>
              </a:rPr>
              <a:t>Electric power demand of auxiliaries for both, lorries and buses, need to be parameterized via the “Bus Auxiliaries” GUI window</a:t>
            </a:r>
            <a:endParaRPr b="0" lang="de-DE" sz="1600" spc="-1" strike="noStrike">
              <a:solidFill>
                <a:schemeClr val="dk1"/>
              </a:solidFill>
              <a:latin typeface="Arial"/>
            </a:endParaRPr>
          </a:p>
          <a:p>
            <a:pPr indent="0" defTabSz="914400">
              <a:lnSpc>
                <a:spcPct val="90000"/>
              </a:lnSpc>
              <a:spcBef>
                <a:spcPts val="499"/>
              </a:spcBef>
              <a:buNone/>
              <a:tabLst>
                <a:tab algn="l" pos="1886040"/>
              </a:tabLst>
            </a:pPr>
            <a:endParaRPr b="0" lang="de-DE" sz="1600" spc="-1" strike="noStrike">
              <a:solidFill>
                <a:schemeClr val="dk1"/>
              </a:solidFill>
              <a:latin typeface="Arial"/>
            </a:endParaRPr>
          </a:p>
        </p:txBody>
      </p:sp>
      <p:sp>
        <p:nvSpPr>
          <p:cNvPr id="175" name="PlaceHolder 2"/>
          <p:cNvSpPr>
            <a:spLocks noGrp="1"/>
          </p:cNvSpPr>
          <p:nvPr>
            <p:ph type="title"/>
          </p:nvPr>
        </p:nvSpPr>
        <p:spPr>
          <a:xfrm>
            <a:off x="585360" y="850320"/>
            <a:ext cx="8228880" cy="1144440"/>
          </a:xfrm>
          <a:prstGeom prst="rect">
            <a:avLst/>
          </a:prstGeom>
          <a:noFill/>
          <a:ln w="0">
            <a:noFill/>
          </a:ln>
        </p:spPr>
        <p:txBody>
          <a:bodyPr lIns="0" rIns="0" tIns="0" bIns="0" anchor="ctr">
            <a:noAutofit/>
          </a:bodyPr>
          <a:p>
            <a:pPr indent="0" defTabSz="914400">
              <a:lnSpc>
                <a:spcPct val="90000"/>
              </a:lnSpc>
              <a:buNone/>
            </a:pPr>
            <a:r>
              <a:rPr b="1" lang="en-GB" sz="2400" spc="-1" strike="noStrike">
                <a:solidFill>
                  <a:srgbClr val="990000"/>
                </a:solidFill>
                <a:latin typeface="Arial"/>
                <a:ea typeface="DejaVu Sans"/>
              </a:rPr>
              <a:t>Fuel cell hybrid vehicles (FCHV) – VECTO features (5/5)</a:t>
            </a:r>
            <a:endParaRPr b="0" lang="de-DE" sz="2400" spc="-1" strike="noStrike">
              <a:solidFill>
                <a:schemeClr val="dk1"/>
              </a:solidFill>
              <a:latin typeface="Arial"/>
            </a:endParaRPr>
          </a:p>
        </p:txBody>
      </p:sp>
      <p:grpSp>
        <p:nvGrpSpPr>
          <p:cNvPr id="176" name="Gruppieren 1"/>
          <p:cNvGrpSpPr/>
          <p:nvPr/>
        </p:nvGrpSpPr>
        <p:grpSpPr>
          <a:xfrm>
            <a:off x="777960" y="3071160"/>
            <a:ext cx="7963920" cy="2860560"/>
            <a:chOff x="777960" y="3071160"/>
            <a:chExt cx="7963920" cy="2860560"/>
          </a:xfrm>
        </p:grpSpPr>
        <p:pic>
          <p:nvPicPr>
            <p:cNvPr id="177" name="Grafik 21" descr=""/>
            <p:cNvPicPr/>
            <p:nvPr/>
          </p:nvPicPr>
          <p:blipFill>
            <a:blip r:embed="rId1"/>
            <a:stretch/>
          </p:blipFill>
          <p:spPr>
            <a:xfrm>
              <a:off x="917640" y="3412080"/>
              <a:ext cx="3595320" cy="2519640"/>
            </a:xfrm>
            <a:prstGeom prst="rect">
              <a:avLst/>
            </a:prstGeom>
            <a:ln w="0">
              <a:noFill/>
            </a:ln>
          </p:spPr>
        </p:pic>
        <p:pic>
          <p:nvPicPr>
            <p:cNvPr id="178" name="Grafik 10" descr=""/>
            <p:cNvPicPr/>
            <p:nvPr/>
          </p:nvPicPr>
          <p:blipFill>
            <a:blip r:embed="rId2"/>
            <a:srcRect l="0" t="0" r="53540" b="0"/>
            <a:stretch/>
          </p:blipFill>
          <p:spPr>
            <a:xfrm>
              <a:off x="4734360" y="3410280"/>
              <a:ext cx="2510640" cy="2519640"/>
            </a:xfrm>
            <a:prstGeom prst="rect">
              <a:avLst/>
            </a:prstGeom>
            <a:ln w="0">
              <a:noFill/>
            </a:ln>
          </p:spPr>
        </p:pic>
        <p:sp>
          <p:nvSpPr>
            <p:cNvPr id="179" name="Ellipse 15"/>
            <p:cNvSpPr/>
            <p:nvPr/>
          </p:nvSpPr>
          <p:spPr>
            <a:xfrm>
              <a:off x="777960" y="4919400"/>
              <a:ext cx="899640" cy="519120"/>
            </a:xfrm>
            <a:prstGeom prst="ellipse">
              <a:avLst/>
            </a:prstGeom>
            <a:noFill/>
            <a:ln w="19050">
              <a:solidFill>
                <a:srgbClr val="ff0000"/>
              </a:solidFill>
              <a:round/>
            </a:ln>
          </p:spPr>
          <p:style>
            <a:lnRef idx="0"/>
            <a:fillRef idx="0"/>
            <a:effectRef idx="0"/>
            <a:fontRef idx="minor"/>
          </p:style>
          <p:txBody>
            <a:bodyPr numCol="1" spcCol="0" anchor="ctr">
              <a:spAutoFit/>
            </a:bodyPr>
            <a:p>
              <a:pPr algn="ctr" defTabSz="914400">
                <a:lnSpc>
                  <a:spcPct val="100000"/>
                </a:lnSpc>
                <a:spcBef>
                  <a:spcPts val="541"/>
                </a:spcBef>
              </a:pPr>
              <a:endParaRPr b="0" lang="de-AT" sz="1800" spc="-1" strike="noStrike">
                <a:solidFill>
                  <a:schemeClr val="dk1"/>
                </a:solidFill>
                <a:latin typeface="Arial"/>
                <a:ea typeface="DejaVu Sans"/>
              </a:endParaRPr>
            </a:p>
          </p:txBody>
        </p:sp>
        <p:sp>
          <p:nvSpPr>
            <p:cNvPr id="180" name="Legende mit Linie 1 12"/>
            <p:cNvSpPr/>
            <p:nvPr/>
          </p:nvSpPr>
          <p:spPr>
            <a:xfrm>
              <a:off x="7296840" y="4058280"/>
              <a:ext cx="1445040" cy="338040"/>
            </a:xfrm>
            <a:prstGeom prst="borderCallout1">
              <a:avLst>
                <a:gd name="adj1" fmla="val 18750"/>
                <a:gd name="adj2" fmla="val -8333"/>
                <a:gd name="adj3" fmla="val 70225"/>
                <a:gd name="adj4" fmla="val -65838"/>
              </a:avLst>
            </a:prstGeom>
            <a:noFill/>
            <a:ln w="19050">
              <a:solidFill>
                <a:srgbClr val="ff0000"/>
              </a:solidFill>
              <a:round/>
            </a:ln>
          </p:spPr>
          <p:style>
            <a:lnRef idx="0"/>
            <a:fillRef idx="0"/>
            <a:effectRef idx="0"/>
            <a:fontRef idx="minor"/>
          </p:style>
          <p:txBody>
            <a:bodyPr numCol="1" spcCol="0" anchor="ctr">
              <a:noAutofit/>
            </a:bodyPr>
            <a:p>
              <a:pPr algn="ctr" defTabSz="914400">
                <a:lnSpc>
                  <a:spcPct val="100000"/>
                </a:lnSpc>
                <a:spcBef>
                  <a:spcPts val="329"/>
                </a:spcBef>
              </a:pPr>
              <a:r>
                <a:rPr b="0" lang="de-DE" sz="1100" spc="-1" strike="noStrike">
                  <a:solidFill>
                    <a:schemeClr val="dk1"/>
                  </a:solidFill>
                  <a:latin typeface="Arial"/>
                  <a:ea typeface="DejaVu Sans"/>
                </a:rPr>
                <a:t>Demand during vehicle driving</a:t>
              </a:r>
              <a:endParaRPr b="0" lang="en-US" sz="1100" spc="-1" strike="noStrike">
                <a:solidFill>
                  <a:srgbClr val="000000"/>
                </a:solidFill>
                <a:latin typeface="Arial"/>
              </a:endParaRPr>
            </a:p>
          </p:txBody>
        </p:sp>
        <p:sp>
          <p:nvSpPr>
            <p:cNvPr id="181" name="Legende mit Linie 1 13"/>
            <p:cNvSpPr/>
            <p:nvPr/>
          </p:nvSpPr>
          <p:spPr>
            <a:xfrm>
              <a:off x="7296840" y="4562280"/>
              <a:ext cx="1445040" cy="338040"/>
            </a:xfrm>
            <a:prstGeom prst="borderCallout1">
              <a:avLst>
                <a:gd name="adj1" fmla="val 18750"/>
                <a:gd name="adj2" fmla="val -8333"/>
                <a:gd name="adj3" fmla="val -28416"/>
                <a:gd name="adj4" fmla="val -65839"/>
              </a:avLst>
            </a:prstGeom>
            <a:noFill/>
            <a:ln w="19050">
              <a:solidFill>
                <a:srgbClr val="ff0000"/>
              </a:solidFill>
              <a:round/>
            </a:ln>
          </p:spPr>
          <p:style>
            <a:lnRef idx="0"/>
            <a:fillRef idx="0"/>
            <a:effectRef idx="0"/>
            <a:fontRef idx="minor"/>
          </p:style>
          <p:txBody>
            <a:bodyPr numCol="1" spcCol="0" anchor="ctr">
              <a:noAutofit/>
            </a:bodyPr>
            <a:p>
              <a:pPr algn="ctr" defTabSz="914400">
                <a:lnSpc>
                  <a:spcPct val="100000"/>
                </a:lnSpc>
                <a:spcBef>
                  <a:spcPts val="329"/>
                </a:spcBef>
              </a:pPr>
              <a:r>
                <a:rPr b="0" lang="de-DE" sz="1100" spc="-1" strike="noStrike">
                  <a:solidFill>
                    <a:schemeClr val="dk1"/>
                  </a:solidFill>
                  <a:latin typeface="Arial"/>
                  <a:ea typeface="DejaVu Sans"/>
                </a:rPr>
                <a:t>Demand during vehicle standstill</a:t>
              </a:r>
              <a:endParaRPr b="0" lang="en-US" sz="1100" spc="-1" strike="noStrike">
                <a:solidFill>
                  <a:srgbClr val="000000"/>
                </a:solidFill>
                <a:latin typeface="Arial"/>
              </a:endParaRPr>
            </a:p>
          </p:txBody>
        </p:sp>
        <p:cxnSp>
          <p:nvCxnSpPr>
            <p:cNvPr id="182" name="Gewinkelter Verbinder 16"/>
            <p:cNvCxnSpPr/>
            <p:nvPr/>
          </p:nvCxnSpPr>
          <p:spPr>
            <a:xfrm>
              <a:off x="3970800" y="3412080"/>
              <a:ext cx="678600" cy="972360"/>
            </a:xfrm>
            <a:prstGeom prst="bentConnector2">
              <a:avLst/>
            </a:prstGeom>
            <a:ln>
              <a:solidFill>
                <a:srgbClr val="c0504d"/>
              </a:solidFill>
              <a:tailEnd len="med" type="triangle" w="med"/>
            </a:ln>
          </p:spPr>
        </p:cxnSp>
        <p:sp>
          <p:nvSpPr>
            <p:cNvPr id="183" name="Geschweifte Klammer links 19"/>
            <p:cNvSpPr/>
            <p:nvPr/>
          </p:nvSpPr>
          <p:spPr>
            <a:xfrm>
              <a:off x="4697280" y="4222800"/>
              <a:ext cx="151200" cy="312840"/>
            </a:xfrm>
            <a:prstGeom prst="leftBrace">
              <a:avLst>
                <a:gd name="adj1" fmla="val 8333"/>
                <a:gd name="adj2" fmla="val 50000"/>
              </a:avLst>
            </a:prstGeom>
            <a:noFill/>
            <a:ln>
              <a:solidFill>
                <a:srgbClr val="c0504d"/>
              </a:solidFill>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txBody>
            <a:bodyPr lIns="90000" rIns="90000" tIns="45000" bIns="45000" anchor="ctr">
              <a:noAutofit/>
            </a:bodyPr>
            <a:p>
              <a:pPr algn="ctr" defTabSz="914400">
                <a:lnSpc>
                  <a:spcPct val="100000"/>
                </a:lnSpc>
              </a:pPr>
              <a:endParaRPr b="0" lang="de-AT" sz="1800" spc="-1" strike="noStrike">
                <a:solidFill>
                  <a:schemeClr val="dk1"/>
                </a:solidFill>
                <a:latin typeface="Arial"/>
                <a:ea typeface="DejaVu Sans"/>
              </a:endParaRPr>
            </a:p>
          </p:txBody>
        </p:sp>
        <p:sp>
          <p:nvSpPr>
            <p:cNvPr id="184" name="Textfeld 20"/>
            <p:cNvSpPr/>
            <p:nvPr/>
          </p:nvSpPr>
          <p:spPr>
            <a:xfrm>
              <a:off x="2831760" y="3071160"/>
              <a:ext cx="1483920" cy="667080"/>
            </a:xfrm>
            <a:prstGeom prst="rect">
              <a:avLst/>
            </a:prstGeom>
            <a:solidFill>
              <a:schemeClr val="accent2"/>
            </a:solidFill>
            <a:ln w="0">
              <a:noFill/>
            </a:ln>
          </p:spPr>
          <p:style>
            <a:lnRef idx="0"/>
            <a:fillRef idx="0"/>
            <a:effectRef idx="0"/>
            <a:fontRef idx="minor"/>
          </p:style>
          <p:txBody>
            <a:bodyPr lIns="90000" rIns="90000" tIns="45000" bIns="45000" anchor="t">
              <a:noAutofit/>
            </a:bodyPr>
            <a:p>
              <a:pPr defTabSz="914400">
                <a:lnSpc>
                  <a:spcPct val="100000"/>
                </a:lnSpc>
              </a:pPr>
              <a:r>
                <a:rPr b="1" i="1" lang="de-AT" sz="800" spc="-1" strike="noStrike">
                  <a:solidFill>
                    <a:schemeClr val="lt1"/>
                  </a:solidFill>
                  <a:latin typeface="Arial"/>
                  <a:ea typeface="DejaVu Sans"/>
                </a:rPr>
                <a:t>INFO: Electric aux power demand is calculated by multiplying the specified current values by a voltage of 28.3V</a:t>
              </a:r>
              <a:endParaRPr b="0" lang="en-US" sz="800" spc="-1" strike="noStrike">
                <a:solidFill>
                  <a:srgbClr val="000000"/>
                </a:solidFill>
                <a:latin typeface="Arial"/>
              </a:endParaRPr>
            </a:p>
          </p:txBody>
        </p:sp>
      </p:grpSp>
      <p:sp>
        <p:nvSpPr>
          <p:cNvPr id="4" name="PlaceHolder 3"/>
          <p:cNvSpPr>
            <a:spLocks noGrp="1"/>
          </p:cNvSpPr>
          <p:nvPr>
            <p:ph type="sldNum" idx="2"/>
          </p:nvPr>
        </p:nvSpPr>
        <p:spPr/>
        <p:txBody>
          <a:bodyPr/>
          <a:p>
            <a:fld id="{C78EB3EA-B9F3-404C-A6BC-81BFE77D0184}" type="slidenum">
              <a:t>20</a:t>
            </a:fld>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PlaceHolder 1"/>
          <p:cNvSpPr>
            <a:spLocks noGrp="1"/>
          </p:cNvSpPr>
          <p:nvPr>
            <p:ph/>
          </p:nvPr>
        </p:nvSpPr>
        <p:spPr>
          <a:xfrm>
            <a:off x="585360" y="2146320"/>
            <a:ext cx="8228880" cy="3976920"/>
          </a:xfrm>
          <a:prstGeom prst="rect">
            <a:avLst/>
          </a:prstGeom>
          <a:noFill/>
          <a:ln w="0">
            <a:noFill/>
          </a:ln>
        </p:spPr>
        <p:txBody>
          <a:bodyPr lIns="0" rIns="0" tIns="0" bIns="0" anchor="t">
            <a:normAutofit fontScale="91050"/>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Arial"/>
                <a:ea typeface="DejaVu Sans"/>
              </a:rPr>
              <a:t>Exemplary results for VECTO Group 2 12-ton rigid lorry</a:t>
            </a:r>
            <a:br>
              <a:rPr sz="2800"/>
            </a:br>
            <a:r>
              <a:rPr b="0" lang="en-US" sz="2800" spc="-1" strike="noStrike">
                <a:solidFill>
                  <a:schemeClr val="dk1"/>
                </a:solidFill>
                <a:latin typeface="Arial"/>
                <a:ea typeface="DejaVu Sans"/>
              </a:rPr>
              <a:t>(9.5 ton actual mass) on following slides</a:t>
            </a:r>
            <a:endParaRPr b="0" lang="de-DE" sz="2800" spc="-1" strike="noStrike">
              <a:solidFill>
                <a:schemeClr val="dk1"/>
              </a:solidFill>
              <a:latin typeface="Arial"/>
            </a:endParaRPr>
          </a:p>
          <a:p>
            <a:pPr marL="228600" indent="-228600" defTabSz="914400">
              <a:lnSpc>
                <a:spcPct val="90000"/>
              </a:lnSpc>
              <a:spcBef>
                <a:spcPts val="1001"/>
              </a:spcBef>
              <a:buClr>
                <a:srgbClr val="000000"/>
              </a:buClr>
              <a:buFont typeface="Arial"/>
              <a:buChar char="•"/>
            </a:pPr>
            <a:r>
              <a:rPr b="0" lang="en-GB" sz="2800" spc="-1" strike="noStrike">
                <a:solidFill>
                  <a:schemeClr val="dk1"/>
                </a:solidFill>
                <a:latin typeface="Arial"/>
                <a:ea typeface="DejaVu Sans"/>
              </a:rPr>
              <a:t>Simulation in VECTO Urban Delivery Cycle</a:t>
            </a:r>
            <a:endParaRPr b="0" lang="de-DE" sz="2800" spc="-1" strike="noStrike">
              <a:solidFill>
                <a:schemeClr val="dk1"/>
              </a:solidFill>
              <a:latin typeface="Arial"/>
            </a:endParaRPr>
          </a:p>
          <a:p>
            <a:pPr lvl="1" marL="716040" indent="-266760" defTabSz="914400">
              <a:lnSpc>
                <a:spcPct val="90000"/>
              </a:lnSpc>
              <a:spcBef>
                <a:spcPts val="499"/>
              </a:spcBef>
              <a:buClr>
                <a:srgbClr val="000000"/>
              </a:buClr>
              <a:buFont typeface="Wingdings" charset="2"/>
              <a:buChar char=""/>
            </a:pPr>
            <a:r>
              <a:rPr b="0" lang="en-GB" sz="1600" spc="-1" strike="noStrike">
                <a:solidFill>
                  <a:schemeClr val="dk1"/>
                </a:solidFill>
                <a:latin typeface="Arial"/>
                <a:ea typeface="DejaVu Sans"/>
              </a:rPr>
              <a:t>Average electric power demand around 22 kW</a:t>
            </a:r>
            <a:endParaRPr b="0" lang="de-DE" sz="1600" spc="-1" strike="noStrike">
              <a:solidFill>
                <a:schemeClr val="dk1"/>
              </a:solidFill>
              <a:latin typeface="Arial"/>
            </a:endParaRPr>
          </a:p>
          <a:p>
            <a:pPr marL="228600" indent="-228600" defTabSz="914400">
              <a:lnSpc>
                <a:spcPct val="90000"/>
              </a:lnSpc>
              <a:spcBef>
                <a:spcPts val="1001"/>
              </a:spcBef>
              <a:buClr>
                <a:srgbClr val="000000"/>
              </a:buClr>
              <a:buFont typeface="Arial"/>
              <a:buChar char="•"/>
            </a:pPr>
            <a:r>
              <a:rPr b="0" lang="en-GB" sz="2800" spc="-1" strike="noStrike">
                <a:solidFill>
                  <a:schemeClr val="dk1"/>
                </a:solidFill>
                <a:latin typeface="Arial"/>
                <a:ea typeface="DejaVu Sans"/>
              </a:rPr>
              <a:t>FCHV powertrain specifications:</a:t>
            </a:r>
            <a:endParaRPr b="0" lang="de-DE" sz="2800" spc="-1" strike="noStrike">
              <a:solidFill>
                <a:schemeClr val="dk1"/>
              </a:solidFill>
              <a:latin typeface="Arial"/>
            </a:endParaRPr>
          </a:p>
          <a:p>
            <a:pPr lvl="1" marL="716040" indent="-266760" defTabSz="914400">
              <a:lnSpc>
                <a:spcPct val="90000"/>
              </a:lnSpc>
              <a:spcBef>
                <a:spcPts val="499"/>
              </a:spcBef>
              <a:buClr>
                <a:srgbClr val="000000"/>
              </a:buClr>
              <a:buFont typeface="Wingdings" charset="2"/>
              <a:buChar char=""/>
            </a:pPr>
            <a:r>
              <a:rPr b="0" lang="en-GB" sz="1600" spc="-1" strike="noStrike">
                <a:solidFill>
                  <a:schemeClr val="dk1"/>
                </a:solidFill>
                <a:latin typeface="Arial"/>
                <a:ea typeface="DejaVu Sans"/>
              </a:rPr>
              <a:t>100 kW FCS max power</a:t>
            </a:r>
            <a:endParaRPr b="0" lang="de-DE" sz="1600" spc="-1" strike="noStrike">
              <a:solidFill>
                <a:schemeClr val="dk1"/>
              </a:solidFill>
              <a:latin typeface="Arial"/>
            </a:endParaRPr>
          </a:p>
          <a:p>
            <a:pPr lvl="1" marL="716040" indent="-266760" defTabSz="914400">
              <a:lnSpc>
                <a:spcPct val="90000"/>
              </a:lnSpc>
              <a:spcBef>
                <a:spcPts val="499"/>
              </a:spcBef>
              <a:buClr>
                <a:srgbClr val="000000"/>
              </a:buClr>
              <a:buFont typeface="Wingdings" charset="2"/>
              <a:buChar char=""/>
            </a:pPr>
            <a:r>
              <a:rPr b="0" lang="en-GB" sz="1600" spc="-1" strike="noStrike">
                <a:solidFill>
                  <a:schemeClr val="dk1"/>
                </a:solidFill>
                <a:latin typeface="Arial"/>
                <a:ea typeface="DejaVu Sans"/>
              </a:rPr>
              <a:t>following variants of battery:</a:t>
            </a:r>
            <a:endParaRPr b="0" lang="de-DE" sz="1600" spc="-1" strike="noStrike">
              <a:solidFill>
                <a:schemeClr val="dk1"/>
              </a:solidFill>
              <a:latin typeface="Arial"/>
            </a:endParaRPr>
          </a:p>
          <a:p>
            <a:pPr lvl="2" marL="1143000" indent="-228600" defTabSz="914400">
              <a:lnSpc>
                <a:spcPct val="90000"/>
              </a:lnSpc>
              <a:spcBef>
                <a:spcPts val="499"/>
              </a:spcBef>
              <a:buClr>
                <a:srgbClr val="000000"/>
              </a:buClr>
              <a:buFont typeface="Arial"/>
              <a:buChar char="•"/>
            </a:pPr>
            <a:r>
              <a:rPr b="0" lang="en-GB" sz="1400" spc="-1" strike="noStrike">
                <a:solidFill>
                  <a:schemeClr val="dk1"/>
                </a:solidFill>
                <a:latin typeface="Arial"/>
                <a:ea typeface="DejaVu Sans"/>
              </a:rPr>
              <a:t>5 kWh</a:t>
            </a:r>
            <a:endParaRPr b="0" lang="de-DE" sz="1400" spc="-1" strike="noStrike">
              <a:solidFill>
                <a:schemeClr val="dk1"/>
              </a:solidFill>
              <a:latin typeface="Arial"/>
            </a:endParaRPr>
          </a:p>
          <a:p>
            <a:pPr lvl="2" marL="1143000" indent="-228600" defTabSz="914400">
              <a:lnSpc>
                <a:spcPct val="90000"/>
              </a:lnSpc>
              <a:spcBef>
                <a:spcPts val="499"/>
              </a:spcBef>
              <a:buClr>
                <a:srgbClr val="000000"/>
              </a:buClr>
              <a:buFont typeface="Arial"/>
              <a:buChar char="•"/>
            </a:pPr>
            <a:r>
              <a:rPr b="0" lang="en-GB" sz="1400" spc="-1" strike="noStrike">
                <a:solidFill>
                  <a:schemeClr val="dk1"/>
                </a:solidFill>
                <a:latin typeface="Arial"/>
                <a:ea typeface="DejaVu Sans"/>
              </a:rPr>
              <a:t>10 kWh</a:t>
            </a:r>
            <a:endParaRPr b="0" lang="de-DE" sz="1400" spc="-1" strike="noStrike">
              <a:solidFill>
                <a:schemeClr val="dk1"/>
              </a:solidFill>
              <a:latin typeface="Arial"/>
            </a:endParaRPr>
          </a:p>
          <a:p>
            <a:pPr lvl="2" marL="1143000" indent="-228600" defTabSz="914400">
              <a:lnSpc>
                <a:spcPct val="90000"/>
              </a:lnSpc>
              <a:spcBef>
                <a:spcPts val="499"/>
              </a:spcBef>
              <a:buClr>
                <a:srgbClr val="000000"/>
              </a:buClr>
              <a:buFont typeface="Arial"/>
              <a:buChar char="•"/>
            </a:pPr>
            <a:r>
              <a:rPr b="0" lang="en-GB" sz="1400" spc="-1" strike="noStrike">
                <a:solidFill>
                  <a:schemeClr val="dk1"/>
                </a:solidFill>
                <a:latin typeface="Arial"/>
                <a:ea typeface="DejaVu Sans"/>
              </a:rPr>
              <a:t>20 kWh</a:t>
            </a:r>
            <a:endParaRPr b="0" lang="de-DE" sz="1400" spc="-1" strike="noStrike">
              <a:solidFill>
                <a:schemeClr val="dk1"/>
              </a:solidFill>
              <a:latin typeface="Arial"/>
            </a:endParaRPr>
          </a:p>
          <a:p>
            <a:pPr marL="228600" indent="-228600" defTabSz="914400">
              <a:lnSpc>
                <a:spcPct val="90000"/>
              </a:lnSpc>
              <a:spcBef>
                <a:spcPts val="1001"/>
              </a:spcBef>
              <a:buClr>
                <a:srgbClr val="000000"/>
              </a:buClr>
              <a:buFont typeface="Arial"/>
              <a:buChar char="•"/>
            </a:pPr>
            <a:r>
              <a:rPr b="0" lang="en-GB" sz="2800" spc="-1" strike="noStrike">
                <a:solidFill>
                  <a:schemeClr val="dk1"/>
                </a:solidFill>
                <a:latin typeface="Arial"/>
                <a:ea typeface="DejaVu Sans"/>
              </a:rPr>
              <a:t>Resulting speed profile was exactly the same for all different configurations</a:t>
            </a:r>
            <a:endParaRPr b="0" lang="de-DE" sz="2800" spc="-1" strike="noStrike">
              <a:solidFill>
                <a:schemeClr val="dk1"/>
              </a:solidFill>
              <a:latin typeface="Arial"/>
            </a:endParaRPr>
          </a:p>
          <a:p>
            <a:pPr indent="0" defTabSz="914400">
              <a:lnSpc>
                <a:spcPct val="90000"/>
              </a:lnSpc>
              <a:spcBef>
                <a:spcPts val="499"/>
              </a:spcBef>
              <a:buNone/>
            </a:pPr>
            <a:endParaRPr b="0" lang="de-DE" sz="2400" spc="-1" strike="noStrike">
              <a:solidFill>
                <a:schemeClr val="dk1"/>
              </a:solidFill>
              <a:latin typeface="Arial"/>
            </a:endParaRPr>
          </a:p>
          <a:p>
            <a:pPr indent="0" defTabSz="914400">
              <a:lnSpc>
                <a:spcPct val="90000"/>
              </a:lnSpc>
              <a:spcBef>
                <a:spcPts val="1001"/>
              </a:spcBef>
              <a:buNone/>
            </a:pPr>
            <a:endParaRPr b="0" lang="de-DE" sz="2800" spc="-1" strike="noStrike">
              <a:solidFill>
                <a:schemeClr val="dk1"/>
              </a:solidFill>
              <a:latin typeface="Arial"/>
            </a:endParaRPr>
          </a:p>
        </p:txBody>
      </p:sp>
      <p:sp>
        <p:nvSpPr>
          <p:cNvPr id="186" name="PlaceHolder 2"/>
          <p:cNvSpPr>
            <a:spLocks noGrp="1"/>
          </p:cNvSpPr>
          <p:nvPr>
            <p:ph type="title"/>
          </p:nvPr>
        </p:nvSpPr>
        <p:spPr>
          <a:xfrm>
            <a:off x="585360" y="850320"/>
            <a:ext cx="8228880" cy="1144440"/>
          </a:xfrm>
          <a:prstGeom prst="rect">
            <a:avLst/>
          </a:prstGeom>
          <a:noFill/>
          <a:ln w="0">
            <a:noFill/>
          </a:ln>
        </p:spPr>
        <p:txBody>
          <a:bodyPr lIns="0" rIns="0" tIns="0" bIns="0" anchor="ctr">
            <a:noAutofit/>
          </a:bodyPr>
          <a:p>
            <a:pPr indent="0" defTabSz="914400">
              <a:lnSpc>
                <a:spcPct val="90000"/>
              </a:lnSpc>
              <a:buNone/>
            </a:pPr>
            <a:r>
              <a:rPr b="1" lang="en-GB" sz="2400" spc="-1" strike="noStrike">
                <a:solidFill>
                  <a:srgbClr val="990000"/>
                </a:solidFill>
                <a:latin typeface="Arial"/>
                <a:ea typeface="DejaVu Sans"/>
              </a:rPr>
              <a:t>FCHV – Examples for generic operation strategy (1/5)</a:t>
            </a:r>
            <a:endParaRPr b="0" lang="de-DE" sz="2400" spc="-1" strike="noStrike">
              <a:solidFill>
                <a:schemeClr val="dk1"/>
              </a:solidFill>
              <a:latin typeface="Arial"/>
            </a:endParaRPr>
          </a:p>
        </p:txBody>
      </p:sp>
      <p:sp>
        <p:nvSpPr>
          <p:cNvPr id="4" name="PlaceHolder 3"/>
          <p:cNvSpPr>
            <a:spLocks noGrp="1"/>
          </p:cNvSpPr>
          <p:nvPr>
            <p:ph type="sldNum" idx="2"/>
          </p:nvPr>
        </p:nvSpPr>
        <p:spPr/>
        <p:txBody>
          <a:bodyPr/>
          <a:p>
            <a:fld id="{F9B1285C-66F4-4EAB-956C-6E8E91A420D4}" type="slidenum">
              <a:t>21</a:t>
            </a:fld>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7" name="Grafik 9" descr=""/>
          <p:cNvPicPr/>
          <p:nvPr/>
        </p:nvPicPr>
        <p:blipFill>
          <a:blip r:embed="rId1"/>
          <a:stretch/>
        </p:blipFill>
        <p:spPr>
          <a:xfrm>
            <a:off x="622440" y="2031480"/>
            <a:ext cx="5969880" cy="3969000"/>
          </a:xfrm>
          <a:prstGeom prst="rect">
            <a:avLst/>
          </a:prstGeom>
          <a:ln w="0">
            <a:noFill/>
          </a:ln>
        </p:spPr>
      </p:pic>
      <p:sp>
        <p:nvSpPr>
          <p:cNvPr id="188" name="PlaceHolder 1"/>
          <p:cNvSpPr>
            <a:spLocks noGrp="1"/>
          </p:cNvSpPr>
          <p:nvPr>
            <p:ph type="title"/>
          </p:nvPr>
        </p:nvSpPr>
        <p:spPr>
          <a:xfrm>
            <a:off x="585360" y="850320"/>
            <a:ext cx="8228880" cy="1144440"/>
          </a:xfrm>
          <a:prstGeom prst="rect">
            <a:avLst/>
          </a:prstGeom>
          <a:noFill/>
          <a:ln w="0">
            <a:noFill/>
          </a:ln>
        </p:spPr>
        <p:txBody>
          <a:bodyPr lIns="0" rIns="0" tIns="0" bIns="0" anchor="ctr">
            <a:noAutofit/>
          </a:bodyPr>
          <a:p>
            <a:pPr indent="0" defTabSz="914400">
              <a:lnSpc>
                <a:spcPct val="90000"/>
              </a:lnSpc>
              <a:buNone/>
            </a:pPr>
            <a:r>
              <a:rPr b="1" lang="en-GB" sz="2400" spc="-1" strike="noStrike">
                <a:solidFill>
                  <a:srgbClr val="990000"/>
                </a:solidFill>
                <a:latin typeface="Arial"/>
                <a:ea typeface="DejaVu Sans"/>
              </a:rPr>
              <a:t>FCHV – Examples for generic operation strategy (2/5)</a:t>
            </a:r>
            <a:endParaRPr b="0" lang="de-DE" sz="2400" spc="-1" strike="noStrike">
              <a:solidFill>
                <a:schemeClr val="dk1"/>
              </a:solidFill>
              <a:latin typeface="Arial"/>
            </a:endParaRPr>
          </a:p>
        </p:txBody>
      </p:sp>
      <p:sp>
        <p:nvSpPr>
          <p:cNvPr id="189" name="Textfeld 6"/>
          <p:cNvSpPr/>
          <p:nvPr/>
        </p:nvSpPr>
        <p:spPr>
          <a:xfrm>
            <a:off x="6670440" y="2031480"/>
            <a:ext cx="2346120" cy="2773080"/>
          </a:xfrm>
          <a:prstGeom prst="rect">
            <a:avLst/>
          </a:prstGeom>
          <a:noFill/>
          <a:ln w="0">
            <a:noFill/>
          </a:ln>
        </p:spPr>
        <p:style>
          <a:lnRef idx="0"/>
          <a:fillRef idx="0"/>
          <a:effectRef idx="0"/>
          <a:fontRef idx="minor"/>
        </p:style>
        <p:txBody>
          <a:bodyPr lIns="90000" rIns="90000" tIns="45000" bIns="45000" anchor="t">
            <a:spAutoFit/>
          </a:bodyPr>
          <a:p>
            <a:pPr marL="285840" indent="-285840" defTabSz="914400">
              <a:lnSpc>
                <a:spcPct val="100000"/>
              </a:lnSpc>
              <a:buClr>
                <a:srgbClr val="000000"/>
              </a:buClr>
              <a:buFont typeface="Wingdings" charset="2"/>
              <a:buChar char=""/>
            </a:pPr>
            <a:r>
              <a:rPr b="1" lang="en-GB" sz="1400" spc="-1" strike="noStrike">
                <a:solidFill>
                  <a:schemeClr val="dk1"/>
                </a:solidFill>
                <a:latin typeface="Arial"/>
                <a:ea typeface="DejaVu Sans"/>
              </a:rPr>
              <a:t>The lower the buffer size, the more dynamic the FCS operation gets</a:t>
            </a:r>
            <a:br>
              <a:rPr sz="1400"/>
            </a:br>
            <a:r>
              <a:rPr b="0" lang="en-GB" sz="1400" spc="-1" strike="noStrike">
                <a:solidFill>
                  <a:schemeClr val="dk1"/>
                </a:solidFill>
                <a:latin typeface="Arial"/>
              </a:rPr>
              <a:t> </a:t>
            </a:r>
            <a:endParaRPr b="0" lang="en-US" sz="1400" spc="-1" strike="noStrike">
              <a:solidFill>
                <a:srgbClr val="000000"/>
              </a:solidFill>
              <a:latin typeface="Arial"/>
            </a:endParaRPr>
          </a:p>
          <a:p>
            <a:pPr marL="285840" indent="-285840" defTabSz="914400">
              <a:lnSpc>
                <a:spcPct val="100000"/>
              </a:lnSpc>
              <a:buClr>
                <a:srgbClr val="000000"/>
              </a:buClr>
              <a:buFont typeface="Wingdings" charset="2"/>
              <a:buChar char=""/>
            </a:pPr>
            <a:r>
              <a:rPr b="0" i="1" lang="en-GB" sz="1400" spc="-1" strike="noStrike">
                <a:solidFill>
                  <a:schemeClr val="dk1"/>
                </a:solidFill>
                <a:latin typeface="Arial"/>
                <a:ea typeface="DejaVu Sans"/>
              </a:rPr>
              <a:t>Exactly same speed profile for all variants</a:t>
            </a:r>
            <a:br>
              <a:rPr sz="1400"/>
            </a:br>
            <a:r>
              <a:rPr b="0" i="1" lang="en-GB" sz="1400" spc="-1" strike="noStrike">
                <a:solidFill>
                  <a:schemeClr val="dk1"/>
                </a:solidFill>
                <a:latin typeface="Arial"/>
              </a:rPr>
              <a:t> </a:t>
            </a:r>
            <a:endParaRPr b="0" lang="en-US" sz="1400" spc="-1" strike="noStrike">
              <a:solidFill>
                <a:srgbClr val="000000"/>
              </a:solidFill>
              <a:latin typeface="Arial"/>
            </a:endParaRPr>
          </a:p>
          <a:p>
            <a:pPr marL="285840" indent="-285840" defTabSz="914400">
              <a:lnSpc>
                <a:spcPct val="100000"/>
              </a:lnSpc>
              <a:buClr>
                <a:srgbClr val="000000"/>
              </a:buClr>
              <a:buFont typeface="Wingdings" charset="2"/>
              <a:buChar char=""/>
            </a:pPr>
            <a:r>
              <a:rPr b="0" lang="en-GB" sz="1400" spc="-1" strike="noStrike">
                <a:solidFill>
                  <a:schemeClr val="dk1"/>
                </a:solidFill>
                <a:latin typeface="Arial"/>
                <a:ea typeface="DejaVu Sans"/>
              </a:rPr>
              <a:t>Averaging window sizes determined:</a:t>
            </a:r>
            <a:endParaRPr b="0" lang="en-US" sz="1400" spc="-1" strike="noStrike">
              <a:solidFill>
                <a:srgbClr val="000000"/>
              </a:solidFill>
              <a:latin typeface="Arial"/>
            </a:endParaRPr>
          </a:p>
          <a:p>
            <a:pPr lvl="1" marL="743040" indent="-285840" defTabSz="914400">
              <a:lnSpc>
                <a:spcPct val="100000"/>
              </a:lnSpc>
              <a:buClr>
                <a:srgbClr val="000000"/>
              </a:buClr>
              <a:buFont typeface="Wingdings" charset="2"/>
              <a:buChar char=""/>
            </a:pPr>
            <a:r>
              <a:rPr b="0" lang="en-GB" sz="1200" spc="-1" strike="noStrike">
                <a:solidFill>
                  <a:schemeClr val="dk1"/>
                </a:solidFill>
                <a:latin typeface="Arial"/>
                <a:ea typeface="DejaVu Sans"/>
              </a:rPr>
              <a:t>5 kWh: 6 km</a:t>
            </a:r>
            <a:endParaRPr b="0" lang="en-US" sz="1200" spc="-1" strike="noStrike">
              <a:solidFill>
                <a:srgbClr val="000000"/>
              </a:solidFill>
              <a:latin typeface="Arial"/>
            </a:endParaRPr>
          </a:p>
          <a:p>
            <a:pPr lvl="1" marL="743040" indent="-285840" defTabSz="914400">
              <a:lnSpc>
                <a:spcPct val="100000"/>
              </a:lnSpc>
              <a:buClr>
                <a:srgbClr val="000000"/>
              </a:buClr>
              <a:buFont typeface="Wingdings" charset="2"/>
              <a:buChar char=""/>
            </a:pPr>
            <a:r>
              <a:rPr b="0" lang="en-GB" sz="1200" spc="-1" strike="noStrike">
                <a:solidFill>
                  <a:schemeClr val="dk1"/>
                </a:solidFill>
                <a:latin typeface="Arial"/>
                <a:ea typeface="DejaVu Sans"/>
              </a:rPr>
              <a:t>10 kWh: 37.5 km</a:t>
            </a:r>
            <a:endParaRPr b="0" lang="en-US" sz="1200" spc="-1" strike="noStrike">
              <a:solidFill>
                <a:srgbClr val="000000"/>
              </a:solidFill>
              <a:latin typeface="Arial"/>
            </a:endParaRPr>
          </a:p>
          <a:p>
            <a:pPr lvl="1" marL="743040" indent="-285840" defTabSz="914400">
              <a:lnSpc>
                <a:spcPct val="100000"/>
              </a:lnSpc>
              <a:buClr>
                <a:srgbClr val="000000"/>
              </a:buClr>
              <a:buFont typeface="Wingdings" charset="2"/>
              <a:buChar char=""/>
            </a:pPr>
            <a:r>
              <a:rPr b="0" lang="en-GB" sz="1200" spc="-1" strike="noStrike">
                <a:solidFill>
                  <a:schemeClr val="dk1"/>
                </a:solidFill>
                <a:latin typeface="Arial"/>
                <a:ea typeface="DejaVu Sans"/>
              </a:rPr>
              <a:t>20 kWh: 100 km</a:t>
            </a:r>
            <a:endParaRPr b="0" lang="en-US" sz="1200" spc="-1" strike="noStrike">
              <a:solidFill>
                <a:srgbClr val="000000"/>
              </a:solidFill>
              <a:latin typeface="Arial"/>
            </a:endParaRPr>
          </a:p>
        </p:txBody>
      </p:sp>
      <p:sp>
        <p:nvSpPr>
          <p:cNvPr id="190" name="Textfeld 8"/>
          <p:cNvSpPr/>
          <p:nvPr/>
        </p:nvSpPr>
        <p:spPr>
          <a:xfrm>
            <a:off x="3874320" y="3954600"/>
            <a:ext cx="708840" cy="623160"/>
          </a:xfrm>
          <a:prstGeom prst="rect">
            <a:avLst/>
          </a:prstGeom>
          <a:noFill/>
          <a:ln w="0">
            <a:noFill/>
          </a:ln>
        </p:spPr>
        <p:style>
          <a:lnRef idx="0"/>
          <a:fillRef idx="0"/>
          <a:effectRef idx="0"/>
          <a:fontRef idx="minor"/>
        </p:style>
        <p:txBody>
          <a:bodyPr lIns="90000" rIns="90000" tIns="45000" bIns="45000" anchor="t">
            <a:spAutoFit/>
          </a:bodyPr>
          <a:p>
            <a:pPr defTabSz="914400">
              <a:lnSpc>
                <a:spcPts val="1400"/>
              </a:lnSpc>
            </a:pPr>
            <a:r>
              <a:rPr b="0" lang="de-AT" sz="1100" spc="-1" strike="noStrike">
                <a:solidFill>
                  <a:schemeClr val="accent5"/>
                </a:solidFill>
                <a:latin typeface="Arial"/>
                <a:ea typeface="DejaVu Sans"/>
              </a:rPr>
              <a:t>5 kWh</a:t>
            </a:r>
            <a:endParaRPr b="0" lang="en-US" sz="1100" spc="-1" strike="noStrike">
              <a:solidFill>
                <a:srgbClr val="000000"/>
              </a:solidFill>
              <a:latin typeface="Arial"/>
            </a:endParaRPr>
          </a:p>
          <a:p>
            <a:pPr defTabSz="914400">
              <a:lnSpc>
                <a:spcPts val="1400"/>
              </a:lnSpc>
            </a:pPr>
            <a:r>
              <a:rPr b="0" lang="de-AT" sz="1100" spc="-1" strike="noStrike">
                <a:solidFill>
                  <a:srgbClr val="ffff00"/>
                </a:solidFill>
                <a:latin typeface="Arial"/>
                <a:ea typeface="DejaVu Sans"/>
              </a:rPr>
              <a:t>10 kWh</a:t>
            </a:r>
            <a:endParaRPr b="0" lang="en-US" sz="1100" spc="-1" strike="noStrike">
              <a:solidFill>
                <a:srgbClr val="000000"/>
              </a:solidFill>
              <a:latin typeface="Arial"/>
            </a:endParaRPr>
          </a:p>
          <a:p>
            <a:pPr defTabSz="914400">
              <a:lnSpc>
                <a:spcPts val="1400"/>
              </a:lnSpc>
            </a:pPr>
            <a:r>
              <a:rPr b="0" lang="de-AT" sz="1100" spc="-1" strike="noStrike">
                <a:solidFill>
                  <a:schemeClr val="accent3"/>
                </a:solidFill>
                <a:latin typeface="Arial"/>
                <a:ea typeface="DejaVu Sans"/>
              </a:rPr>
              <a:t>20 kWh</a:t>
            </a:r>
            <a:endParaRPr b="0" lang="en-US" sz="1100" spc="-1" strike="noStrike">
              <a:solidFill>
                <a:srgbClr val="000000"/>
              </a:solidFill>
              <a:latin typeface="Arial"/>
            </a:endParaRPr>
          </a:p>
        </p:txBody>
      </p:sp>
      <p:pic>
        <p:nvPicPr>
          <p:cNvPr id="191" name="Grafik 10" descr=""/>
          <p:cNvPicPr/>
          <p:nvPr/>
        </p:nvPicPr>
        <p:blipFill>
          <a:blip r:embed="rId2"/>
          <a:stretch/>
        </p:blipFill>
        <p:spPr>
          <a:xfrm>
            <a:off x="4486680" y="3498480"/>
            <a:ext cx="1456560" cy="1034640"/>
          </a:xfrm>
          <a:prstGeom prst="rect">
            <a:avLst/>
          </a:prstGeom>
          <a:ln w="0">
            <a:noFill/>
          </a:ln>
        </p:spPr>
      </p:pic>
      <p:sp>
        <p:nvSpPr>
          <p:cNvPr id="192" name="Textfeld 7"/>
          <p:cNvSpPr/>
          <p:nvPr/>
        </p:nvSpPr>
        <p:spPr>
          <a:xfrm>
            <a:off x="2883240" y="3985560"/>
            <a:ext cx="1089000" cy="546480"/>
          </a:xfrm>
          <a:prstGeom prst="rect">
            <a:avLst/>
          </a:prstGeom>
          <a:noFill/>
          <a:ln w="0">
            <a:noFill/>
          </a:ln>
        </p:spPr>
        <p:style>
          <a:lnRef idx="0"/>
          <a:fillRef idx="0"/>
          <a:effectRef idx="0"/>
          <a:fontRef idx="minor"/>
        </p:style>
        <p:txBody>
          <a:bodyPr lIns="90000" rIns="90000" tIns="45000" bIns="45000" anchor="t">
            <a:spAutoFit/>
          </a:bodyPr>
          <a:p>
            <a:pPr defTabSz="914400">
              <a:lnSpc>
                <a:spcPts val="1199"/>
              </a:lnSpc>
            </a:pPr>
            <a:r>
              <a:rPr b="1" lang="de-AT" sz="900" spc="-1" strike="noStrike">
                <a:solidFill>
                  <a:schemeClr val="lt1"/>
                </a:solidFill>
                <a:latin typeface="Arial"/>
                <a:ea typeface="DejaVu Sans"/>
              </a:rPr>
              <a:t>Fuel cell power for different battery sizes</a:t>
            </a:r>
            <a:endParaRPr b="0" lang="en-US" sz="900" spc="-1" strike="noStrike">
              <a:solidFill>
                <a:srgbClr val="000000"/>
              </a:solidFill>
              <a:latin typeface="Arial"/>
            </a:endParaRPr>
          </a:p>
        </p:txBody>
      </p:sp>
      <p:sp>
        <p:nvSpPr>
          <p:cNvPr id="193" name="Geschweifte Klammer links 1"/>
          <p:cNvSpPr/>
          <p:nvPr/>
        </p:nvSpPr>
        <p:spPr>
          <a:xfrm>
            <a:off x="3819600" y="3984480"/>
            <a:ext cx="114120" cy="539640"/>
          </a:xfrm>
          <a:prstGeom prst="leftBrace">
            <a:avLst>
              <a:gd name="adj1" fmla="val 8333"/>
              <a:gd name="adj2" fmla="val 50000"/>
            </a:avLst>
          </a:prstGeom>
          <a:noFill/>
          <a:ln>
            <a:solidFill>
              <a:srgbClr val="ffffff"/>
            </a:solidFill>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txBody>
          <a:bodyPr lIns="90000" rIns="90000" tIns="45000" bIns="45000" anchor="ctr">
            <a:noAutofit/>
          </a:bodyPr>
          <a:p>
            <a:pPr algn="ctr" defTabSz="914400">
              <a:lnSpc>
                <a:spcPct val="100000"/>
              </a:lnSpc>
            </a:pPr>
            <a:endParaRPr b="0" lang="de-AT" sz="1800" spc="-1" strike="noStrike">
              <a:solidFill>
                <a:schemeClr val="dk1"/>
              </a:solidFill>
              <a:latin typeface="Arial"/>
              <a:ea typeface="DejaVu Sans"/>
            </a:endParaRPr>
          </a:p>
        </p:txBody>
      </p:sp>
      <p:sp>
        <p:nvSpPr>
          <p:cNvPr id="3" name="PlaceHolder 2"/>
          <p:cNvSpPr>
            <a:spLocks noGrp="1"/>
          </p:cNvSpPr>
          <p:nvPr>
            <p:ph type="sldNum" idx="2"/>
          </p:nvPr>
        </p:nvSpPr>
        <p:spPr/>
        <p:txBody>
          <a:bodyPr/>
          <a:p>
            <a:fld id="{F28F0947-1320-4CE4-BCAD-A52AF4DACF1E}" type="slidenum">
              <a:t>22</a:t>
            </a:fld>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4" name="Grafik 5" descr=""/>
          <p:cNvPicPr/>
          <p:nvPr/>
        </p:nvPicPr>
        <p:blipFill>
          <a:blip r:embed="rId1"/>
          <a:stretch/>
        </p:blipFill>
        <p:spPr>
          <a:xfrm>
            <a:off x="622440" y="2031480"/>
            <a:ext cx="5941440" cy="3960720"/>
          </a:xfrm>
          <a:prstGeom prst="rect">
            <a:avLst/>
          </a:prstGeom>
          <a:ln w="0">
            <a:noFill/>
          </a:ln>
        </p:spPr>
      </p:pic>
      <p:sp>
        <p:nvSpPr>
          <p:cNvPr id="195" name="PlaceHolder 1"/>
          <p:cNvSpPr>
            <a:spLocks noGrp="1"/>
          </p:cNvSpPr>
          <p:nvPr>
            <p:ph type="title"/>
          </p:nvPr>
        </p:nvSpPr>
        <p:spPr>
          <a:xfrm>
            <a:off x="585360" y="850320"/>
            <a:ext cx="8228880" cy="1144440"/>
          </a:xfrm>
          <a:prstGeom prst="rect">
            <a:avLst/>
          </a:prstGeom>
          <a:noFill/>
          <a:ln w="0">
            <a:noFill/>
          </a:ln>
        </p:spPr>
        <p:txBody>
          <a:bodyPr lIns="0" rIns="0" tIns="0" bIns="0" anchor="ctr">
            <a:noAutofit/>
          </a:bodyPr>
          <a:p>
            <a:pPr indent="0" defTabSz="914400">
              <a:lnSpc>
                <a:spcPct val="90000"/>
              </a:lnSpc>
              <a:buNone/>
            </a:pPr>
            <a:r>
              <a:rPr b="1" lang="en-GB" sz="2400" spc="-1" strike="noStrike">
                <a:solidFill>
                  <a:srgbClr val="990000"/>
                </a:solidFill>
                <a:latin typeface="Arial"/>
                <a:ea typeface="DejaVu Sans"/>
              </a:rPr>
              <a:t>FCHV – Examples for generic operation strategy (3/5)</a:t>
            </a:r>
            <a:endParaRPr b="0" lang="de-DE" sz="2400" spc="-1" strike="noStrike">
              <a:solidFill>
                <a:schemeClr val="dk1"/>
              </a:solidFill>
              <a:latin typeface="Arial"/>
            </a:endParaRPr>
          </a:p>
        </p:txBody>
      </p:sp>
      <p:sp>
        <p:nvSpPr>
          <p:cNvPr id="196" name="Textfeld 6"/>
          <p:cNvSpPr/>
          <p:nvPr/>
        </p:nvSpPr>
        <p:spPr>
          <a:xfrm>
            <a:off x="6670440" y="2031480"/>
            <a:ext cx="2346120" cy="2864880"/>
          </a:xfrm>
          <a:prstGeom prst="rect">
            <a:avLst/>
          </a:prstGeom>
          <a:noFill/>
          <a:ln w="0">
            <a:noFill/>
          </a:ln>
        </p:spPr>
        <p:style>
          <a:lnRef idx="0"/>
          <a:fillRef idx="0"/>
          <a:effectRef idx="0"/>
          <a:fontRef idx="minor"/>
        </p:style>
        <p:txBody>
          <a:bodyPr lIns="90000" rIns="90000" tIns="45000" bIns="45000" anchor="t">
            <a:spAutoFit/>
          </a:bodyPr>
          <a:p>
            <a:pPr marL="285840" indent="-285840" defTabSz="914400">
              <a:lnSpc>
                <a:spcPct val="100000"/>
              </a:lnSpc>
              <a:buClr>
                <a:srgbClr val="000000"/>
              </a:buClr>
              <a:buFont typeface="Wingdings" charset="2"/>
              <a:buChar char=""/>
            </a:pPr>
            <a:r>
              <a:rPr b="1" lang="en-US" sz="1400" spc="-1" strike="noStrike">
                <a:solidFill>
                  <a:schemeClr val="dk1"/>
                </a:solidFill>
                <a:latin typeface="Arial"/>
                <a:ea typeface="DejaVu Sans"/>
              </a:rPr>
              <a:t>Battery covers instantaneous deviations from average electric power demand</a:t>
            </a:r>
            <a:br>
              <a:rPr sz="1400"/>
            </a:br>
            <a:r>
              <a:rPr b="1" lang="en-US" sz="1400" spc="-1" strike="noStrike">
                <a:solidFill>
                  <a:schemeClr val="dk1"/>
                </a:solidFill>
                <a:latin typeface="Arial"/>
              </a:rPr>
              <a:t> </a:t>
            </a:r>
            <a:endParaRPr b="0" lang="en-US" sz="1400" spc="-1" strike="noStrike">
              <a:solidFill>
                <a:srgbClr val="000000"/>
              </a:solidFill>
              <a:latin typeface="Arial"/>
            </a:endParaRPr>
          </a:p>
          <a:p>
            <a:pPr marL="285840" indent="-285840" defTabSz="914400">
              <a:lnSpc>
                <a:spcPct val="100000"/>
              </a:lnSpc>
              <a:buClr>
                <a:srgbClr val="000000"/>
              </a:buClr>
              <a:buFont typeface="Wingdings" charset="2"/>
              <a:buChar char=""/>
            </a:pPr>
            <a:r>
              <a:rPr b="1" lang="en-US" sz="1400" spc="-1" strike="noStrike">
                <a:solidFill>
                  <a:schemeClr val="dk1"/>
                </a:solidFill>
                <a:latin typeface="Arial"/>
                <a:ea typeface="DejaVu Sans"/>
              </a:rPr>
              <a:t>Average electric power demand (i.e. FCS power) constant for the setting shown with 20 kWh REESS size</a:t>
            </a:r>
            <a:br>
              <a:rPr sz="1400"/>
            </a:br>
            <a:r>
              <a:rPr b="0" i="1" lang="en-GB" sz="1400" spc="-1" strike="noStrike">
                <a:solidFill>
                  <a:schemeClr val="dk1"/>
                </a:solidFill>
                <a:latin typeface="Arial"/>
              </a:rPr>
              <a:t> </a:t>
            </a:r>
            <a:endParaRPr b="0" lang="en-US" sz="1400" spc="-1" strike="noStrike">
              <a:solidFill>
                <a:srgbClr val="000000"/>
              </a:solidFill>
              <a:latin typeface="Arial"/>
            </a:endParaRPr>
          </a:p>
        </p:txBody>
      </p:sp>
      <p:pic>
        <p:nvPicPr>
          <p:cNvPr id="197" name="Grafik 7" descr=""/>
          <p:cNvPicPr/>
          <p:nvPr/>
        </p:nvPicPr>
        <p:blipFill>
          <a:blip r:embed="rId2"/>
          <a:stretch/>
        </p:blipFill>
        <p:spPr>
          <a:xfrm>
            <a:off x="5023440" y="5008320"/>
            <a:ext cx="1221840" cy="736920"/>
          </a:xfrm>
          <a:prstGeom prst="rect">
            <a:avLst/>
          </a:prstGeom>
          <a:ln w="0">
            <a:noFill/>
          </a:ln>
        </p:spPr>
      </p:pic>
      <p:sp>
        <p:nvSpPr>
          <p:cNvPr id="198" name="Textfeld 8"/>
          <p:cNvSpPr/>
          <p:nvPr/>
        </p:nvSpPr>
        <p:spPr>
          <a:xfrm>
            <a:off x="4061880" y="5401440"/>
            <a:ext cx="1089000" cy="394200"/>
          </a:xfrm>
          <a:prstGeom prst="rect">
            <a:avLst/>
          </a:prstGeom>
          <a:noFill/>
          <a:ln w="0">
            <a:noFill/>
          </a:ln>
        </p:spPr>
        <p:style>
          <a:lnRef idx="0"/>
          <a:fillRef idx="0"/>
          <a:effectRef idx="0"/>
          <a:fontRef idx="minor"/>
        </p:style>
        <p:txBody>
          <a:bodyPr lIns="90000" rIns="90000" tIns="45000" bIns="45000" anchor="t">
            <a:spAutoFit/>
          </a:bodyPr>
          <a:p>
            <a:pPr defTabSz="914400">
              <a:lnSpc>
                <a:spcPts val="1199"/>
              </a:lnSpc>
            </a:pPr>
            <a:r>
              <a:rPr b="1" lang="de-AT" sz="900" spc="-1" strike="noStrike">
                <a:solidFill>
                  <a:srgbClr val="00b0f0"/>
                </a:solidFill>
                <a:latin typeface="Arial"/>
                <a:ea typeface="DejaVu Sans"/>
              </a:rPr>
              <a:t>Battery power</a:t>
            </a:r>
            <a:endParaRPr b="0" lang="en-US" sz="900" spc="-1" strike="noStrike">
              <a:solidFill>
                <a:srgbClr val="000000"/>
              </a:solidFill>
              <a:latin typeface="Arial"/>
            </a:endParaRPr>
          </a:p>
          <a:p>
            <a:pPr defTabSz="914400">
              <a:lnSpc>
                <a:spcPts val="1199"/>
              </a:lnSpc>
            </a:pPr>
            <a:r>
              <a:rPr b="1" lang="de-AT" sz="900" spc="-1" strike="noStrike">
                <a:solidFill>
                  <a:schemeClr val="accent3"/>
                </a:solidFill>
                <a:latin typeface="Arial"/>
                <a:ea typeface="DejaVu Sans"/>
              </a:rPr>
              <a:t>Fuel cell power</a:t>
            </a:r>
            <a:endParaRPr b="0" lang="en-US" sz="900" spc="-1" strike="noStrike">
              <a:solidFill>
                <a:srgbClr val="000000"/>
              </a:solidFill>
              <a:latin typeface="Arial"/>
            </a:endParaRPr>
          </a:p>
        </p:txBody>
      </p:sp>
      <p:sp>
        <p:nvSpPr>
          <p:cNvPr id="3" name="PlaceHolder 2"/>
          <p:cNvSpPr>
            <a:spLocks noGrp="1"/>
          </p:cNvSpPr>
          <p:nvPr>
            <p:ph type="sldNum" idx="2"/>
          </p:nvPr>
        </p:nvSpPr>
        <p:spPr/>
        <p:txBody>
          <a:bodyPr/>
          <a:p>
            <a:fld id="{D128E91C-233C-4AB3-BBE4-E5D689102B10}" type="slidenum">
              <a:t>23</a:t>
            </a:fld>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9" name="Grafik 1" descr=""/>
          <p:cNvPicPr/>
          <p:nvPr/>
        </p:nvPicPr>
        <p:blipFill>
          <a:blip r:embed="rId1"/>
          <a:stretch/>
        </p:blipFill>
        <p:spPr>
          <a:xfrm>
            <a:off x="622440" y="2031480"/>
            <a:ext cx="5951880" cy="3969000"/>
          </a:xfrm>
          <a:prstGeom prst="rect">
            <a:avLst/>
          </a:prstGeom>
          <a:ln w="0">
            <a:noFill/>
          </a:ln>
        </p:spPr>
      </p:pic>
      <p:sp>
        <p:nvSpPr>
          <p:cNvPr id="200" name="PlaceHolder 1"/>
          <p:cNvSpPr>
            <a:spLocks noGrp="1"/>
          </p:cNvSpPr>
          <p:nvPr>
            <p:ph type="title"/>
          </p:nvPr>
        </p:nvSpPr>
        <p:spPr>
          <a:xfrm>
            <a:off x="585360" y="850320"/>
            <a:ext cx="8228880" cy="1144440"/>
          </a:xfrm>
          <a:prstGeom prst="rect">
            <a:avLst/>
          </a:prstGeom>
          <a:noFill/>
          <a:ln w="0">
            <a:noFill/>
          </a:ln>
        </p:spPr>
        <p:txBody>
          <a:bodyPr lIns="0" rIns="0" tIns="0" bIns="0" anchor="ctr">
            <a:noAutofit/>
          </a:bodyPr>
          <a:p>
            <a:pPr indent="0" defTabSz="914400">
              <a:lnSpc>
                <a:spcPct val="90000"/>
              </a:lnSpc>
              <a:buNone/>
            </a:pPr>
            <a:r>
              <a:rPr b="1" lang="en-GB" sz="2400" spc="-1" strike="noStrike">
                <a:solidFill>
                  <a:srgbClr val="990000"/>
                </a:solidFill>
                <a:latin typeface="Arial"/>
                <a:ea typeface="DejaVu Sans"/>
              </a:rPr>
              <a:t>FCHV – Examples for generic operation strategy (4/5)</a:t>
            </a:r>
            <a:endParaRPr b="0" lang="de-DE" sz="2400" spc="-1" strike="noStrike">
              <a:solidFill>
                <a:schemeClr val="dk1"/>
              </a:solidFill>
              <a:latin typeface="Arial"/>
            </a:endParaRPr>
          </a:p>
        </p:txBody>
      </p:sp>
      <p:sp>
        <p:nvSpPr>
          <p:cNvPr id="201" name="Textfeld 6"/>
          <p:cNvSpPr/>
          <p:nvPr/>
        </p:nvSpPr>
        <p:spPr>
          <a:xfrm>
            <a:off x="6670440" y="2031480"/>
            <a:ext cx="2346120" cy="3291840"/>
          </a:xfrm>
          <a:prstGeom prst="rect">
            <a:avLst/>
          </a:prstGeom>
          <a:noFill/>
          <a:ln w="0">
            <a:noFill/>
          </a:ln>
        </p:spPr>
        <p:style>
          <a:lnRef idx="0"/>
          <a:fillRef idx="0"/>
          <a:effectRef idx="0"/>
          <a:fontRef idx="minor"/>
        </p:style>
        <p:txBody>
          <a:bodyPr lIns="90000" rIns="90000" tIns="45000" bIns="45000" anchor="t">
            <a:spAutoFit/>
          </a:bodyPr>
          <a:p>
            <a:pPr marL="285840" indent="-285840" defTabSz="914400">
              <a:lnSpc>
                <a:spcPct val="100000"/>
              </a:lnSpc>
              <a:buClr>
                <a:srgbClr val="000000"/>
              </a:buClr>
              <a:buFont typeface="Wingdings" charset="2"/>
              <a:buChar char=""/>
            </a:pPr>
            <a:r>
              <a:rPr b="1" lang="en-US" sz="1400" spc="-1" strike="noStrike">
                <a:solidFill>
                  <a:schemeClr val="dk1"/>
                </a:solidFill>
                <a:latin typeface="Arial"/>
                <a:ea typeface="DejaVu Sans"/>
              </a:rPr>
              <a:t>Using largest possible window size without violating SOC limits in any window</a:t>
            </a:r>
            <a:br>
              <a:rPr sz="1400"/>
            </a:br>
            <a:r>
              <a:rPr b="1" lang="en-US" sz="1400" spc="-1" strike="noStrike">
                <a:solidFill>
                  <a:schemeClr val="dk1"/>
                </a:solidFill>
                <a:latin typeface="Wingdings"/>
                <a:ea typeface="DejaVu Sans"/>
              </a:rPr>
              <a:t></a:t>
            </a:r>
            <a:r>
              <a:rPr b="1" lang="en-US" sz="1400" spc="-1" strike="noStrike">
                <a:solidFill>
                  <a:schemeClr val="dk1"/>
                </a:solidFill>
                <a:latin typeface="Arial"/>
                <a:ea typeface="DejaVu Sans"/>
              </a:rPr>
              <a:t> maximizing of battery buffer usage</a:t>
            </a:r>
            <a:br>
              <a:rPr sz="1400"/>
            </a:br>
            <a:r>
              <a:rPr b="1" lang="en-US" sz="1400" spc="-1" strike="noStrike">
                <a:solidFill>
                  <a:schemeClr val="dk1"/>
                </a:solidFill>
                <a:latin typeface="Arial"/>
              </a:rPr>
              <a:t> </a:t>
            </a:r>
            <a:endParaRPr b="0" lang="en-US" sz="1400" spc="-1" strike="noStrike">
              <a:solidFill>
                <a:srgbClr val="000000"/>
              </a:solidFill>
              <a:latin typeface="Arial"/>
            </a:endParaRPr>
          </a:p>
          <a:p>
            <a:pPr marL="285840" indent="-285840" defTabSz="914400">
              <a:lnSpc>
                <a:spcPct val="100000"/>
              </a:lnSpc>
              <a:buClr>
                <a:srgbClr val="000000"/>
              </a:buClr>
              <a:buFont typeface="Wingdings" charset="2"/>
              <a:buChar char=""/>
            </a:pPr>
            <a:r>
              <a:rPr b="0" i="1" lang="en-GB" sz="1400" spc="-1" strike="noStrike">
                <a:solidFill>
                  <a:schemeClr val="dk1"/>
                </a:solidFill>
                <a:latin typeface="Arial"/>
                <a:ea typeface="DejaVu Sans"/>
              </a:rPr>
              <a:t>Exactly same speed profile for all variants</a:t>
            </a:r>
            <a:br>
              <a:rPr sz="1400"/>
            </a:br>
            <a:r>
              <a:rPr b="0" i="1" lang="en-GB" sz="1400" spc="-1" strike="noStrike">
                <a:solidFill>
                  <a:schemeClr val="dk1"/>
                </a:solidFill>
                <a:latin typeface="Arial"/>
              </a:rPr>
              <a:t> </a:t>
            </a:r>
            <a:endParaRPr b="0" lang="en-US" sz="1400" spc="-1" strike="noStrike">
              <a:solidFill>
                <a:srgbClr val="000000"/>
              </a:solidFill>
              <a:latin typeface="Arial"/>
            </a:endParaRPr>
          </a:p>
          <a:p>
            <a:pPr marL="285840" indent="-285840" defTabSz="914400">
              <a:lnSpc>
                <a:spcPct val="100000"/>
              </a:lnSpc>
              <a:buClr>
                <a:srgbClr val="000000"/>
              </a:buClr>
              <a:buFont typeface="Wingdings" charset="2"/>
              <a:buChar char=""/>
            </a:pPr>
            <a:r>
              <a:rPr b="0" i="1" lang="en-GB" sz="1400" spc="-1" strike="noStrike">
                <a:solidFill>
                  <a:schemeClr val="dk1"/>
                </a:solidFill>
                <a:latin typeface="Arial"/>
                <a:ea typeface="DejaVu Sans"/>
              </a:rPr>
              <a:t>SOC limits are Engineering settings, no connex to generic limits used in Declaration Mode</a:t>
            </a:r>
            <a:endParaRPr b="0" lang="en-US" sz="1400" spc="-1" strike="noStrike">
              <a:solidFill>
                <a:srgbClr val="000000"/>
              </a:solidFill>
              <a:latin typeface="Arial"/>
            </a:endParaRPr>
          </a:p>
        </p:txBody>
      </p:sp>
      <p:sp>
        <p:nvSpPr>
          <p:cNvPr id="202" name="Textfeld 8"/>
          <p:cNvSpPr/>
          <p:nvPr/>
        </p:nvSpPr>
        <p:spPr>
          <a:xfrm>
            <a:off x="4767840" y="5342760"/>
            <a:ext cx="708840" cy="508680"/>
          </a:xfrm>
          <a:prstGeom prst="rect">
            <a:avLst/>
          </a:prstGeom>
          <a:noFill/>
          <a:ln w="0">
            <a:noFill/>
          </a:ln>
        </p:spPr>
        <p:style>
          <a:lnRef idx="0"/>
          <a:fillRef idx="0"/>
          <a:effectRef idx="0"/>
          <a:fontRef idx="minor"/>
        </p:style>
        <p:txBody>
          <a:bodyPr lIns="90000" rIns="90000" tIns="45000" bIns="45000" anchor="t">
            <a:spAutoFit/>
          </a:bodyPr>
          <a:p>
            <a:pPr defTabSz="914400">
              <a:lnSpc>
                <a:spcPts val="1100"/>
              </a:lnSpc>
            </a:pPr>
            <a:r>
              <a:rPr b="0" lang="de-AT" sz="900" spc="-1" strike="noStrike">
                <a:solidFill>
                  <a:schemeClr val="accent5"/>
                </a:solidFill>
                <a:latin typeface="Arial"/>
                <a:ea typeface="DejaVu Sans"/>
              </a:rPr>
              <a:t>5 kWh</a:t>
            </a:r>
            <a:endParaRPr b="0" lang="en-US" sz="900" spc="-1" strike="noStrike">
              <a:solidFill>
                <a:srgbClr val="000000"/>
              </a:solidFill>
              <a:latin typeface="Arial"/>
            </a:endParaRPr>
          </a:p>
          <a:p>
            <a:pPr defTabSz="914400">
              <a:lnSpc>
                <a:spcPts val="1100"/>
              </a:lnSpc>
            </a:pPr>
            <a:r>
              <a:rPr b="0" lang="de-AT" sz="900" spc="-1" strike="noStrike">
                <a:solidFill>
                  <a:schemeClr val="accent3"/>
                </a:solidFill>
                <a:latin typeface="Arial"/>
                <a:ea typeface="DejaVu Sans"/>
              </a:rPr>
              <a:t>10 kWh</a:t>
            </a:r>
            <a:endParaRPr b="0" lang="en-US" sz="900" spc="-1" strike="noStrike">
              <a:solidFill>
                <a:srgbClr val="000000"/>
              </a:solidFill>
              <a:latin typeface="Arial"/>
            </a:endParaRPr>
          </a:p>
          <a:p>
            <a:pPr defTabSz="914400">
              <a:lnSpc>
                <a:spcPts val="1100"/>
              </a:lnSpc>
            </a:pPr>
            <a:r>
              <a:rPr b="0" lang="de-AT" sz="900" spc="-1" strike="noStrike">
                <a:solidFill>
                  <a:srgbClr val="00b0f0"/>
                </a:solidFill>
                <a:latin typeface="Arial"/>
                <a:ea typeface="DejaVu Sans"/>
              </a:rPr>
              <a:t>20 kWh</a:t>
            </a:r>
            <a:endParaRPr b="0" lang="en-US" sz="900" spc="-1" strike="noStrike">
              <a:solidFill>
                <a:srgbClr val="000000"/>
              </a:solidFill>
              <a:latin typeface="Arial"/>
            </a:endParaRPr>
          </a:p>
        </p:txBody>
      </p:sp>
      <p:pic>
        <p:nvPicPr>
          <p:cNvPr id="203" name="Grafik 9" descr=""/>
          <p:cNvPicPr/>
          <p:nvPr/>
        </p:nvPicPr>
        <p:blipFill>
          <a:blip r:embed="rId2"/>
          <a:stretch/>
        </p:blipFill>
        <p:spPr>
          <a:xfrm>
            <a:off x="5273280" y="5034240"/>
            <a:ext cx="1033200" cy="748080"/>
          </a:xfrm>
          <a:prstGeom prst="rect">
            <a:avLst/>
          </a:prstGeom>
          <a:ln w="0">
            <a:noFill/>
          </a:ln>
        </p:spPr>
      </p:pic>
      <p:cxnSp>
        <p:nvCxnSpPr>
          <p:cNvPr id="204" name="Gerader Verbinder 11"/>
          <p:cNvCxnSpPr/>
          <p:nvPr/>
        </p:nvCxnSpPr>
        <p:spPr>
          <a:xfrm>
            <a:off x="1002240" y="3731040"/>
            <a:ext cx="5304600" cy="360"/>
          </a:xfrm>
          <a:prstGeom prst="straightConnector1">
            <a:avLst/>
          </a:prstGeom>
          <a:ln>
            <a:solidFill>
              <a:srgbClr val="4f81bd"/>
            </a:solidFill>
            <a:prstDash val="sysDash"/>
          </a:ln>
        </p:spPr>
      </p:cxnSp>
      <p:cxnSp>
        <p:nvCxnSpPr>
          <p:cNvPr id="205" name="Gerader Verbinder 14"/>
          <p:cNvCxnSpPr/>
          <p:nvPr/>
        </p:nvCxnSpPr>
        <p:spPr>
          <a:xfrm>
            <a:off x="1002240" y="5598000"/>
            <a:ext cx="2700360" cy="360"/>
          </a:xfrm>
          <a:prstGeom prst="straightConnector1">
            <a:avLst/>
          </a:prstGeom>
          <a:ln>
            <a:solidFill>
              <a:srgbClr val="4f81bd"/>
            </a:solidFill>
            <a:prstDash val="sysDash"/>
          </a:ln>
        </p:spPr>
      </p:cxnSp>
      <p:sp>
        <p:nvSpPr>
          <p:cNvPr id="206" name="Textfeld 16"/>
          <p:cNvSpPr/>
          <p:nvPr/>
        </p:nvSpPr>
        <p:spPr>
          <a:xfrm>
            <a:off x="1651680" y="3480840"/>
            <a:ext cx="1351440" cy="27252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de-AT" sz="1200" spc="-1" strike="noStrike">
                <a:solidFill>
                  <a:srgbClr val="f70146"/>
                </a:solidFill>
                <a:latin typeface="Arial"/>
                <a:ea typeface="DejaVu Sans"/>
              </a:rPr>
              <a:t>Upper SOC limit</a:t>
            </a:r>
            <a:endParaRPr b="0" lang="en-US" sz="1200" spc="-1" strike="noStrike">
              <a:solidFill>
                <a:srgbClr val="000000"/>
              </a:solidFill>
              <a:latin typeface="Arial"/>
            </a:endParaRPr>
          </a:p>
        </p:txBody>
      </p:sp>
      <p:sp>
        <p:nvSpPr>
          <p:cNvPr id="207" name="Textfeld 17"/>
          <p:cNvSpPr/>
          <p:nvPr/>
        </p:nvSpPr>
        <p:spPr>
          <a:xfrm>
            <a:off x="914760" y="5367600"/>
            <a:ext cx="1360800" cy="27252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de-AT" sz="1200" spc="-1" strike="noStrike">
                <a:solidFill>
                  <a:srgbClr val="f70146"/>
                </a:solidFill>
                <a:latin typeface="Arial"/>
                <a:ea typeface="DejaVu Sans"/>
              </a:rPr>
              <a:t>Lower SOC limit</a:t>
            </a:r>
            <a:endParaRPr b="0" lang="en-US" sz="1200" spc="-1" strike="noStrike">
              <a:solidFill>
                <a:srgbClr val="000000"/>
              </a:solidFill>
              <a:latin typeface="Arial"/>
            </a:endParaRPr>
          </a:p>
        </p:txBody>
      </p:sp>
      <p:sp>
        <p:nvSpPr>
          <p:cNvPr id="208" name="Textfeld 12"/>
          <p:cNvSpPr/>
          <p:nvPr/>
        </p:nvSpPr>
        <p:spPr>
          <a:xfrm>
            <a:off x="3722040" y="5303520"/>
            <a:ext cx="1089000" cy="546480"/>
          </a:xfrm>
          <a:prstGeom prst="rect">
            <a:avLst/>
          </a:prstGeom>
          <a:noFill/>
          <a:ln w="0">
            <a:noFill/>
          </a:ln>
        </p:spPr>
        <p:style>
          <a:lnRef idx="0"/>
          <a:fillRef idx="0"/>
          <a:effectRef idx="0"/>
          <a:fontRef idx="minor"/>
        </p:style>
        <p:txBody>
          <a:bodyPr lIns="90000" rIns="90000" tIns="45000" bIns="45000" anchor="t">
            <a:spAutoFit/>
          </a:bodyPr>
          <a:p>
            <a:pPr defTabSz="914400">
              <a:lnSpc>
                <a:spcPts val="1199"/>
              </a:lnSpc>
            </a:pPr>
            <a:r>
              <a:rPr b="1" lang="de-AT" sz="900" spc="-1" strike="noStrike">
                <a:solidFill>
                  <a:schemeClr val="lt1"/>
                </a:solidFill>
                <a:latin typeface="Arial"/>
                <a:ea typeface="DejaVu Sans"/>
              </a:rPr>
              <a:t>SOC for different battery sizes</a:t>
            </a:r>
            <a:endParaRPr b="0" lang="en-US" sz="900" spc="-1" strike="noStrike">
              <a:solidFill>
                <a:srgbClr val="000000"/>
              </a:solidFill>
              <a:latin typeface="Arial"/>
            </a:endParaRPr>
          </a:p>
        </p:txBody>
      </p:sp>
      <p:sp>
        <p:nvSpPr>
          <p:cNvPr id="209" name="Geschweifte Klammer links 13"/>
          <p:cNvSpPr/>
          <p:nvPr/>
        </p:nvSpPr>
        <p:spPr>
          <a:xfrm>
            <a:off x="4717080" y="5414040"/>
            <a:ext cx="114120" cy="359640"/>
          </a:xfrm>
          <a:prstGeom prst="leftBrace">
            <a:avLst>
              <a:gd name="adj1" fmla="val 8333"/>
              <a:gd name="adj2" fmla="val 50000"/>
            </a:avLst>
          </a:prstGeom>
          <a:noFill/>
          <a:ln>
            <a:solidFill>
              <a:srgbClr val="ffffff"/>
            </a:solidFill>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txBody>
          <a:bodyPr lIns="90000" rIns="90000" tIns="45000" bIns="45000" anchor="ctr">
            <a:noAutofit/>
          </a:bodyPr>
          <a:p>
            <a:pPr algn="ctr" defTabSz="914400">
              <a:lnSpc>
                <a:spcPct val="100000"/>
              </a:lnSpc>
            </a:pPr>
            <a:endParaRPr b="0" lang="de-AT" sz="1800" spc="-1" strike="noStrike">
              <a:solidFill>
                <a:schemeClr val="dk1"/>
              </a:solidFill>
              <a:latin typeface="Arial"/>
              <a:ea typeface="DejaVu Sans"/>
            </a:endParaRPr>
          </a:p>
        </p:txBody>
      </p:sp>
      <p:sp>
        <p:nvSpPr>
          <p:cNvPr id="3" name="PlaceHolder 2"/>
          <p:cNvSpPr>
            <a:spLocks noGrp="1"/>
          </p:cNvSpPr>
          <p:nvPr>
            <p:ph type="sldNum" idx="2"/>
          </p:nvPr>
        </p:nvSpPr>
        <p:spPr/>
        <p:txBody>
          <a:bodyPr/>
          <a:p>
            <a:fld id="{4B7E7D30-311B-4392-B3BB-5FA5EC9AC7AA}" type="slidenum">
              <a:t>24</a:t>
            </a:fld>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0" name="Grafik 2" descr=""/>
          <p:cNvPicPr/>
          <p:nvPr/>
        </p:nvPicPr>
        <p:blipFill>
          <a:blip r:embed="rId1"/>
          <a:stretch/>
        </p:blipFill>
        <p:spPr>
          <a:xfrm>
            <a:off x="622440" y="2026080"/>
            <a:ext cx="5963400" cy="3974400"/>
          </a:xfrm>
          <a:prstGeom prst="rect">
            <a:avLst/>
          </a:prstGeom>
          <a:ln w="0">
            <a:noFill/>
          </a:ln>
        </p:spPr>
      </p:pic>
      <p:sp>
        <p:nvSpPr>
          <p:cNvPr id="211" name="PlaceHolder 1"/>
          <p:cNvSpPr>
            <a:spLocks noGrp="1"/>
          </p:cNvSpPr>
          <p:nvPr>
            <p:ph type="title"/>
          </p:nvPr>
        </p:nvSpPr>
        <p:spPr>
          <a:xfrm>
            <a:off x="585360" y="850320"/>
            <a:ext cx="8228880" cy="1144440"/>
          </a:xfrm>
          <a:prstGeom prst="rect">
            <a:avLst/>
          </a:prstGeom>
          <a:noFill/>
          <a:ln w="0">
            <a:noFill/>
          </a:ln>
        </p:spPr>
        <p:txBody>
          <a:bodyPr lIns="0" rIns="0" tIns="0" bIns="0" anchor="ctr">
            <a:noAutofit/>
          </a:bodyPr>
          <a:p>
            <a:pPr indent="0" defTabSz="914400">
              <a:lnSpc>
                <a:spcPct val="90000"/>
              </a:lnSpc>
              <a:buNone/>
            </a:pPr>
            <a:r>
              <a:rPr b="1" lang="en-GB" sz="2400" spc="-1" strike="noStrike">
                <a:solidFill>
                  <a:srgbClr val="990000"/>
                </a:solidFill>
                <a:latin typeface="Arial"/>
                <a:ea typeface="DejaVu Sans"/>
              </a:rPr>
              <a:t>FCHV – Examples for generic operation strategy (5/5)</a:t>
            </a:r>
            <a:endParaRPr b="0" lang="de-DE" sz="2400" spc="-1" strike="noStrike">
              <a:solidFill>
                <a:schemeClr val="dk1"/>
              </a:solidFill>
              <a:latin typeface="Arial"/>
            </a:endParaRPr>
          </a:p>
        </p:txBody>
      </p:sp>
      <p:sp>
        <p:nvSpPr>
          <p:cNvPr id="212" name="Textfeld 6"/>
          <p:cNvSpPr/>
          <p:nvPr/>
        </p:nvSpPr>
        <p:spPr>
          <a:xfrm>
            <a:off x="6670440" y="2031480"/>
            <a:ext cx="2346120" cy="2224440"/>
          </a:xfrm>
          <a:prstGeom prst="rect">
            <a:avLst/>
          </a:prstGeom>
          <a:noFill/>
          <a:ln w="0">
            <a:noFill/>
          </a:ln>
        </p:spPr>
        <p:style>
          <a:lnRef idx="0"/>
          <a:fillRef idx="0"/>
          <a:effectRef idx="0"/>
          <a:fontRef idx="minor"/>
        </p:style>
        <p:txBody>
          <a:bodyPr lIns="90000" rIns="90000" tIns="45000" bIns="45000" anchor="t">
            <a:spAutoFit/>
          </a:bodyPr>
          <a:p>
            <a:pPr marL="285840" indent="-285840" defTabSz="914400">
              <a:lnSpc>
                <a:spcPct val="100000"/>
              </a:lnSpc>
              <a:buClr>
                <a:srgbClr val="000000"/>
              </a:buClr>
              <a:buFont typeface="Wingdings" charset="2"/>
              <a:buChar char=""/>
            </a:pPr>
            <a:r>
              <a:rPr b="1" lang="en-US" sz="1400" spc="-1" strike="noStrike">
                <a:solidFill>
                  <a:schemeClr val="dk1"/>
                </a:solidFill>
                <a:latin typeface="Arial"/>
                <a:ea typeface="DejaVu Sans"/>
              </a:rPr>
              <a:t>Adaption of start SOC to specific mission in order to maximize usage of battery as buffer</a:t>
            </a:r>
            <a:br>
              <a:rPr sz="1400"/>
            </a:br>
            <a:r>
              <a:rPr b="1" lang="en-US" sz="1400" spc="-1" strike="noStrike">
                <a:solidFill>
                  <a:schemeClr val="dk1"/>
                </a:solidFill>
                <a:latin typeface="Arial"/>
                <a:ea typeface="DejaVu Sans"/>
              </a:rPr>
              <a:t>(detail from previous graph)</a:t>
            </a:r>
            <a:br>
              <a:rPr sz="1400"/>
            </a:br>
            <a:r>
              <a:rPr b="0" lang="en-GB" sz="1400" spc="-1" strike="noStrike">
                <a:solidFill>
                  <a:schemeClr val="dk1"/>
                </a:solidFill>
                <a:latin typeface="Arial"/>
              </a:rPr>
              <a:t> </a:t>
            </a:r>
            <a:endParaRPr b="0" lang="en-US" sz="1400" spc="-1" strike="noStrike">
              <a:solidFill>
                <a:srgbClr val="000000"/>
              </a:solidFill>
              <a:latin typeface="Arial"/>
            </a:endParaRPr>
          </a:p>
          <a:p>
            <a:pPr marL="285840" indent="-285840" defTabSz="914400">
              <a:lnSpc>
                <a:spcPct val="100000"/>
              </a:lnSpc>
              <a:buClr>
                <a:srgbClr val="000000"/>
              </a:buClr>
              <a:buFont typeface="Wingdings" charset="2"/>
              <a:buChar char=""/>
            </a:pPr>
            <a:r>
              <a:rPr b="0" i="1" lang="en-GB" sz="1400" spc="-1" strike="noStrike">
                <a:solidFill>
                  <a:schemeClr val="dk1"/>
                </a:solidFill>
                <a:latin typeface="Arial"/>
                <a:ea typeface="DejaVu Sans"/>
              </a:rPr>
              <a:t>Exactly same speed profile for all variants</a:t>
            </a:r>
            <a:endParaRPr b="0" lang="en-US" sz="1400" spc="-1" strike="noStrike">
              <a:solidFill>
                <a:srgbClr val="000000"/>
              </a:solidFill>
              <a:latin typeface="Arial"/>
            </a:endParaRPr>
          </a:p>
        </p:txBody>
      </p:sp>
      <p:sp>
        <p:nvSpPr>
          <p:cNvPr id="213" name="Textfeld 8"/>
          <p:cNvSpPr/>
          <p:nvPr/>
        </p:nvSpPr>
        <p:spPr>
          <a:xfrm>
            <a:off x="4767840" y="5342760"/>
            <a:ext cx="708840" cy="508680"/>
          </a:xfrm>
          <a:prstGeom prst="rect">
            <a:avLst/>
          </a:prstGeom>
          <a:noFill/>
          <a:ln w="0">
            <a:noFill/>
          </a:ln>
        </p:spPr>
        <p:style>
          <a:lnRef idx="0"/>
          <a:fillRef idx="0"/>
          <a:effectRef idx="0"/>
          <a:fontRef idx="minor"/>
        </p:style>
        <p:txBody>
          <a:bodyPr lIns="90000" rIns="90000" tIns="45000" bIns="45000" anchor="t">
            <a:spAutoFit/>
          </a:bodyPr>
          <a:p>
            <a:pPr defTabSz="914400">
              <a:lnSpc>
                <a:spcPts val="1100"/>
              </a:lnSpc>
            </a:pPr>
            <a:r>
              <a:rPr b="0" lang="de-AT" sz="900" spc="-1" strike="noStrike">
                <a:solidFill>
                  <a:schemeClr val="accent5"/>
                </a:solidFill>
                <a:latin typeface="Arial"/>
                <a:ea typeface="DejaVu Sans"/>
              </a:rPr>
              <a:t>5 kWh</a:t>
            </a:r>
            <a:endParaRPr b="0" lang="en-US" sz="900" spc="-1" strike="noStrike">
              <a:solidFill>
                <a:srgbClr val="000000"/>
              </a:solidFill>
              <a:latin typeface="Arial"/>
            </a:endParaRPr>
          </a:p>
          <a:p>
            <a:pPr defTabSz="914400">
              <a:lnSpc>
                <a:spcPts val="1100"/>
              </a:lnSpc>
            </a:pPr>
            <a:r>
              <a:rPr b="0" lang="de-AT" sz="900" spc="-1" strike="noStrike">
                <a:solidFill>
                  <a:schemeClr val="accent3"/>
                </a:solidFill>
                <a:latin typeface="Arial"/>
                <a:ea typeface="DejaVu Sans"/>
              </a:rPr>
              <a:t>10 kWh</a:t>
            </a:r>
            <a:endParaRPr b="0" lang="en-US" sz="900" spc="-1" strike="noStrike">
              <a:solidFill>
                <a:srgbClr val="000000"/>
              </a:solidFill>
              <a:latin typeface="Arial"/>
            </a:endParaRPr>
          </a:p>
          <a:p>
            <a:pPr defTabSz="914400">
              <a:lnSpc>
                <a:spcPts val="1100"/>
              </a:lnSpc>
            </a:pPr>
            <a:r>
              <a:rPr b="0" lang="de-AT" sz="900" spc="-1" strike="noStrike">
                <a:solidFill>
                  <a:srgbClr val="00b0f0"/>
                </a:solidFill>
                <a:latin typeface="Arial"/>
                <a:ea typeface="DejaVu Sans"/>
              </a:rPr>
              <a:t>20 kWh</a:t>
            </a:r>
            <a:endParaRPr b="0" lang="en-US" sz="900" spc="-1" strike="noStrike">
              <a:solidFill>
                <a:srgbClr val="000000"/>
              </a:solidFill>
              <a:latin typeface="Arial"/>
            </a:endParaRPr>
          </a:p>
        </p:txBody>
      </p:sp>
      <p:pic>
        <p:nvPicPr>
          <p:cNvPr id="214" name="Grafik 9" descr=""/>
          <p:cNvPicPr/>
          <p:nvPr/>
        </p:nvPicPr>
        <p:blipFill>
          <a:blip r:embed="rId2"/>
          <a:stretch/>
        </p:blipFill>
        <p:spPr>
          <a:xfrm>
            <a:off x="5273280" y="5034240"/>
            <a:ext cx="1033200" cy="748080"/>
          </a:xfrm>
          <a:prstGeom prst="rect">
            <a:avLst/>
          </a:prstGeom>
          <a:ln w="0">
            <a:noFill/>
          </a:ln>
        </p:spPr>
      </p:pic>
      <p:sp>
        <p:nvSpPr>
          <p:cNvPr id="215" name="Ellipse 10"/>
          <p:cNvSpPr/>
          <p:nvPr/>
        </p:nvSpPr>
        <p:spPr>
          <a:xfrm rot="5400000">
            <a:off x="921960" y="3753360"/>
            <a:ext cx="899640" cy="519120"/>
          </a:xfrm>
          <a:prstGeom prst="ellipse">
            <a:avLst/>
          </a:prstGeom>
          <a:noFill/>
          <a:ln w="19050">
            <a:solidFill>
              <a:srgbClr val="ff0000"/>
            </a:solidFill>
            <a:round/>
          </a:ln>
        </p:spPr>
        <p:style>
          <a:lnRef idx="0"/>
          <a:fillRef idx="0"/>
          <a:effectRef idx="0"/>
          <a:fontRef idx="minor"/>
        </p:style>
        <p:txBody>
          <a:bodyPr numCol="1" spcCol="0" anchor="ctr">
            <a:spAutoFit/>
          </a:bodyPr>
          <a:p>
            <a:pPr algn="ctr" defTabSz="914400">
              <a:lnSpc>
                <a:spcPct val="100000"/>
              </a:lnSpc>
              <a:spcBef>
                <a:spcPts val="541"/>
              </a:spcBef>
            </a:pPr>
            <a:endParaRPr b="0" lang="de-AT" sz="1800" spc="-1" strike="noStrike">
              <a:solidFill>
                <a:schemeClr val="dk1"/>
              </a:solidFill>
              <a:latin typeface="Arial"/>
              <a:ea typeface="DejaVu Sans"/>
            </a:endParaRPr>
          </a:p>
        </p:txBody>
      </p:sp>
      <p:sp>
        <p:nvSpPr>
          <p:cNvPr id="216" name="Textfeld 5"/>
          <p:cNvSpPr/>
          <p:nvPr/>
        </p:nvSpPr>
        <p:spPr>
          <a:xfrm rot="16200000">
            <a:off x="331200" y="3877560"/>
            <a:ext cx="1537200" cy="27252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de-AT" sz="1200" spc="-1" strike="noStrike">
                <a:solidFill>
                  <a:srgbClr val="ff0000"/>
                </a:solidFill>
                <a:latin typeface="Arial"/>
                <a:ea typeface="DejaVu Sans"/>
              </a:rPr>
              <a:t>Adapted start SOC</a:t>
            </a:r>
            <a:endParaRPr b="0" lang="en-US" sz="1200" spc="-1" strike="noStrike">
              <a:solidFill>
                <a:srgbClr val="000000"/>
              </a:solidFill>
              <a:latin typeface="Arial"/>
            </a:endParaRPr>
          </a:p>
        </p:txBody>
      </p:sp>
      <p:sp>
        <p:nvSpPr>
          <p:cNvPr id="217" name="Textfeld 11"/>
          <p:cNvSpPr/>
          <p:nvPr/>
        </p:nvSpPr>
        <p:spPr>
          <a:xfrm>
            <a:off x="3722040" y="5303520"/>
            <a:ext cx="1089000" cy="546480"/>
          </a:xfrm>
          <a:prstGeom prst="rect">
            <a:avLst/>
          </a:prstGeom>
          <a:noFill/>
          <a:ln w="0">
            <a:noFill/>
          </a:ln>
        </p:spPr>
        <p:style>
          <a:lnRef idx="0"/>
          <a:fillRef idx="0"/>
          <a:effectRef idx="0"/>
          <a:fontRef idx="minor"/>
        </p:style>
        <p:txBody>
          <a:bodyPr lIns="90000" rIns="90000" tIns="45000" bIns="45000" anchor="t">
            <a:spAutoFit/>
          </a:bodyPr>
          <a:p>
            <a:pPr defTabSz="914400">
              <a:lnSpc>
                <a:spcPts val="1199"/>
              </a:lnSpc>
            </a:pPr>
            <a:r>
              <a:rPr b="1" lang="de-AT" sz="900" spc="-1" strike="noStrike">
                <a:solidFill>
                  <a:schemeClr val="lt1"/>
                </a:solidFill>
                <a:latin typeface="Arial"/>
                <a:ea typeface="DejaVu Sans"/>
              </a:rPr>
              <a:t>SOC for different battery sizes</a:t>
            </a:r>
            <a:endParaRPr b="0" lang="en-US" sz="900" spc="-1" strike="noStrike">
              <a:solidFill>
                <a:srgbClr val="000000"/>
              </a:solidFill>
              <a:latin typeface="Arial"/>
            </a:endParaRPr>
          </a:p>
        </p:txBody>
      </p:sp>
      <p:sp>
        <p:nvSpPr>
          <p:cNvPr id="218" name="Geschweifte Klammer links 12"/>
          <p:cNvSpPr/>
          <p:nvPr/>
        </p:nvSpPr>
        <p:spPr>
          <a:xfrm>
            <a:off x="4717080" y="5414040"/>
            <a:ext cx="114120" cy="359640"/>
          </a:xfrm>
          <a:prstGeom prst="leftBrace">
            <a:avLst>
              <a:gd name="adj1" fmla="val 8333"/>
              <a:gd name="adj2" fmla="val 50000"/>
            </a:avLst>
          </a:prstGeom>
          <a:noFill/>
          <a:ln>
            <a:solidFill>
              <a:srgbClr val="ffffff"/>
            </a:solidFill>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txBody>
          <a:bodyPr lIns="90000" rIns="90000" tIns="45000" bIns="45000" anchor="ctr">
            <a:noAutofit/>
          </a:bodyPr>
          <a:p>
            <a:pPr algn="ctr" defTabSz="914400">
              <a:lnSpc>
                <a:spcPct val="100000"/>
              </a:lnSpc>
            </a:pPr>
            <a:endParaRPr b="0" lang="de-AT" sz="1800" spc="-1" strike="noStrike">
              <a:solidFill>
                <a:schemeClr val="dk1"/>
              </a:solidFill>
              <a:latin typeface="Arial"/>
              <a:ea typeface="DejaVu Sans"/>
            </a:endParaRPr>
          </a:p>
        </p:txBody>
      </p:sp>
      <p:sp>
        <p:nvSpPr>
          <p:cNvPr id="3" name="PlaceHolder 2"/>
          <p:cNvSpPr>
            <a:spLocks noGrp="1"/>
          </p:cNvSpPr>
          <p:nvPr>
            <p:ph type="sldNum" idx="2"/>
          </p:nvPr>
        </p:nvSpPr>
        <p:spPr/>
        <p:txBody>
          <a:bodyPr/>
          <a:p>
            <a:fld id="{765D0143-FCCC-41B8-9B36-E8FAAF94C41A}" type="slidenum">
              <a:t>25</a:t>
            </a:fld>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PlaceHolder 1"/>
          <p:cNvSpPr>
            <a:spLocks noGrp="1"/>
          </p:cNvSpPr>
          <p:nvPr>
            <p:ph/>
          </p:nvPr>
        </p:nvSpPr>
        <p:spPr>
          <a:xfrm>
            <a:off x="622440" y="2137320"/>
            <a:ext cx="8521200" cy="2072160"/>
          </a:xfrm>
          <a:prstGeom prst="rect">
            <a:avLst/>
          </a:prstGeom>
          <a:noFill/>
          <a:ln w="0">
            <a:noFill/>
          </a:ln>
        </p:spPr>
        <p:txBody>
          <a:bodyPr lIns="0" rIns="0" tIns="0" bIns="0" anchor="t">
            <a:normAutofit fontScale="35349"/>
          </a:bodyPr>
          <a:p>
            <a:pPr marL="228600" indent="-228600" defTabSz="914400">
              <a:lnSpc>
                <a:spcPct val="90000"/>
              </a:lnSpc>
              <a:spcBef>
                <a:spcPts val="1199"/>
              </a:spcBef>
              <a:buClr>
                <a:srgbClr val="000000"/>
              </a:buClr>
              <a:buFont typeface="Arial"/>
              <a:buChar char="•"/>
            </a:pPr>
            <a:r>
              <a:rPr b="0" lang="en-US" sz="1800" spc="-1" strike="noStrike">
                <a:solidFill>
                  <a:schemeClr val="dk1"/>
                </a:solidFill>
                <a:latin typeface="Arial"/>
                <a:ea typeface="DejaVu Sans"/>
              </a:rPr>
              <a:t>Release to be distributed via VECTO-DEV mailing list end of September</a:t>
            </a:r>
            <a:endParaRPr b="0" lang="de-DE" sz="1800" spc="-1" strike="noStrike">
              <a:solidFill>
                <a:schemeClr val="dk1"/>
              </a:solidFill>
              <a:latin typeface="Arial"/>
            </a:endParaRPr>
          </a:p>
          <a:p>
            <a:pPr lvl="1" marL="716040" indent="-266760" defTabSz="914400">
              <a:lnSpc>
                <a:spcPct val="90000"/>
              </a:lnSpc>
              <a:spcBef>
                <a:spcPts val="1199"/>
              </a:spcBef>
              <a:buClr>
                <a:srgbClr val="000000"/>
              </a:buClr>
              <a:buFont typeface="Wingdings" charset="2"/>
              <a:buChar char=""/>
            </a:pPr>
            <a:r>
              <a:rPr b="0" lang="en-US" sz="1600" spc="-1" strike="noStrike">
                <a:solidFill>
                  <a:schemeClr val="dk1"/>
                </a:solidFill>
                <a:latin typeface="Arial"/>
                <a:ea typeface="DejaVu Sans"/>
              </a:rPr>
              <a:t>Basic description of FCHV features will also be added to VECTO release notes</a:t>
            </a:r>
            <a:endParaRPr b="0" lang="de-DE" sz="1600" spc="-1" strike="noStrike">
              <a:solidFill>
                <a:schemeClr val="dk1"/>
              </a:solidFill>
              <a:latin typeface="Arial"/>
            </a:endParaRPr>
          </a:p>
          <a:p>
            <a:pPr lvl="1" marL="716040" indent="-266760" defTabSz="914400">
              <a:lnSpc>
                <a:spcPct val="90000"/>
              </a:lnSpc>
              <a:spcBef>
                <a:spcPts val="1199"/>
              </a:spcBef>
              <a:buClr>
                <a:srgbClr val="000000"/>
              </a:buClr>
              <a:buFont typeface="Wingdings" charset="2"/>
              <a:buChar char=""/>
            </a:pPr>
            <a:r>
              <a:rPr b="0" lang="en-US" sz="1600" spc="-1" strike="noStrike">
                <a:solidFill>
                  <a:schemeClr val="dk1"/>
                </a:solidFill>
                <a:latin typeface="Arial"/>
                <a:ea typeface="DejaVu Sans"/>
              </a:rPr>
              <a:t>Some example vehicles will be provided</a:t>
            </a:r>
            <a:endParaRPr b="0" lang="de-DE" sz="1600" spc="-1" strike="noStrike">
              <a:solidFill>
                <a:schemeClr val="dk1"/>
              </a:solidFill>
              <a:latin typeface="Arial"/>
            </a:endParaRPr>
          </a:p>
          <a:p>
            <a:pPr marL="228600" indent="-228600" defTabSz="914400">
              <a:lnSpc>
                <a:spcPct val="90000"/>
              </a:lnSpc>
              <a:spcBef>
                <a:spcPts val="1199"/>
              </a:spcBef>
              <a:buClr>
                <a:srgbClr val="000000"/>
              </a:buClr>
              <a:buFont typeface="Arial"/>
              <a:buChar char="•"/>
            </a:pPr>
            <a:r>
              <a:rPr b="0" lang="en-US" sz="1800" spc="-1" strike="noStrike">
                <a:solidFill>
                  <a:schemeClr val="dk1"/>
                </a:solidFill>
                <a:latin typeface="Arial"/>
                <a:ea typeface="DejaVu Sans"/>
              </a:rPr>
              <a:t>Current release restricted to one single FCS component</a:t>
            </a:r>
            <a:endParaRPr b="0" lang="de-DE" sz="1800" spc="-1" strike="noStrike">
              <a:solidFill>
                <a:schemeClr val="dk1"/>
              </a:solidFill>
              <a:latin typeface="Arial"/>
            </a:endParaRPr>
          </a:p>
          <a:p>
            <a:pPr marL="228600" indent="-228600" defTabSz="914400">
              <a:lnSpc>
                <a:spcPct val="90000"/>
              </a:lnSpc>
              <a:spcBef>
                <a:spcPts val="1199"/>
              </a:spcBef>
              <a:buClr>
                <a:srgbClr val="ff0000"/>
              </a:buClr>
              <a:buFont typeface="Arial"/>
              <a:buChar char="•"/>
            </a:pPr>
            <a:r>
              <a:rPr b="1" lang="en-US" sz="1800" spc="-1" strike="noStrike">
                <a:solidFill>
                  <a:srgbClr val="ff0000"/>
                </a:solidFill>
                <a:latin typeface="Arial"/>
                <a:ea typeface="DejaVu Sans"/>
              </a:rPr>
              <a:t>Updated release end of October will be able to handle:</a:t>
            </a:r>
            <a:endParaRPr b="0" lang="de-DE" sz="1800" spc="-1" strike="noStrike">
              <a:solidFill>
                <a:schemeClr val="dk1"/>
              </a:solidFill>
              <a:latin typeface="Arial"/>
            </a:endParaRPr>
          </a:p>
          <a:p>
            <a:pPr lvl="1" marL="716040" indent="-266760" defTabSz="914400">
              <a:lnSpc>
                <a:spcPct val="90000"/>
              </a:lnSpc>
              <a:spcBef>
                <a:spcPts val="1199"/>
              </a:spcBef>
              <a:buClr>
                <a:srgbClr val="000000"/>
              </a:buClr>
              <a:buFont typeface="Wingdings" charset="2"/>
              <a:buChar char=""/>
            </a:pPr>
            <a:r>
              <a:rPr b="0" lang="en-US" sz="1800" spc="-1" strike="noStrike">
                <a:solidFill>
                  <a:schemeClr val="dk1"/>
                </a:solidFill>
                <a:latin typeface="Arial"/>
                <a:ea typeface="DejaVu Sans"/>
              </a:rPr>
              <a:t>multiple FCS configurations as presented in TF FCS #17</a:t>
            </a:r>
            <a:endParaRPr b="0" lang="de-DE" sz="1800" spc="-1" strike="noStrike">
              <a:solidFill>
                <a:schemeClr val="dk1"/>
              </a:solidFill>
              <a:latin typeface="Arial"/>
            </a:endParaRPr>
          </a:p>
          <a:p>
            <a:pPr lvl="2" marL="1143000" indent="-228600" defTabSz="914400">
              <a:lnSpc>
                <a:spcPct val="90000"/>
              </a:lnSpc>
              <a:spcBef>
                <a:spcPts val="1199"/>
              </a:spcBef>
              <a:buClr>
                <a:srgbClr val="000000"/>
              </a:buClr>
              <a:buFont typeface="Arial"/>
              <a:buChar char="•"/>
            </a:pPr>
            <a:r>
              <a:rPr b="0" lang="en-US" sz="1600" spc="-1" strike="noStrike">
                <a:solidFill>
                  <a:schemeClr val="dk1"/>
                </a:solidFill>
                <a:latin typeface="Arial"/>
                <a:ea typeface="DejaVu Sans"/>
              </a:rPr>
              <a:t>Maximum 2x3 configuration</a:t>
            </a:r>
            <a:br>
              <a:rPr sz="1600"/>
            </a:br>
            <a:r>
              <a:rPr b="0" lang="en-US" sz="1200" spc="-1" strike="noStrike">
                <a:solidFill>
                  <a:schemeClr val="dk1"/>
                </a:solidFill>
                <a:latin typeface="Arial"/>
                <a:ea typeface="DejaVu Sans"/>
              </a:rPr>
              <a:t>i.e. 2 different FCS with a maximum number of 3 identical systems for each of the 2 different ones</a:t>
            </a:r>
            <a:endParaRPr b="0" lang="de-DE" sz="1200" spc="-1" strike="noStrike">
              <a:solidFill>
                <a:schemeClr val="dk1"/>
              </a:solidFill>
              <a:latin typeface="Arial"/>
            </a:endParaRPr>
          </a:p>
          <a:p>
            <a:pPr lvl="1" marL="716040" indent="-266760" defTabSz="914400">
              <a:lnSpc>
                <a:spcPct val="90000"/>
              </a:lnSpc>
              <a:spcBef>
                <a:spcPts val="1199"/>
              </a:spcBef>
              <a:buClr>
                <a:srgbClr val="000000"/>
              </a:buClr>
              <a:buFont typeface="Wingdings" charset="2"/>
              <a:buChar char=""/>
            </a:pPr>
            <a:r>
              <a:rPr b="0" lang="en-US" sz="1800" spc="-1" strike="noStrike">
                <a:solidFill>
                  <a:schemeClr val="dk1"/>
                </a:solidFill>
                <a:latin typeface="Arial"/>
                <a:ea typeface="DejaVu Sans"/>
              </a:rPr>
              <a:t>Special provisions for handling power demands below minimum FCS power</a:t>
            </a:r>
            <a:endParaRPr b="0" lang="de-DE" sz="1800" spc="-1" strike="noStrike">
              <a:solidFill>
                <a:schemeClr val="dk1"/>
              </a:solidFill>
              <a:latin typeface="Arial"/>
            </a:endParaRPr>
          </a:p>
          <a:p>
            <a:pPr lvl="1" marL="716040" indent="-266760" defTabSz="914400">
              <a:lnSpc>
                <a:spcPct val="90000"/>
              </a:lnSpc>
              <a:spcBef>
                <a:spcPts val="1199"/>
              </a:spcBef>
              <a:buClr>
                <a:srgbClr val="000000"/>
              </a:buClr>
              <a:buFont typeface="Wingdings" charset="2"/>
              <a:buChar char=""/>
            </a:pPr>
            <a:r>
              <a:rPr b="0" lang="en-US" sz="1800" spc="-1" strike="noStrike">
                <a:solidFill>
                  <a:schemeClr val="dk1"/>
                </a:solidFill>
                <a:latin typeface="Arial"/>
                <a:ea typeface="DejaVu Sans"/>
              </a:rPr>
              <a:t>IMC feature combined with FCHV</a:t>
            </a:r>
            <a:endParaRPr b="0" lang="de-DE" sz="1800" spc="-1" strike="noStrike">
              <a:solidFill>
                <a:schemeClr val="dk1"/>
              </a:solidFill>
              <a:latin typeface="Arial"/>
            </a:endParaRPr>
          </a:p>
          <a:p>
            <a:pPr indent="0" defTabSz="914400">
              <a:lnSpc>
                <a:spcPct val="90000"/>
              </a:lnSpc>
              <a:spcBef>
                <a:spcPts val="1199"/>
              </a:spcBef>
              <a:buNone/>
            </a:pPr>
            <a:endParaRPr b="0" lang="de-DE" sz="1800" spc="-1" strike="noStrike">
              <a:solidFill>
                <a:schemeClr val="dk1"/>
              </a:solidFill>
              <a:latin typeface="Arial"/>
            </a:endParaRPr>
          </a:p>
          <a:p>
            <a:pPr indent="0" defTabSz="914400">
              <a:lnSpc>
                <a:spcPct val="90000"/>
              </a:lnSpc>
              <a:spcBef>
                <a:spcPts val="1199"/>
              </a:spcBef>
              <a:buNone/>
            </a:pPr>
            <a:endParaRPr b="0" lang="de-DE" sz="1800" spc="-1" strike="noStrike">
              <a:solidFill>
                <a:schemeClr val="dk1"/>
              </a:solidFill>
              <a:latin typeface="Arial"/>
            </a:endParaRPr>
          </a:p>
        </p:txBody>
      </p:sp>
      <p:sp>
        <p:nvSpPr>
          <p:cNvPr id="220" name="PlaceHolder 2"/>
          <p:cNvSpPr>
            <a:spLocks noGrp="1"/>
          </p:cNvSpPr>
          <p:nvPr>
            <p:ph type="title"/>
          </p:nvPr>
        </p:nvSpPr>
        <p:spPr>
          <a:xfrm>
            <a:off x="585360" y="850320"/>
            <a:ext cx="8228880" cy="1144440"/>
          </a:xfrm>
          <a:prstGeom prst="rect">
            <a:avLst/>
          </a:prstGeom>
          <a:noFill/>
          <a:ln w="0">
            <a:noFill/>
          </a:ln>
        </p:spPr>
        <p:txBody>
          <a:bodyPr lIns="0" rIns="0" tIns="0" bIns="0" anchor="ctr">
            <a:noAutofit/>
          </a:bodyPr>
          <a:p>
            <a:pPr indent="0" defTabSz="914400">
              <a:lnSpc>
                <a:spcPct val="90000"/>
              </a:lnSpc>
              <a:buNone/>
            </a:pPr>
            <a:r>
              <a:rPr b="1" lang="en-GB" sz="2400" spc="-1" strike="noStrike">
                <a:solidFill>
                  <a:srgbClr val="990000"/>
                </a:solidFill>
                <a:latin typeface="Arial"/>
                <a:ea typeface="DejaVu Sans"/>
              </a:rPr>
              <a:t>Fuel cell hybrid vehicles (FCHV)  - Comments</a:t>
            </a:r>
            <a:endParaRPr b="0" lang="de-DE" sz="2400" spc="-1" strike="noStrike">
              <a:solidFill>
                <a:schemeClr val="dk1"/>
              </a:solidFill>
              <a:latin typeface="Arial"/>
            </a:endParaRPr>
          </a:p>
        </p:txBody>
      </p:sp>
      <p:sp>
        <p:nvSpPr>
          <p:cNvPr id="4" name="PlaceHolder 3"/>
          <p:cNvSpPr>
            <a:spLocks noGrp="1"/>
          </p:cNvSpPr>
          <p:nvPr>
            <p:ph type="sldNum" idx="2"/>
          </p:nvPr>
        </p:nvSpPr>
        <p:spPr/>
        <p:txBody>
          <a:bodyPr/>
          <a:p>
            <a:fld id="{52F4EE92-7A78-4703-B5BC-6B4596FE118C}" type="slidenum">
              <a:t>26</a:t>
            </a:fld>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PlaceHolder 1"/>
          <p:cNvSpPr>
            <a:spLocks noGrp="1"/>
          </p:cNvSpPr>
          <p:nvPr>
            <p:ph type="title"/>
          </p:nvPr>
        </p:nvSpPr>
        <p:spPr>
          <a:xfrm>
            <a:off x="722160" y="2320200"/>
            <a:ext cx="7772040" cy="1529640"/>
          </a:xfrm>
          <a:prstGeom prst="rect">
            <a:avLst/>
          </a:prstGeom>
          <a:noFill/>
          <a:ln w="0">
            <a:noFill/>
          </a:ln>
        </p:spPr>
        <p:txBody>
          <a:bodyPr lIns="0" rIns="0" tIns="0" bIns="0" anchor="ctr">
            <a:noAutofit/>
          </a:bodyPr>
          <a:p>
            <a:pPr indent="0" algn="ctr" defTabSz="914400">
              <a:lnSpc>
                <a:spcPct val="90000"/>
              </a:lnSpc>
              <a:spcBef>
                <a:spcPts val="4201"/>
              </a:spcBef>
              <a:buNone/>
            </a:pPr>
            <a:br>
              <a:rPr sz="2400"/>
            </a:br>
            <a:r>
              <a:rPr b="1" lang="en-US" sz="2400" spc="-1" strike="noStrike">
                <a:solidFill>
                  <a:srgbClr val="990000"/>
                </a:solidFill>
                <a:latin typeface="Arial"/>
                <a:ea typeface="DejaVu Sans"/>
              </a:rPr>
              <a:t>First VECTO beta release for the 3rd Amendment </a:t>
            </a:r>
            <a:br>
              <a:rPr sz="2800"/>
            </a:br>
            <a:br>
              <a:rPr sz="2800"/>
            </a:br>
            <a:r>
              <a:rPr b="1" lang="en-US" sz="2000" spc="-1" strike="noStrike">
                <a:solidFill>
                  <a:srgbClr val="990000"/>
                </a:solidFill>
                <a:latin typeface="Arial"/>
                <a:ea typeface="DejaVu Sans"/>
              </a:rPr>
              <a:t>Vehicles with In-Motion Charging Features</a:t>
            </a:r>
            <a:br>
              <a:rPr sz="1600"/>
            </a:br>
            <a:endParaRPr b="0" lang="de-DE" sz="2000" spc="-1" strike="noStrike">
              <a:solidFill>
                <a:schemeClr val="dk1"/>
              </a:solidFill>
              <a:latin typeface="Arial"/>
            </a:endParaRPr>
          </a:p>
        </p:txBody>
      </p:sp>
      <p:sp>
        <p:nvSpPr>
          <p:cNvPr id="222" name="PlaceHolder 2"/>
          <p:cNvSpPr>
            <a:spLocks noGrp="1"/>
          </p:cNvSpPr>
          <p:nvPr>
            <p:ph/>
          </p:nvPr>
        </p:nvSpPr>
        <p:spPr>
          <a:xfrm>
            <a:off x="722160" y="4276440"/>
            <a:ext cx="7772040" cy="407160"/>
          </a:xfrm>
          <a:prstGeom prst="rect">
            <a:avLst/>
          </a:prstGeom>
          <a:noFill/>
          <a:ln w="0">
            <a:noFill/>
          </a:ln>
        </p:spPr>
        <p:txBody>
          <a:bodyPr lIns="0" rIns="0" tIns="0" bIns="0" anchor="ctr">
            <a:noAutofit/>
          </a:bodyPr>
          <a:p>
            <a:pPr indent="0" algn="ctr" defTabSz="914400">
              <a:lnSpc>
                <a:spcPct val="90000"/>
              </a:lnSpc>
              <a:spcBef>
                <a:spcPts val="1001"/>
              </a:spcBef>
              <a:buNone/>
              <a:tabLst>
                <a:tab algn="l" pos="0"/>
              </a:tabLst>
            </a:pPr>
            <a:r>
              <a:rPr b="0" lang="en-GB" sz="2000" spc="-1" strike="noStrike">
                <a:solidFill>
                  <a:schemeClr val="dk1"/>
                </a:solidFill>
                <a:latin typeface="Arial"/>
                <a:ea typeface="DejaVu Sans"/>
              </a:rPr>
              <a:t>TUG</a:t>
            </a:r>
            <a:endParaRPr b="0" lang="de-DE" sz="2000" spc="-1" strike="noStrike">
              <a:solidFill>
                <a:schemeClr val="dk1"/>
              </a:solidFill>
              <a:latin typeface="Arial"/>
            </a:endParaRPr>
          </a:p>
        </p:txBody>
      </p:sp>
      <p:sp>
        <p:nvSpPr>
          <p:cNvPr id="4" name="PlaceHolder 3"/>
          <p:cNvSpPr>
            <a:spLocks noGrp="1"/>
          </p:cNvSpPr>
          <p:nvPr>
            <p:ph type="sldNum" idx="1"/>
          </p:nvPr>
        </p:nvSpPr>
        <p:spPr/>
        <p:txBody>
          <a:bodyPr/>
          <a:p>
            <a:fld id="{63C97810-CF76-4DE3-B091-4D1075EA341C}" type="slidenum">
              <a:t>27</a:t>
            </a:fld>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PlaceHolder 1"/>
          <p:cNvSpPr>
            <a:spLocks noGrp="1"/>
          </p:cNvSpPr>
          <p:nvPr>
            <p:ph/>
          </p:nvPr>
        </p:nvSpPr>
        <p:spPr>
          <a:xfrm>
            <a:off x="585360" y="2146320"/>
            <a:ext cx="8228880" cy="3976920"/>
          </a:xfrm>
          <a:prstGeom prst="rect">
            <a:avLst/>
          </a:prstGeom>
          <a:noFill/>
          <a:ln w="0">
            <a:noFill/>
          </a:ln>
        </p:spPr>
        <p:txBody>
          <a:bodyPr lIns="0" rIns="0" tIns="0" bIns="0" anchor="t">
            <a:noAutofit/>
          </a:bodyPr>
          <a:p>
            <a:pPr marL="228600" indent="-228600" defTabSz="914400">
              <a:lnSpc>
                <a:spcPct val="90000"/>
              </a:lnSpc>
              <a:spcBef>
                <a:spcPts val="1199"/>
              </a:spcBef>
              <a:buClr>
                <a:srgbClr val="000000"/>
              </a:buClr>
              <a:buFont typeface="Arial"/>
              <a:buChar char="•"/>
            </a:pPr>
            <a:r>
              <a:rPr b="0" lang="en-US" sz="1800" spc="-1" strike="noStrike">
                <a:solidFill>
                  <a:schemeClr val="dk1"/>
                </a:solidFill>
                <a:latin typeface="Arial"/>
                <a:ea typeface="DejaVu Sans"/>
              </a:rPr>
              <a:t>One of the tasks of the pre-development project for the 3</a:t>
            </a:r>
            <a:r>
              <a:rPr b="0" lang="en-US" sz="1800" spc="-1" strike="noStrike" baseline="30000">
                <a:solidFill>
                  <a:schemeClr val="dk1"/>
                </a:solidFill>
                <a:latin typeface="Arial"/>
                <a:ea typeface="DejaVu Sans"/>
              </a:rPr>
              <a:t>rd</a:t>
            </a:r>
            <a:r>
              <a:rPr b="0" lang="en-US" sz="1800" spc="-1" strike="noStrike">
                <a:solidFill>
                  <a:schemeClr val="dk1"/>
                </a:solidFill>
                <a:latin typeface="Arial"/>
                <a:ea typeface="DejaVu Sans"/>
              </a:rPr>
              <a:t> Amendment was to analyse different systems for in-use charging of electric vehicles</a:t>
            </a:r>
            <a:endParaRPr b="0" lang="de-DE" sz="1800" spc="-1" strike="noStrike">
              <a:solidFill>
                <a:schemeClr val="dk1"/>
              </a:solidFill>
              <a:latin typeface="Arial"/>
            </a:endParaRPr>
          </a:p>
          <a:p>
            <a:pPr lvl="1" marL="792000" indent="-343080" defTabSz="914400">
              <a:lnSpc>
                <a:spcPct val="90000"/>
              </a:lnSpc>
              <a:spcBef>
                <a:spcPts val="601"/>
              </a:spcBef>
              <a:buClr>
                <a:srgbClr val="000000"/>
              </a:buClr>
              <a:buFont typeface="Arial"/>
              <a:buAutoNum type="arabicParenR"/>
            </a:pPr>
            <a:r>
              <a:rPr b="0" lang="en-US" sz="1600" spc="-1" strike="noStrike">
                <a:solidFill>
                  <a:schemeClr val="dk1"/>
                </a:solidFill>
                <a:latin typeface="Arial"/>
                <a:ea typeface="DejaVu Sans"/>
              </a:rPr>
              <a:t>State of the art</a:t>
            </a:r>
            <a:endParaRPr b="0" lang="de-DE" sz="1600" spc="-1" strike="noStrike">
              <a:solidFill>
                <a:schemeClr val="dk1"/>
              </a:solidFill>
              <a:latin typeface="Arial"/>
            </a:endParaRPr>
          </a:p>
          <a:p>
            <a:pPr lvl="1" marL="792000" indent="-343080" defTabSz="914400">
              <a:lnSpc>
                <a:spcPct val="90000"/>
              </a:lnSpc>
              <a:spcBef>
                <a:spcPts val="601"/>
              </a:spcBef>
              <a:buClr>
                <a:srgbClr val="000000"/>
              </a:buClr>
              <a:buFont typeface="Arial"/>
              <a:buAutoNum type="arabicParenR"/>
            </a:pPr>
            <a:r>
              <a:rPr b="0" lang="en-US" sz="1600" spc="-1" strike="noStrike">
                <a:solidFill>
                  <a:schemeClr val="dk1"/>
                </a:solidFill>
                <a:latin typeface="Arial"/>
                <a:ea typeface="DejaVu Sans"/>
              </a:rPr>
              <a:t>Relevance and possible paths of implementation to Regulation (EU) 2017/2400</a:t>
            </a:r>
            <a:endParaRPr b="0" lang="de-DE" sz="1600" spc="-1" strike="noStrike">
              <a:solidFill>
                <a:schemeClr val="dk1"/>
              </a:solidFill>
              <a:latin typeface="Arial"/>
            </a:endParaRPr>
          </a:p>
          <a:p>
            <a:pPr lvl="1" marL="792000" indent="-343080" defTabSz="914400">
              <a:lnSpc>
                <a:spcPct val="90000"/>
              </a:lnSpc>
              <a:spcBef>
                <a:spcPts val="601"/>
              </a:spcBef>
              <a:buClr>
                <a:srgbClr val="000000"/>
              </a:buClr>
              <a:buFont typeface="Arial"/>
              <a:buAutoNum type="arabicParenR"/>
            </a:pPr>
            <a:r>
              <a:rPr b="0" lang="en-US" sz="1600" spc="-1" strike="noStrike">
                <a:solidFill>
                  <a:schemeClr val="dk1"/>
                </a:solidFill>
                <a:latin typeface="Arial"/>
                <a:ea typeface="DejaVu Sans"/>
              </a:rPr>
              <a:t>Functional prototype</a:t>
            </a:r>
            <a:endParaRPr b="0" lang="de-DE" sz="1600" spc="-1" strike="noStrike">
              <a:solidFill>
                <a:schemeClr val="dk1"/>
              </a:solidFill>
              <a:latin typeface="Arial"/>
            </a:endParaRPr>
          </a:p>
          <a:p>
            <a:pPr marL="228600" indent="-228600" defTabSz="914400">
              <a:lnSpc>
                <a:spcPct val="90000"/>
              </a:lnSpc>
              <a:spcBef>
                <a:spcPts val="1199"/>
              </a:spcBef>
              <a:buClr>
                <a:srgbClr val="000000"/>
              </a:buClr>
              <a:buFont typeface="Arial"/>
              <a:buChar char="•"/>
            </a:pPr>
            <a:r>
              <a:rPr b="0" lang="en-US" sz="1800" spc="-1" strike="noStrike">
                <a:solidFill>
                  <a:schemeClr val="dk1"/>
                </a:solidFill>
                <a:latin typeface="Arial"/>
                <a:ea typeface="DejaVu Sans"/>
              </a:rPr>
              <a:t>The analyses and proposals for (1) and (2) were presented and discussed with stakeholders in five stakeholder meetings (Oct 2021, Dec 2021, Jan 2022, Jun 2022 and Sept 2022).</a:t>
            </a:r>
            <a:endParaRPr b="0" lang="de-DE" sz="1800" spc="-1" strike="noStrike">
              <a:solidFill>
                <a:schemeClr val="dk1"/>
              </a:solidFill>
              <a:latin typeface="Arial"/>
            </a:endParaRPr>
          </a:p>
          <a:p>
            <a:pPr marL="228600" indent="-228600" defTabSz="914400">
              <a:lnSpc>
                <a:spcPct val="90000"/>
              </a:lnSpc>
              <a:spcBef>
                <a:spcPts val="1199"/>
              </a:spcBef>
              <a:buClr>
                <a:srgbClr val="000000"/>
              </a:buClr>
              <a:buFont typeface="Arial"/>
              <a:buChar char="•"/>
            </a:pPr>
            <a:r>
              <a:rPr b="0" lang="en-US" sz="1800" spc="-1" strike="noStrike">
                <a:solidFill>
                  <a:schemeClr val="dk1"/>
                </a:solidFill>
                <a:latin typeface="Arial"/>
                <a:ea typeface="DejaVu Sans"/>
              </a:rPr>
              <a:t>The following slides summarise the most important principles and present the functional prototype</a:t>
            </a:r>
            <a:endParaRPr b="0" lang="de-DE" sz="1800" spc="-1" strike="noStrike">
              <a:solidFill>
                <a:schemeClr val="dk1"/>
              </a:solidFill>
              <a:latin typeface="Arial"/>
            </a:endParaRPr>
          </a:p>
          <a:p>
            <a:pPr indent="0" defTabSz="914400">
              <a:lnSpc>
                <a:spcPct val="90000"/>
              </a:lnSpc>
              <a:spcBef>
                <a:spcPts val="1199"/>
              </a:spcBef>
              <a:buNone/>
            </a:pPr>
            <a:endParaRPr b="0" lang="de-DE" sz="1800" spc="-1" strike="noStrike">
              <a:solidFill>
                <a:schemeClr val="dk1"/>
              </a:solidFill>
              <a:latin typeface="Arial"/>
            </a:endParaRPr>
          </a:p>
        </p:txBody>
      </p:sp>
      <p:sp>
        <p:nvSpPr>
          <p:cNvPr id="224" name="PlaceHolder 2"/>
          <p:cNvSpPr>
            <a:spLocks noGrp="1"/>
          </p:cNvSpPr>
          <p:nvPr>
            <p:ph type="title"/>
          </p:nvPr>
        </p:nvSpPr>
        <p:spPr>
          <a:xfrm>
            <a:off x="585360" y="850320"/>
            <a:ext cx="8228880" cy="1144440"/>
          </a:xfrm>
          <a:prstGeom prst="rect">
            <a:avLst/>
          </a:prstGeom>
          <a:noFill/>
          <a:ln w="0">
            <a:noFill/>
          </a:ln>
        </p:spPr>
        <p:txBody>
          <a:bodyPr lIns="0" rIns="0" tIns="0" bIns="0" anchor="ctr">
            <a:noAutofit/>
          </a:bodyPr>
          <a:p>
            <a:pPr indent="0" defTabSz="914400">
              <a:lnSpc>
                <a:spcPct val="90000"/>
              </a:lnSpc>
              <a:buNone/>
            </a:pPr>
            <a:r>
              <a:rPr b="1" lang="en-GB" sz="2400" spc="-1" strike="noStrike">
                <a:solidFill>
                  <a:srgbClr val="990000"/>
                </a:solidFill>
                <a:latin typeface="Arial"/>
                <a:ea typeface="DejaVu Sans"/>
              </a:rPr>
              <a:t>Vehicles with In-Motion Charging (IMC) features (1/11)</a:t>
            </a:r>
            <a:endParaRPr b="0" lang="de-DE" sz="2400" spc="-1" strike="noStrike">
              <a:solidFill>
                <a:schemeClr val="dk1"/>
              </a:solidFill>
              <a:latin typeface="Arial"/>
            </a:endParaRPr>
          </a:p>
        </p:txBody>
      </p:sp>
      <p:sp>
        <p:nvSpPr>
          <p:cNvPr id="4" name="PlaceHolder 3"/>
          <p:cNvSpPr>
            <a:spLocks noGrp="1"/>
          </p:cNvSpPr>
          <p:nvPr>
            <p:ph type="sldNum" idx="2"/>
          </p:nvPr>
        </p:nvSpPr>
        <p:spPr/>
        <p:txBody>
          <a:bodyPr/>
          <a:p>
            <a:fld id="{23E6B9ED-8A18-40EC-A083-776CA2B17AE6}" type="slidenum">
              <a:t>28</a:t>
            </a:fld>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 name="PlaceHolder 1"/>
          <p:cNvSpPr>
            <a:spLocks noGrp="1"/>
          </p:cNvSpPr>
          <p:nvPr>
            <p:ph/>
          </p:nvPr>
        </p:nvSpPr>
        <p:spPr>
          <a:xfrm>
            <a:off x="585360" y="2146320"/>
            <a:ext cx="8228880" cy="3976920"/>
          </a:xfrm>
          <a:prstGeom prst="rect">
            <a:avLst/>
          </a:prstGeom>
          <a:noFill/>
          <a:ln w="0">
            <a:noFill/>
          </a:ln>
        </p:spPr>
        <p:txBody>
          <a:bodyPr lIns="0" rIns="0" tIns="0" bIns="0" anchor="t">
            <a:noAutofit/>
          </a:bodyPr>
          <a:p>
            <a:pPr marL="228600" indent="-228600" defTabSz="914400">
              <a:lnSpc>
                <a:spcPct val="90000"/>
              </a:lnSpc>
              <a:spcBef>
                <a:spcPts val="1199"/>
              </a:spcBef>
              <a:buClr>
                <a:srgbClr val="000000"/>
              </a:buClr>
              <a:buFont typeface="Arial"/>
              <a:buChar char="•"/>
            </a:pPr>
            <a:r>
              <a:rPr b="0" lang="en-US" sz="1800" spc="-1" strike="noStrike">
                <a:solidFill>
                  <a:schemeClr val="dk1"/>
                </a:solidFill>
                <a:latin typeface="Arial"/>
                <a:ea typeface="DejaVu Sans"/>
              </a:rPr>
              <a:t>Reference point for results regarding electric energy consumption</a:t>
            </a:r>
            <a:endParaRPr b="0" lang="de-DE" sz="1800" spc="-1" strike="noStrike">
              <a:solidFill>
                <a:schemeClr val="dk1"/>
              </a:solidFill>
              <a:latin typeface="Arial"/>
            </a:endParaRPr>
          </a:p>
          <a:p>
            <a:pPr indent="0" defTabSz="914400">
              <a:lnSpc>
                <a:spcPct val="90000"/>
              </a:lnSpc>
              <a:spcBef>
                <a:spcPts val="1199"/>
              </a:spcBef>
              <a:buNone/>
            </a:pPr>
            <a:endParaRPr b="0" lang="de-DE" sz="1800" spc="-1" strike="noStrike">
              <a:solidFill>
                <a:schemeClr val="dk1"/>
              </a:solidFill>
              <a:latin typeface="Arial"/>
            </a:endParaRPr>
          </a:p>
        </p:txBody>
      </p:sp>
      <p:sp>
        <p:nvSpPr>
          <p:cNvPr id="226" name="PlaceHolder 2"/>
          <p:cNvSpPr>
            <a:spLocks noGrp="1"/>
          </p:cNvSpPr>
          <p:nvPr>
            <p:ph type="title"/>
          </p:nvPr>
        </p:nvSpPr>
        <p:spPr>
          <a:xfrm>
            <a:off x="585360" y="850320"/>
            <a:ext cx="8228880" cy="1144440"/>
          </a:xfrm>
          <a:prstGeom prst="rect">
            <a:avLst/>
          </a:prstGeom>
          <a:noFill/>
          <a:ln w="0">
            <a:noFill/>
          </a:ln>
        </p:spPr>
        <p:txBody>
          <a:bodyPr lIns="0" rIns="0" tIns="0" bIns="0" anchor="ctr">
            <a:noAutofit/>
          </a:bodyPr>
          <a:p>
            <a:pPr indent="0" defTabSz="914400">
              <a:lnSpc>
                <a:spcPct val="90000"/>
              </a:lnSpc>
              <a:buNone/>
            </a:pPr>
            <a:r>
              <a:rPr b="1" lang="en-GB" sz="2400" spc="-1" strike="noStrike">
                <a:solidFill>
                  <a:srgbClr val="990000"/>
                </a:solidFill>
                <a:latin typeface="Arial"/>
                <a:ea typeface="DejaVu Sans"/>
              </a:rPr>
              <a:t>Vehicles with In-Motion Charging (IMC) features (2/11)</a:t>
            </a:r>
            <a:endParaRPr b="0" lang="de-DE" sz="2400" spc="-1" strike="noStrike">
              <a:solidFill>
                <a:schemeClr val="dk1"/>
              </a:solidFill>
              <a:latin typeface="Arial"/>
            </a:endParaRPr>
          </a:p>
        </p:txBody>
      </p:sp>
      <p:pic>
        <p:nvPicPr>
          <p:cNvPr id="227" name="Grafik 1" descr=""/>
          <p:cNvPicPr/>
          <p:nvPr/>
        </p:nvPicPr>
        <p:blipFill>
          <a:blip r:embed="rId1"/>
          <a:stretch/>
        </p:blipFill>
        <p:spPr>
          <a:xfrm>
            <a:off x="622440" y="2741040"/>
            <a:ext cx="4998240" cy="2887920"/>
          </a:xfrm>
          <a:prstGeom prst="rect">
            <a:avLst/>
          </a:prstGeom>
          <a:ln w="0">
            <a:noFill/>
          </a:ln>
        </p:spPr>
      </p:pic>
      <p:sp>
        <p:nvSpPr>
          <p:cNvPr id="228" name="Textfeld 2"/>
          <p:cNvSpPr/>
          <p:nvPr/>
        </p:nvSpPr>
        <p:spPr>
          <a:xfrm>
            <a:off x="5566320" y="2707920"/>
            <a:ext cx="3501360" cy="2239920"/>
          </a:xfrm>
          <a:prstGeom prst="rect">
            <a:avLst/>
          </a:prstGeom>
          <a:noFill/>
          <a:ln w="0">
            <a:noFill/>
          </a:ln>
        </p:spPr>
        <p:style>
          <a:lnRef idx="0"/>
          <a:fillRef idx="0"/>
          <a:effectRef idx="0"/>
          <a:fontRef idx="minor"/>
        </p:style>
        <p:txBody>
          <a:bodyPr lIns="90000" rIns="90000" tIns="45000" bIns="45000" anchor="t">
            <a:spAutoFit/>
          </a:bodyPr>
          <a:p>
            <a:pPr marL="285840" indent="-285840" defTabSz="914400">
              <a:lnSpc>
                <a:spcPct val="100000"/>
              </a:lnSpc>
              <a:spcBef>
                <a:spcPts val="601"/>
              </a:spcBef>
              <a:buClr>
                <a:srgbClr val="000000"/>
              </a:buClr>
              <a:buFont typeface="Arial"/>
              <a:buChar char="•"/>
            </a:pPr>
            <a:r>
              <a:rPr b="0" lang="en-GB" sz="1400" spc="-1" strike="noStrike">
                <a:solidFill>
                  <a:schemeClr val="dk1"/>
                </a:solidFill>
                <a:latin typeface="Arial"/>
                <a:ea typeface="DejaVu Sans"/>
              </a:rPr>
              <a:t>Principle applied already for the 2</a:t>
            </a:r>
            <a:r>
              <a:rPr b="0" lang="en-GB" sz="1400" spc="-1" strike="noStrike" baseline="30000">
                <a:solidFill>
                  <a:schemeClr val="dk1"/>
                </a:solidFill>
                <a:latin typeface="Arial"/>
                <a:ea typeface="DejaVu Sans"/>
              </a:rPr>
              <a:t>nd</a:t>
            </a:r>
            <a:r>
              <a:rPr b="0" lang="en-GB" sz="1400" spc="-1" strike="noStrike">
                <a:solidFill>
                  <a:schemeClr val="dk1"/>
                </a:solidFill>
                <a:latin typeface="Arial"/>
                <a:ea typeface="DejaVu Sans"/>
              </a:rPr>
              <a:t> amendment</a:t>
            </a:r>
            <a:endParaRPr b="0" lang="en-US" sz="1400" spc="-1" strike="noStrike">
              <a:solidFill>
                <a:srgbClr val="000000"/>
              </a:solidFill>
              <a:latin typeface="Arial"/>
            </a:endParaRPr>
          </a:p>
          <a:p>
            <a:pPr marL="285840" indent="-285840" defTabSz="914400">
              <a:lnSpc>
                <a:spcPct val="100000"/>
              </a:lnSpc>
              <a:spcBef>
                <a:spcPts val="601"/>
              </a:spcBef>
              <a:buClr>
                <a:srgbClr val="000000"/>
              </a:buClr>
              <a:buFont typeface="Arial"/>
              <a:buChar char="•"/>
            </a:pPr>
            <a:r>
              <a:rPr b="0" lang="en-GB" sz="1400" spc="-1" strike="noStrike">
                <a:solidFill>
                  <a:schemeClr val="dk1"/>
                </a:solidFill>
                <a:latin typeface="Arial"/>
                <a:ea typeface="DejaVu Sans"/>
              </a:rPr>
              <a:t>Consequences for the 3</a:t>
            </a:r>
            <a:r>
              <a:rPr b="0" lang="en-GB" sz="1400" spc="-1" strike="noStrike" baseline="30000">
                <a:solidFill>
                  <a:schemeClr val="dk1"/>
                </a:solidFill>
                <a:latin typeface="Arial"/>
                <a:ea typeface="DejaVu Sans"/>
              </a:rPr>
              <a:t>rd</a:t>
            </a:r>
            <a:r>
              <a:rPr b="0" lang="en-GB" sz="1400" spc="-1" strike="noStrike">
                <a:solidFill>
                  <a:schemeClr val="dk1"/>
                </a:solidFill>
                <a:latin typeface="Arial"/>
                <a:ea typeface="DejaVu Sans"/>
              </a:rPr>
              <a:t> amendment</a:t>
            </a:r>
            <a:endParaRPr b="0" lang="en-US" sz="1400" spc="-1" strike="noStrike">
              <a:solidFill>
                <a:srgbClr val="000000"/>
              </a:solidFill>
              <a:latin typeface="Arial"/>
            </a:endParaRPr>
          </a:p>
          <a:p>
            <a:pPr lvl="1" marL="536400" indent="-181080" defTabSz="914400">
              <a:lnSpc>
                <a:spcPct val="100000"/>
              </a:lnSpc>
              <a:spcBef>
                <a:spcPts val="601"/>
              </a:spcBef>
              <a:buClr>
                <a:srgbClr val="000000"/>
              </a:buClr>
              <a:buFont typeface="Arial"/>
              <a:buChar char="•"/>
            </a:pPr>
            <a:r>
              <a:rPr b="0" lang="en-GB" sz="1400" spc="-1" strike="noStrike">
                <a:solidFill>
                  <a:schemeClr val="dk1"/>
                </a:solidFill>
                <a:latin typeface="Arial"/>
                <a:ea typeface="DejaVu Sans"/>
              </a:rPr>
              <a:t>Stationary charging: minor improvements to the Annex (max. charging power)</a:t>
            </a:r>
            <a:endParaRPr b="0" lang="en-US" sz="1400" spc="-1" strike="noStrike">
              <a:solidFill>
                <a:srgbClr val="000000"/>
              </a:solidFill>
              <a:latin typeface="Arial"/>
            </a:endParaRPr>
          </a:p>
          <a:p>
            <a:pPr lvl="1" marL="536400" indent="-181080" defTabSz="914400">
              <a:lnSpc>
                <a:spcPct val="100000"/>
              </a:lnSpc>
              <a:spcBef>
                <a:spcPts val="601"/>
              </a:spcBef>
              <a:buClr>
                <a:srgbClr val="000000"/>
              </a:buClr>
              <a:buFont typeface="Arial"/>
              <a:buChar char="•"/>
            </a:pPr>
            <a:r>
              <a:rPr b="0" lang="en-GB" sz="1400" spc="-1" strike="noStrike">
                <a:solidFill>
                  <a:schemeClr val="dk1"/>
                </a:solidFill>
                <a:latin typeface="Arial"/>
                <a:ea typeface="DejaVu Sans"/>
              </a:rPr>
              <a:t>In-motion charging: Requires model extension and separate provisions in the Annex </a:t>
            </a:r>
            <a:endParaRPr b="0" lang="en-US" sz="1400" spc="-1" strike="noStrike">
              <a:solidFill>
                <a:srgbClr val="000000"/>
              </a:solidFill>
              <a:latin typeface="Arial"/>
            </a:endParaRPr>
          </a:p>
        </p:txBody>
      </p:sp>
      <p:sp>
        <p:nvSpPr>
          <p:cNvPr id="4" name="PlaceHolder 3"/>
          <p:cNvSpPr>
            <a:spLocks noGrp="1"/>
          </p:cNvSpPr>
          <p:nvPr>
            <p:ph type="sldNum" idx="2"/>
          </p:nvPr>
        </p:nvSpPr>
        <p:spPr/>
        <p:txBody>
          <a:bodyPr/>
          <a:p>
            <a:fld id="{8DB5DF2B-F91A-4B92-8EAB-581C5D585536}" type="slidenum">
              <a:t>29</a:t>
            </a:fld>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1"/>
          <p:cNvSpPr>
            <a:spLocks noGrp="1"/>
          </p:cNvSpPr>
          <p:nvPr>
            <p:ph/>
          </p:nvPr>
        </p:nvSpPr>
        <p:spPr>
          <a:xfrm>
            <a:off x="585360" y="2146320"/>
            <a:ext cx="8228880" cy="3976920"/>
          </a:xfrm>
          <a:prstGeom prst="rect">
            <a:avLst/>
          </a:prstGeom>
          <a:noFill/>
          <a:ln w="0">
            <a:noFill/>
          </a:ln>
        </p:spPr>
        <p:txBody>
          <a:bodyPr lIns="0" rIns="0" tIns="0" bIns="0" anchor="t">
            <a:noAutofit/>
          </a:bodyPr>
          <a:p>
            <a:pPr marL="228600" indent="-228600" defTabSz="914400">
              <a:lnSpc>
                <a:spcPct val="90000"/>
              </a:lnSpc>
              <a:spcBef>
                <a:spcPts val="1199"/>
              </a:spcBef>
              <a:buClr>
                <a:srgbClr val="000000"/>
              </a:buClr>
              <a:buFont typeface="Arial"/>
              <a:buChar char="•"/>
            </a:pPr>
            <a:r>
              <a:rPr b="0" lang="en-US" sz="1800" spc="-1" strike="noStrike">
                <a:solidFill>
                  <a:schemeClr val="dk1"/>
                </a:solidFill>
                <a:latin typeface="Arial"/>
                <a:ea typeface="DejaVu Sans"/>
              </a:rPr>
              <a:t>Modelling in VECTO - Overview</a:t>
            </a:r>
            <a:endParaRPr b="0" lang="de-DE" sz="1800" spc="-1" strike="noStrike">
              <a:solidFill>
                <a:schemeClr val="dk1"/>
              </a:solidFill>
              <a:latin typeface="Arial"/>
            </a:endParaRPr>
          </a:p>
          <a:p>
            <a:pPr lvl="1" marL="716040" indent="-266760" defTabSz="914400">
              <a:lnSpc>
                <a:spcPct val="90000"/>
              </a:lnSpc>
              <a:spcBef>
                <a:spcPts val="601"/>
              </a:spcBef>
              <a:buClr>
                <a:srgbClr val="000000"/>
              </a:buClr>
              <a:buFont typeface="Wingdings" charset="2"/>
              <a:buChar char=""/>
            </a:pPr>
            <a:r>
              <a:rPr b="1" i="1" lang="en-US" sz="1600" spc="-1" strike="noStrike">
                <a:solidFill>
                  <a:schemeClr val="dk1"/>
                </a:solidFill>
                <a:latin typeface="Arial"/>
                <a:ea typeface="DejaVu Sans"/>
              </a:rPr>
              <a:t>Driving with “direct feed”</a:t>
            </a:r>
            <a:r>
              <a:rPr b="0" lang="en-US" sz="1600" spc="-1" strike="noStrike">
                <a:solidFill>
                  <a:schemeClr val="dk1"/>
                </a:solidFill>
                <a:latin typeface="Arial"/>
                <a:ea typeface="DejaVu Sans"/>
              </a:rPr>
              <a:t> incorporated to simulations of “charge depleting” mode by postprocessing (no additional sim time, no additional definitions etc.) (</a:t>
            </a:r>
            <a:r>
              <a:rPr b="0" lang="en-US" sz="1600" spc="-1" strike="noStrike">
                <a:solidFill>
                  <a:srgbClr val="7030a0"/>
                </a:solidFill>
                <a:latin typeface="Arial"/>
                <a:ea typeface="DejaVu Sans"/>
              </a:rPr>
              <a:t>DECL</a:t>
            </a:r>
            <a:r>
              <a:rPr b="0" lang="en-US" sz="1600" spc="-1" strike="noStrike">
                <a:solidFill>
                  <a:schemeClr val="dk1"/>
                </a:solidFill>
                <a:latin typeface="Arial"/>
                <a:ea typeface="DejaVu Sans"/>
              </a:rPr>
              <a:t>)</a:t>
            </a:r>
            <a:br>
              <a:rPr sz="1600"/>
            </a:br>
            <a:r>
              <a:rPr b="0" lang="en-US" sz="1600" spc="-1" strike="noStrike">
                <a:solidFill>
                  <a:srgbClr val="0070c0"/>
                </a:solidFill>
                <a:latin typeface="Wingdings"/>
                <a:ea typeface="DejaVu Sans"/>
              </a:rPr>
              <a:t></a:t>
            </a:r>
            <a:r>
              <a:rPr b="0" lang="en-US" sz="1600" spc="-1" strike="noStrike">
                <a:solidFill>
                  <a:srgbClr val="0070c0"/>
                </a:solidFill>
                <a:latin typeface="Arial"/>
                <a:ea typeface="DejaVu Sans"/>
              </a:rPr>
              <a:t> higher utility factor / share of electric driving for OVC-HEV</a:t>
            </a:r>
            <a:br>
              <a:rPr sz="1600"/>
            </a:br>
            <a:r>
              <a:rPr b="0" lang="en-US" sz="1600" spc="-1" strike="noStrike">
                <a:solidFill>
                  <a:srgbClr val="0070c0"/>
                </a:solidFill>
                <a:latin typeface="Wingdings"/>
                <a:ea typeface="DejaVu Sans"/>
              </a:rPr>
              <a:t></a:t>
            </a:r>
            <a:r>
              <a:rPr b="0" lang="en-US" sz="1600" spc="-1" strike="noStrike">
                <a:solidFill>
                  <a:srgbClr val="0070c0"/>
                </a:solidFill>
                <a:latin typeface="Arial"/>
                <a:ea typeface="DejaVu Sans"/>
              </a:rPr>
              <a:t> (slightly) lower battery internal losses</a:t>
            </a:r>
            <a:endParaRPr b="0" lang="de-DE" sz="1600" spc="-1" strike="noStrike">
              <a:solidFill>
                <a:schemeClr val="dk1"/>
              </a:solidFill>
              <a:latin typeface="Arial"/>
            </a:endParaRPr>
          </a:p>
          <a:p>
            <a:pPr lvl="1" marL="716040" indent="-266760" defTabSz="914400">
              <a:lnSpc>
                <a:spcPct val="90000"/>
              </a:lnSpc>
              <a:spcBef>
                <a:spcPts val="601"/>
              </a:spcBef>
              <a:buClr>
                <a:srgbClr val="000000"/>
              </a:buClr>
              <a:buFont typeface="Wingdings" charset="2"/>
              <a:buChar char=""/>
            </a:pPr>
            <a:r>
              <a:rPr b="1" i="1" lang="en-US" sz="1600" spc="-1" strike="noStrike">
                <a:solidFill>
                  <a:schemeClr val="dk1"/>
                </a:solidFill>
                <a:latin typeface="Arial"/>
                <a:ea typeface="DejaVu Sans"/>
              </a:rPr>
              <a:t>Charging of batteries by IMC </a:t>
            </a:r>
            <a:r>
              <a:rPr b="0" lang="en-US" sz="1600" spc="-1" strike="noStrike">
                <a:solidFill>
                  <a:schemeClr val="dk1"/>
                </a:solidFill>
                <a:latin typeface="Arial"/>
                <a:ea typeface="DejaVu Sans"/>
              </a:rPr>
              <a:t>handled by postprocessing (</a:t>
            </a:r>
            <a:r>
              <a:rPr b="0" lang="en-US" sz="1600" spc="-1" strike="noStrike">
                <a:solidFill>
                  <a:srgbClr val="7030a0"/>
                </a:solidFill>
                <a:latin typeface="Arial"/>
                <a:ea typeface="DejaVu Sans"/>
              </a:rPr>
              <a:t>DECL</a:t>
            </a:r>
            <a:r>
              <a:rPr b="0" lang="en-US" sz="1600" spc="-1" strike="noStrike">
                <a:solidFill>
                  <a:schemeClr val="dk1"/>
                </a:solidFill>
                <a:latin typeface="Arial"/>
                <a:ea typeface="DejaVu Sans"/>
              </a:rPr>
              <a:t>)</a:t>
            </a:r>
            <a:br>
              <a:rPr sz="1600"/>
            </a:br>
            <a:r>
              <a:rPr b="0" lang="en-GB" sz="1600" spc="-1" strike="noStrike">
                <a:solidFill>
                  <a:srgbClr val="0070c0"/>
                </a:solidFill>
                <a:latin typeface="Wingdings"/>
                <a:ea typeface="DejaVu Sans"/>
              </a:rPr>
              <a:t></a:t>
            </a:r>
            <a:r>
              <a:rPr b="0" lang="en-GB" sz="1600" spc="-1" strike="noStrike">
                <a:solidFill>
                  <a:srgbClr val="0070c0"/>
                </a:solidFill>
                <a:latin typeface="Arial"/>
                <a:ea typeface="DejaVu Sans"/>
              </a:rPr>
              <a:t> </a:t>
            </a:r>
            <a:r>
              <a:rPr b="0" lang="en-US" sz="1600" spc="-1" strike="noStrike">
                <a:solidFill>
                  <a:srgbClr val="0070c0"/>
                </a:solidFill>
                <a:latin typeface="Arial"/>
                <a:ea typeface="DejaVu Sans"/>
              </a:rPr>
              <a:t>higher utility factor / share of electric driving for OVC-HEV</a:t>
            </a:r>
            <a:endParaRPr b="0" lang="de-DE" sz="1600" spc="-1" strike="noStrike">
              <a:solidFill>
                <a:schemeClr val="dk1"/>
              </a:solidFill>
              <a:latin typeface="Arial"/>
            </a:endParaRPr>
          </a:p>
          <a:p>
            <a:pPr lvl="1" marL="716040" indent="-266760" defTabSz="914400">
              <a:lnSpc>
                <a:spcPct val="90000"/>
              </a:lnSpc>
              <a:spcBef>
                <a:spcPts val="601"/>
              </a:spcBef>
              <a:buClr>
                <a:srgbClr val="000000"/>
              </a:buClr>
              <a:buFont typeface="Wingdings" charset="2"/>
              <a:buChar char=""/>
            </a:pPr>
            <a:r>
              <a:rPr b="1" i="1" lang="en-US" sz="1600" spc="-1" strike="noStrike">
                <a:solidFill>
                  <a:schemeClr val="dk1"/>
                </a:solidFill>
                <a:latin typeface="Arial"/>
                <a:ea typeface="DejaVu Sans"/>
              </a:rPr>
              <a:t>Impact on air drag </a:t>
            </a:r>
            <a:r>
              <a:rPr b="0" lang="en-US" sz="1600" spc="-1" strike="noStrike">
                <a:solidFill>
                  <a:schemeClr val="dk1"/>
                </a:solidFill>
                <a:latin typeface="Arial"/>
                <a:ea typeface="DejaVu Sans"/>
              </a:rPr>
              <a:t>incorporated to in-the loop simulation via a mission average share “active” (which applies either to motorway sections or to the total cycle) (</a:t>
            </a:r>
            <a:r>
              <a:rPr b="0" lang="en-US" sz="1600" spc="-1" strike="noStrike">
                <a:solidFill>
                  <a:srgbClr val="7030a0"/>
                </a:solidFill>
                <a:latin typeface="Arial"/>
                <a:ea typeface="DejaVu Sans"/>
              </a:rPr>
              <a:t>ENG, DECL</a:t>
            </a:r>
            <a:r>
              <a:rPr b="0" lang="en-US" sz="1600" spc="-1" strike="noStrike">
                <a:solidFill>
                  <a:schemeClr val="dk1"/>
                </a:solidFill>
                <a:latin typeface="Arial"/>
                <a:ea typeface="DejaVu Sans"/>
              </a:rPr>
              <a:t>)</a:t>
            </a:r>
            <a:endParaRPr b="0" lang="de-DE" sz="1600" spc="-1" strike="noStrike">
              <a:solidFill>
                <a:schemeClr val="dk1"/>
              </a:solidFill>
              <a:latin typeface="Arial"/>
            </a:endParaRPr>
          </a:p>
          <a:p>
            <a:pPr lvl="1" marL="716040" indent="-266760" defTabSz="914400">
              <a:lnSpc>
                <a:spcPct val="90000"/>
              </a:lnSpc>
              <a:spcBef>
                <a:spcPts val="601"/>
              </a:spcBef>
              <a:buClr>
                <a:srgbClr val="000000"/>
              </a:buClr>
              <a:buFont typeface="Wingdings" charset="2"/>
              <a:buChar char=""/>
            </a:pPr>
            <a:r>
              <a:rPr b="1" i="1" lang="en-US" sz="1600" spc="-1" strike="noStrike">
                <a:solidFill>
                  <a:schemeClr val="dk1"/>
                </a:solidFill>
                <a:latin typeface="Arial"/>
                <a:ea typeface="DejaVu Sans"/>
              </a:rPr>
              <a:t>No direct influence on the “electric ranges"</a:t>
            </a:r>
            <a:r>
              <a:rPr b="0" lang="en-US" sz="1600" spc="-1" strike="noStrike">
                <a:solidFill>
                  <a:schemeClr val="dk1"/>
                </a:solidFill>
                <a:latin typeface="Arial"/>
                <a:ea typeface="DejaVu Sans"/>
              </a:rPr>
              <a:t>, i.e. these are also only calculated on the basis of the usable battery capacity (</a:t>
            </a:r>
            <a:r>
              <a:rPr b="0" lang="en-US" sz="1600" spc="-1" strike="noStrike">
                <a:solidFill>
                  <a:srgbClr val="7030a0"/>
                </a:solidFill>
                <a:latin typeface="Arial"/>
                <a:ea typeface="DejaVu Sans"/>
              </a:rPr>
              <a:t>DECL</a:t>
            </a:r>
            <a:r>
              <a:rPr b="0" lang="en-US" sz="1600" spc="-1" strike="noStrike">
                <a:solidFill>
                  <a:schemeClr val="dk1"/>
                </a:solidFill>
                <a:latin typeface="Arial"/>
                <a:ea typeface="DejaVu Sans"/>
              </a:rPr>
              <a:t>)</a:t>
            </a:r>
            <a:endParaRPr b="0" lang="de-DE" sz="1600" spc="-1" strike="noStrike">
              <a:solidFill>
                <a:schemeClr val="dk1"/>
              </a:solidFill>
              <a:latin typeface="Arial"/>
            </a:endParaRPr>
          </a:p>
        </p:txBody>
      </p:sp>
      <p:sp>
        <p:nvSpPr>
          <p:cNvPr id="230" name="PlaceHolder 2"/>
          <p:cNvSpPr>
            <a:spLocks noGrp="1"/>
          </p:cNvSpPr>
          <p:nvPr>
            <p:ph type="title"/>
          </p:nvPr>
        </p:nvSpPr>
        <p:spPr>
          <a:xfrm>
            <a:off x="585360" y="850320"/>
            <a:ext cx="8228880" cy="1144440"/>
          </a:xfrm>
          <a:prstGeom prst="rect">
            <a:avLst/>
          </a:prstGeom>
          <a:noFill/>
          <a:ln w="0">
            <a:noFill/>
          </a:ln>
        </p:spPr>
        <p:txBody>
          <a:bodyPr lIns="0" rIns="0" tIns="0" bIns="0" anchor="ctr">
            <a:noAutofit/>
          </a:bodyPr>
          <a:p>
            <a:pPr indent="0" defTabSz="914400">
              <a:lnSpc>
                <a:spcPct val="90000"/>
              </a:lnSpc>
              <a:buNone/>
            </a:pPr>
            <a:r>
              <a:rPr b="1" lang="en-GB" sz="2400" spc="-1" strike="noStrike">
                <a:solidFill>
                  <a:srgbClr val="990000"/>
                </a:solidFill>
                <a:latin typeface="Arial"/>
                <a:ea typeface="DejaVu Sans"/>
              </a:rPr>
              <a:t>Vehicles with In-Motion Charging (IMC) features (3/11)</a:t>
            </a:r>
            <a:endParaRPr b="0" lang="de-DE" sz="2400" spc="-1" strike="noStrike">
              <a:solidFill>
                <a:schemeClr val="dk1"/>
              </a:solidFill>
              <a:latin typeface="Arial"/>
            </a:endParaRPr>
          </a:p>
        </p:txBody>
      </p:sp>
      <p:sp>
        <p:nvSpPr>
          <p:cNvPr id="231" name="Textfeld 6"/>
          <p:cNvSpPr/>
          <p:nvPr/>
        </p:nvSpPr>
        <p:spPr>
          <a:xfrm>
            <a:off x="0" y="5563800"/>
            <a:ext cx="8127720" cy="242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GB" sz="1000" spc="-1" strike="noStrike">
                <a:solidFill>
                  <a:srgbClr val="7030a0"/>
                </a:solidFill>
                <a:latin typeface="Arial"/>
                <a:ea typeface="DejaVu Sans"/>
              </a:rPr>
              <a:t>DECL / ENG: Effect visible in Declaration Mode / Engineering Mode</a:t>
            </a:r>
            <a:endParaRPr b="0" lang="en-US" sz="1000" spc="-1" strike="noStrike">
              <a:solidFill>
                <a:srgbClr val="000000"/>
              </a:solidFill>
              <a:latin typeface="Arial"/>
            </a:endParaRPr>
          </a:p>
        </p:txBody>
      </p:sp>
      <p:sp>
        <p:nvSpPr>
          <p:cNvPr id="232" name="Rechteck 1"/>
          <p:cNvSpPr/>
          <p:nvPr/>
        </p:nvSpPr>
        <p:spPr>
          <a:xfrm>
            <a:off x="0" y="5754600"/>
            <a:ext cx="4571640" cy="242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i="1" lang="en-GB" sz="1000" spc="-1" strike="noStrike">
                <a:solidFill>
                  <a:schemeClr val="dk1"/>
                </a:solidFill>
                <a:latin typeface="Arial"/>
                <a:ea typeface="DejaVu Sans"/>
              </a:rPr>
              <a:t>Report with detailed documentation to be published soon</a:t>
            </a:r>
            <a:endParaRPr b="0" lang="en-US" sz="1000" spc="-1" strike="noStrike">
              <a:solidFill>
                <a:srgbClr val="000000"/>
              </a:solidFill>
              <a:latin typeface="Arial"/>
            </a:endParaRPr>
          </a:p>
        </p:txBody>
      </p:sp>
      <p:sp>
        <p:nvSpPr>
          <p:cNvPr id="4" name="PlaceHolder 3"/>
          <p:cNvSpPr>
            <a:spLocks noGrp="1"/>
          </p:cNvSpPr>
          <p:nvPr>
            <p:ph type="sldNum" idx="2"/>
          </p:nvPr>
        </p:nvSpPr>
        <p:spPr/>
        <p:txBody>
          <a:bodyPr/>
          <a:p>
            <a:fld id="{10E6D7B8-2903-4A4E-A796-11909E9EA5B3}" type="slidenum">
              <a:t>30</a:t>
            </a:fld>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p:nvPr>
        </p:nvSpPr>
        <p:spPr>
          <a:xfrm>
            <a:off x="585360" y="2146320"/>
            <a:ext cx="8228880" cy="3976920"/>
          </a:xfrm>
          <a:prstGeom prst="rect">
            <a:avLst/>
          </a:prstGeom>
          <a:noFill/>
          <a:ln w="0">
            <a:noFill/>
          </a:ln>
        </p:spPr>
        <p:txBody>
          <a:bodyPr lIns="0" rIns="0" tIns="0" bIns="0" anchor="t">
            <a:noAutofit/>
          </a:bodyPr>
          <a:p>
            <a:pPr marL="228600" indent="-228600" defTabSz="914400">
              <a:lnSpc>
                <a:spcPct val="90000"/>
              </a:lnSpc>
              <a:spcBef>
                <a:spcPts val="1199"/>
              </a:spcBef>
              <a:buClr>
                <a:srgbClr val="000000"/>
              </a:buClr>
              <a:buFont typeface="Arial"/>
              <a:buChar char="•"/>
            </a:pPr>
            <a:r>
              <a:rPr b="0" lang="en-US" sz="1800" spc="-1" strike="noStrike">
                <a:solidFill>
                  <a:schemeClr val="dk1"/>
                </a:solidFill>
                <a:latin typeface="Arial"/>
                <a:ea typeface="DejaVu Sans"/>
              </a:rPr>
              <a:t>Modelling in VECTO – Calculations of electric energy consumption at battery terminals</a:t>
            </a:r>
            <a:endParaRPr b="0" lang="de-DE" sz="1800" spc="-1" strike="noStrike">
              <a:solidFill>
                <a:schemeClr val="dk1"/>
              </a:solidFill>
              <a:latin typeface="Arial"/>
            </a:endParaRPr>
          </a:p>
        </p:txBody>
      </p:sp>
      <p:sp>
        <p:nvSpPr>
          <p:cNvPr id="234" name="PlaceHolder 2"/>
          <p:cNvSpPr>
            <a:spLocks noGrp="1"/>
          </p:cNvSpPr>
          <p:nvPr>
            <p:ph type="title"/>
          </p:nvPr>
        </p:nvSpPr>
        <p:spPr>
          <a:xfrm>
            <a:off x="585360" y="850320"/>
            <a:ext cx="8228880" cy="1144440"/>
          </a:xfrm>
          <a:prstGeom prst="rect">
            <a:avLst/>
          </a:prstGeom>
          <a:noFill/>
          <a:ln w="0">
            <a:noFill/>
          </a:ln>
        </p:spPr>
        <p:txBody>
          <a:bodyPr lIns="0" rIns="0" tIns="0" bIns="0" anchor="ctr">
            <a:noAutofit/>
          </a:bodyPr>
          <a:p>
            <a:pPr indent="0" defTabSz="914400">
              <a:lnSpc>
                <a:spcPct val="90000"/>
              </a:lnSpc>
              <a:buNone/>
            </a:pPr>
            <a:r>
              <a:rPr b="1" lang="en-GB" sz="2400" spc="-1" strike="noStrike">
                <a:solidFill>
                  <a:srgbClr val="990000"/>
                </a:solidFill>
                <a:latin typeface="Arial"/>
                <a:ea typeface="DejaVu Sans"/>
              </a:rPr>
              <a:t>Vehicles with In-Motion Charging (IMC) features (4/11)</a:t>
            </a:r>
            <a:endParaRPr b="0" lang="de-DE" sz="2400" spc="-1" strike="noStrike">
              <a:solidFill>
                <a:schemeClr val="dk1"/>
              </a:solidFill>
              <a:latin typeface="Arial"/>
            </a:endParaRPr>
          </a:p>
        </p:txBody>
      </p:sp>
      <p:pic>
        <p:nvPicPr>
          <p:cNvPr id="235" name="Grafik 1" descr=""/>
          <p:cNvPicPr/>
          <p:nvPr/>
        </p:nvPicPr>
        <p:blipFill>
          <a:blip r:embed="rId1"/>
          <a:stretch/>
        </p:blipFill>
        <p:spPr>
          <a:xfrm>
            <a:off x="4368960" y="3068280"/>
            <a:ext cx="4566600" cy="1890360"/>
          </a:xfrm>
          <a:prstGeom prst="rect">
            <a:avLst/>
          </a:prstGeom>
          <a:ln w="0">
            <a:noFill/>
          </a:ln>
        </p:spPr>
      </p:pic>
      <p:sp>
        <p:nvSpPr>
          <p:cNvPr id="236" name="Textfeld 2"/>
          <p:cNvSpPr/>
          <p:nvPr/>
        </p:nvSpPr>
        <p:spPr>
          <a:xfrm>
            <a:off x="0" y="5467680"/>
            <a:ext cx="6269760" cy="455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i="1" lang="en-GB" sz="1200" spc="-1" strike="noStrike">
                <a:solidFill>
                  <a:schemeClr val="dk1"/>
                </a:solidFill>
                <a:latin typeface="Arial"/>
                <a:ea typeface="DejaVu Sans"/>
              </a:rPr>
              <a:t>Calculation examples see Task3_Masterexcel_OVC_IMC.xlsx as distributed with ppt</a:t>
            </a:r>
            <a:br>
              <a:rPr sz="1200"/>
            </a:br>
            <a:r>
              <a:rPr b="0" i="1" lang="en-GB" sz="1200" spc="-1" strike="noStrike">
                <a:solidFill>
                  <a:schemeClr val="dk1"/>
                </a:solidFill>
                <a:latin typeface="Arial"/>
                <a:ea typeface="DejaVu Sans"/>
              </a:rPr>
              <a:t>Report with detailed documentation to be published soon</a:t>
            </a:r>
            <a:endParaRPr b="0" lang="en-US" sz="1200" spc="-1" strike="noStrike">
              <a:solidFill>
                <a:srgbClr val="000000"/>
              </a:solidFill>
              <a:latin typeface="Arial"/>
            </a:endParaRPr>
          </a:p>
        </p:txBody>
      </p:sp>
      <p:sp>
        <p:nvSpPr>
          <p:cNvPr id="237" name="Textfeld 6"/>
          <p:cNvSpPr/>
          <p:nvPr/>
        </p:nvSpPr>
        <p:spPr>
          <a:xfrm>
            <a:off x="5762160" y="2778840"/>
            <a:ext cx="4273920" cy="242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GB" sz="1000" spc="-1" strike="noStrike">
                <a:solidFill>
                  <a:srgbClr val="7030a0"/>
                </a:solidFill>
                <a:latin typeface="Arial"/>
                <a:ea typeface="DejaVu Sans"/>
              </a:rPr>
              <a:t>Lila terms: new elements introduced for IMC modelling</a:t>
            </a:r>
            <a:endParaRPr b="0" lang="en-US" sz="1000" spc="-1" strike="noStrike">
              <a:solidFill>
                <a:srgbClr val="000000"/>
              </a:solidFill>
              <a:latin typeface="Arial"/>
            </a:endParaRPr>
          </a:p>
        </p:txBody>
      </p:sp>
      <p:pic>
        <p:nvPicPr>
          <p:cNvPr id="238" name="Grafik 8" descr=""/>
          <p:cNvPicPr/>
          <p:nvPr/>
        </p:nvPicPr>
        <p:blipFill>
          <a:blip r:embed="rId2"/>
          <a:stretch/>
        </p:blipFill>
        <p:spPr>
          <a:xfrm>
            <a:off x="694080" y="2783160"/>
            <a:ext cx="3273840" cy="2374200"/>
          </a:xfrm>
          <a:prstGeom prst="rect">
            <a:avLst/>
          </a:prstGeom>
          <a:ln w="0">
            <a:noFill/>
          </a:ln>
        </p:spPr>
      </p:pic>
      <p:sp>
        <p:nvSpPr>
          <p:cNvPr id="4" name="PlaceHolder 3"/>
          <p:cNvSpPr>
            <a:spLocks noGrp="1"/>
          </p:cNvSpPr>
          <p:nvPr>
            <p:ph type="sldNum" idx="2"/>
          </p:nvPr>
        </p:nvSpPr>
        <p:spPr/>
        <p:txBody>
          <a:bodyPr/>
          <a:p>
            <a:fld id="{2922DEDB-4E8C-4B60-B295-F9B8D9C94349}" type="slidenum">
              <a:t>31</a:t>
            </a:fld>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p:nvPr>
        </p:nvSpPr>
        <p:spPr>
          <a:xfrm>
            <a:off x="585360" y="2146320"/>
            <a:ext cx="8228880" cy="3976920"/>
          </a:xfrm>
          <a:prstGeom prst="rect">
            <a:avLst/>
          </a:prstGeom>
          <a:noFill/>
          <a:ln w="0">
            <a:noFill/>
          </a:ln>
        </p:spPr>
        <p:txBody>
          <a:bodyPr lIns="0" rIns="0" tIns="0" bIns="0" anchor="t">
            <a:noAutofit/>
          </a:bodyPr>
          <a:p>
            <a:pPr marL="228600" indent="-228600" defTabSz="914400">
              <a:lnSpc>
                <a:spcPct val="90000"/>
              </a:lnSpc>
              <a:spcBef>
                <a:spcPts val="1199"/>
              </a:spcBef>
              <a:buClr>
                <a:srgbClr val="000000"/>
              </a:buClr>
              <a:buFont typeface="Arial"/>
              <a:buChar char="•"/>
            </a:pPr>
            <a:r>
              <a:rPr b="0" lang="en-US" sz="1800" spc="-1" strike="noStrike">
                <a:solidFill>
                  <a:schemeClr val="dk1"/>
                </a:solidFill>
                <a:latin typeface="Arial"/>
                <a:ea typeface="DejaVu Sans"/>
              </a:rPr>
              <a:t>Modelling in VECTO – Current proposals for Declaration Mode</a:t>
            </a:r>
            <a:endParaRPr b="0" lang="de-DE" sz="1800" spc="-1" strike="noStrike">
              <a:solidFill>
                <a:schemeClr val="dk1"/>
              </a:solidFill>
              <a:latin typeface="Arial"/>
            </a:endParaRPr>
          </a:p>
        </p:txBody>
      </p:sp>
      <p:sp>
        <p:nvSpPr>
          <p:cNvPr id="240" name="PlaceHolder 2"/>
          <p:cNvSpPr>
            <a:spLocks noGrp="1"/>
          </p:cNvSpPr>
          <p:nvPr>
            <p:ph type="title"/>
          </p:nvPr>
        </p:nvSpPr>
        <p:spPr>
          <a:xfrm>
            <a:off x="585360" y="850320"/>
            <a:ext cx="8228880" cy="1144440"/>
          </a:xfrm>
          <a:prstGeom prst="rect">
            <a:avLst/>
          </a:prstGeom>
          <a:noFill/>
          <a:ln w="0">
            <a:noFill/>
          </a:ln>
        </p:spPr>
        <p:txBody>
          <a:bodyPr lIns="0" rIns="0" tIns="0" bIns="0" anchor="ctr">
            <a:noAutofit/>
          </a:bodyPr>
          <a:p>
            <a:pPr indent="0" defTabSz="914400">
              <a:lnSpc>
                <a:spcPct val="90000"/>
              </a:lnSpc>
              <a:buNone/>
            </a:pPr>
            <a:r>
              <a:rPr b="1" lang="en-GB" sz="2400" spc="-1" strike="noStrike">
                <a:solidFill>
                  <a:srgbClr val="990000"/>
                </a:solidFill>
                <a:latin typeface="Arial"/>
                <a:ea typeface="DejaVu Sans"/>
              </a:rPr>
              <a:t>Vehicles with In-Motion Charging (IMC) features (5/11)</a:t>
            </a:r>
            <a:endParaRPr b="0" lang="de-DE" sz="2400" spc="-1" strike="noStrike">
              <a:solidFill>
                <a:schemeClr val="dk1"/>
              </a:solidFill>
              <a:latin typeface="Arial"/>
            </a:endParaRPr>
          </a:p>
        </p:txBody>
      </p:sp>
      <p:sp>
        <p:nvSpPr>
          <p:cNvPr id="241" name="Textfeld 2"/>
          <p:cNvSpPr/>
          <p:nvPr/>
        </p:nvSpPr>
        <p:spPr>
          <a:xfrm>
            <a:off x="4593240" y="5571000"/>
            <a:ext cx="3985560" cy="2725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i="1" lang="en-GB" sz="1200" spc="-1" strike="noStrike">
                <a:solidFill>
                  <a:srgbClr val="7030a0"/>
                </a:solidFill>
                <a:latin typeface="Arial"/>
                <a:ea typeface="DejaVu Sans"/>
              </a:rPr>
              <a:t>Lila: to be worked out for the 3</a:t>
            </a:r>
            <a:r>
              <a:rPr b="0" i="1" lang="en-GB" sz="1200" spc="-1" strike="noStrike" baseline="30000">
                <a:solidFill>
                  <a:srgbClr val="7030a0"/>
                </a:solidFill>
                <a:latin typeface="Arial"/>
                <a:ea typeface="DejaVu Sans"/>
              </a:rPr>
              <a:t>rd</a:t>
            </a:r>
            <a:r>
              <a:rPr b="0" i="1" lang="en-GB" sz="1200" spc="-1" strike="noStrike">
                <a:solidFill>
                  <a:srgbClr val="7030a0"/>
                </a:solidFill>
                <a:latin typeface="Arial"/>
                <a:ea typeface="DejaVu Sans"/>
              </a:rPr>
              <a:t> amendment</a:t>
            </a:r>
            <a:endParaRPr b="0" lang="en-US" sz="1200" spc="-1" strike="noStrike">
              <a:solidFill>
                <a:srgbClr val="000000"/>
              </a:solidFill>
              <a:latin typeface="Arial"/>
            </a:endParaRPr>
          </a:p>
        </p:txBody>
      </p:sp>
      <p:graphicFrame>
        <p:nvGraphicFramePr>
          <p:cNvPr id="242" name="Tabelle 7"/>
          <p:cNvGraphicFramePr/>
          <p:nvPr/>
        </p:nvGraphicFramePr>
        <p:xfrm>
          <a:off x="897120" y="2533680"/>
          <a:ext cx="7970760" cy="3186720"/>
        </p:xfrm>
        <a:graphic>
          <a:graphicData uri="http://schemas.openxmlformats.org/drawingml/2006/table">
            <a:tbl>
              <a:tblPr/>
              <a:tblGrid>
                <a:gridCol w="1145520"/>
                <a:gridCol w="851400"/>
                <a:gridCol w="826920"/>
                <a:gridCol w="880560"/>
                <a:gridCol w="4265640"/>
              </a:tblGrid>
              <a:tr h="182160">
                <a:tc rowSpan="2">
                  <a:txBody>
                    <a:bodyPr lIns="28080" rIns="28080" tIns="28080" bIns="28080" anchor="ctr">
                      <a:noAutofit/>
                    </a:bodyPr>
                    <a:p>
                      <a:pPr algn="ctr" defTabSz="914400">
                        <a:lnSpc>
                          <a:spcPct val="120000"/>
                        </a:lnSpc>
                      </a:pPr>
                      <a:r>
                        <a:rPr b="1" lang="en-GB" sz="1200" spc="-1" strike="noStrike">
                          <a:solidFill>
                            <a:schemeClr val="lt1"/>
                          </a:solidFill>
                          <a:latin typeface="Arial"/>
                          <a:ea typeface="DejaVu Sans"/>
                        </a:rPr>
                        <a:t>In-motion charging “technology”</a:t>
                      </a:r>
                      <a:endParaRPr b="0" lang="en-US" sz="1200" spc="-1" strike="noStrike">
                        <a:solidFill>
                          <a:srgbClr val="000000"/>
                        </a:solidFill>
                        <a:latin typeface="Arial"/>
                      </a:endParaRPr>
                    </a:p>
                  </a:txBody>
                  <a:tcPr anchor="ctr" marL="28080" marR="2808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2"/>
                    </a:solidFill>
                  </a:tcPr>
                </a:tc>
                <a:tc gridSpan="3">
                  <a:txBody>
                    <a:bodyPr lIns="28080" rIns="28080" tIns="28080" bIns="28080" anchor="ctr">
                      <a:noAutofit/>
                    </a:bodyPr>
                    <a:p>
                      <a:pPr algn="ctr" defTabSz="914400">
                        <a:lnSpc>
                          <a:spcPct val="120000"/>
                        </a:lnSpc>
                      </a:pPr>
                      <a:r>
                        <a:rPr b="1" lang="en-GB" sz="1200" spc="-1" strike="noStrike">
                          <a:solidFill>
                            <a:schemeClr val="lt1"/>
                          </a:solidFill>
                          <a:latin typeface="Arial"/>
                          <a:ea typeface="DejaVu Sans"/>
                        </a:rPr>
                        <a:t>Relevance</a:t>
                      </a:r>
                      <a:endParaRPr b="0" lang="en-US" sz="1200" spc="-1" strike="noStrike">
                        <a:solidFill>
                          <a:srgbClr val="000000"/>
                        </a:solidFill>
                        <a:latin typeface="Arial"/>
                      </a:endParaRPr>
                    </a:p>
                  </a:txBody>
                  <a:tcPr anchor="ctr" marL="28080" marR="2808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2"/>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c rowSpan="2">
                  <a:txBody>
                    <a:bodyPr lIns="28080" rIns="28080" tIns="28080" bIns="28080" anchor="ctr">
                      <a:noAutofit/>
                    </a:bodyPr>
                    <a:p>
                      <a:pPr algn="ctr" defTabSz="914400">
                        <a:lnSpc>
                          <a:spcPct val="120000"/>
                        </a:lnSpc>
                      </a:pPr>
                      <a:r>
                        <a:rPr b="1" lang="en-GB" sz="1200" spc="-1" strike="noStrike">
                          <a:solidFill>
                            <a:schemeClr val="lt1"/>
                          </a:solidFill>
                          <a:latin typeface="Arial"/>
                          <a:ea typeface="DejaVu Sans"/>
                        </a:rPr>
                        <a:t>Proposal for definition in Regulation (EU) 2017/2400</a:t>
                      </a:r>
                      <a:endParaRPr b="0" lang="en-US" sz="1200" spc="-1" strike="noStrike">
                        <a:solidFill>
                          <a:srgbClr val="000000"/>
                        </a:solidFill>
                        <a:latin typeface="Arial"/>
                      </a:endParaRPr>
                    </a:p>
                  </a:txBody>
                  <a:tcPr anchor="ctr" marL="28080" marR="2808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2"/>
                    </a:solidFill>
                  </a:tcPr>
                </a:tc>
              </a:tr>
              <a:tr h="361800">
                <a:tc v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c>
                  <a:txBody>
                    <a:bodyPr lIns="28080" rIns="28080" tIns="28080" bIns="28080" anchor="ctr">
                      <a:noAutofit/>
                    </a:bodyPr>
                    <a:p>
                      <a:pPr algn="ctr" defTabSz="914400">
                        <a:lnSpc>
                          <a:spcPct val="120000"/>
                        </a:lnSpc>
                      </a:pPr>
                      <a:r>
                        <a:rPr b="1" lang="en-GB" sz="1050" spc="-1" strike="noStrike">
                          <a:solidFill>
                            <a:schemeClr val="dk1"/>
                          </a:solidFill>
                          <a:latin typeface="Arial"/>
                          <a:ea typeface="DejaVu Sans"/>
                        </a:rPr>
                        <a:t>Heavy lorries</a:t>
                      </a:r>
                      <a:endParaRPr b="0" lang="en-US" sz="1050" spc="-1" strike="noStrike">
                        <a:solidFill>
                          <a:srgbClr val="000000"/>
                        </a:solidFill>
                        <a:latin typeface="Arial"/>
                      </a:endParaRPr>
                    </a:p>
                  </a:txBody>
                  <a:tcPr anchor="ctr" marL="28080" marR="28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2">
                        <a:tint val="40000"/>
                      </a:schemeClr>
                    </a:solidFill>
                  </a:tcPr>
                </a:tc>
                <a:tc>
                  <a:txBody>
                    <a:bodyPr lIns="28080" rIns="28080" tIns="28080" bIns="28080" anchor="ctr">
                      <a:noAutofit/>
                    </a:bodyPr>
                    <a:p>
                      <a:pPr algn="ctr" defTabSz="914400">
                        <a:lnSpc>
                          <a:spcPct val="120000"/>
                        </a:lnSpc>
                      </a:pPr>
                      <a:r>
                        <a:rPr b="1" lang="en-GB" sz="1050" spc="-1" strike="noStrike">
                          <a:solidFill>
                            <a:schemeClr val="dk1"/>
                          </a:solidFill>
                          <a:latin typeface="Arial"/>
                          <a:ea typeface="DejaVu Sans"/>
                        </a:rPr>
                        <a:t>Heavy buses</a:t>
                      </a:r>
                      <a:endParaRPr b="0" lang="en-US" sz="1050" spc="-1" strike="noStrike">
                        <a:solidFill>
                          <a:srgbClr val="000000"/>
                        </a:solidFill>
                        <a:latin typeface="Arial"/>
                      </a:endParaRPr>
                    </a:p>
                  </a:txBody>
                  <a:tcPr anchor="ctr" marL="28080" marR="28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2">
                        <a:tint val="40000"/>
                      </a:schemeClr>
                    </a:solidFill>
                  </a:tcPr>
                </a:tc>
                <a:tc>
                  <a:txBody>
                    <a:bodyPr lIns="28080" rIns="28080" tIns="28080" bIns="28080" anchor="ctr">
                      <a:noAutofit/>
                    </a:bodyPr>
                    <a:p>
                      <a:pPr algn="ctr" defTabSz="914400">
                        <a:lnSpc>
                          <a:spcPct val="120000"/>
                        </a:lnSpc>
                      </a:pPr>
                      <a:r>
                        <a:rPr b="1" lang="en-GB" sz="1050" spc="-1" strike="noStrike">
                          <a:solidFill>
                            <a:schemeClr val="dk1"/>
                          </a:solidFill>
                          <a:latin typeface="Arial"/>
                          <a:ea typeface="DejaVu Sans"/>
                        </a:rPr>
                        <a:t>Medium lorries</a:t>
                      </a:r>
                      <a:endParaRPr b="0" lang="en-US" sz="1050" spc="-1" strike="noStrike">
                        <a:solidFill>
                          <a:srgbClr val="000000"/>
                        </a:solidFill>
                        <a:latin typeface="Arial"/>
                      </a:endParaRPr>
                    </a:p>
                  </a:txBody>
                  <a:tcPr anchor="ctr" marL="28080" marR="28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2">
                        <a:tint val="40000"/>
                      </a:schemeClr>
                    </a:solidFill>
                  </a:tcPr>
                </a:tc>
                <a:tc v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r>
              <a:tr h="483120">
                <a:tc>
                  <a:txBody>
                    <a:bodyPr lIns="28080" rIns="28080" tIns="28080" bIns="28080" anchor="ctr">
                      <a:noAutofit/>
                    </a:bodyPr>
                    <a:p>
                      <a:pPr defTabSz="914400">
                        <a:lnSpc>
                          <a:spcPct val="120000"/>
                        </a:lnSpc>
                      </a:pPr>
                      <a:r>
                        <a:rPr b="1" lang="en-GB" sz="1200" spc="-1" strike="noStrike">
                          <a:solidFill>
                            <a:schemeClr val="lt1"/>
                          </a:solidFill>
                          <a:latin typeface="Times New Roman"/>
                          <a:ea typeface="DejaVu Sans"/>
                        </a:rPr>
                        <a:t>Overhead pantograph</a:t>
                      </a:r>
                      <a:endParaRPr b="0" lang="en-US" sz="1200" spc="-1" strike="noStrike">
                        <a:solidFill>
                          <a:srgbClr val="000000"/>
                        </a:solidFill>
                        <a:latin typeface="Arial"/>
                      </a:endParaRPr>
                    </a:p>
                  </a:txBody>
                  <a:tcPr anchor="ctr" marL="28080" marR="28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2"/>
                    </a:solidFill>
                  </a:tcPr>
                </a:tc>
                <a:tc>
                  <a:txBody>
                    <a:bodyPr lIns="28080" rIns="28080" tIns="28080" bIns="28080" anchor="ctr">
                      <a:noAutofit/>
                    </a:bodyPr>
                    <a:p>
                      <a:pPr algn="ctr" defTabSz="914400">
                        <a:lnSpc>
                          <a:spcPct val="120000"/>
                        </a:lnSpc>
                      </a:pPr>
                      <a:r>
                        <a:rPr b="0" lang="en-GB" sz="1050" spc="-1" strike="noStrike">
                          <a:solidFill>
                            <a:schemeClr val="dk1"/>
                          </a:solidFill>
                          <a:latin typeface="Arial"/>
                          <a:ea typeface="DejaVu Sans"/>
                        </a:rPr>
                        <a:t>Yes</a:t>
                      </a:r>
                      <a:endParaRPr b="0" lang="en-US" sz="1050" spc="-1" strike="noStrike">
                        <a:solidFill>
                          <a:srgbClr val="000000"/>
                        </a:solidFill>
                        <a:latin typeface="Arial"/>
                      </a:endParaRPr>
                    </a:p>
                  </a:txBody>
                  <a:tcPr anchor="ctr" marL="28080" marR="28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2">
                        <a:tint val="20000"/>
                      </a:schemeClr>
                    </a:solidFill>
                  </a:tcPr>
                </a:tc>
                <a:tc>
                  <a:txBody>
                    <a:bodyPr lIns="28080" rIns="28080" tIns="28080" bIns="28080" anchor="ctr">
                      <a:noAutofit/>
                    </a:bodyPr>
                    <a:p>
                      <a:pPr algn="ctr" defTabSz="914400">
                        <a:lnSpc>
                          <a:spcPct val="120000"/>
                        </a:lnSpc>
                      </a:pPr>
                      <a:r>
                        <a:rPr b="0" lang="en-GB" sz="1050" spc="-1" strike="noStrike">
                          <a:solidFill>
                            <a:schemeClr val="dk1"/>
                          </a:solidFill>
                          <a:latin typeface="Arial"/>
                          <a:ea typeface="DejaVu Sans"/>
                        </a:rPr>
                        <a:t>Yes</a:t>
                      </a:r>
                      <a:endParaRPr b="0" lang="en-US" sz="1050" spc="-1" strike="noStrike">
                        <a:solidFill>
                          <a:srgbClr val="000000"/>
                        </a:solidFill>
                        <a:latin typeface="Arial"/>
                      </a:endParaRPr>
                    </a:p>
                  </a:txBody>
                  <a:tcPr anchor="ctr" marL="28080" marR="28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2">
                        <a:tint val="20000"/>
                      </a:schemeClr>
                    </a:solidFill>
                  </a:tcPr>
                </a:tc>
                <a:tc>
                  <a:txBody>
                    <a:bodyPr lIns="28080" rIns="28080" tIns="28080" bIns="28080" anchor="ctr">
                      <a:noAutofit/>
                    </a:bodyPr>
                    <a:p>
                      <a:pPr algn="ctr" defTabSz="914400">
                        <a:lnSpc>
                          <a:spcPct val="120000"/>
                        </a:lnSpc>
                      </a:pPr>
                      <a:r>
                        <a:rPr b="0" lang="en-GB" sz="1050" spc="-1" strike="noStrike">
                          <a:solidFill>
                            <a:schemeClr val="dk1"/>
                          </a:solidFill>
                          <a:latin typeface="Arial"/>
                          <a:ea typeface="DejaVu Sans"/>
                        </a:rPr>
                        <a:t>No</a:t>
                      </a:r>
                      <a:endParaRPr b="0" lang="en-US" sz="1050" spc="-1" strike="noStrike">
                        <a:solidFill>
                          <a:srgbClr val="000000"/>
                        </a:solidFill>
                        <a:latin typeface="Arial"/>
                      </a:endParaRPr>
                    </a:p>
                  </a:txBody>
                  <a:tcPr anchor="ctr" marL="28080" marR="28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2">
                        <a:tint val="20000"/>
                      </a:schemeClr>
                    </a:solidFill>
                  </a:tcPr>
                </a:tc>
                <a:tc>
                  <a:txBody>
                    <a:bodyPr lIns="28080" rIns="28080" tIns="28080" bIns="28080" anchor="ctr">
                      <a:noAutofit/>
                    </a:bodyPr>
                    <a:p>
                      <a:pPr defTabSz="914400">
                        <a:lnSpc>
                          <a:spcPct val="120000"/>
                        </a:lnSpc>
                      </a:pPr>
                      <a:r>
                        <a:rPr b="0" lang="en-GB" sz="1050" spc="-1" strike="noStrike">
                          <a:solidFill>
                            <a:srgbClr val="7030a0"/>
                          </a:solidFill>
                          <a:latin typeface="Times New Roman"/>
                          <a:ea typeface="DejaVu Sans"/>
                        </a:rPr>
                        <a:t>Vehicle equipped with overhead pantograph for connection with overhead catenary infrastructure as regulated by </a:t>
                      </a:r>
                      <a:r>
                        <a:rPr b="0" i="1" lang="en-GB" sz="1050" spc="-1" strike="noStrike">
                          <a:solidFill>
                            <a:srgbClr val="7030a0"/>
                          </a:solidFill>
                          <a:latin typeface="Times New Roman"/>
                          <a:ea typeface="DejaVu Sans"/>
                        </a:rPr>
                        <a:t>standard tbd</a:t>
                      </a:r>
                      <a:endParaRPr b="0" lang="en-US" sz="1050" spc="-1" strike="noStrike">
                        <a:solidFill>
                          <a:srgbClr val="000000"/>
                        </a:solidFill>
                        <a:latin typeface="Arial"/>
                      </a:endParaRPr>
                    </a:p>
                    <a:p>
                      <a:pPr defTabSz="914400">
                        <a:lnSpc>
                          <a:spcPct val="120000"/>
                        </a:lnSpc>
                      </a:pPr>
                      <a:r>
                        <a:rPr b="0" lang="en-GB" sz="1050" spc="-1" strike="noStrike">
                          <a:solidFill>
                            <a:srgbClr val="7030a0"/>
                          </a:solidFill>
                          <a:latin typeface="Times New Roman"/>
                          <a:ea typeface="DejaVu Sans"/>
                        </a:rPr>
                        <a:t>and which is not overhead trolley.</a:t>
                      </a:r>
                      <a:endParaRPr b="0" lang="en-US" sz="1050" spc="-1" strike="noStrike">
                        <a:solidFill>
                          <a:srgbClr val="000000"/>
                        </a:solidFill>
                        <a:latin typeface="Arial"/>
                      </a:endParaRPr>
                    </a:p>
                  </a:txBody>
                  <a:tcPr anchor="ctr" marL="28080" marR="28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2">
                        <a:tint val="20000"/>
                      </a:schemeClr>
                    </a:solidFill>
                  </a:tcPr>
                </a:tc>
              </a:tr>
              <a:tr h="336240">
                <a:tc>
                  <a:txBody>
                    <a:bodyPr lIns="28080" rIns="28080" tIns="28080" bIns="28080" anchor="ctr">
                      <a:noAutofit/>
                    </a:bodyPr>
                    <a:p>
                      <a:pPr defTabSz="914400">
                        <a:lnSpc>
                          <a:spcPct val="120000"/>
                        </a:lnSpc>
                      </a:pPr>
                      <a:r>
                        <a:rPr b="1" lang="en-GB" sz="1200" spc="-1" strike="noStrike">
                          <a:solidFill>
                            <a:schemeClr val="lt1"/>
                          </a:solidFill>
                          <a:latin typeface="Times New Roman"/>
                          <a:ea typeface="DejaVu Sans"/>
                        </a:rPr>
                        <a:t>Overhead trolley</a:t>
                      </a:r>
                      <a:endParaRPr b="0" lang="en-US" sz="1200" spc="-1" strike="noStrike">
                        <a:solidFill>
                          <a:srgbClr val="000000"/>
                        </a:solidFill>
                        <a:latin typeface="Arial"/>
                      </a:endParaRPr>
                    </a:p>
                  </a:txBody>
                  <a:tcPr anchor="ctr" marL="28080" marR="28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2"/>
                    </a:solidFill>
                  </a:tcPr>
                </a:tc>
                <a:tc>
                  <a:txBody>
                    <a:bodyPr lIns="28080" rIns="28080" tIns="28080" bIns="28080" anchor="ctr">
                      <a:noAutofit/>
                    </a:bodyPr>
                    <a:p>
                      <a:pPr algn="ctr" defTabSz="914400">
                        <a:lnSpc>
                          <a:spcPct val="120000"/>
                        </a:lnSpc>
                      </a:pPr>
                      <a:r>
                        <a:rPr b="0" lang="en-GB" sz="1050" spc="-1" strike="noStrike">
                          <a:solidFill>
                            <a:schemeClr val="dk1"/>
                          </a:solidFill>
                          <a:latin typeface="Arial"/>
                          <a:ea typeface="DejaVu Sans"/>
                        </a:rPr>
                        <a:t>No</a:t>
                      </a:r>
                      <a:endParaRPr b="0" lang="en-US" sz="1050" spc="-1" strike="noStrike">
                        <a:solidFill>
                          <a:srgbClr val="000000"/>
                        </a:solidFill>
                        <a:latin typeface="Arial"/>
                      </a:endParaRPr>
                    </a:p>
                  </a:txBody>
                  <a:tcPr anchor="ctr" marL="28080" marR="28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2">
                        <a:tint val="40000"/>
                      </a:schemeClr>
                    </a:solidFill>
                  </a:tcPr>
                </a:tc>
                <a:tc>
                  <a:txBody>
                    <a:bodyPr lIns="28080" rIns="28080" tIns="28080" bIns="28080" anchor="ctr">
                      <a:noAutofit/>
                    </a:bodyPr>
                    <a:p>
                      <a:pPr algn="ctr" defTabSz="914400">
                        <a:lnSpc>
                          <a:spcPct val="120000"/>
                        </a:lnSpc>
                      </a:pPr>
                      <a:r>
                        <a:rPr b="0" lang="en-GB" sz="1050" spc="-1" strike="noStrike">
                          <a:solidFill>
                            <a:schemeClr val="dk1"/>
                          </a:solidFill>
                          <a:latin typeface="Arial"/>
                          <a:ea typeface="DejaVu Sans"/>
                        </a:rPr>
                        <a:t>Yes</a:t>
                      </a:r>
                      <a:endParaRPr b="0" lang="en-US" sz="1050" spc="-1" strike="noStrike">
                        <a:solidFill>
                          <a:srgbClr val="000000"/>
                        </a:solidFill>
                        <a:latin typeface="Arial"/>
                      </a:endParaRPr>
                    </a:p>
                  </a:txBody>
                  <a:tcPr anchor="ctr" marL="28080" marR="28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2">
                        <a:tint val="40000"/>
                      </a:schemeClr>
                    </a:solidFill>
                  </a:tcPr>
                </a:tc>
                <a:tc>
                  <a:txBody>
                    <a:bodyPr lIns="28080" rIns="28080" tIns="28080" bIns="28080" anchor="ctr">
                      <a:noAutofit/>
                    </a:bodyPr>
                    <a:p>
                      <a:pPr algn="ctr" defTabSz="914400">
                        <a:lnSpc>
                          <a:spcPct val="120000"/>
                        </a:lnSpc>
                      </a:pPr>
                      <a:r>
                        <a:rPr b="0" lang="en-GB" sz="1050" spc="-1" strike="noStrike">
                          <a:solidFill>
                            <a:schemeClr val="dk1"/>
                          </a:solidFill>
                          <a:latin typeface="Arial"/>
                          <a:ea typeface="DejaVu Sans"/>
                        </a:rPr>
                        <a:t>No</a:t>
                      </a:r>
                      <a:endParaRPr b="0" lang="en-US" sz="1050" spc="-1" strike="noStrike">
                        <a:solidFill>
                          <a:srgbClr val="000000"/>
                        </a:solidFill>
                        <a:latin typeface="Arial"/>
                      </a:endParaRPr>
                    </a:p>
                  </a:txBody>
                  <a:tcPr anchor="ctr" marL="28080" marR="28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2">
                        <a:tint val="40000"/>
                      </a:schemeClr>
                    </a:solidFill>
                  </a:tcPr>
                </a:tc>
                <a:tc>
                  <a:txBody>
                    <a:bodyPr lIns="28080" rIns="28080" tIns="28080" bIns="28080" anchor="t">
                      <a:noAutofit/>
                    </a:bodyPr>
                    <a:p>
                      <a:pPr defTabSz="914400">
                        <a:lnSpc>
                          <a:spcPct val="120000"/>
                        </a:lnSpc>
                      </a:pPr>
                      <a:r>
                        <a:rPr b="0" lang="en-GB" sz="1050" spc="-1" strike="noStrike">
                          <a:solidFill>
                            <a:srgbClr val="7030a0"/>
                          </a:solidFill>
                          <a:latin typeface="Times New Roman"/>
                          <a:ea typeface="DejaVu Sans"/>
                        </a:rPr>
                        <a:t>Vehicle equipped with poles for connection with overhead catenary infrastructure as regulated in Annex 12 to UN Regulation 107 revision 8. </a:t>
                      </a:r>
                      <a:endParaRPr b="0" lang="en-US" sz="1050" spc="-1" strike="noStrike">
                        <a:solidFill>
                          <a:srgbClr val="000000"/>
                        </a:solidFill>
                        <a:latin typeface="Arial"/>
                      </a:endParaRPr>
                    </a:p>
                  </a:txBody>
                  <a:tcPr anchor="t" marL="28080" marR="28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2">
                        <a:tint val="40000"/>
                      </a:schemeClr>
                    </a:solidFill>
                  </a:tcPr>
                </a:tc>
              </a:tr>
              <a:tr h="336240">
                <a:tc>
                  <a:txBody>
                    <a:bodyPr lIns="28080" rIns="28080" tIns="28080" bIns="28080" anchor="ctr">
                      <a:noAutofit/>
                    </a:bodyPr>
                    <a:p>
                      <a:pPr defTabSz="914400">
                        <a:lnSpc>
                          <a:spcPct val="120000"/>
                        </a:lnSpc>
                      </a:pPr>
                      <a:r>
                        <a:rPr b="1" lang="en-GB" sz="1200" spc="-1" strike="noStrike">
                          <a:solidFill>
                            <a:schemeClr val="lt1"/>
                          </a:solidFill>
                          <a:latin typeface="Times New Roman"/>
                          <a:ea typeface="DejaVu Sans"/>
                        </a:rPr>
                        <a:t>Ground-rail</a:t>
                      </a:r>
                      <a:endParaRPr b="0" lang="en-US" sz="1200" spc="-1" strike="noStrike">
                        <a:solidFill>
                          <a:srgbClr val="000000"/>
                        </a:solidFill>
                        <a:latin typeface="Arial"/>
                      </a:endParaRPr>
                    </a:p>
                  </a:txBody>
                  <a:tcPr anchor="ctr" marL="28080" marR="28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2"/>
                    </a:solidFill>
                  </a:tcPr>
                </a:tc>
                <a:tc>
                  <a:txBody>
                    <a:bodyPr lIns="28080" rIns="28080" tIns="28080" bIns="28080" anchor="ctr">
                      <a:noAutofit/>
                    </a:bodyPr>
                    <a:p>
                      <a:pPr algn="ctr" defTabSz="914400">
                        <a:lnSpc>
                          <a:spcPct val="120000"/>
                        </a:lnSpc>
                      </a:pPr>
                      <a:r>
                        <a:rPr b="0" lang="en-GB" sz="1050" spc="-1" strike="noStrike">
                          <a:solidFill>
                            <a:schemeClr val="dk1"/>
                          </a:solidFill>
                          <a:latin typeface="Arial"/>
                          <a:ea typeface="DejaVu Sans"/>
                        </a:rPr>
                        <a:t>Yes</a:t>
                      </a:r>
                      <a:r>
                        <a:rPr b="0" lang="en-GB" sz="1050" spc="-1" strike="noStrike" baseline="30000">
                          <a:solidFill>
                            <a:schemeClr val="dk1"/>
                          </a:solidFill>
                          <a:latin typeface="Arial"/>
                          <a:ea typeface="DejaVu Sans"/>
                        </a:rPr>
                        <a:t>1</a:t>
                      </a:r>
                      <a:endParaRPr b="0" lang="en-US" sz="1050" spc="-1" strike="noStrike">
                        <a:solidFill>
                          <a:srgbClr val="000000"/>
                        </a:solidFill>
                        <a:latin typeface="Arial"/>
                      </a:endParaRPr>
                    </a:p>
                  </a:txBody>
                  <a:tcPr anchor="ctr" marL="28080" marR="28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2">
                        <a:tint val="20000"/>
                      </a:schemeClr>
                    </a:solidFill>
                  </a:tcPr>
                </a:tc>
                <a:tc>
                  <a:txBody>
                    <a:bodyPr lIns="28080" rIns="28080" tIns="28080" bIns="28080" anchor="ctr">
                      <a:noAutofit/>
                    </a:bodyPr>
                    <a:p>
                      <a:pPr algn="ctr" defTabSz="914400">
                        <a:lnSpc>
                          <a:spcPct val="120000"/>
                        </a:lnSpc>
                      </a:pPr>
                      <a:r>
                        <a:rPr b="0" lang="en-GB" sz="1050" spc="-1" strike="noStrike">
                          <a:solidFill>
                            <a:schemeClr val="dk1"/>
                          </a:solidFill>
                          <a:latin typeface="Arial"/>
                          <a:ea typeface="DejaVu Sans"/>
                        </a:rPr>
                        <a:t>Yes</a:t>
                      </a:r>
                      <a:r>
                        <a:rPr b="0" lang="en-GB" sz="1050" spc="-1" strike="noStrike" baseline="30000">
                          <a:solidFill>
                            <a:schemeClr val="dk1"/>
                          </a:solidFill>
                          <a:latin typeface="Arial"/>
                          <a:ea typeface="DejaVu Sans"/>
                        </a:rPr>
                        <a:t>1</a:t>
                      </a:r>
                      <a:endParaRPr b="0" lang="en-US" sz="1050" spc="-1" strike="noStrike">
                        <a:solidFill>
                          <a:srgbClr val="000000"/>
                        </a:solidFill>
                        <a:latin typeface="Arial"/>
                      </a:endParaRPr>
                    </a:p>
                  </a:txBody>
                  <a:tcPr anchor="ctr" marL="28080" marR="28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2">
                        <a:tint val="20000"/>
                      </a:schemeClr>
                    </a:solidFill>
                  </a:tcPr>
                </a:tc>
                <a:tc>
                  <a:txBody>
                    <a:bodyPr lIns="28080" rIns="28080" tIns="28080" bIns="28080" anchor="ctr">
                      <a:noAutofit/>
                    </a:bodyPr>
                    <a:p>
                      <a:pPr algn="ctr" defTabSz="914400">
                        <a:lnSpc>
                          <a:spcPct val="120000"/>
                        </a:lnSpc>
                      </a:pPr>
                      <a:r>
                        <a:rPr b="0" lang="en-GB" sz="1050" spc="-1" strike="noStrike">
                          <a:solidFill>
                            <a:schemeClr val="dk1"/>
                          </a:solidFill>
                          <a:latin typeface="Arial"/>
                          <a:ea typeface="DejaVu Sans"/>
                        </a:rPr>
                        <a:t>Yes</a:t>
                      </a:r>
                      <a:r>
                        <a:rPr b="0" lang="en-GB" sz="1050" spc="-1" strike="noStrike" baseline="30000">
                          <a:solidFill>
                            <a:schemeClr val="dk1"/>
                          </a:solidFill>
                          <a:latin typeface="Arial"/>
                          <a:ea typeface="DejaVu Sans"/>
                        </a:rPr>
                        <a:t>1</a:t>
                      </a:r>
                      <a:endParaRPr b="0" lang="en-US" sz="1050" spc="-1" strike="noStrike">
                        <a:solidFill>
                          <a:srgbClr val="000000"/>
                        </a:solidFill>
                        <a:latin typeface="Arial"/>
                      </a:endParaRPr>
                    </a:p>
                  </a:txBody>
                  <a:tcPr anchor="ctr" marL="28080" marR="28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2">
                        <a:tint val="20000"/>
                      </a:schemeClr>
                    </a:solidFill>
                  </a:tcPr>
                </a:tc>
                <a:tc>
                  <a:txBody>
                    <a:bodyPr lIns="28080" rIns="28080" tIns="28080" bIns="28080" anchor="t">
                      <a:noAutofit/>
                    </a:bodyPr>
                    <a:p>
                      <a:pPr defTabSz="914400">
                        <a:lnSpc>
                          <a:spcPct val="120000"/>
                        </a:lnSpc>
                      </a:pPr>
                      <a:r>
                        <a:rPr b="0" lang="en-GB" sz="1050" spc="-1" strike="noStrike">
                          <a:solidFill>
                            <a:srgbClr val="7030a0"/>
                          </a:solidFill>
                          <a:latin typeface="Times New Roman"/>
                          <a:ea typeface="DejaVu Sans"/>
                        </a:rPr>
                        <a:t>Charging technology that conductively transfers the electrical energy to the vehicle through rails embedded in or on top of the road surface.</a:t>
                      </a:r>
                      <a:endParaRPr b="0" lang="en-US" sz="1050" spc="-1" strike="noStrike">
                        <a:solidFill>
                          <a:srgbClr val="000000"/>
                        </a:solidFill>
                        <a:latin typeface="Arial"/>
                      </a:endParaRPr>
                    </a:p>
                  </a:txBody>
                  <a:tcPr anchor="t" marL="28080" marR="28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2">
                        <a:tint val="20000"/>
                      </a:schemeClr>
                    </a:solidFill>
                  </a:tcPr>
                </a:tc>
              </a:tr>
              <a:tr h="483120">
                <a:tc>
                  <a:txBody>
                    <a:bodyPr lIns="28080" rIns="28080" tIns="28080" bIns="28080" anchor="ctr">
                      <a:noAutofit/>
                    </a:bodyPr>
                    <a:p>
                      <a:pPr defTabSz="914400">
                        <a:lnSpc>
                          <a:spcPct val="120000"/>
                        </a:lnSpc>
                      </a:pPr>
                      <a:r>
                        <a:rPr b="1" lang="en-GB" sz="1200" spc="-1" strike="noStrike">
                          <a:solidFill>
                            <a:schemeClr val="lt1"/>
                          </a:solidFill>
                          <a:latin typeface="Times New Roman"/>
                          <a:ea typeface="DejaVu Sans"/>
                        </a:rPr>
                        <a:t>Wireless</a:t>
                      </a:r>
                      <a:endParaRPr b="0" lang="en-US" sz="1200" spc="-1" strike="noStrike">
                        <a:solidFill>
                          <a:srgbClr val="000000"/>
                        </a:solidFill>
                        <a:latin typeface="Arial"/>
                      </a:endParaRPr>
                    </a:p>
                  </a:txBody>
                  <a:tcPr anchor="ctr" marL="28080" marR="28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2"/>
                    </a:solidFill>
                  </a:tcPr>
                </a:tc>
                <a:tc>
                  <a:txBody>
                    <a:bodyPr lIns="28080" rIns="28080" tIns="28080" bIns="28080" anchor="ctr">
                      <a:noAutofit/>
                    </a:bodyPr>
                    <a:p>
                      <a:pPr algn="ctr" defTabSz="914400">
                        <a:lnSpc>
                          <a:spcPct val="120000"/>
                        </a:lnSpc>
                      </a:pPr>
                      <a:r>
                        <a:rPr b="0" lang="en-GB" sz="1050" spc="-1" strike="noStrike">
                          <a:solidFill>
                            <a:schemeClr val="dk1"/>
                          </a:solidFill>
                          <a:latin typeface="Arial"/>
                          <a:ea typeface="DejaVu Sans"/>
                        </a:rPr>
                        <a:t>Yes</a:t>
                      </a:r>
                      <a:r>
                        <a:rPr b="0" lang="en-GB" sz="1050" spc="-1" strike="noStrike" baseline="30000">
                          <a:solidFill>
                            <a:schemeClr val="dk1"/>
                          </a:solidFill>
                          <a:latin typeface="Arial"/>
                          <a:ea typeface="DejaVu Sans"/>
                        </a:rPr>
                        <a:t>1</a:t>
                      </a:r>
                      <a:endParaRPr b="0" lang="en-US" sz="1050" spc="-1" strike="noStrike">
                        <a:solidFill>
                          <a:srgbClr val="000000"/>
                        </a:solidFill>
                        <a:latin typeface="Arial"/>
                      </a:endParaRPr>
                    </a:p>
                  </a:txBody>
                  <a:tcPr anchor="ctr" marL="28080" marR="28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2">
                        <a:tint val="40000"/>
                      </a:schemeClr>
                    </a:solidFill>
                  </a:tcPr>
                </a:tc>
                <a:tc>
                  <a:txBody>
                    <a:bodyPr lIns="28080" rIns="28080" tIns="28080" bIns="28080" anchor="ctr">
                      <a:noAutofit/>
                    </a:bodyPr>
                    <a:p>
                      <a:pPr algn="ctr" defTabSz="914400">
                        <a:lnSpc>
                          <a:spcPct val="120000"/>
                        </a:lnSpc>
                      </a:pPr>
                      <a:r>
                        <a:rPr b="0" lang="en-GB" sz="1050" spc="-1" strike="noStrike">
                          <a:solidFill>
                            <a:schemeClr val="dk1"/>
                          </a:solidFill>
                          <a:latin typeface="Arial"/>
                          <a:ea typeface="DejaVu Sans"/>
                        </a:rPr>
                        <a:t>Yes</a:t>
                      </a:r>
                      <a:r>
                        <a:rPr b="0" lang="en-GB" sz="1050" spc="-1" strike="noStrike" baseline="30000">
                          <a:solidFill>
                            <a:schemeClr val="dk1"/>
                          </a:solidFill>
                          <a:latin typeface="Arial"/>
                          <a:ea typeface="DejaVu Sans"/>
                        </a:rPr>
                        <a:t>1</a:t>
                      </a:r>
                      <a:endParaRPr b="0" lang="en-US" sz="1050" spc="-1" strike="noStrike">
                        <a:solidFill>
                          <a:srgbClr val="000000"/>
                        </a:solidFill>
                        <a:latin typeface="Arial"/>
                      </a:endParaRPr>
                    </a:p>
                  </a:txBody>
                  <a:tcPr anchor="ctr" marL="28080" marR="28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2">
                        <a:tint val="40000"/>
                      </a:schemeClr>
                    </a:solidFill>
                  </a:tcPr>
                </a:tc>
                <a:tc>
                  <a:txBody>
                    <a:bodyPr lIns="28080" rIns="28080" tIns="28080" bIns="28080" anchor="ctr">
                      <a:noAutofit/>
                    </a:bodyPr>
                    <a:p>
                      <a:pPr algn="ctr" defTabSz="914400">
                        <a:lnSpc>
                          <a:spcPct val="120000"/>
                        </a:lnSpc>
                      </a:pPr>
                      <a:r>
                        <a:rPr b="0" lang="en-GB" sz="1050" spc="-1" strike="noStrike">
                          <a:solidFill>
                            <a:schemeClr val="dk1"/>
                          </a:solidFill>
                          <a:latin typeface="Arial"/>
                          <a:ea typeface="DejaVu Sans"/>
                        </a:rPr>
                        <a:t>Yes</a:t>
                      </a:r>
                      <a:r>
                        <a:rPr b="0" lang="en-GB" sz="1050" spc="-1" strike="noStrike" baseline="30000">
                          <a:solidFill>
                            <a:schemeClr val="dk1"/>
                          </a:solidFill>
                          <a:latin typeface="Arial"/>
                          <a:ea typeface="DejaVu Sans"/>
                        </a:rPr>
                        <a:t>1</a:t>
                      </a:r>
                      <a:endParaRPr b="0" lang="en-US" sz="1050" spc="-1" strike="noStrike">
                        <a:solidFill>
                          <a:srgbClr val="000000"/>
                        </a:solidFill>
                        <a:latin typeface="Arial"/>
                      </a:endParaRPr>
                    </a:p>
                  </a:txBody>
                  <a:tcPr anchor="ctr" marL="28080" marR="28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2">
                        <a:tint val="40000"/>
                      </a:schemeClr>
                    </a:solidFill>
                  </a:tcPr>
                </a:tc>
                <a:tc>
                  <a:txBody>
                    <a:bodyPr lIns="28080" rIns="28080" tIns="28080" bIns="28080" anchor="t">
                      <a:noAutofit/>
                    </a:bodyPr>
                    <a:p>
                      <a:pPr defTabSz="914400">
                        <a:lnSpc>
                          <a:spcPct val="120000"/>
                        </a:lnSpc>
                      </a:pPr>
                      <a:r>
                        <a:rPr b="0" lang="en-GB" sz="1050" spc="-1" strike="noStrike">
                          <a:solidFill>
                            <a:srgbClr val="7030a0"/>
                          </a:solidFill>
                          <a:latin typeface="Times New Roman"/>
                          <a:ea typeface="DejaVu Sans"/>
                        </a:rPr>
                        <a:t>Charging technology that inductively transfers the electrical energy to the vehicle through devices embedded in or on top of the road surface providing magnetic fields as they are specified IEC 61980.</a:t>
                      </a:r>
                      <a:endParaRPr b="0" lang="en-US" sz="1050" spc="-1" strike="noStrike">
                        <a:solidFill>
                          <a:srgbClr val="000000"/>
                        </a:solidFill>
                        <a:latin typeface="Arial"/>
                      </a:endParaRPr>
                    </a:p>
                  </a:txBody>
                  <a:tcPr anchor="t" marL="28080" marR="28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2">
                        <a:tint val="40000"/>
                      </a:schemeClr>
                    </a:solidFill>
                  </a:tcPr>
                </a:tc>
              </a:tr>
            </a:tbl>
          </a:graphicData>
        </a:graphic>
      </p:graphicFrame>
      <p:sp>
        <p:nvSpPr>
          <p:cNvPr id="243" name="Rechteck 1"/>
          <p:cNvSpPr/>
          <p:nvPr/>
        </p:nvSpPr>
        <p:spPr>
          <a:xfrm>
            <a:off x="897120" y="5541840"/>
            <a:ext cx="2565360" cy="394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GB" sz="1000" spc="-1" strike="noStrike" baseline="30000">
                <a:solidFill>
                  <a:schemeClr val="dk1"/>
                </a:solidFill>
                <a:latin typeface="Arial"/>
                <a:ea typeface="Times New Roman"/>
              </a:rPr>
              <a:t>1 </a:t>
            </a:r>
            <a:r>
              <a:rPr b="0" lang="en-GB" sz="1000" spc="-1" strike="noStrike">
                <a:solidFill>
                  <a:schemeClr val="dk1"/>
                </a:solidFill>
                <a:latin typeface="Arial"/>
                <a:ea typeface="Times New Roman"/>
              </a:rPr>
              <a:t>Only Potential niche applications are conceivable. </a:t>
            </a:r>
            <a:endParaRPr b="0" lang="en-US" sz="1000" spc="-1" strike="noStrike">
              <a:solidFill>
                <a:srgbClr val="000000"/>
              </a:solidFill>
              <a:latin typeface="Arial"/>
            </a:endParaRPr>
          </a:p>
        </p:txBody>
      </p:sp>
      <p:sp>
        <p:nvSpPr>
          <p:cNvPr id="4" name="PlaceHolder 3"/>
          <p:cNvSpPr>
            <a:spLocks noGrp="1"/>
          </p:cNvSpPr>
          <p:nvPr>
            <p:ph type="sldNum" idx="2"/>
          </p:nvPr>
        </p:nvSpPr>
        <p:spPr/>
        <p:txBody>
          <a:bodyPr/>
          <a:p>
            <a:fld id="{BC6F6A72-7216-463B-8CB9-EADF12DA1DD3}" type="slidenum">
              <a:t>32</a:t>
            </a:fld>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p:nvPr>
        </p:nvSpPr>
        <p:spPr>
          <a:xfrm>
            <a:off x="585360" y="2146320"/>
            <a:ext cx="8228880" cy="3976920"/>
          </a:xfrm>
          <a:prstGeom prst="rect">
            <a:avLst/>
          </a:prstGeom>
          <a:noFill/>
          <a:ln w="0">
            <a:noFill/>
          </a:ln>
        </p:spPr>
        <p:txBody>
          <a:bodyPr lIns="0" rIns="0" tIns="0" bIns="0" anchor="t">
            <a:noAutofit/>
          </a:bodyPr>
          <a:p>
            <a:pPr marL="228600" indent="-228600" defTabSz="914400">
              <a:lnSpc>
                <a:spcPct val="90000"/>
              </a:lnSpc>
              <a:spcBef>
                <a:spcPts val="1199"/>
              </a:spcBef>
              <a:buClr>
                <a:srgbClr val="000000"/>
              </a:buClr>
              <a:buFont typeface="Arial"/>
              <a:buChar char="•"/>
            </a:pPr>
            <a:r>
              <a:rPr b="0" lang="en-US" sz="1800" spc="-1" strike="noStrike">
                <a:solidFill>
                  <a:schemeClr val="dk1"/>
                </a:solidFill>
                <a:latin typeface="Arial"/>
                <a:ea typeface="DejaVu Sans"/>
              </a:rPr>
              <a:t>Modelling in VECTO – Proposal for IMC infrastructure availability</a:t>
            </a:r>
            <a:endParaRPr b="0" lang="de-DE" sz="1800" spc="-1" strike="noStrike">
              <a:solidFill>
                <a:schemeClr val="dk1"/>
              </a:solidFill>
              <a:latin typeface="Arial"/>
            </a:endParaRPr>
          </a:p>
        </p:txBody>
      </p:sp>
      <p:sp>
        <p:nvSpPr>
          <p:cNvPr id="245" name="PlaceHolder 2"/>
          <p:cNvSpPr>
            <a:spLocks noGrp="1"/>
          </p:cNvSpPr>
          <p:nvPr>
            <p:ph type="title"/>
          </p:nvPr>
        </p:nvSpPr>
        <p:spPr>
          <a:xfrm>
            <a:off x="585360" y="850320"/>
            <a:ext cx="8228880" cy="1144440"/>
          </a:xfrm>
          <a:prstGeom prst="rect">
            <a:avLst/>
          </a:prstGeom>
          <a:noFill/>
          <a:ln w="0">
            <a:noFill/>
          </a:ln>
        </p:spPr>
        <p:txBody>
          <a:bodyPr lIns="0" rIns="0" tIns="0" bIns="0" anchor="ctr">
            <a:noAutofit/>
          </a:bodyPr>
          <a:p>
            <a:pPr indent="0" defTabSz="914400">
              <a:lnSpc>
                <a:spcPct val="90000"/>
              </a:lnSpc>
              <a:buNone/>
            </a:pPr>
            <a:r>
              <a:rPr b="1" lang="en-GB" sz="2400" spc="-1" strike="noStrike">
                <a:solidFill>
                  <a:srgbClr val="990000"/>
                </a:solidFill>
                <a:latin typeface="Arial"/>
                <a:ea typeface="DejaVu Sans"/>
              </a:rPr>
              <a:t>Vehicles with In-Motion Charging (IMC) features (6/11)</a:t>
            </a:r>
            <a:endParaRPr b="0" lang="de-DE" sz="2400" spc="-1" strike="noStrike">
              <a:solidFill>
                <a:schemeClr val="dk1"/>
              </a:solidFill>
              <a:latin typeface="Arial"/>
            </a:endParaRPr>
          </a:p>
        </p:txBody>
      </p:sp>
      <p:pic>
        <p:nvPicPr>
          <p:cNvPr id="246" name="Grafik 1" descr=""/>
          <p:cNvPicPr/>
          <p:nvPr/>
        </p:nvPicPr>
        <p:blipFill>
          <a:blip r:embed="rId1"/>
          <a:stretch/>
        </p:blipFill>
        <p:spPr>
          <a:xfrm>
            <a:off x="853920" y="2678760"/>
            <a:ext cx="3893040" cy="2916720"/>
          </a:xfrm>
          <a:prstGeom prst="rect">
            <a:avLst/>
          </a:prstGeom>
          <a:ln w="0">
            <a:noFill/>
          </a:ln>
        </p:spPr>
      </p:pic>
      <p:pic>
        <p:nvPicPr>
          <p:cNvPr id="247" name="Grafik 6" descr=""/>
          <p:cNvPicPr/>
          <p:nvPr/>
        </p:nvPicPr>
        <p:blipFill>
          <a:blip r:embed="rId2"/>
          <a:stretch/>
        </p:blipFill>
        <p:spPr>
          <a:xfrm>
            <a:off x="4864320" y="2678760"/>
            <a:ext cx="3888000" cy="2916720"/>
          </a:xfrm>
          <a:prstGeom prst="rect">
            <a:avLst/>
          </a:prstGeom>
          <a:ln w="0">
            <a:noFill/>
          </a:ln>
        </p:spPr>
      </p:pic>
      <p:sp>
        <p:nvSpPr>
          <p:cNvPr id="248" name="Textfeld 8"/>
          <p:cNvSpPr/>
          <p:nvPr/>
        </p:nvSpPr>
        <p:spPr>
          <a:xfrm>
            <a:off x="1670040" y="2450160"/>
            <a:ext cx="2260800" cy="2725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GB" sz="1200" spc="-1" strike="noStrike">
                <a:solidFill>
                  <a:schemeClr val="dk1"/>
                </a:solidFill>
                <a:latin typeface="Arial"/>
                <a:ea typeface="DejaVu Sans"/>
              </a:rPr>
              <a:t>Overhead - Pantograph</a:t>
            </a:r>
            <a:endParaRPr b="0" lang="en-US" sz="1200" spc="-1" strike="noStrike">
              <a:solidFill>
                <a:srgbClr val="000000"/>
              </a:solidFill>
              <a:latin typeface="Arial"/>
            </a:endParaRPr>
          </a:p>
        </p:txBody>
      </p:sp>
      <p:sp>
        <p:nvSpPr>
          <p:cNvPr id="249" name="Textfeld 9"/>
          <p:cNvSpPr/>
          <p:nvPr/>
        </p:nvSpPr>
        <p:spPr>
          <a:xfrm>
            <a:off x="5683680" y="2446560"/>
            <a:ext cx="2260800" cy="2725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GB" sz="1200" spc="-1" strike="noStrike">
                <a:solidFill>
                  <a:schemeClr val="dk1"/>
                </a:solidFill>
                <a:latin typeface="Arial"/>
                <a:ea typeface="DejaVu Sans"/>
              </a:rPr>
              <a:t>Overhead - Trolley</a:t>
            </a:r>
            <a:endParaRPr b="0" lang="en-US" sz="1200" spc="-1" strike="noStrike">
              <a:solidFill>
                <a:srgbClr val="000000"/>
              </a:solidFill>
              <a:latin typeface="Arial"/>
            </a:endParaRPr>
          </a:p>
        </p:txBody>
      </p:sp>
      <p:sp>
        <p:nvSpPr>
          <p:cNvPr id="4" name="PlaceHolder 3"/>
          <p:cNvSpPr>
            <a:spLocks noGrp="1"/>
          </p:cNvSpPr>
          <p:nvPr>
            <p:ph type="sldNum" idx="2"/>
          </p:nvPr>
        </p:nvSpPr>
        <p:spPr/>
        <p:txBody>
          <a:bodyPr/>
          <a:p>
            <a:fld id="{8BA50B56-DEF5-4AFD-9053-14A42202ADA4}" type="slidenum">
              <a:t>33</a:t>
            </a:fld>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PlaceHolder 1"/>
          <p:cNvSpPr>
            <a:spLocks noGrp="1"/>
          </p:cNvSpPr>
          <p:nvPr>
            <p:ph/>
          </p:nvPr>
        </p:nvSpPr>
        <p:spPr>
          <a:xfrm>
            <a:off x="585360" y="2146320"/>
            <a:ext cx="8228880" cy="3976920"/>
          </a:xfrm>
          <a:prstGeom prst="rect">
            <a:avLst/>
          </a:prstGeom>
          <a:noFill/>
          <a:ln w="0">
            <a:noFill/>
          </a:ln>
        </p:spPr>
        <p:txBody>
          <a:bodyPr lIns="0" rIns="0" tIns="0" bIns="0" anchor="t">
            <a:noAutofit/>
          </a:bodyPr>
          <a:p>
            <a:pPr marL="228600" indent="-228600" defTabSz="914400">
              <a:lnSpc>
                <a:spcPct val="90000"/>
              </a:lnSpc>
              <a:spcBef>
                <a:spcPts val="1199"/>
              </a:spcBef>
              <a:buClr>
                <a:srgbClr val="000000"/>
              </a:buClr>
              <a:buFont typeface="Arial"/>
              <a:buChar char="•"/>
            </a:pPr>
            <a:r>
              <a:rPr b="0" lang="en-US" sz="1800" spc="-1" strike="noStrike">
                <a:solidFill>
                  <a:schemeClr val="dk1"/>
                </a:solidFill>
                <a:latin typeface="Arial"/>
                <a:ea typeface="DejaVu Sans"/>
              </a:rPr>
              <a:t>Modelling in VECTO – Proposal for IMC infrastructure availability</a:t>
            </a:r>
            <a:endParaRPr b="0" lang="de-DE" sz="1800" spc="-1" strike="noStrike">
              <a:solidFill>
                <a:schemeClr val="dk1"/>
              </a:solidFill>
              <a:latin typeface="Arial"/>
            </a:endParaRPr>
          </a:p>
        </p:txBody>
      </p:sp>
      <p:sp>
        <p:nvSpPr>
          <p:cNvPr id="251" name="PlaceHolder 2"/>
          <p:cNvSpPr>
            <a:spLocks noGrp="1"/>
          </p:cNvSpPr>
          <p:nvPr>
            <p:ph type="title"/>
          </p:nvPr>
        </p:nvSpPr>
        <p:spPr>
          <a:xfrm>
            <a:off x="585360" y="850320"/>
            <a:ext cx="8228880" cy="1144440"/>
          </a:xfrm>
          <a:prstGeom prst="rect">
            <a:avLst/>
          </a:prstGeom>
          <a:noFill/>
          <a:ln w="0">
            <a:noFill/>
          </a:ln>
        </p:spPr>
        <p:txBody>
          <a:bodyPr lIns="0" rIns="0" tIns="0" bIns="0" anchor="ctr">
            <a:noAutofit/>
          </a:bodyPr>
          <a:p>
            <a:pPr indent="0" defTabSz="914400">
              <a:lnSpc>
                <a:spcPct val="90000"/>
              </a:lnSpc>
              <a:buNone/>
            </a:pPr>
            <a:r>
              <a:rPr b="1" lang="en-GB" sz="2400" spc="-1" strike="noStrike">
                <a:solidFill>
                  <a:srgbClr val="990000"/>
                </a:solidFill>
                <a:latin typeface="Arial"/>
                <a:ea typeface="DejaVu Sans"/>
              </a:rPr>
              <a:t>Vehicles with In-Motion Charging (IMC) features (7/11)</a:t>
            </a:r>
            <a:endParaRPr b="0" lang="de-DE" sz="2400" spc="-1" strike="noStrike">
              <a:solidFill>
                <a:schemeClr val="dk1"/>
              </a:solidFill>
              <a:latin typeface="Arial"/>
            </a:endParaRPr>
          </a:p>
        </p:txBody>
      </p:sp>
      <p:sp>
        <p:nvSpPr>
          <p:cNvPr id="252" name="Textfeld 8"/>
          <p:cNvSpPr/>
          <p:nvPr/>
        </p:nvSpPr>
        <p:spPr>
          <a:xfrm>
            <a:off x="1670040" y="2450160"/>
            <a:ext cx="2260800" cy="2725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GB" sz="1200" spc="-1" strike="noStrike">
                <a:solidFill>
                  <a:schemeClr val="dk1"/>
                </a:solidFill>
                <a:latin typeface="Arial"/>
                <a:ea typeface="DejaVu Sans"/>
              </a:rPr>
              <a:t>Ground rail + Wireless</a:t>
            </a:r>
            <a:endParaRPr b="0" lang="en-US" sz="1200" spc="-1" strike="noStrike">
              <a:solidFill>
                <a:srgbClr val="000000"/>
              </a:solidFill>
              <a:latin typeface="Arial"/>
            </a:endParaRPr>
          </a:p>
        </p:txBody>
      </p:sp>
      <p:pic>
        <p:nvPicPr>
          <p:cNvPr id="253" name="Grafik 2" descr=""/>
          <p:cNvPicPr/>
          <p:nvPr/>
        </p:nvPicPr>
        <p:blipFill>
          <a:blip r:embed="rId1"/>
          <a:stretch/>
        </p:blipFill>
        <p:spPr>
          <a:xfrm>
            <a:off x="844200" y="2727360"/>
            <a:ext cx="3912120" cy="2931840"/>
          </a:xfrm>
          <a:prstGeom prst="rect">
            <a:avLst/>
          </a:prstGeom>
          <a:ln w="0">
            <a:noFill/>
          </a:ln>
        </p:spPr>
      </p:pic>
      <p:sp>
        <p:nvSpPr>
          <p:cNvPr id="4" name="PlaceHolder 3"/>
          <p:cNvSpPr>
            <a:spLocks noGrp="1"/>
          </p:cNvSpPr>
          <p:nvPr>
            <p:ph type="sldNum" idx="2"/>
          </p:nvPr>
        </p:nvSpPr>
        <p:spPr/>
        <p:txBody>
          <a:bodyPr/>
          <a:p>
            <a:fld id="{10590278-52ED-4594-947A-F26CFD587EA6}" type="slidenum">
              <a:t>34</a:t>
            </a:fld>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PlaceHolder 1"/>
          <p:cNvSpPr>
            <a:spLocks noGrp="1"/>
          </p:cNvSpPr>
          <p:nvPr>
            <p:ph/>
          </p:nvPr>
        </p:nvSpPr>
        <p:spPr>
          <a:xfrm>
            <a:off x="585360" y="2146320"/>
            <a:ext cx="8228880" cy="3976920"/>
          </a:xfrm>
          <a:prstGeom prst="rect">
            <a:avLst/>
          </a:prstGeom>
          <a:noFill/>
          <a:ln w="0">
            <a:noFill/>
          </a:ln>
        </p:spPr>
        <p:txBody>
          <a:bodyPr lIns="0" rIns="0" tIns="0" bIns="0" anchor="t">
            <a:noAutofit/>
          </a:bodyPr>
          <a:p>
            <a:pPr marL="228600" indent="-228600" defTabSz="914400">
              <a:lnSpc>
                <a:spcPct val="90000"/>
              </a:lnSpc>
              <a:spcBef>
                <a:spcPts val="1199"/>
              </a:spcBef>
              <a:buClr>
                <a:srgbClr val="000000"/>
              </a:buClr>
              <a:buFont typeface="Arial"/>
              <a:buChar char="•"/>
            </a:pPr>
            <a:r>
              <a:rPr b="0" lang="en-US" sz="1800" spc="-1" strike="noStrike">
                <a:solidFill>
                  <a:schemeClr val="dk1"/>
                </a:solidFill>
                <a:latin typeface="Arial"/>
                <a:ea typeface="DejaVu Sans"/>
              </a:rPr>
              <a:t>Modelling in VECTO – Further proposed assumptions</a:t>
            </a:r>
            <a:endParaRPr b="0" lang="de-DE" sz="1800" spc="-1" strike="noStrike">
              <a:solidFill>
                <a:schemeClr val="dk1"/>
              </a:solidFill>
              <a:latin typeface="Arial"/>
            </a:endParaRPr>
          </a:p>
          <a:p>
            <a:pPr lvl="1" marL="716040" indent="-266760" defTabSz="914400">
              <a:lnSpc>
                <a:spcPct val="90000"/>
              </a:lnSpc>
              <a:spcBef>
                <a:spcPts val="601"/>
              </a:spcBef>
              <a:buClr>
                <a:srgbClr val="000000"/>
              </a:buClr>
              <a:buFont typeface="Wingdings" charset="2"/>
              <a:buChar char=""/>
            </a:pPr>
            <a:r>
              <a:rPr b="0" lang="en-US" sz="1600" spc="-1" strike="noStrike">
                <a:solidFill>
                  <a:schemeClr val="dk1"/>
                </a:solidFill>
                <a:latin typeface="Arial"/>
                <a:ea typeface="DejaVu Sans"/>
              </a:rPr>
              <a:t>Battery charging during mission</a:t>
            </a:r>
            <a:endParaRPr b="0" lang="de-DE" sz="1600" spc="-1" strike="noStrike">
              <a:solidFill>
                <a:schemeClr val="dk1"/>
              </a:solidFill>
              <a:latin typeface="Arial"/>
            </a:endParaRPr>
          </a:p>
          <a:p>
            <a:pPr lvl="2" marL="1143000" indent="-228600" defTabSz="914400">
              <a:lnSpc>
                <a:spcPct val="90000"/>
              </a:lnSpc>
              <a:spcBef>
                <a:spcPts val="300"/>
              </a:spcBef>
              <a:buClr>
                <a:srgbClr val="000000"/>
              </a:buClr>
              <a:buFont typeface="Arial"/>
              <a:buChar char="•"/>
            </a:pPr>
            <a:r>
              <a:rPr b="0" lang="en-US" sz="1400" spc="-1" strike="noStrike">
                <a:solidFill>
                  <a:schemeClr val="dk1"/>
                </a:solidFill>
                <a:latin typeface="Arial"/>
                <a:ea typeface="DejaVu Sans"/>
              </a:rPr>
              <a:t>50% of usable battery capacity via “SOC lift” by IMC</a:t>
            </a:r>
            <a:endParaRPr b="0" lang="de-DE" sz="1400" spc="-1" strike="noStrike">
              <a:solidFill>
                <a:schemeClr val="dk1"/>
              </a:solidFill>
              <a:latin typeface="Arial"/>
            </a:endParaRPr>
          </a:p>
          <a:p>
            <a:pPr lvl="2" marL="1143000" indent="-228600" defTabSz="914400">
              <a:lnSpc>
                <a:spcPct val="90000"/>
              </a:lnSpc>
              <a:spcBef>
                <a:spcPts val="300"/>
              </a:spcBef>
              <a:buClr>
                <a:srgbClr val="000000"/>
              </a:buClr>
              <a:buFont typeface="Arial"/>
              <a:buChar char="•"/>
            </a:pPr>
            <a:r>
              <a:rPr b="0" lang="en-US" sz="1400" spc="-1" strike="noStrike">
                <a:solidFill>
                  <a:schemeClr val="dk1"/>
                </a:solidFill>
                <a:latin typeface="Arial"/>
                <a:ea typeface="DejaVu Sans"/>
              </a:rPr>
              <a:t>No further stationary charging</a:t>
            </a:r>
            <a:endParaRPr b="0" lang="de-DE" sz="1400" spc="-1" strike="noStrike">
              <a:solidFill>
                <a:schemeClr val="dk1"/>
              </a:solidFill>
              <a:latin typeface="Arial"/>
            </a:endParaRPr>
          </a:p>
          <a:p>
            <a:pPr lvl="1" marL="716040" indent="-266760" defTabSz="914400">
              <a:lnSpc>
                <a:spcPct val="90000"/>
              </a:lnSpc>
              <a:spcBef>
                <a:spcPts val="601"/>
              </a:spcBef>
              <a:buClr>
                <a:srgbClr val="000000"/>
              </a:buClr>
              <a:buFont typeface="Wingdings" charset="2"/>
              <a:buChar char=""/>
            </a:pPr>
            <a:r>
              <a:rPr b="0" lang="en-US" sz="1600" spc="-1" strike="noStrike">
                <a:solidFill>
                  <a:schemeClr val="dk1"/>
                </a:solidFill>
                <a:latin typeface="Arial"/>
                <a:ea typeface="DejaVu Sans"/>
              </a:rPr>
              <a:t>Air drag</a:t>
            </a:r>
            <a:endParaRPr b="0" lang="de-DE" sz="1600" spc="-1" strike="noStrike">
              <a:solidFill>
                <a:schemeClr val="dk1"/>
              </a:solidFill>
              <a:latin typeface="Arial"/>
            </a:endParaRPr>
          </a:p>
          <a:p>
            <a:pPr lvl="2" marL="1143000" indent="-228600" defTabSz="914400">
              <a:lnSpc>
                <a:spcPct val="90000"/>
              </a:lnSpc>
              <a:spcBef>
                <a:spcPts val="300"/>
              </a:spcBef>
              <a:buClr>
                <a:srgbClr val="000000"/>
              </a:buClr>
              <a:buFont typeface="Arial"/>
              <a:buChar char="•"/>
            </a:pPr>
            <a:r>
              <a:rPr b="0" lang="en-US" sz="1400" spc="-1" strike="noStrike">
                <a:solidFill>
                  <a:schemeClr val="dk1"/>
                </a:solidFill>
                <a:latin typeface="Arial"/>
                <a:ea typeface="DejaVu Sans"/>
              </a:rPr>
              <a:t>Considered only for “Overhead – pantograph”</a:t>
            </a:r>
            <a:endParaRPr b="0" lang="de-DE" sz="1400" spc="-1" strike="noStrike">
              <a:solidFill>
                <a:schemeClr val="dk1"/>
              </a:solidFill>
              <a:latin typeface="Arial"/>
            </a:endParaRPr>
          </a:p>
          <a:p>
            <a:pPr lvl="2" marL="1143000" indent="-228600" defTabSz="914400">
              <a:lnSpc>
                <a:spcPct val="90000"/>
              </a:lnSpc>
              <a:spcBef>
                <a:spcPts val="300"/>
              </a:spcBef>
              <a:buClr>
                <a:srgbClr val="000000"/>
              </a:buClr>
              <a:buFont typeface="Arial"/>
              <a:buChar char="•"/>
            </a:pPr>
            <a:r>
              <a:rPr b="0" lang="en-US" sz="1400" spc="-1" strike="noStrike">
                <a:solidFill>
                  <a:schemeClr val="dk1"/>
                </a:solidFill>
                <a:latin typeface="Arial"/>
                <a:ea typeface="DejaVu Sans"/>
              </a:rPr>
              <a:t>ΔCdxA = 0.6 m² for the shares in the mission where IMC is available</a:t>
            </a:r>
            <a:endParaRPr b="0" lang="de-DE" sz="1400" spc="-1" strike="noStrike">
              <a:solidFill>
                <a:schemeClr val="dk1"/>
              </a:solidFill>
              <a:latin typeface="Arial"/>
            </a:endParaRPr>
          </a:p>
        </p:txBody>
      </p:sp>
      <p:sp>
        <p:nvSpPr>
          <p:cNvPr id="255" name="PlaceHolder 2"/>
          <p:cNvSpPr>
            <a:spLocks noGrp="1"/>
          </p:cNvSpPr>
          <p:nvPr>
            <p:ph type="title"/>
          </p:nvPr>
        </p:nvSpPr>
        <p:spPr>
          <a:xfrm>
            <a:off x="585360" y="850320"/>
            <a:ext cx="8228880" cy="1144440"/>
          </a:xfrm>
          <a:prstGeom prst="rect">
            <a:avLst/>
          </a:prstGeom>
          <a:noFill/>
          <a:ln w="0">
            <a:noFill/>
          </a:ln>
        </p:spPr>
        <p:txBody>
          <a:bodyPr lIns="0" rIns="0" tIns="0" bIns="0" anchor="ctr">
            <a:noAutofit/>
          </a:bodyPr>
          <a:p>
            <a:pPr indent="0" defTabSz="914400">
              <a:lnSpc>
                <a:spcPct val="90000"/>
              </a:lnSpc>
              <a:buNone/>
            </a:pPr>
            <a:r>
              <a:rPr b="1" lang="en-GB" sz="2400" spc="-1" strike="noStrike">
                <a:solidFill>
                  <a:srgbClr val="990000"/>
                </a:solidFill>
                <a:latin typeface="Arial"/>
                <a:ea typeface="DejaVu Sans"/>
              </a:rPr>
              <a:t>Vehicles with In-Motion Charging (IMC) features (8/11)</a:t>
            </a:r>
            <a:endParaRPr b="0" lang="de-DE" sz="2400" spc="-1" strike="noStrike">
              <a:solidFill>
                <a:schemeClr val="dk1"/>
              </a:solidFill>
              <a:latin typeface="Arial"/>
            </a:endParaRPr>
          </a:p>
        </p:txBody>
      </p:sp>
      <p:sp>
        <p:nvSpPr>
          <p:cNvPr id="4" name="PlaceHolder 3"/>
          <p:cNvSpPr>
            <a:spLocks noGrp="1"/>
          </p:cNvSpPr>
          <p:nvPr>
            <p:ph type="sldNum" idx="2"/>
          </p:nvPr>
        </p:nvSpPr>
        <p:spPr/>
        <p:txBody>
          <a:bodyPr/>
          <a:p>
            <a:fld id="{313E8BDF-26B4-44CD-9FB4-0D9818AC5A6F}" type="slidenum">
              <a:t>35</a:t>
            </a:fld>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6" name="Grafik 1" descr=""/>
          <p:cNvPicPr/>
          <p:nvPr/>
        </p:nvPicPr>
        <p:blipFill>
          <a:blip r:embed="rId1"/>
          <a:stretch/>
        </p:blipFill>
        <p:spPr>
          <a:xfrm>
            <a:off x="622440" y="2603520"/>
            <a:ext cx="4144680" cy="2549520"/>
          </a:xfrm>
          <a:prstGeom prst="rect">
            <a:avLst/>
          </a:prstGeom>
          <a:ln w="0">
            <a:noFill/>
          </a:ln>
        </p:spPr>
      </p:pic>
      <p:sp>
        <p:nvSpPr>
          <p:cNvPr id="257" name="PlaceHolder 1"/>
          <p:cNvSpPr>
            <a:spLocks noGrp="1"/>
          </p:cNvSpPr>
          <p:nvPr>
            <p:ph/>
          </p:nvPr>
        </p:nvSpPr>
        <p:spPr>
          <a:xfrm>
            <a:off x="585360" y="2146320"/>
            <a:ext cx="8228880" cy="3976920"/>
          </a:xfrm>
          <a:prstGeom prst="rect">
            <a:avLst/>
          </a:prstGeom>
          <a:noFill/>
          <a:ln w="0">
            <a:noFill/>
          </a:ln>
        </p:spPr>
        <p:txBody>
          <a:bodyPr lIns="0" rIns="0" tIns="0" bIns="0" anchor="t">
            <a:noAutofit/>
          </a:bodyPr>
          <a:p>
            <a:pPr marL="228600" indent="-228600" defTabSz="914400">
              <a:lnSpc>
                <a:spcPct val="90000"/>
              </a:lnSpc>
              <a:spcBef>
                <a:spcPts val="1199"/>
              </a:spcBef>
              <a:buClr>
                <a:srgbClr val="000000"/>
              </a:buClr>
              <a:buFont typeface="Arial"/>
              <a:buChar char="•"/>
            </a:pPr>
            <a:r>
              <a:rPr b="0" lang="en-US" sz="1800" spc="-1" strike="noStrike">
                <a:solidFill>
                  <a:schemeClr val="dk1"/>
                </a:solidFill>
                <a:latin typeface="Arial"/>
                <a:ea typeface="DejaVu Sans"/>
              </a:rPr>
              <a:t>Inputs in Graphical User Interface (ENG)</a:t>
            </a:r>
            <a:endParaRPr b="0" lang="de-DE" sz="1800" spc="-1" strike="noStrike">
              <a:solidFill>
                <a:schemeClr val="dk1"/>
              </a:solidFill>
              <a:latin typeface="Arial"/>
            </a:endParaRPr>
          </a:p>
          <a:p>
            <a:pPr indent="0" defTabSz="914400">
              <a:lnSpc>
                <a:spcPct val="90000"/>
              </a:lnSpc>
              <a:spcBef>
                <a:spcPts val="1199"/>
              </a:spcBef>
              <a:buNone/>
              <a:tabLst>
                <a:tab algn="l" pos="0"/>
              </a:tabLst>
            </a:pPr>
            <a:endParaRPr b="0" lang="de-DE" sz="1800" spc="-1" strike="noStrike">
              <a:solidFill>
                <a:schemeClr val="dk1"/>
              </a:solidFill>
              <a:latin typeface="Arial"/>
            </a:endParaRPr>
          </a:p>
          <a:p>
            <a:pPr indent="0" defTabSz="914400">
              <a:lnSpc>
                <a:spcPct val="90000"/>
              </a:lnSpc>
              <a:spcBef>
                <a:spcPts val="1199"/>
              </a:spcBef>
              <a:buNone/>
              <a:tabLst>
                <a:tab algn="l" pos="0"/>
              </a:tabLst>
            </a:pPr>
            <a:endParaRPr b="0" lang="de-DE" sz="1800" spc="-1" strike="noStrike">
              <a:solidFill>
                <a:schemeClr val="dk1"/>
              </a:solidFill>
              <a:latin typeface="Arial"/>
            </a:endParaRPr>
          </a:p>
        </p:txBody>
      </p:sp>
      <p:sp>
        <p:nvSpPr>
          <p:cNvPr id="258" name="PlaceHolder 2"/>
          <p:cNvSpPr>
            <a:spLocks noGrp="1"/>
          </p:cNvSpPr>
          <p:nvPr>
            <p:ph type="title"/>
          </p:nvPr>
        </p:nvSpPr>
        <p:spPr>
          <a:xfrm>
            <a:off x="585360" y="850320"/>
            <a:ext cx="8228880" cy="1144440"/>
          </a:xfrm>
          <a:prstGeom prst="rect">
            <a:avLst/>
          </a:prstGeom>
          <a:noFill/>
          <a:ln w="0">
            <a:noFill/>
          </a:ln>
        </p:spPr>
        <p:txBody>
          <a:bodyPr lIns="0" rIns="0" tIns="0" bIns="0" anchor="ctr">
            <a:noAutofit/>
          </a:bodyPr>
          <a:p>
            <a:pPr indent="0" defTabSz="914400">
              <a:lnSpc>
                <a:spcPct val="90000"/>
              </a:lnSpc>
              <a:buNone/>
            </a:pPr>
            <a:r>
              <a:rPr b="1" lang="en-GB" sz="2400" spc="-1" strike="noStrike">
                <a:solidFill>
                  <a:srgbClr val="990000"/>
                </a:solidFill>
                <a:latin typeface="Arial"/>
                <a:ea typeface="DejaVu Sans"/>
              </a:rPr>
              <a:t>Vehicles with In-Motion Charging (IMC) features (9/11)</a:t>
            </a:r>
            <a:endParaRPr b="0" lang="de-DE" sz="2400" spc="-1" strike="noStrike">
              <a:solidFill>
                <a:schemeClr val="dk1"/>
              </a:solidFill>
              <a:latin typeface="Arial"/>
            </a:endParaRPr>
          </a:p>
        </p:txBody>
      </p:sp>
      <p:sp>
        <p:nvSpPr>
          <p:cNvPr id="259" name="Textfeld 6"/>
          <p:cNvSpPr/>
          <p:nvPr/>
        </p:nvSpPr>
        <p:spPr>
          <a:xfrm>
            <a:off x="5256360" y="3891240"/>
            <a:ext cx="3652920" cy="1339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spcBef>
                <a:spcPts val="601"/>
              </a:spcBef>
            </a:pPr>
            <a:r>
              <a:rPr b="1" lang="en-US" sz="1200" spc="-1" strike="noStrike">
                <a:solidFill>
                  <a:srgbClr val="0066ff"/>
                </a:solidFill>
                <a:latin typeface="Arial"/>
                <a:ea typeface="DejaVu Sans"/>
              </a:rPr>
              <a:t>Attention!</a:t>
            </a:r>
            <a:endParaRPr b="0" lang="en-US" sz="1200" spc="-1" strike="noStrike">
              <a:solidFill>
                <a:srgbClr val="000000"/>
              </a:solidFill>
              <a:latin typeface="Arial"/>
            </a:endParaRPr>
          </a:p>
          <a:p>
            <a:pPr marL="171360" indent="-171360" defTabSz="914400">
              <a:lnSpc>
                <a:spcPct val="100000"/>
              </a:lnSpc>
              <a:spcBef>
                <a:spcPts val="601"/>
              </a:spcBef>
              <a:buClr>
                <a:srgbClr val="0066ff"/>
              </a:buClr>
              <a:buFont typeface="Arial"/>
              <a:buChar char="•"/>
            </a:pPr>
            <a:r>
              <a:rPr b="0" lang="en-US" sz="1200" spc="-1" strike="noStrike">
                <a:solidFill>
                  <a:srgbClr val="0066ff"/>
                </a:solidFill>
                <a:latin typeface="Arial"/>
                <a:ea typeface="DejaVu Sans"/>
              </a:rPr>
              <a:t>Working with ENG mode simulations for IMC features requires detailed knowledge of the proposed approach (mainly for developers)</a:t>
            </a:r>
            <a:endParaRPr b="0" lang="en-US" sz="1200" spc="-1" strike="noStrike">
              <a:solidFill>
                <a:srgbClr val="000000"/>
              </a:solidFill>
              <a:latin typeface="Arial"/>
            </a:endParaRPr>
          </a:p>
          <a:p>
            <a:pPr marL="171360" indent="-171360" defTabSz="914400">
              <a:lnSpc>
                <a:spcPct val="100000"/>
              </a:lnSpc>
              <a:spcBef>
                <a:spcPts val="601"/>
              </a:spcBef>
              <a:buClr>
                <a:srgbClr val="0066ff"/>
              </a:buClr>
              <a:buFont typeface="Arial"/>
              <a:buChar char="•"/>
            </a:pPr>
            <a:r>
              <a:rPr b="0" lang="en-US" sz="1200" spc="-1" strike="noStrike">
                <a:solidFill>
                  <a:srgbClr val="0066ff"/>
                </a:solidFill>
                <a:latin typeface="Arial"/>
                <a:ea typeface="DejaVu Sans"/>
              </a:rPr>
              <a:t>For checking of regulatory impact DECL mode testing recommended!</a:t>
            </a:r>
            <a:endParaRPr b="0" lang="en-US" sz="1200" spc="-1" strike="noStrike">
              <a:solidFill>
                <a:srgbClr val="000000"/>
              </a:solidFill>
              <a:latin typeface="Arial"/>
            </a:endParaRPr>
          </a:p>
        </p:txBody>
      </p:sp>
      <p:cxnSp>
        <p:nvCxnSpPr>
          <p:cNvPr id="260" name="Gerade Verbindung mit Pfeil 9"/>
          <p:cNvCxnSpPr/>
          <p:nvPr/>
        </p:nvCxnSpPr>
        <p:spPr>
          <a:xfrm flipH="1">
            <a:off x="2843280" y="2945520"/>
            <a:ext cx="2413080" cy="933120"/>
          </a:xfrm>
          <a:prstGeom prst="straightConnector1">
            <a:avLst/>
          </a:prstGeom>
          <a:ln>
            <a:solidFill>
              <a:srgbClr val="0066ff"/>
            </a:solidFill>
            <a:tailEnd len="med" type="triangle" w="med"/>
          </a:ln>
        </p:spPr>
      </p:cxnSp>
      <p:sp>
        <p:nvSpPr>
          <p:cNvPr id="261" name="Textfeld 11"/>
          <p:cNvSpPr/>
          <p:nvPr/>
        </p:nvSpPr>
        <p:spPr>
          <a:xfrm>
            <a:off x="5256360" y="2716920"/>
            <a:ext cx="3236400" cy="455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200" spc="-1" strike="noStrike">
                <a:solidFill>
                  <a:srgbClr val="0066ff"/>
                </a:solidFill>
                <a:latin typeface="Arial"/>
                <a:ea typeface="DejaVu Sans"/>
              </a:rPr>
              <a:t>New tab in “VEH Editor” for HEV and PEV vehicles</a:t>
            </a:r>
            <a:endParaRPr b="0" lang="en-US" sz="1200" spc="-1" strike="noStrike">
              <a:solidFill>
                <a:srgbClr val="000000"/>
              </a:solidFill>
              <a:latin typeface="Arial"/>
            </a:endParaRPr>
          </a:p>
        </p:txBody>
      </p:sp>
      <p:sp>
        <p:nvSpPr>
          <p:cNvPr id="4" name="PlaceHolder 3"/>
          <p:cNvSpPr>
            <a:spLocks noGrp="1"/>
          </p:cNvSpPr>
          <p:nvPr>
            <p:ph type="sldNum" idx="2"/>
          </p:nvPr>
        </p:nvSpPr>
        <p:spPr/>
        <p:txBody>
          <a:bodyPr/>
          <a:p>
            <a:fld id="{B2DB050D-7592-4692-98C9-87A181FCB861}" type="slidenum">
              <a:t>36</a:t>
            </a:fld>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62" name="Grafik 1" descr=""/>
          <p:cNvPicPr/>
          <p:nvPr/>
        </p:nvPicPr>
        <p:blipFill>
          <a:blip r:embed="rId1"/>
          <a:stretch/>
        </p:blipFill>
        <p:spPr>
          <a:xfrm>
            <a:off x="622440" y="2804040"/>
            <a:ext cx="4290120" cy="2148120"/>
          </a:xfrm>
          <a:prstGeom prst="rect">
            <a:avLst/>
          </a:prstGeom>
          <a:ln w="0">
            <a:noFill/>
          </a:ln>
        </p:spPr>
      </p:pic>
      <p:sp>
        <p:nvSpPr>
          <p:cNvPr id="263" name="PlaceHolder 1"/>
          <p:cNvSpPr>
            <a:spLocks noGrp="1"/>
          </p:cNvSpPr>
          <p:nvPr>
            <p:ph/>
          </p:nvPr>
        </p:nvSpPr>
        <p:spPr>
          <a:xfrm>
            <a:off x="585360" y="2146320"/>
            <a:ext cx="8228880" cy="3976920"/>
          </a:xfrm>
          <a:prstGeom prst="rect">
            <a:avLst/>
          </a:prstGeom>
          <a:noFill/>
          <a:ln w="0">
            <a:noFill/>
          </a:ln>
        </p:spPr>
        <p:txBody>
          <a:bodyPr lIns="0" rIns="0" tIns="0" bIns="0" anchor="t">
            <a:noAutofit/>
          </a:bodyPr>
          <a:p>
            <a:pPr marL="228600" indent="-228600" defTabSz="914400">
              <a:lnSpc>
                <a:spcPct val="90000"/>
              </a:lnSpc>
              <a:spcBef>
                <a:spcPts val="1199"/>
              </a:spcBef>
              <a:buClr>
                <a:srgbClr val="000000"/>
              </a:buClr>
              <a:buFont typeface="Arial"/>
              <a:buChar char="•"/>
            </a:pPr>
            <a:r>
              <a:rPr b="0" lang="en-US" sz="1800" spc="-1" strike="noStrike">
                <a:solidFill>
                  <a:schemeClr val="dk1"/>
                </a:solidFill>
                <a:latin typeface="Arial"/>
                <a:ea typeface="DejaVu Sans"/>
              </a:rPr>
              <a:t>Inputs in Graphical User Interface (DECL)</a:t>
            </a:r>
            <a:endParaRPr b="0" lang="de-DE" sz="1800" spc="-1" strike="noStrike">
              <a:solidFill>
                <a:schemeClr val="dk1"/>
              </a:solidFill>
              <a:latin typeface="Arial"/>
            </a:endParaRPr>
          </a:p>
          <a:p>
            <a:pPr indent="0" defTabSz="914400">
              <a:lnSpc>
                <a:spcPct val="90000"/>
              </a:lnSpc>
              <a:spcBef>
                <a:spcPts val="1199"/>
              </a:spcBef>
              <a:buNone/>
              <a:tabLst>
                <a:tab algn="l" pos="0"/>
              </a:tabLst>
            </a:pPr>
            <a:endParaRPr b="0" lang="de-DE" sz="1800" spc="-1" strike="noStrike">
              <a:solidFill>
                <a:schemeClr val="dk1"/>
              </a:solidFill>
              <a:latin typeface="Arial"/>
            </a:endParaRPr>
          </a:p>
          <a:p>
            <a:pPr indent="0" defTabSz="914400">
              <a:lnSpc>
                <a:spcPct val="90000"/>
              </a:lnSpc>
              <a:spcBef>
                <a:spcPts val="1199"/>
              </a:spcBef>
              <a:buNone/>
              <a:tabLst>
                <a:tab algn="l" pos="0"/>
              </a:tabLst>
            </a:pPr>
            <a:endParaRPr b="0" lang="de-DE" sz="1800" spc="-1" strike="noStrike">
              <a:solidFill>
                <a:schemeClr val="dk1"/>
              </a:solidFill>
              <a:latin typeface="Arial"/>
            </a:endParaRPr>
          </a:p>
        </p:txBody>
      </p:sp>
      <p:sp>
        <p:nvSpPr>
          <p:cNvPr id="264" name="PlaceHolder 2"/>
          <p:cNvSpPr>
            <a:spLocks noGrp="1"/>
          </p:cNvSpPr>
          <p:nvPr>
            <p:ph type="title"/>
          </p:nvPr>
        </p:nvSpPr>
        <p:spPr>
          <a:xfrm>
            <a:off x="585360" y="850320"/>
            <a:ext cx="8228880" cy="1144440"/>
          </a:xfrm>
          <a:prstGeom prst="rect">
            <a:avLst/>
          </a:prstGeom>
          <a:noFill/>
          <a:ln w="0">
            <a:noFill/>
          </a:ln>
        </p:spPr>
        <p:txBody>
          <a:bodyPr lIns="0" rIns="0" tIns="0" bIns="0" anchor="ctr">
            <a:noAutofit/>
          </a:bodyPr>
          <a:p>
            <a:pPr indent="0" defTabSz="914400">
              <a:lnSpc>
                <a:spcPct val="90000"/>
              </a:lnSpc>
              <a:buNone/>
            </a:pPr>
            <a:r>
              <a:rPr b="1" lang="en-GB" sz="2400" spc="-1" strike="noStrike">
                <a:solidFill>
                  <a:srgbClr val="990000"/>
                </a:solidFill>
                <a:latin typeface="Arial"/>
                <a:ea typeface="DejaVu Sans"/>
              </a:rPr>
              <a:t>Vehicles with In-Motion Charging (IMC) features (10/11)</a:t>
            </a:r>
            <a:endParaRPr b="0" lang="de-DE" sz="2400" spc="-1" strike="noStrike">
              <a:solidFill>
                <a:schemeClr val="dk1"/>
              </a:solidFill>
              <a:latin typeface="Arial"/>
            </a:endParaRPr>
          </a:p>
        </p:txBody>
      </p:sp>
      <p:cxnSp>
        <p:nvCxnSpPr>
          <p:cNvPr id="265" name="Gerade Verbindung mit Pfeil 7"/>
          <p:cNvCxnSpPr/>
          <p:nvPr/>
        </p:nvCxnSpPr>
        <p:spPr>
          <a:xfrm flipH="1">
            <a:off x="3386160" y="3228480"/>
            <a:ext cx="1616760" cy="1072440"/>
          </a:xfrm>
          <a:prstGeom prst="straightConnector1">
            <a:avLst/>
          </a:prstGeom>
          <a:ln>
            <a:solidFill>
              <a:srgbClr val="0066ff"/>
            </a:solidFill>
            <a:tailEnd len="med" type="triangle" w="med"/>
          </a:ln>
        </p:spPr>
      </p:cxnSp>
      <p:sp>
        <p:nvSpPr>
          <p:cNvPr id="266" name="Textfeld 8"/>
          <p:cNvSpPr/>
          <p:nvPr/>
        </p:nvSpPr>
        <p:spPr>
          <a:xfrm>
            <a:off x="5002560" y="3100320"/>
            <a:ext cx="3796920" cy="1186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200" spc="-1" strike="noStrike">
                <a:solidFill>
                  <a:srgbClr val="0066ff"/>
                </a:solidFill>
                <a:latin typeface="Arial"/>
                <a:ea typeface="DejaVu Sans"/>
              </a:rPr>
              <a:t>Dropdown Menu with pre-defined technologies</a:t>
            </a:r>
            <a:endParaRPr b="0" lang="en-US" sz="1200" spc="-1" strike="noStrike">
              <a:solidFill>
                <a:srgbClr val="000000"/>
              </a:solidFill>
              <a:latin typeface="Arial"/>
            </a:endParaRPr>
          </a:p>
          <a:p>
            <a:pPr lvl="1" marL="628560" indent="-171360" defTabSz="914400">
              <a:lnSpc>
                <a:spcPct val="100000"/>
              </a:lnSpc>
              <a:buClr>
                <a:srgbClr val="0066ff"/>
              </a:buClr>
              <a:buFont typeface="Arial"/>
              <a:buChar char="•"/>
            </a:pPr>
            <a:r>
              <a:rPr b="0" lang="en-US" sz="1200" spc="-1" strike="noStrike">
                <a:solidFill>
                  <a:srgbClr val="0066ff"/>
                </a:solidFill>
                <a:latin typeface="Arial"/>
                <a:ea typeface="DejaVu Sans"/>
              </a:rPr>
              <a:t>None</a:t>
            </a:r>
            <a:endParaRPr b="0" lang="en-US" sz="1200" spc="-1" strike="noStrike">
              <a:solidFill>
                <a:srgbClr val="000000"/>
              </a:solidFill>
              <a:latin typeface="Arial"/>
            </a:endParaRPr>
          </a:p>
          <a:p>
            <a:pPr lvl="1" marL="628560" indent="-171360" defTabSz="914400">
              <a:lnSpc>
                <a:spcPct val="100000"/>
              </a:lnSpc>
              <a:buClr>
                <a:srgbClr val="0066ff"/>
              </a:buClr>
              <a:buFont typeface="Arial"/>
              <a:buChar char="•"/>
            </a:pPr>
            <a:r>
              <a:rPr b="0" lang="en-US" sz="1200" spc="-1" strike="noStrike">
                <a:solidFill>
                  <a:srgbClr val="0066ff"/>
                </a:solidFill>
                <a:latin typeface="Arial"/>
                <a:ea typeface="DejaVu Sans"/>
              </a:rPr>
              <a:t>Overhead Pantograph</a:t>
            </a:r>
            <a:endParaRPr b="0" lang="en-US" sz="1200" spc="-1" strike="noStrike">
              <a:solidFill>
                <a:srgbClr val="000000"/>
              </a:solidFill>
              <a:latin typeface="Arial"/>
            </a:endParaRPr>
          </a:p>
          <a:p>
            <a:pPr lvl="1" marL="628560" indent="-171360" defTabSz="914400">
              <a:lnSpc>
                <a:spcPct val="100000"/>
              </a:lnSpc>
              <a:buClr>
                <a:srgbClr val="0066ff"/>
              </a:buClr>
              <a:buFont typeface="Arial"/>
              <a:buChar char="•"/>
            </a:pPr>
            <a:r>
              <a:rPr b="0" lang="en-US" sz="1200" spc="-1" strike="noStrike">
                <a:solidFill>
                  <a:srgbClr val="0066ff"/>
                </a:solidFill>
                <a:latin typeface="Arial"/>
                <a:ea typeface="DejaVu Sans"/>
              </a:rPr>
              <a:t>Overhead Trolley</a:t>
            </a:r>
            <a:endParaRPr b="0" lang="en-US" sz="1200" spc="-1" strike="noStrike">
              <a:solidFill>
                <a:srgbClr val="000000"/>
              </a:solidFill>
              <a:latin typeface="Arial"/>
            </a:endParaRPr>
          </a:p>
          <a:p>
            <a:pPr lvl="1" marL="628560" indent="-171360" defTabSz="914400">
              <a:lnSpc>
                <a:spcPct val="100000"/>
              </a:lnSpc>
              <a:buClr>
                <a:srgbClr val="0066ff"/>
              </a:buClr>
              <a:buFont typeface="Arial"/>
              <a:buChar char="•"/>
            </a:pPr>
            <a:r>
              <a:rPr b="0" lang="en-US" sz="1200" spc="-1" strike="noStrike">
                <a:solidFill>
                  <a:srgbClr val="0066ff"/>
                </a:solidFill>
                <a:latin typeface="Arial"/>
                <a:ea typeface="DejaVu Sans"/>
              </a:rPr>
              <a:t>Ground Rail</a:t>
            </a:r>
            <a:endParaRPr b="0" lang="en-US" sz="1200" spc="-1" strike="noStrike">
              <a:solidFill>
                <a:srgbClr val="000000"/>
              </a:solidFill>
              <a:latin typeface="Arial"/>
            </a:endParaRPr>
          </a:p>
          <a:p>
            <a:pPr lvl="1" marL="628560" indent="-171360" defTabSz="914400">
              <a:lnSpc>
                <a:spcPct val="100000"/>
              </a:lnSpc>
              <a:buClr>
                <a:srgbClr val="0066ff"/>
              </a:buClr>
              <a:buFont typeface="Arial"/>
              <a:buChar char="•"/>
            </a:pPr>
            <a:r>
              <a:rPr b="0" lang="en-US" sz="1200" spc="-1" strike="noStrike">
                <a:solidFill>
                  <a:srgbClr val="0066ff"/>
                </a:solidFill>
                <a:latin typeface="Arial"/>
                <a:ea typeface="DejaVu Sans"/>
              </a:rPr>
              <a:t>Wireless</a:t>
            </a:r>
            <a:endParaRPr b="0" lang="en-US" sz="1200" spc="-1" strike="noStrike">
              <a:solidFill>
                <a:srgbClr val="000000"/>
              </a:solidFill>
              <a:latin typeface="Arial"/>
            </a:endParaRPr>
          </a:p>
        </p:txBody>
      </p:sp>
      <p:sp>
        <p:nvSpPr>
          <p:cNvPr id="4" name="PlaceHolder 3"/>
          <p:cNvSpPr>
            <a:spLocks noGrp="1"/>
          </p:cNvSpPr>
          <p:nvPr>
            <p:ph type="sldNum" idx="2"/>
          </p:nvPr>
        </p:nvSpPr>
        <p:spPr/>
        <p:txBody>
          <a:bodyPr/>
          <a:p>
            <a:fld id="{4E19D044-79F0-4EC1-980B-C43EAA6168C7}" type="slidenum">
              <a:t>37</a:t>
            </a:fld>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PlaceHolder 1"/>
          <p:cNvSpPr>
            <a:spLocks noGrp="1"/>
          </p:cNvSpPr>
          <p:nvPr>
            <p:ph/>
          </p:nvPr>
        </p:nvSpPr>
        <p:spPr>
          <a:xfrm>
            <a:off x="585360" y="2146320"/>
            <a:ext cx="8228880" cy="3976920"/>
          </a:xfrm>
          <a:prstGeom prst="rect">
            <a:avLst/>
          </a:prstGeom>
          <a:noFill/>
          <a:ln w="0">
            <a:noFill/>
          </a:ln>
        </p:spPr>
        <p:txBody>
          <a:bodyPr lIns="0" rIns="0" tIns="0" bIns="0" anchor="t">
            <a:noAutofit/>
          </a:bodyPr>
          <a:p>
            <a:pPr marL="228600" indent="-228600" defTabSz="914400">
              <a:lnSpc>
                <a:spcPct val="90000"/>
              </a:lnSpc>
              <a:spcBef>
                <a:spcPts val="1199"/>
              </a:spcBef>
              <a:buClr>
                <a:srgbClr val="000000"/>
              </a:buClr>
              <a:buFont typeface="Arial"/>
              <a:buChar char="•"/>
            </a:pPr>
            <a:r>
              <a:rPr b="0" lang="en-US" sz="1600" spc="-1" strike="noStrike">
                <a:solidFill>
                  <a:schemeClr val="dk1"/>
                </a:solidFill>
                <a:latin typeface="Arial"/>
                <a:ea typeface="DejaVu Sans"/>
              </a:rPr>
              <a:t>Example vehicle models will be distributed with the release (located in “\Generic vehicles”)</a:t>
            </a:r>
            <a:endParaRPr b="0" lang="de-DE" sz="1600" spc="-1" strike="noStrike">
              <a:solidFill>
                <a:schemeClr val="dk1"/>
              </a:solidFill>
              <a:latin typeface="Arial"/>
            </a:endParaRPr>
          </a:p>
          <a:p>
            <a:pPr marL="228600" indent="-228600" defTabSz="914400">
              <a:lnSpc>
                <a:spcPct val="90000"/>
              </a:lnSpc>
              <a:spcBef>
                <a:spcPts val="1199"/>
              </a:spcBef>
              <a:buClr>
                <a:srgbClr val="000000"/>
              </a:buClr>
              <a:buFont typeface="Arial"/>
              <a:buChar char="•"/>
            </a:pPr>
            <a:r>
              <a:rPr b="0" lang="en-US" sz="1600" spc="-1" strike="noStrike">
                <a:solidFill>
                  <a:schemeClr val="dk1"/>
                </a:solidFill>
                <a:latin typeface="Arial"/>
                <a:ea typeface="DejaVu Sans"/>
              </a:rPr>
              <a:t>Base specs example models</a:t>
            </a:r>
            <a:endParaRPr b="0" lang="de-DE" sz="1600" spc="-1" strike="noStrike">
              <a:solidFill>
                <a:schemeClr val="dk1"/>
              </a:solidFill>
              <a:latin typeface="Arial"/>
            </a:endParaRPr>
          </a:p>
          <a:p>
            <a:pPr lvl="1" marL="716040" indent="-266760" defTabSz="914400">
              <a:lnSpc>
                <a:spcPct val="90000"/>
              </a:lnSpc>
              <a:spcBef>
                <a:spcPts val="601"/>
              </a:spcBef>
              <a:buClr>
                <a:srgbClr val="000000"/>
              </a:buClr>
              <a:buFont typeface="Wingdings" charset="2"/>
              <a:buChar char=""/>
            </a:pPr>
            <a:r>
              <a:rPr b="0" lang="en-US" sz="1200" spc="-1" strike="noStrike">
                <a:solidFill>
                  <a:schemeClr val="dk1"/>
                </a:solidFill>
                <a:latin typeface="Arial"/>
                <a:ea typeface="DejaVu Sans"/>
              </a:rPr>
              <a:t>Group 5 / HEV P2 / OVC: P</a:t>
            </a:r>
            <a:r>
              <a:rPr b="0" lang="en-US" sz="1200" spc="-1" strike="noStrike" baseline="-25000">
                <a:solidFill>
                  <a:schemeClr val="dk1"/>
                </a:solidFill>
                <a:latin typeface="Arial"/>
                <a:ea typeface="DejaVu Sans"/>
              </a:rPr>
              <a:t>cont_EM</a:t>
            </a:r>
            <a:r>
              <a:rPr b="0" lang="en-US" sz="1200" spc="-1" strike="noStrike">
                <a:solidFill>
                  <a:schemeClr val="dk1"/>
                </a:solidFill>
                <a:latin typeface="Arial"/>
                <a:ea typeface="DejaVu Sans"/>
              </a:rPr>
              <a:t>: 200kW | E</a:t>
            </a:r>
            <a:r>
              <a:rPr b="0" lang="en-US" sz="1200" spc="-1" strike="noStrike" baseline="-25000">
                <a:solidFill>
                  <a:schemeClr val="dk1"/>
                </a:solidFill>
                <a:latin typeface="Arial"/>
                <a:ea typeface="DejaVu Sans"/>
              </a:rPr>
              <a:t>Reess</a:t>
            </a:r>
            <a:r>
              <a:rPr b="0" lang="en-US" sz="1200" spc="-1" strike="noStrike">
                <a:solidFill>
                  <a:schemeClr val="dk1"/>
                </a:solidFill>
                <a:latin typeface="Arial"/>
                <a:ea typeface="DejaVu Sans"/>
              </a:rPr>
              <a:t>: 120kWh nominal</a:t>
            </a:r>
            <a:endParaRPr b="0" lang="de-DE" sz="1200" spc="-1" strike="noStrike">
              <a:solidFill>
                <a:schemeClr val="dk1"/>
              </a:solidFill>
              <a:latin typeface="Arial"/>
            </a:endParaRPr>
          </a:p>
          <a:p>
            <a:pPr lvl="1" marL="716040" indent="-266760" defTabSz="914400">
              <a:lnSpc>
                <a:spcPct val="90000"/>
              </a:lnSpc>
              <a:spcBef>
                <a:spcPts val="601"/>
              </a:spcBef>
              <a:buClr>
                <a:srgbClr val="000000"/>
              </a:buClr>
              <a:buFont typeface="Wingdings" charset="2"/>
              <a:buChar char=""/>
            </a:pPr>
            <a:r>
              <a:rPr b="0" lang="en-US" sz="1200" spc="-1" strike="noStrike">
                <a:solidFill>
                  <a:schemeClr val="dk1"/>
                </a:solidFill>
                <a:latin typeface="Arial"/>
                <a:ea typeface="DejaVu Sans"/>
              </a:rPr>
              <a:t>Group 5 / PEV: P</a:t>
            </a:r>
            <a:r>
              <a:rPr b="0" lang="en-US" sz="1200" spc="-1" strike="noStrike" baseline="-25000">
                <a:solidFill>
                  <a:schemeClr val="dk1"/>
                </a:solidFill>
                <a:latin typeface="Arial"/>
                <a:ea typeface="DejaVu Sans"/>
              </a:rPr>
              <a:t>cont_EM</a:t>
            </a:r>
            <a:r>
              <a:rPr b="0" lang="en-US" sz="1200" spc="-1" strike="noStrike">
                <a:solidFill>
                  <a:schemeClr val="dk1"/>
                </a:solidFill>
                <a:latin typeface="Arial"/>
                <a:ea typeface="DejaVu Sans"/>
              </a:rPr>
              <a:t>: 325kW | E</a:t>
            </a:r>
            <a:r>
              <a:rPr b="0" lang="en-US" sz="1200" spc="-1" strike="noStrike" baseline="-25000">
                <a:solidFill>
                  <a:schemeClr val="dk1"/>
                </a:solidFill>
                <a:latin typeface="Arial"/>
                <a:ea typeface="DejaVu Sans"/>
              </a:rPr>
              <a:t>Reess</a:t>
            </a:r>
            <a:r>
              <a:rPr b="0" lang="en-US" sz="1200" spc="-1" strike="noStrike">
                <a:solidFill>
                  <a:schemeClr val="dk1"/>
                </a:solidFill>
                <a:latin typeface="Arial"/>
                <a:ea typeface="DejaVu Sans"/>
              </a:rPr>
              <a:t>: 170kWh nominal</a:t>
            </a:r>
            <a:endParaRPr b="0" lang="de-DE" sz="1200" spc="-1" strike="noStrike">
              <a:solidFill>
                <a:schemeClr val="dk1"/>
              </a:solidFill>
              <a:latin typeface="Arial"/>
            </a:endParaRPr>
          </a:p>
          <a:p>
            <a:pPr marL="228600" indent="-228600" defTabSz="914400">
              <a:lnSpc>
                <a:spcPct val="90000"/>
              </a:lnSpc>
              <a:spcBef>
                <a:spcPts val="1199"/>
              </a:spcBef>
              <a:buClr>
                <a:srgbClr val="000000"/>
              </a:buClr>
              <a:buFont typeface="Arial"/>
              <a:buChar char="•"/>
            </a:pPr>
            <a:r>
              <a:rPr b="0" lang="en-US" sz="1600" spc="-1" strike="noStrike">
                <a:solidFill>
                  <a:schemeClr val="dk1"/>
                </a:solidFill>
                <a:latin typeface="Arial"/>
                <a:ea typeface="DejaVu Sans"/>
              </a:rPr>
              <a:t>Example results: Long haul with rep payload</a:t>
            </a:r>
            <a:br>
              <a:rPr sz="1400"/>
            </a:br>
            <a:r>
              <a:rPr b="0" lang="en-US" sz="1200" spc="-1" strike="noStrike">
                <a:solidFill>
                  <a:schemeClr val="dk1"/>
                </a:solidFill>
                <a:latin typeface="Arial"/>
                <a:ea typeface="DejaVu Sans"/>
              </a:rPr>
              <a:t>Comparison results “w/o” and “w/” pantograph with similar other vehicle specs like mass</a:t>
            </a:r>
            <a:endParaRPr b="0" lang="de-DE" sz="1200" spc="-1" strike="noStrike">
              <a:solidFill>
                <a:schemeClr val="dk1"/>
              </a:solidFill>
              <a:latin typeface="Arial"/>
            </a:endParaRPr>
          </a:p>
          <a:p>
            <a:pPr lvl="1" marL="716040" indent="-266760" defTabSz="914400">
              <a:lnSpc>
                <a:spcPct val="90000"/>
              </a:lnSpc>
              <a:spcBef>
                <a:spcPts val="1199"/>
              </a:spcBef>
              <a:buClr>
                <a:srgbClr val="000000"/>
              </a:buClr>
              <a:buFont typeface="Wingdings" charset="2"/>
              <a:buChar char=""/>
            </a:pPr>
            <a:r>
              <a:rPr b="0" lang="en-US" sz="1200" spc="-1" strike="noStrike">
                <a:solidFill>
                  <a:schemeClr val="dk1"/>
                </a:solidFill>
                <a:latin typeface="Arial"/>
                <a:ea typeface="DejaVu Sans"/>
              </a:rPr>
              <a:t>Group 5 / P2 / OVC </a:t>
            </a:r>
            <a:r>
              <a:rPr b="0" lang="en-US" sz="1200" spc="-1" strike="noStrike">
                <a:solidFill>
                  <a:srgbClr val="0066ff"/>
                </a:solidFill>
                <a:latin typeface="Arial"/>
                <a:ea typeface="DejaVu Sans"/>
              </a:rPr>
              <a:t>w/o</a:t>
            </a:r>
            <a:r>
              <a:rPr b="0" lang="en-US" sz="1200" spc="-1" strike="noStrike">
                <a:solidFill>
                  <a:schemeClr val="dk1"/>
                </a:solidFill>
                <a:latin typeface="Arial"/>
                <a:ea typeface="DejaVu Sans"/>
              </a:rPr>
              <a:t> pantograph: UF = 0.149; CO2</a:t>
            </a:r>
            <a:r>
              <a:rPr b="0" lang="en-US" sz="1200" spc="-1" strike="noStrike" baseline="-25000">
                <a:solidFill>
                  <a:schemeClr val="dk1"/>
                </a:solidFill>
                <a:latin typeface="Arial"/>
                <a:ea typeface="DejaVu Sans"/>
              </a:rPr>
              <a:t>weighted</a:t>
            </a:r>
            <a:r>
              <a:rPr b="0" lang="en-US" sz="1200" spc="-1" strike="noStrike">
                <a:solidFill>
                  <a:schemeClr val="dk1"/>
                </a:solidFill>
                <a:latin typeface="Arial"/>
                <a:ea typeface="DejaVu Sans"/>
              </a:rPr>
              <a:t> = 692.2 g/km</a:t>
            </a:r>
            <a:endParaRPr b="0" lang="de-DE" sz="1200" spc="-1" strike="noStrike">
              <a:solidFill>
                <a:schemeClr val="dk1"/>
              </a:solidFill>
              <a:latin typeface="Arial"/>
            </a:endParaRPr>
          </a:p>
          <a:p>
            <a:pPr lvl="1" marL="716040" indent="-266760" defTabSz="914400">
              <a:lnSpc>
                <a:spcPct val="90000"/>
              </a:lnSpc>
              <a:spcBef>
                <a:spcPts val="601"/>
              </a:spcBef>
              <a:buClr>
                <a:srgbClr val="000000"/>
              </a:buClr>
              <a:buFont typeface="Wingdings" charset="2"/>
              <a:buChar char=""/>
            </a:pPr>
            <a:r>
              <a:rPr b="0" lang="en-US" sz="1200" spc="-1" strike="noStrike">
                <a:solidFill>
                  <a:schemeClr val="dk1"/>
                </a:solidFill>
                <a:latin typeface="Arial"/>
                <a:ea typeface="DejaVu Sans"/>
              </a:rPr>
              <a:t>Group 5 / P2 / OVC </a:t>
            </a:r>
            <a:r>
              <a:rPr b="0" lang="en-US" sz="1200" spc="-1" strike="noStrike">
                <a:solidFill>
                  <a:schemeClr val="accent4"/>
                </a:solidFill>
                <a:latin typeface="Arial"/>
                <a:ea typeface="DejaVu Sans"/>
              </a:rPr>
              <a:t>w/</a:t>
            </a:r>
            <a:r>
              <a:rPr b="0" lang="en-US" sz="1200" spc="-1" strike="noStrike">
                <a:solidFill>
                  <a:schemeClr val="dk1"/>
                </a:solidFill>
                <a:latin typeface="Arial"/>
                <a:ea typeface="DejaVu Sans"/>
              </a:rPr>
              <a:t> pantograph: UF = 0.660; CO2</a:t>
            </a:r>
            <a:r>
              <a:rPr b="0" lang="en-US" sz="1200" spc="-1" strike="noStrike" baseline="-25000">
                <a:solidFill>
                  <a:schemeClr val="dk1"/>
                </a:solidFill>
                <a:latin typeface="Arial"/>
                <a:ea typeface="DejaVu Sans"/>
              </a:rPr>
              <a:t>weighted</a:t>
            </a:r>
            <a:r>
              <a:rPr b="0" lang="en-US" sz="1200" spc="-1" strike="noStrike">
                <a:solidFill>
                  <a:schemeClr val="dk1"/>
                </a:solidFill>
                <a:latin typeface="Arial"/>
                <a:ea typeface="DejaVu Sans"/>
              </a:rPr>
              <a:t> = 347.1 g/km  </a:t>
            </a:r>
            <a:r>
              <a:rPr b="1" lang="en-US" sz="1200" spc="-1" strike="noStrike">
                <a:solidFill>
                  <a:schemeClr val="dk1"/>
                </a:solidFill>
                <a:latin typeface="Wingdings"/>
                <a:ea typeface="DejaVu Sans"/>
              </a:rPr>
              <a:t></a:t>
            </a:r>
            <a:r>
              <a:rPr b="1" lang="en-US" sz="1200" spc="-1" strike="noStrike">
                <a:solidFill>
                  <a:schemeClr val="dk1"/>
                </a:solidFill>
                <a:latin typeface="Arial"/>
                <a:ea typeface="DejaVu Sans"/>
              </a:rPr>
              <a:t> -50% CO2</a:t>
            </a:r>
            <a:endParaRPr b="0" lang="de-DE" sz="1200" spc="-1" strike="noStrike">
              <a:solidFill>
                <a:schemeClr val="dk1"/>
              </a:solidFill>
              <a:latin typeface="Arial"/>
            </a:endParaRPr>
          </a:p>
          <a:p>
            <a:pPr indent="0" defTabSz="914400">
              <a:lnSpc>
                <a:spcPct val="90000"/>
              </a:lnSpc>
              <a:spcBef>
                <a:spcPts val="601"/>
              </a:spcBef>
              <a:buNone/>
            </a:pPr>
            <a:endParaRPr b="0" lang="de-DE" sz="1200" spc="-1" strike="noStrike">
              <a:solidFill>
                <a:schemeClr val="dk1"/>
              </a:solidFill>
              <a:latin typeface="Arial"/>
            </a:endParaRPr>
          </a:p>
          <a:p>
            <a:pPr lvl="1" marL="716040" indent="-266760" defTabSz="914400">
              <a:lnSpc>
                <a:spcPct val="90000"/>
              </a:lnSpc>
              <a:spcBef>
                <a:spcPts val="601"/>
              </a:spcBef>
              <a:buClr>
                <a:srgbClr val="000000"/>
              </a:buClr>
              <a:buFont typeface="Wingdings" charset="2"/>
              <a:buChar char=""/>
            </a:pPr>
            <a:r>
              <a:rPr b="0" lang="en-US" sz="1200" spc="-1" strike="noStrike">
                <a:solidFill>
                  <a:schemeClr val="dk1"/>
                </a:solidFill>
                <a:latin typeface="Arial"/>
                <a:ea typeface="DejaVu Sans"/>
              </a:rPr>
              <a:t>Group 5 / PEV </a:t>
            </a:r>
            <a:r>
              <a:rPr b="0" lang="en-US" sz="1200" spc="-1" strike="noStrike">
                <a:solidFill>
                  <a:srgbClr val="0066ff"/>
                </a:solidFill>
                <a:latin typeface="Arial"/>
                <a:ea typeface="DejaVu Sans"/>
              </a:rPr>
              <a:t>w/o</a:t>
            </a:r>
            <a:r>
              <a:rPr b="0" lang="en-US" sz="1200" spc="-1" strike="noStrike">
                <a:solidFill>
                  <a:schemeClr val="dk1"/>
                </a:solidFill>
                <a:latin typeface="Arial"/>
                <a:ea typeface="DejaVu Sans"/>
              </a:rPr>
              <a:t> pantograph: EC</a:t>
            </a:r>
            <a:r>
              <a:rPr b="0" lang="en-US" sz="1200" spc="-1" strike="noStrike" baseline="-25000">
                <a:solidFill>
                  <a:schemeClr val="dk1"/>
                </a:solidFill>
                <a:latin typeface="Arial"/>
                <a:ea typeface="DejaVu Sans"/>
              </a:rPr>
              <a:t>el</a:t>
            </a:r>
            <a:r>
              <a:rPr b="0" lang="en-US" sz="1200" spc="-1" strike="noStrike">
                <a:solidFill>
                  <a:schemeClr val="dk1"/>
                </a:solidFill>
                <a:latin typeface="Arial"/>
                <a:ea typeface="DejaVu Sans"/>
              </a:rPr>
              <a:t> = 1.262 kWh/km</a:t>
            </a:r>
            <a:endParaRPr b="0" lang="de-DE" sz="1200" spc="-1" strike="noStrike">
              <a:solidFill>
                <a:schemeClr val="dk1"/>
              </a:solidFill>
              <a:latin typeface="Arial"/>
            </a:endParaRPr>
          </a:p>
          <a:p>
            <a:pPr lvl="1" marL="716040" indent="-266760" defTabSz="914400">
              <a:lnSpc>
                <a:spcPct val="90000"/>
              </a:lnSpc>
              <a:spcBef>
                <a:spcPts val="601"/>
              </a:spcBef>
              <a:buClr>
                <a:srgbClr val="000000"/>
              </a:buClr>
              <a:buFont typeface="Wingdings" charset="2"/>
              <a:buChar char=""/>
            </a:pPr>
            <a:r>
              <a:rPr b="0" lang="en-US" sz="1200" spc="-1" strike="noStrike">
                <a:solidFill>
                  <a:schemeClr val="dk1"/>
                </a:solidFill>
                <a:latin typeface="Arial"/>
                <a:ea typeface="DejaVu Sans"/>
              </a:rPr>
              <a:t>Group 5 / PEV </a:t>
            </a:r>
            <a:r>
              <a:rPr b="0" lang="en-US" sz="1200" spc="-1" strike="noStrike">
                <a:solidFill>
                  <a:srgbClr val="00b050"/>
                </a:solidFill>
                <a:latin typeface="Arial"/>
                <a:ea typeface="DejaVu Sans"/>
              </a:rPr>
              <a:t>w/</a:t>
            </a:r>
            <a:r>
              <a:rPr b="0" lang="en-US" sz="1200" spc="-1" strike="noStrike">
                <a:solidFill>
                  <a:schemeClr val="dk1"/>
                </a:solidFill>
                <a:latin typeface="Arial"/>
                <a:ea typeface="DejaVu Sans"/>
              </a:rPr>
              <a:t> pantograph: EC</a:t>
            </a:r>
            <a:r>
              <a:rPr b="0" lang="en-US" sz="1200" spc="-1" strike="noStrike" baseline="-25000">
                <a:solidFill>
                  <a:schemeClr val="dk1"/>
                </a:solidFill>
                <a:latin typeface="Arial"/>
                <a:ea typeface="DejaVu Sans"/>
              </a:rPr>
              <a:t>el</a:t>
            </a:r>
            <a:r>
              <a:rPr b="0" lang="en-US" sz="1200" spc="-1" strike="noStrike">
                <a:solidFill>
                  <a:schemeClr val="dk1"/>
                </a:solidFill>
                <a:latin typeface="Arial"/>
                <a:ea typeface="DejaVu Sans"/>
              </a:rPr>
              <a:t> = 1.297 kWh/km </a:t>
            </a:r>
            <a:r>
              <a:rPr b="0" lang="en-US" sz="1200" spc="-1" strike="noStrike">
                <a:solidFill>
                  <a:schemeClr val="dk1"/>
                </a:solidFill>
                <a:latin typeface="Wingdings"/>
                <a:ea typeface="DejaVu Sans"/>
              </a:rPr>
              <a:t></a:t>
            </a:r>
            <a:r>
              <a:rPr b="0" lang="en-US" sz="1200" spc="-1" strike="noStrike">
                <a:solidFill>
                  <a:schemeClr val="dk1"/>
                </a:solidFill>
                <a:latin typeface="Arial"/>
                <a:ea typeface="DejaVu Sans"/>
              </a:rPr>
              <a:t> +2.8% EC</a:t>
            </a:r>
            <a:r>
              <a:rPr b="0" lang="en-US" sz="1200" spc="-1" strike="noStrike" baseline="-25000">
                <a:solidFill>
                  <a:schemeClr val="dk1"/>
                </a:solidFill>
                <a:latin typeface="Arial"/>
                <a:ea typeface="DejaVu Sans"/>
              </a:rPr>
              <a:t>el</a:t>
            </a:r>
            <a:endParaRPr b="0" lang="de-DE" sz="1200" spc="-1" strike="noStrike">
              <a:solidFill>
                <a:schemeClr val="dk1"/>
              </a:solidFill>
              <a:latin typeface="Arial"/>
            </a:endParaRPr>
          </a:p>
          <a:p>
            <a:pPr indent="0" defTabSz="914400">
              <a:lnSpc>
                <a:spcPct val="90000"/>
              </a:lnSpc>
              <a:spcBef>
                <a:spcPts val="601"/>
              </a:spcBef>
              <a:buNone/>
            </a:pPr>
            <a:endParaRPr b="0" lang="de-DE" sz="1200" spc="-1" strike="noStrike">
              <a:solidFill>
                <a:schemeClr val="dk1"/>
              </a:solidFill>
              <a:latin typeface="Arial"/>
            </a:endParaRPr>
          </a:p>
          <a:p>
            <a:pPr indent="0" defTabSz="914400">
              <a:lnSpc>
                <a:spcPct val="90000"/>
              </a:lnSpc>
              <a:spcBef>
                <a:spcPts val="601"/>
              </a:spcBef>
              <a:buNone/>
            </a:pPr>
            <a:endParaRPr b="0" lang="de-DE" sz="1200" spc="-1" strike="noStrike">
              <a:solidFill>
                <a:schemeClr val="dk1"/>
              </a:solidFill>
              <a:latin typeface="Arial"/>
            </a:endParaRPr>
          </a:p>
          <a:p>
            <a:pPr indent="0" defTabSz="914400">
              <a:lnSpc>
                <a:spcPct val="90000"/>
              </a:lnSpc>
              <a:spcBef>
                <a:spcPts val="1199"/>
              </a:spcBef>
              <a:buNone/>
              <a:tabLst>
                <a:tab algn="l" pos="0"/>
              </a:tabLst>
            </a:pPr>
            <a:endParaRPr b="0" lang="de-DE" sz="1800" spc="-1" strike="noStrike">
              <a:solidFill>
                <a:schemeClr val="dk1"/>
              </a:solidFill>
              <a:latin typeface="Arial"/>
            </a:endParaRPr>
          </a:p>
          <a:p>
            <a:pPr indent="0" defTabSz="914400">
              <a:lnSpc>
                <a:spcPct val="90000"/>
              </a:lnSpc>
              <a:spcBef>
                <a:spcPts val="1199"/>
              </a:spcBef>
              <a:buNone/>
              <a:tabLst>
                <a:tab algn="l" pos="0"/>
              </a:tabLst>
            </a:pPr>
            <a:endParaRPr b="0" lang="de-DE" sz="1800" spc="-1" strike="noStrike">
              <a:solidFill>
                <a:schemeClr val="dk1"/>
              </a:solidFill>
              <a:latin typeface="Arial"/>
            </a:endParaRPr>
          </a:p>
        </p:txBody>
      </p:sp>
      <p:sp>
        <p:nvSpPr>
          <p:cNvPr id="268" name="PlaceHolder 2"/>
          <p:cNvSpPr>
            <a:spLocks noGrp="1"/>
          </p:cNvSpPr>
          <p:nvPr>
            <p:ph type="title"/>
          </p:nvPr>
        </p:nvSpPr>
        <p:spPr>
          <a:xfrm>
            <a:off x="585360" y="850320"/>
            <a:ext cx="8228880" cy="1144440"/>
          </a:xfrm>
          <a:prstGeom prst="rect">
            <a:avLst/>
          </a:prstGeom>
          <a:noFill/>
          <a:ln w="0">
            <a:noFill/>
          </a:ln>
        </p:spPr>
        <p:txBody>
          <a:bodyPr lIns="0" rIns="0" tIns="0" bIns="0" anchor="ctr">
            <a:noAutofit/>
          </a:bodyPr>
          <a:p>
            <a:pPr indent="0" defTabSz="914400">
              <a:lnSpc>
                <a:spcPct val="90000"/>
              </a:lnSpc>
              <a:buNone/>
            </a:pPr>
            <a:r>
              <a:rPr b="1" lang="en-GB" sz="2400" spc="-1" strike="noStrike">
                <a:solidFill>
                  <a:srgbClr val="990000"/>
                </a:solidFill>
                <a:latin typeface="Arial"/>
                <a:ea typeface="DejaVu Sans"/>
              </a:rPr>
              <a:t>Vehicles with In-Motion Charging (IMC) features (11/11)</a:t>
            </a:r>
            <a:endParaRPr b="0" lang="de-DE" sz="2400" spc="-1" strike="noStrike">
              <a:solidFill>
                <a:schemeClr val="dk1"/>
              </a:solidFill>
              <a:latin typeface="Arial"/>
            </a:endParaRPr>
          </a:p>
        </p:txBody>
      </p:sp>
      <p:sp>
        <p:nvSpPr>
          <p:cNvPr id="4" name="PlaceHolder 3"/>
          <p:cNvSpPr>
            <a:spLocks noGrp="1"/>
          </p:cNvSpPr>
          <p:nvPr>
            <p:ph type="sldNum" idx="2"/>
          </p:nvPr>
        </p:nvSpPr>
        <p:spPr/>
        <p:txBody>
          <a:bodyPr/>
          <a:p>
            <a:fld id="{9D0B34A4-9789-4A5D-922F-BE7F7AF93102}" type="slidenum">
              <a:t>38</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50</TotalTime>
  <Application>LibreOffice/7.6.5.2$Windows_X86_64 LibreOffice_project/38d5f62f85355c192ef5f1dd47c5c0c0c6d6598b</Application>
  <AppVersion>15.0000</AppVersion>
  <Words>2585</Words>
  <Paragraphs>310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2010-01-07T15:28:02Z</dcterms:created>
  <dc:creator>martinrexeis</dc:creator>
  <dc:description/>
  <dc:language>en-US</dc:language>
  <cp:lastModifiedBy/>
  <cp:lastPrinted>2013-01-22T12:03:30Z</cp:lastPrinted>
  <dcterms:modified xsi:type="dcterms:W3CDTF">2024-06-18T13:35:41Z</dcterms:modified>
  <cp:revision>1372</cp:revision>
  <dc:subject/>
  <dc:title>Folie 1</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Bildschirmpräsentation (4:3)</vt:lpwstr>
  </property>
  <property fmtid="{D5CDD505-2E9C-101B-9397-08002B2CF9AE}" pid="3" name="Slides">
    <vt:i4>35</vt:i4>
  </property>
</Properties>
</file>